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charts/chart1.xml" ContentType="application/vnd.openxmlformats-officedocument.drawingml.chart+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Lst>
  <p:notesMasterIdLst>
    <p:notesMasterId r:id="rId6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notesMaster" Target="notesMasters/notesMaster1.xml"/><Relationship Id="rId67" Type="http://schemas.openxmlformats.org/officeDocument/2006/relationships/presProps" Target="presProps.xml"/><Relationship Id="rId68" Type="http://schemas.openxmlformats.org/officeDocument/2006/relationships/viewProps" Target="viewProps.xml"/><Relationship Id="rId69" Type="http://schemas.openxmlformats.org/officeDocument/2006/relationships/theme" Target="theme/theme1.xml"/><Relationship Id="rId7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032B"/>
                </a:solidFill>
                <a:latin typeface="Arial"/>
              </a:defRPr>
            </a:pPr>
            <a:r>
              <a:rPr sz="1300" b="0" i="0" u="none" strike="noStrike">
                <a:solidFill>
                  <a:srgbClr val="0B032B"/>
                </a:solidFill>
                <a:latin typeface="Arial"/>
              </a:rPr>
              <a:t>Part des jeux de rôle où l’élu adopte le bon réflexe</a:t>
            </a:r>
          </a:p>
        </c:rich>
      </c:tx>
      <c:layout/>
      <c:overlay val="0"/>
    </c:title>
    <c:autoTitleDeleted val="0"/>
    <c:plotArea>
      <c:layout/>
      <c:barChart>
        <c:barDir val="col"/>
        <c:grouping val="clustered"/>
        <c:varyColors val="0"/>
        <c:ser>
          <c:idx val="0"/>
          <c:order val="0"/>
          <c:tx>
            <c:strRef>
              <c:f>Sheet1!$B$1</c:f>
              <c:strCache>
                <c:ptCount val="1"/>
                <c:pt idx="0">
                  <c:v>Bon réflexe au premier passage</c:v>
                </c:pt>
              </c:strCache>
            </c:strRef>
          </c:tx>
          <c:spPr>
            <a:solidFill>
              <a:srgbClr val="B3B3BA"/>
            </a:solidFill>
            <a:effectLst/>
          </c:spPr>
          <c:invertIfNegative val="0"/>
          <c:dLbls>
            <c:numFmt formatCode="0&quot;%&quot;" sourceLinked="0"/>
            <c:txPr>
              <a:bodyPr/>
              <a:lstStyle/>
              <a:p>
                <a:pPr>
                  <a:defRPr b="0" i="0" strike="noStrike" sz="1100" u="none">
                    <a:solidFill>
                      <a:srgbClr val="0B032B"/>
                    </a:solidFill>
                    <a:latin typeface="Arial"/>
                  </a:defRPr>
                </a:pPr>
              </a:p>
            </c:txPr>
            <c:showLegendKey val="0"/>
            <c:showVal val="1"/>
            <c:showCatName val="0"/>
            <c:showSerName val="0"/>
            <c:showPercent val="0"/>
            <c:showBubbleSize val="0"/>
            <c:showLeaderLines val="0"/>
          </c:dLbls>
          <c:cat>
            <c:multiLvlStrRef>
              <c:f>Sheet1!$A$2:$A$5</c:f>
              <c:multiLvlStrCache>
                <c:ptCount val="4"/>
                <c:lvl>
                  <c:pt idx="0">
                    <c:v>Gérer les conflits</c:v>
                  </c:pt>
                  <c:pt idx="1">
                    <c:v>Organiser les services</c:v>
                  </c:pt>
                  <c:pt idx="2">
                    <c:v>Structurer l’équipe</c:v>
                  </c:pt>
                  <c:pt idx="3">
                    <c:v>Conflits d’intérêts</c:v>
                  </c:pt>
                </c:lvl>
              </c:multiLvlStrCache>
            </c:multiLvlStrRef>
          </c:cat>
          <c:val>
            <c:numRef>
              <c:f>Sheet1!$B$2:$B$5</c:f>
              <c:numCache>
                <c:formatCode>General</c:formatCode>
                <c:ptCount val="4"/>
                <c:pt idx="0">
                  <c:v>58</c:v>
                </c:pt>
                <c:pt idx="1">
                  <c:v>41</c:v>
                </c:pt>
                <c:pt idx="2">
                  <c:v>63</c:v>
                </c:pt>
                <c:pt idx="3">
                  <c:v>35</c:v>
                </c:pt>
              </c:numCache>
            </c:numRef>
          </c:val>
        </c:ser>
        <c:ser>
          <c:idx val="1"/>
          <c:order val="1"/>
          <c:tx>
            <c:strRef>
              <c:f>Sheet1!$C$1</c:f>
              <c:strCache>
                <c:ptCount val="1"/>
                <c:pt idx="0">
                  <c:v>Après débriefing (2e passage)</c:v>
                </c:pt>
              </c:strCache>
            </c:strRef>
          </c:tx>
          <c:spPr>
            <a:solidFill>
              <a:srgbClr val="0B032B"/>
            </a:solidFill>
            <a:effectLst/>
          </c:spPr>
          <c:invertIfNegative val="0"/>
          <c:dLbls>
            <c:numFmt formatCode="0&quot;%&quot;" sourceLinked="0"/>
            <c:txPr>
              <a:bodyPr/>
              <a:lstStyle/>
              <a:p>
                <a:pPr>
                  <a:defRPr b="0" i="0" strike="noStrike" sz="1100" u="none">
                    <a:solidFill>
                      <a:srgbClr val="0B032B"/>
                    </a:solidFill>
                    <a:latin typeface="Arial"/>
                  </a:defRPr>
                </a:pPr>
              </a:p>
            </c:txPr>
            <c:showLegendKey val="0"/>
            <c:showVal val="1"/>
            <c:showCatName val="0"/>
            <c:showSerName val="0"/>
            <c:showPercent val="0"/>
            <c:showBubbleSize val="0"/>
            <c:showLeaderLines val="0"/>
          </c:dLbls>
          <c:cat>
            <c:multiLvlStrRef>
              <c:f>Sheet1!$A$2:$A$5</c:f>
              <c:multiLvlStrCache>
                <c:ptCount val="4"/>
                <c:lvl>
                  <c:pt idx="0">
                    <c:v>Gérer les conflits</c:v>
                  </c:pt>
                  <c:pt idx="1">
                    <c:v>Organiser les services</c:v>
                  </c:pt>
                  <c:pt idx="2">
                    <c:v>Structurer l’équipe</c:v>
                  </c:pt>
                  <c:pt idx="3">
                    <c:v>Conflits d’intérêts</c:v>
                  </c:pt>
                </c:lvl>
              </c:multiLvlStrCache>
            </c:multiLvlStrRef>
          </c:cat>
          <c:val>
            <c:numRef>
              <c:f>Sheet1!$C$2:$C$5</c:f>
              <c:numCache>
                <c:formatCode>General</c:formatCode>
                <c:ptCount val="4"/>
                <c:pt idx="0">
                  <c:v>89</c:v>
                </c:pt>
                <c:pt idx="1">
                  <c:v>88</c:v>
                </c:pt>
                <c:pt idx="2">
                  <c:v>90</c:v>
                </c:pt>
                <c:pt idx="3">
                  <c:v>94</c:v>
                </c:pt>
              </c:numCache>
            </c:numRef>
          </c:val>
        </c:ser>
        <c:dLbls>
          <c:numFmt formatCode="0&quot;%&quot;" sourceLinked="0"/>
          <c:txPr>
            <a:bodyPr/>
            <a:lstStyle/>
            <a:p>
              <a:pPr>
                <a:defRPr b="0" i="0" strike="noStrike" sz="1100" u="none">
                  <a:solidFill>
                    <a:srgbClr val="0B032B"/>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B032B"/>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7E5F0"/>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A8699"/>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5516E"/>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Accueil des participants (09h00). Présentation de l’intervenant ENMA Formation, rappel des horaires (09h00 – 17h45, pauses et déjeuner), émargement. Tour de table rapide : prénom, commune, fonction (maire, adjoint, conseiller délégué, conseiller municipal, opposition), premier mandat ou non.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 d’accueil : féliciter les élus pour leur élection de mars 2026. Insister sur la notion d’engagement : intérêt général, proximité, développement de la commune. Question d’ouverture possible : « Qu’est-ce qui vous a donné envie de vous engager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Présenter les 5 grands axes de la journée et l’objectif. Lire la citation et la laisser en fil rouge : on y reviendra en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Présenter le déroulé horaire : 7 heures de formation effective (09h00 – 12h30 / 13h45 – 17h45, deux pauses de 15 min). Les numéros de séquence (01 à 07) se retrouvent en haut à gauche de chaque diapositive pour se repérer.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Séquence 01 (60 min). Objectif : comprendre les trois « casquettes » du maire, ses missions, ses droits et ses devoirs. Question d’entrée : « Selon vous, combien de rôles différents le maire exerce-t-il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trois « casquettes » du maire. Exemples à citer : chef de l’exécutif (exécution des délibérations), agent de l’État (célébration d’un mariage, organisation des élections, recensement), police administrative (arrêté de circulation, sécurité d’une manifestation).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missions principales. Faire réagir : quelles missions les participants découvrent-ils ? Préciser que la direction des services est une compétence propre du maire (reprise en séquence 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Illustrer chaque casquette par un exemple : cérémonies (vie communale), arrêté de circulation et fermeture d’un parc (police administrative), mariage et cérémonie de citoyenneté (officier d’état civil, agent de l’État). Demander aux participants un exemple vécu dans leur commune.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Mettre en regard droits et devoirs : la balance symbolise l’équilibre du mandat. Annoncer que les responsabilités civile, pénale et politique seront détaillées en séquence 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Synthèse de la séquence 01. Faire reformuler par un participant les quatre rôles, puis l’équilibre proximité / responsabilité / respect de la loi.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Séquence 02 (60 min). Objectif : distinguer les rôles au sein de l’équipe municipale, puis les droits et devoirs des conseillers d’opposition et les prérogatives du maire en séance.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Parcourir le tableau ligne par ligne. Rappeler l’ordre du tableau pour le remplacement du maire. Inviter chacun à situer sa propre fonction et sa délégation éventuelle.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 responsabilités communes à tous les membres de l’équipe municipale. Insister sur la confidentialité et le devoir de réserve, souvent sous-estimés en début de mandat.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retenir sur l’équipe municipale. Image possible : l’équipage d’un navire (cap, pilotage, missions ciblées, contrôle).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Présenter le rôle démocratique de l’opposition. Le schéma du conseil est illustratif : la majorité et l’opposition siègent ensemble et participent aux mêmes séances.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Droits protégés par la loi (convocation, documents, expression, commissions) et devoirs corrélatifs. Pour les élus de la majorité : ces droits sont une garantie démocratique, pas une contrainte.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Police de l’assemblée : le maire préside et garantit le bon ordre des débats. Rappeler l’importance du règlement intérieur du conseil municipal.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Séquence 03 (45 min). Objectif : comprendre que les agents sont placés sous l’autorité hiérarchique du maire et adopter les bonnes pratiques dans la relation élus /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Fondement juridique : Code général de la fonction publique et CGCT. Le maire est l’autorité territoriale : il exerce seul le pouvoir hiérarchique sur les agents, sauf délégation de fonctions.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Schéma de la chaîne hiérarchique : un élu sans délégation n’a pas d’autorité sur les agents. Exemple de situation à discuter : un conseiller demande directement à un agent technique de réparer un banc devant chez lui… quelle difficulté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bonnes pratiques et le message à retenir avant la pause déjeuner. Recueillir les questions de la matinée.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Séquence 04 (60 min). Objectif : connaître les droits et devoirs des élus municipaux et distinguer responsabilités pénale, civile et politique.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droits. Point d’attention : la protection fonctionnelle (menaces, violences, injures, diffamations, outrages) et la conciliation mandat / activité professionnelle (crédits d’heures, autorisations d’absence).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devoirs, en miroir des droits. Faire le lien avec la séquence 06 (exemplarité et conflits d’intérêts).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Responsabilité pénale : personnelle. Commenter les cinq exemples ; la prise illégale d’intérêts sera reprise en séquence 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Responsabilité civile : distinguer la faute de service (la commune répond) et la faute personnelle détachable des fonctions (l’élu répond personnellement).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Responsabilité politique : on rend compte devant les citoyens, le conseil municipal et les électeurs. Conséquences : retrait de délégations, perte de responsabilités, non-réélection.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Synthèse de la séquence 04 : trois responsabilités, un réflexe — connaître les règles pour se protéger et protéger la collectivité.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Séquence 05 (90 min). Objectif : situer la commune parmi les autres échelons et connaître les compétences de l’EPCI, du Département, de la Région et de l’État.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Diapositive de repérage : la commune au cœur de cercles de coopération. Les synthèses reprennent les messages « À retenir » de chaque échelon (détaillés dans les diapositives suivantes).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Définition de l’EPCI et ses quatre objectifs. Demander aux participants le nom de leur intercommunalité (communauté de communes, d’agglomération…).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 blocs de compétences intercommunales. Préciser que la répartition exacte dépend des statuts de chaque EPCI (compétences obligatoires, optionnelles, facultatives).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rôle des conseillers communautaires : représenter, décider, arbitrer entre intérêt communal et communautaire, faire le lien avec le conseil municipal.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compétences du Département : priorité aux solidarités humaines (ASE, PMI, APA, PCH/MDPH, RSA), puis collèges, routes départementales, SDIS et soutien aux territoires.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Rôle des conseillers départementaux et message à retenir : le Département, collectivité des solidarités humaines et territoriales. Citer un projet communal soutenu par le Département.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blocs de compétences régionales. Faire le lien avec ENMA Formation : la Région est aussi l’acteur de la formation professionnelle et de l’apprentissage en Hauts-de-France.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Rôle des conseillers régionaux. La carte schématique (non géographique) rappelle les cinq départements de la région : Nord, Pas-de-Calais, Somme, Oise, Aisne.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L’État : compétences régaliennes et grandes politiques publiques. Transition vers le rôle du préfet.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Préfet de département (contrôle de légalité, ordre public, gestion de crise) et préfet de région (coordination régionale). Pour la commune, l’interlocuteur de proximité est souvent la sous-préfecture.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notions souvent confondues. Moyen mnémotechnique : décentralisation = on transfère à des élus ; déconcentration = l’État délègue à ses propres représentants.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Synthèse de la séquence 05 sous forme d’« équations ». Vérifier la compréhension en demandant à un participant de donner un exemple de chaque notion.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Séquence 06 (45 min). Objectif : adopter les bonnes pratiques de la relation aux habitants et les bons réflexes face à un conflit d’intérêts.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lien de proximité et cinq bonnes pratiques. Mise en situation rapide : un habitant interpelle un élu au marché sur un projet contesté — comment répondre avec transparence et pédagogie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points de vigilance. Insister sur le fait de ne pas promettre et sur la confidentialité des situations individuelles (demandes de logement, aides sociales, etc.).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quatre piliers de l’exemplarité, symbolisés par les colonnes de la mairie. Définition du conflit d’intérêts : un intérêt qui influence… ou qui PARAÎT influencer. L’apparence compte autant que la réalité.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exemples typiques et trois réflexes : déclarer, se déporter, demander conseil. Rappeler que le déport doit être effectif : ne pas participer ni au débat ni au vote (et quitter la salle est une bonne pratique).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risques, du juridique (annulation, responsabilité, sanctions pénales) au politique (perte de confiance). Message final : dans le doute, s’abstenir et solliciter un avis.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(30 min, incluant le bilan de la journée). Lire la conviction : le mandat municipal, le plus beau des mandats.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Relier les cinq vignettes aux réalisations concrètes des communes représentées. Demander à chacun : « Quelle réalisation aimeriez-vous voir aboutir d’ici la fin du mandat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 clés, à la manière d’un trousseau à garder avec soi pendant six 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mandat comme un marathon de six ans (2026 – 2032). Insister sur la solidarité de l’équipe une fois les décisions prises.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08 : les mises en situation intégrées à la formation, puis le bilan des sessions de septembre 2026 et les évolutions apportées au programme et au déroulé. Les chiffres et verbatims de cette section sont issus des grilles d’observation (à mettre à jour après chaque nouvelle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Présentation des mises en situation : 16 cas en 4 blocs, joués en trio (un élu, un ou deux interlocuteurs, un observateur muni de la grille de débriefing). Les fiches rôles sont distribuées séparément ; chaque cas propose une variante « niveau 2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 1 : quatre cas de gestion des conflits. Rappeler les pièges : couper la parole sans base réglementaire, promettre implicitement, donner raison à l’adjoint par solidarité, menacer de retirer une délégation.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 2 : organisation des services et chaîne hiérarchique. Le cas 2.4 fait le lien avec le bloc 4 si l’adjoint est un proche du candidat.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 3 : structuration de l’équipe. Le cas 3.1 se joue en atelier de groupe (20 min, restitution sur paperboard).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 4 : conflits d’intérêts. Pour chaque cas, trois questions en 8 minutes : y a-t-il conflit (réel ou apparent) ? que faire et quand ? que risque l’élu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Bilan des sessions de septembre 2026, à partir des grilles d’observation. Lecture : au premier passage, seuls 35 % des jeux de rôle sur les conflits d’intérêts aboutissent au bon réflexe (déclarer / se déporter / demander conseil) ; après débriefing et second passage, 94 %. Les blocs « conflits d’intérêts » et « organisation des services » présentent les écarts les plus forts : ce sont eux qui ont guidé les évolutions du programme. Chiffres à mettre à jour après chaque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Verbatims anonymisés relevés par les observateurs lors des jeux de rôle. Chacun illustre un écart récurrent entre le réflexe spontané et le réflexe attendu. Les faire lire à voix haute et demander au groupe : « Qu’auriez-vous répondu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évolution part d’un écart observé en mise en situation. Principe : on renforce le temps de pratique là où l’écart est le plus fort (conflits d’intérêts, chaîne hiérarchique), et on allège les apports descriptifs déjà maîtrisés (rôle du maire) ou mieux assimilés en lecture guidée (compétences des collectivités). Le volume total reste de 7 heures.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Comparaison du déroulé initial et du déroulé ajusté. Le volume horaire (7 h) et les horaires de la journée sont inchangés. Nouveaux horaires de l’après-midi : 13h45 séquence 04, 14h45 séquence 05, 15h45 pause, 16h00 séquence 06, 17h15 conclusion. Matin : 09h00 ouverture, 09h30 séquence 01, 10h15 pause, 10h30 séquence 02, 11h30 séquence 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outils créés à partir des écarts observés : la fiche réflexe « Se déporter » (bloc 4), le circuit des demandes aux services (bloc 2) et la carte des 5 phrases-clés (cas 1.2). Ils sont remis aux participants en fin de journée avec l’attestation.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Boucle d’amélioration continue ENMA Formation : mettre en situation, observer, analyser les écarts, ajuster, mesurer à nouveau. Elle répond au critère 7 du référentiel Qualiopi (indicateur 32 : mesures d’amélioration à partir de l’analyse des appréciations). Prochaine mesure : sessions de novembre 2026, avec le déroulé ajusté.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 de la fin. Remise des attestations de fin de formation, questionnaire de satisfaction à chaud, émargement de l’après-midi.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slideLayout" Target="../slideLayouts/slideLayout1.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slideLayout" Target="../slideLayouts/slideLayout1.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slideLayout" Target="../slideLayouts/slideLayout1.xml"/><Relationship Id="rId9"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slideLayout" Target="../slideLayouts/slideLayout1.xml"/><Relationship Id="rId10"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9" Type="http://schemas.openxmlformats.org/officeDocument/2006/relationships/slideLayout" Target="../slideLayouts/slideLayout1.xml"/><Relationship Id="rId10"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slideLayout" Target="../slideLayouts/slideLayout1.xml"/><Relationship Id="rId9"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image" Target="../media/image-24-8.png"/><Relationship Id="rId9" Type="http://schemas.openxmlformats.org/officeDocument/2006/relationships/slideLayout" Target="../slideLayouts/slideLayout1.xml"/><Relationship Id="rId10"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slideLayout" Target="../slideLayouts/slideLayout1.xml"/><Relationship Id="rId8"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1.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image" Target="../media/image-31-6.png"/><Relationship Id="rId7" Type="http://schemas.openxmlformats.org/officeDocument/2006/relationships/slideLayout" Target="../slideLayouts/slideLayout1.xml"/><Relationship Id="rId8"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slideLayout" Target="../slideLayouts/slideLayout1.xml"/><Relationship Id="rId8"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slideLayout" Target="../slideLayouts/slideLayout1.xml"/><Relationship Id="rId8"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image" Target="../media/image-34-6.png"/><Relationship Id="rId7" Type="http://schemas.openxmlformats.org/officeDocument/2006/relationships/slideLayout" Target="../slideLayouts/slideLayout1.xml"/><Relationship Id="rId8"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image" Target="../media/image-35-5.png"/><Relationship Id="rId6" Type="http://schemas.openxmlformats.org/officeDocument/2006/relationships/image" Target="../media/image-35-6.png"/><Relationship Id="rId7" Type="http://schemas.openxmlformats.org/officeDocument/2006/relationships/slideLayout" Target="../slideLayouts/slideLayout1.xml"/><Relationship Id="rId8"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image" Target="../media/image-36-6.png"/><Relationship Id="rId7" Type="http://schemas.openxmlformats.org/officeDocument/2006/relationships/image" Target="../media/image-36-7.png"/><Relationship Id="rId8" Type="http://schemas.openxmlformats.org/officeDocument/2006/relationships/slideLayout" Target="../slideLayouts/slideLayout1.xml"/><Relationship Id="rId9"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image" Target="../media/image-37-6.png"/><Relationship Id="rId7" Type="http://schemas.openxmlformats.org/officeDocument/2006/relationships/image" Target="../media/image-37-7.png"/><Relationship Id="rId8" Type="http://schemas.openxmlformats.org/officeDocument/2006/relationships/slideLayout" Target="../slideLayouts/slideLayout1.xml"/><Relationship Id="rId9"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image" Target="../media/image-38-6.png"/><Relationship Id="rId7" Type="http://schemas.openxmlformats.org/officeDocument/2006/relationships/image" Target="../media/image-38-7.png"/><Relationship Id="rId8" Type="http://schemas.openxmlformats.org/officeDocument/2006/relationships/slideLayout" Target="../slideLayouts/slideLayout1.xml"/><Relationship Id="rId9"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slideLayout" Target="../slideLayouts/slideLayout1.xml"/><Relationship Id="rId5"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image" Target="../media/image-43-5.png"/><Relationship Id="rId6" Type="http://schemas.openxmlformats.org/officeDocument/2006/relationships/image" Target="../media/image-43-6.png"/><Relationship Id="rId7" Type="http://schemas.openxmlformats.org/officeDocument/2006/relationships/image" Target="../media/image-43-7.png"/><Relationship Id="rId8" Type="http://schemas.openxmlformats.org/officeDocument/2006/relationships/slideLayout" Target="../slideLayouts/slideLayout1.xml"/><Relationship Id="rId9"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image" Target="../media/image-44-5.png"/><Relationship Id="rId6" Type="http://schemas.openxmlformats.org/officeDocument/2006/relationships/image" Target="../media/image-44-6.png"/><Relationship Id="rId7" Type="http://schemas.openxmlformats.org/officeDocument/2006/relationships/slideLayout" Target="../slideLayouts/slideLayout1.xml"/><Relationship Id="rId8"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slideLayout" Target="../slideLayouts/slideLayout1.xml"/><Relationship Id="rId5"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image" Target="../media/image-46-4.png"/><Relationship Id="rId5" Type="http://schemas.openxmlformats.org/officeDocument/2006/relationships/image" Target="../media/image-46-5.png"/><Relationship Id="rId6" Type="http://schemas.openxmlformats.org/officeDocument/2006/relationships/slideLayout" Target="../slideLayouts/slideLayout1.xml"/><Relationship Id="rId7"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image" Target="../media/image-47-4.png"/><Relationship Id="rId5" Type="http://schemas.openxmlformats.org/officeDocument/2006/relationships/image" Target="../media/image-47-5.png"/><Relationship Id="rId6" Type="http://schemas.openxmlformats.org/officeDocument/2006/relationships/image" Target="../media/image-47-6.png"/><Relationship Id="rId7" Type="http://schemas.openxmlformats.org/officeDocument/2006/relationships/slideLayout" Target="../slideLayouts/slideLayout1.xml"/><Relationship Id="rId8"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image" Target="../media/image-49-3.png"/><Relationship Id="rId4" Type="http://schemas.openxmlformats.org/officeDocument/2006/relationships/image" Target="../media/image-49-4.png"/><Relationship Id="rId5" Type="http://schemas.openxmlformats.org/officeDocument/2006/relationships/image" Target="../media/image-49-5.png"/><Relationship Id="rId6" Type="http://schemas.openxmlformats.org/officeDocument/2006/relationships/image" Target="../media/image-49-6.png"/><Relationship Id="rId7" Type="http://schemas.openxmlformats.org/officeDocument/2006/relationships/slideLayout" Target="../slideLayouts/slideLayout1.xml"/><Relationship Id="rId8"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image" Target="../media/image-50-4.png"/><Relationship Id="rId5" Type="http://schemas.openxmlformats.org/officeDocument/2006/relationships/image" Target="../media/image-50-5.png"/><Relationship Id="rId6" Type="http://schemas.openxmlformats.org/officeDocument/2006/relationships/image" Target="../media/image-50-6.png"/><Relationship Id="rId7" Type="http://schemas.openxmlformats.org/officeDocument/2006/relationships/slideLayout" Target="../slideLayouts/slideLayout1.xml"/><Relationship Id="rId8"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slideLayout" Target="../slideLayouts/slideLayout1.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image" Target="../media/image-53-3.png"/><Relationship Id="rId4" Type="http://schemas.openxmlformats.org/officeDocument/2006/relationships/image" Target="../media/image-53-4.png"/><Relationship Id="rId5" Type="http://schemas.openxmlformats.org/officeDocument/2006/relationships/image" Target="../media/image-53-5.png"/><Relationship Id="rId6" Type="http://schemas.openxmlformats.org/officeDocument/2006/relationships/slideLayout" Target="../slideLayouts/slideLayout1.xml"/><Relationship Id="rId7"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58-1.png"/><Relationship Id="rId3" Type="http://schemas.openxmlformats.org/officeDocument/2006/relationships/slideLayout" Target="../slideLayouts/slideLayout1.xml"/><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image" Target="../media/image-61-3.png"/><Relationship Id="rId4" Type="http://schemas.openxmlformats.org/officeDocument/2006/relationships/image" Target="../media/image-61-4.png"/><Relationship Id="rId5" Type="http://schemas.openxmlformats.org/officeDocument/2006/relationships/image" Target="../media/image-61-5.png"/><Relationship Id="rId6" Type="http://schemas.openxmlformats.org/officeDocument/2006/relationships/slideLayout" Target="../slideLayouts/slideLayout1.xml"/><Relationship Id="rId7"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image" Target="../media/image-62-3.png"/><Relationship Id="rId4" Type="http://schemas.openxmlformats.org/officeDocument/2006/relationships/image" Target="../media/image-62-4.png"/><Relationship Id="rId5" Type="http://schemas.openxmlformats.org/officeDocument/2006/relationships/slideLayout" Target="../slideLayouts/slideLayout1.xml"/><Relationship Id="rId6"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png"/><Relationship Id="rId3" Type="http://schemas.openxmlformats.org/officeDocument/2006/relationships/image" Target="../media/image-63-3.png"/><Relationship Id="rId4" Type="http://schemas.openxmlformats.org/officeDocument/2006/relationships/image" Target="../media/image-63-4.png"/><Relationship Id="rId5" Type="http://schemas.openxmlformats.org/officeDocument/2006/relationships/image" Target="../media/image-63-5.png"/><Relationship Id="rId6" Type="http://schemas.openxmlformats.org/officeDocument/2006/relationships/image" Target="../media/image-63-6.png"/><Relationship Id="rId7" Type="http://schemas.openxmlformats.org/officeDocument/2006/relationships/image" Target="../media/image-63-7.png"/><Relationship Id="rId8" Type="http://schemas.openxmlformats.org/officeDocument/2006/relationships/slideLayout" Target="../slideLayouts/slideLayout1.xml"/><Relationship Id="rId9"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image" Target="../media/image-64-2.png"/><Relationship Id="rId3" Type="http://schemas.openxmlformats.org/officeDocument/2006/relationships/slideLayout" Target="../slideLayouts/slideLayout1.xml"/><Relationship Id="rId4" Type="http://schemas.openxmlformats.org/officeDocument/2006/relationships/notesSlide" Target="../notesSlides/notesSlide6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32B"/>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548640"/>
            <a:ext cx="2194560" cy="908914"/>
          </a:xfrm>
          <a:prstGeom prst="rect">
            <a:avLst/>
          </a:prstGeom>
        </p:spPr>
      </p:pic>
      <p:sp>
        <p:nvSpPr>
          <p:cNvPr id="3" name="Text 0"/>
          <p:cNvSpPr txBox="1"/>
          <p:nvPr/>
        </p:nvSpPr>
        <p:spPr>
          <a:xfrm>
            <a:off x="548640" y="2148840"/>
            <a:ext cx="6035040" cy="320040"/>
          </a:xfrm>
          <a:prstGeom prst="rect">
            <a:avLst/>
          </a:prstGeom>
          <a:noFill/>
          <a:ln/>
        </p:spPr>
        <p:txBody>
          <a:bodyPr wrap="square" lIns="0" tIns="0" rIns="0" bIns="0" rtlCol="0" anchor="t"/>
          <a:lstStyle/>
          <a:p>
            <a:pPr indent="0" marL="0">
              <a:buNone/>
            </a:pPr>
            <a:r>
              <a:rPr lang="en-US" sz="1400" b="1" spc="400" kern="0" dirty="0">
                <a:solidFill>
                  <a:srgbClr val="FFF9C7"/>
                </a:solidFill>
                <a:latin typeface="Calibri" pitchFamily="34" charset="0"/>
                <a:ea typeface="Calibri" pitchFamily="34" charset="-122"/>
                <a:cs typeface="Calibri" pitchFamily="34" charset="-120"/>
              </a:rPr>
              <a:t>FORMATION DES ÉLUS MUNICIPAUX 2026</a:t>
            </a:r>
            <a:endParaRPr lang="en-US" sz="1400" dirty="0"/>
          </a:p>
        </p:txBody>
      </p:sp>
      <p:sp>
        <p:nvSpPr>
          <p:cNvPr id="4" name="Text 1"/>
          <p:cNvSpPr txBox="1"/>
          <p:nvPr/>
        </p:nvSpPr>
        <p:spPr>
          <a:xfrm>
            <a:off x="548640" y="2560320"/>
            <a:ext cx="5852160" cy="1920240"/>
          </a:xfrm>
          <a:prstGeom prst="rect">
            <a:avLst/>
          </a:prstGeom>
          <a:noFill/>
          <a:ln/>
        </p:spPr>
        <p:txBody>
          <a:bodyPr wrap="square" lIns="0" tIns="0" rIns="0" bIns="0" rtlCol="0" anchor="t"/>
          <a:lstStyle/>
          <a:p>
            <a:pPr indent="0" marL="0">
              <a:buNone/>
            </a:pPr>
            <a:r>
              <a:rPr lang="en-US" sz="5000" b="1" dirty="0">
                <a:solidFill>
                  <a:srgbClr val="FFFFFF"/>
                </a:solidFill>
                <a:latin typeface="Calibri" pitchFamily="34" charset="0"/>
                <a:ea typeface="Calibri" pitchFamily="34" charset="-122"/>
                <a:cs typeface="Calibri" pitchFamily="34" charset="-120"/>
              </a:rPr>
              <a:t>Bien débuter son mandat municipal</a:t>
            </a:r>
            <a:endParaRPr lang="en-US" sz="5000" dirty="0"/>
          </a:p>
        </p:txBody>
      </p:sp>
      <p:sp>
        <p:nvSpPr>
          <p:cNvPr id="5" name="Text 2"/>
          <p:cNvSpPr txBox="1"/>
          <p:nvPr/>
        </p:nvSpPr>
        <p:spPr>
          <a:xfrm>
            <a:off x="548640" y="4617720"/>
            <a:ext cx="5852160" cy="365760"/>
          </a:xfrm>
          <a:prstGeom prst="rect">
            <a:avLst/>
          </a:prstGeom>
          <a:noFill/>
          <a:ln/>
        </p:spPr>
        <p:txBody>
          <a:bodyPr wrap="square" lIns="0" tIns="0" rIns="0" bIns="0" rtlCol="0" anchor="t"/>
          <a:lstStyle/>
          <a:p>
            <a:pPr indent="0" marL="0">
              <a:buNone/>
            </a:pPr>
            <a:r>
              <a:rPr lang="en-US" sz="1800" b="1" dirty="0">
                <a:solidFill>
                  <a:srgbClr val="FFF9C7"/>
                </a:solidFill>
                <a:latin typeface="Calibri" pitchFamily="34" charset="0"/>
                <a:ea typeface="Calibri" pitchFamily="34" charset="-122"/>
                <a:cs typeface="Calibri" pitchFamily="34" charset="-120"/>
              </a:rPr>
              <a:t>Fonctions de l’élu</a:t>
            </a:r>
            <a:pPr indent="0" marL="0">
              <a:buNone/>
            </a:pPr>
            <a:r>
              <a:rPr lang="en-US" sz="1800" dirty="0">
                <a:solidFill>
                  <a:srgbClr val="B3B3BA"/>
                </a:solidFill>
                <a:latin typeface="Calibri" pitchFamily="34" charset="0"/>
                <a:ea typeface="Calibri" pitchFamily="34" charset="-122"/>
                <a:cs typeface="Calibri" pitchFamily="34" charset="-120"/>
              </a:rPr>
              <a:t>   ·   7 heures   ·   1 journée</a:t>
            </a:r>
            <a:endParaRPr lang="en-US" sz="1800" dirty="0"/>
          </a:p>
        </p:txBody>
      </p:sp>
      <p:sp>
        <p:nvSpPr>
          <p:cNvPr id="6" name="Text 3"/>
          <p:cNvSpPr txBox="1"/>
          <p:nvPr/>
        </p:nvSpPr>
        <p:spPr>
          <a:xfrm>
            <a:off x="548640" y="5989320"/>
            <a:ext cx="6400800" cy="274320"/>
          </a:xfrm>
          <a:prstGeom prst="rect">
            <a:avLst/>
          </a:prstGeom>
          <a:noFill/>
          <a:ln/>
        </p:spPr>
        <p:txBody>
          <a:bodyPr wrap="square" lIns="0" tIns="0" rIns="0" bIns="0" rtlCol="0" anchor="t"/>
          <a:lstStyle/>
          <a:p>
            <a:pPr indent="0" marL="0">
              <a:buNone/>
            </a:pPr>
            <a:r>
              <a:rPr lang="en-US" sz="1100" dirty="0">
                <a:solidFill>
                  <a:srgbClr val="B3B3BA"/>
                </a:solidFill>
                <a:latin typeface="Calibri" pitchFamily="34" charset="0"/>
                <a:ea typeface="Calibri" pitchFamily="34" charset="-122"/>
                <a:cs typeface="Calibri" pitchFamily="34" charset="-120"/>
              </a:rPr>
              <a:t>ENMA Formation — Organisme de formation certifié Qualiopi · Hauts-de-France</a:t>
            </a:r>
            <a:endParaRPr lang="en-US" sz="1100" dirty="0"/>
          </a:p>
        </p:txBody>
      </p:sp>
      <p:pic>
        <p:nvPicPr>
          <p:cNvPr id="7" name="Image 1" descr="preencoded.png">    </p:cNvPr>
          <p:cNvPicPr>
            <a:picLocks noChangeAspect="1"/>
          </p:cNvPicPr>
          <p:nvPr/>
        </p:nvPicPr>
        <p:blipFill>
          <a:blip r:embed="rId2"/>
          <a:stretch>
            <a:fillRect/>
          </a:stretch>
        </p:blipFill>
        <p:spPr>
          <a:xfrm>
            <a:off x="6172200" y="777240"/>
            <a:ext cx="5669280" cy="491337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420624" cy="310896"/>
          </a:xfrm>
          <a:prstGeom prst="roundRect">
            <a:avLst>
              <a:gd name="adj" fmla="val 23529"/>
            </a:avLst>
          </a:prstGeom>
          <a:solidFill>
            <a:srgbClr val="0B032B"/>
          </a:solidFill>
          <a:ln/>
        </p:spPr>
      </p:sp>
      <p:sp>
        <p:nvSpPr>
          <p:cNvPr id="3" name="Text 1"/>
          <p:cNvSpPr txBox="1"/>
          <p:nvPr/>
        </p:nvSpPr>
        <p:spPr>
          <a:xfrm>
            <a:off x="548640" y="438912"/>
            <a:ext cx="420624" cy="310896"/>
          </a:xfrm>
          <a:prstGeom prst="rect">
            <a:avLst/>
          </a:prstGeom>
          <a:noFill/>
          <a:ln/>
        </p:spPr>
        <p:txBody>
          <a:bodyPr wrap="square" lIns="0" tIns="0" rIns="0" bIns="0" rtlCol="0" anchor="ctr"/>
          <a:lstStyle/>
          <a:p>
            <a:pPr algn="ctr" indent="0" marL="0">
              <a:buNone/>
            </a:pPr>
            <a:r>
              <a:rPr lang="en-US" sz="1100" b="1" dirty="0">
                <a:solidFill>
                  <a:srgbClr val="FFF9C7"/>
                </a:solidFill>
                <a:latin typeface="Calibri" pitchFamily="34" charset="0"/>
                <a:ea typeface="Calibri" pitchFamily="34" charset="-122"/>
                <a:cs typeface="Calibri" pitchFamily="34" charset="-120"/>
              </a:rPr>
              <a:t>00</a:t>
            </a:r>
            <a:endParaRPr lang="en-US" sz="1100" dirty="0"/>
          </a:p>
        </p:txBody>
      </p:sp>
      <p:sp>
        <p:nvSpPr>
          <p:cNvPr id="4" name="Text 2"/>
          <p:cNvSpPr txBox="1"/>
          <p:nvPr/>
        </p:nvSpPr>
        <p:spPr>
          <a:xfrm>
            <a:off x="1115568" y="438912"/>
            <a:ext cx="8229600" cy="310896"/>
          </a:xfrm>
          <a:prstGeom prst="rect">
            <a:avLst/>
          </a:prstGeom>
          <a:noFill/>
          <a:ln/>
        </p:spPr>
        <p:txBody>
          <a:bodyPr wrap="square" lIns="0" tIns="0" rIns="0" bIns="0" rtlCol="0" anchor="ctr"/>
          <a:lstStyle/>
          <a:p>
            <a:pPr indent="0" marL="0">
              <a:buNone/>
            </a:pPr>
            <a:r>
              <a:rPr lang="en-US" sz="1100" b="1" spc="200" kern="0" dirty="0">
                <a:solidFill>
                  <a:srgbClr val="55516E"/>
                </a:solidFill>
                <a:latin typeface="Calibri" pitchFamily="34" charset="0"/>
                <a:ea typeface="Calibri" pitchFamily="34" charset="-122"/>
                <a:cs typeface="Calibri" pitchFamily="34" charset="-120"/>
              </a:rPr>
              <a:t>OUVERTURE</a:t>
            </a:r>
            <a:endParaRPr lang="en-US" sz="1100" dirty="0"/>
          </a:p>
        </p:txBody>
      </p:sp>
      <p:sp>
        <p:nvSpPr>
          <p:cNvPr id="5" name="Text 3"/>
          <p:cNvSpPr txBox="1"/>
          <p:nvPr/>
        </p:nvSpPr>
        <p:spPr>
          <a:xfrm>
            <a:off x="548640" y="841248"/>
            <a:ext cx="11064240" cy="685800"/>
          </a:xfrm>
          <a:prstGeom prst="rect">
            <a:avLst/>
          </a:prstGeom>
          <a:noFill/>
          <a:ln/>
        </p:spPr>
        <p:txBody>
          <a:bodyPr wrap="square" lIns="0" tIns="0" rIns="0" bIns="0" rtlCol="0" anchor="ctr">
            <a:normAutofit/>
          </a:bodyPr>
          <a:lstStyle/>
          <a:p>
            <a:pPr indent="0" marL="0">
              <a:buNone/>
            </a:pPr>
            <a:r>
              <a:rPr lang="en-US" sz="2800" b="1" dirty="0">
                <a:solidFill>
                  <a:srgbClr val="0B032B"/>
                </a:solidFill>
                <a:latin typeface="Calibri" pitchFamily="34" charset="0"/>
                <a:ea typeface="Calibri" pitchFamily="34" charset="-122"/>
                <a:cs typeface="Calibri" pitchFamily="34" charset="-120"/>
              </a:rPr>
              <a:t>Bienvenue !</a:t>
            </a:r>
            <a:endParaRPr lang="en-US" sz="2800" dirty="0"/>
          </a:p>
        </p:txBody>
      </p:sp>
      <p:sp>
        <p:nvSpPr>
          <p:cNvPr id="6" name="Text 4"/>
          <p:cNvSpPr txBox="1"/>
          <p:nvPr/>
        </p:nvSpPr>
        <p:spPr>
          <a:xfrm>
            <a:off x="548640" y="1874520"/>
            <a:ext cx="6217920" cy="914400"/>
          </a:xfrm>
          <a:prstGeom prst="rect">
            <a:avLst/>
          </a:prstGeom>
          <a:noFill/>
          <a:ln/>
        </p:spPr>
        <p:txBody>
          <a:bodyPr wrap="square" lIns="0" tIns="0" rIns="0" bIns="0" rtlCol="0" anchor="t"/>
          <a:lstStyle/>
          <a:p>
            <a:pPr indent="0" marL="0">
              <a:buNone/>
            </a:pPr>
            <a:r>
              <a:rPr lang="en-US" sz="2400" b="1" dirty="0">
                <a:solidFill>
                  <a:srgbClr val="0B032B"/>
                </a:solidFill>
                <a:latin typeface="Calibri" pitchFamily="34" charset="0"/>
                <a:ea typeface="Calibri" pitchFamily="34" charset="-122"/>
                <a:cs typeface="Calibri" pitchFamily="34" charset="-120"/>
              </a:rPr>
              <a:t>Félicitations pour votre élection lors des élections municipales de mars 2026.</a:t>
            </a:r>
            <a:endParaRPr lang="en-US" sz="2400" dirty="0"/>
          </a:p>
        </p:txBody>
      </p:sp>
      <p:sp>
        <p:nvSpPr>
          <p:cNvPr id="7" name="Text 5"/>
          <p:cNvSpPr txBox="1"/>
          <p:nvPr/>
        </p:nvSpPr>
        <p:spPr>
          <a:xfrm>
            <a:off x="548640" y="2971800"/>
            <a:ext cx="6035040" cy="1188720"/>
          </a:xfrm>
          <a:prstGeom prst="rect">
            <a:avLst/>
          </a:prstGeom>
          <a:noFill/>
          <a:ln/>
        </p:spPr>
        <p:txBody>
          <a:bodyPr wrap="square" lIns="0" tIns="0" rIns="0" bIns="0" rtlCol="0" anchor="t"/>
          <a:lstStyle/>
          <a:p>
            <a:pPr indent="0" marL="0">
              <a:lnSpc>
                <a:spcPct val="110000"/>
              </a:lnSpc>
              <a:buNone/>
            </a:pPr>
            <a:r>
              <a:rPr lang="en-US" sz="1800" dirty="0">
                <a:solidFill>
                  <a:srgbClr val="55516E"/>
                </a:solidFill>
                <a:latin typeface="Calibri" pitchFamily="34" charset="0"/>
                <a:ea typeface="Calibri" pitchFamily="34" charset="-122"/>
                <a:cs typeface="Calibri" pitchFamily="34" charset="-120"/>
              </a:rPr>
              <a:t>Être élu municipal, c’est bien plus qu’un mandat : c’est un engagement au service de l’intérêt général, de la proximité et du développement de votre commune.</a:t>
            </a:r>
            <a:endParaRPr lang="en-US" sz="1800" dirty="0"/>
          </a:p>
        </p:txBody>
      </p:sp>
      <p:sp>
        <p:nvSpPr>
          <p:cNvPr id="8" name="Shape 6"/>
          <p:cNvSpPr/>
          <p:nvPr/>
        </p:nvSpPr>
        <p:spPr>
          <a:xfrm>
            <a:off x="548640" y="4526280"/>
            <a:ext cx="1828800" cy="1097280"/>
          </a:xfrm>
          <a:prstGeom prst="roundRect">
            <a:avLst>
              <a:gd name="adj" fmla="val 10000"/>
            </a:avLst>
          </a:prstGeom>
          <a:solidFill>
            <a:srgbClr val="F3F2F8"/>
          </a:solidFill>
          <a:ln/>
        </p:spPr>
      </p:sp>
      <p:sp>
        <p:nvSpPr>
          <p:cNvPr id="9" name="Shape 7"/>
          <p:cNvSpPr/>
          <p:nvPr/>
        </p:nvSpPr>
        <p:spPr>
          <a:xfrm>
            <a:off x="731520" y="4681728"/>
            <a:ext cx="457200" cy="457200"/>
          </a:xfrm>
          <a:prstGeom prst="ellipse">
            <a:avLst/>
          </a:prstGeom>
          <a:solidFill>
            <a:srgbClr val="0B032B"/>
          </a:solidFill>
          <a:ln/>
        </p:spPr>
      </p:sp>
      <p:pic>
        <p:nvPicPr>
          <p:cNvPr id="10" name="Image 0" descr="preencoded.png">    </p:cNvPr>
          <p:cNvPicPr>
            <a:picLocks noChangeAspect="1"/>
          </p:cNvPicPr>
          <p:nvPr/>
        </p:nvPicPr>
        <p:blipFill>
          <a:blip r:embed="rId1"/>
          <a:stretch>
            <a:fillRect/>
          </a:stretch>
        </p:blipFill>
        <p:spPr>
          <a:xfrm>
            <a:off x="832104" y="4782312"/>
            <a:ext cx="256032" cy="256032"/>
          </a:xfrm>
          <a:prstGeom prst="rect">
            <a:avLst/>
          </a:prstGeom>
        </p:spPr>
      </p:pic>
      <p:sp>
        <p:nvSpPr>
          <p:cNvPr id="11" name="Text 8"/>
          <p:cNvSpPr txBox="1"/>
          <p:nvPr/>
        </p:nvSpPr>
        <p:spPr>
          <a:xfrm>
            <a:off x="731520" y="5212080"/>
            <a:ext cx="1554480" cy="320040"/>
          </a:xfrm>
          <a:prstGeom prst="rect">
            <a:avLst/>
          </a:prstGeom>
          <a:noFill/>
          <a:ln/>
        </p:spPr>
        <p:txBody>
          <a:bodyPr wrap="square" lIns="0" tIns="0" rIns="0" bIns="0" rtlCol="0" anchor="t"/>
          <a:lstStyle/>
          <a:p>
            <a:pPr indent="0" marL="0">
              <a:buNone/>
            </a:pPr>
            <a:r>
              <a:rPr lang="en-US" sz="1300" b="1" dirty="0">
                <a:solidFill>
                  <a:srgbClr val="0B032B"/>
                </a:solidFill>
                <a:latin typeface="Calibri" pitchFamily="34" charset="0"/>
                <a:ea typeface="Calibri" pitchFamily="34" charset="-122"/>
                <a:cs typeface="Calibri" pitchFamily="34" charset="-120"/>
              </a:rPr>
              <a:t>Intérêt général</a:t>
            </a:r>
            <a:endParaRPr lang="en-US" sz="1300" dirty="0"/>
          </a:p>
        </p:txBody>
      </p:sp>
      <p:sp>
        <p:nvSpPr>
          <p:cNvPr id="12" name="Shape 9"/>
          <p:cNvSpPr/>
          <p:nvPr/>
        </p:nvSpPr>
        <p:spPr>
          <a:xfrm>
            <a:off x="2560320" y="4526280"/>
            <a:ext cx="1828800" cy="1097280"/>
          </a:xfrm>
          <a:prstGeom prst="roundRect">
            <a:avLst>
              <a:gd name="adj" fmla="val 10000"/>
            </a:avLst>
          </a:prstGeom>
          <a:solidFill>
            <a:srgbClr val="F3F2F8"/>
          </a:solidFill>
          <a:ln/>
        </p:spPr>
      </p:sp>
      <p:sp>
        <p:nvSpPr>
          <p:cNvPr id="13" name="Shape 10"/>
          <p:cNvSpPr/>
          <p:nvPr/>
        </p:nvSpPr>
        <p:spPr>
          <a:xfrm>
            <a:off x="2743200" y="4681728"/>
            <a:ext cx="457200" cy="457200"/>
          </a:xfrm>
          <a:prstGeom prst="ellipse">
            <a:avLst/>
          </a:prstGeom>
          <a:solidFill>
            <a:srgbClr val="0B032B"/>
          </a:solidFill>
          <a:ln/>
        </p:spPr>
      </p:sp>
      <p:pic>
        <p:nvPicPr>
          <p:cNvPr id="14" name="Image 1" descr="preencoded.png">    </p:cNvPr>
          <p:cNvPicPr>
            <a:picLocks noChangeAspect="1"/>
          </p:cNvPicPr>
          <p:nvPr/>
        </p:nvPicPr>
        <p:blipFill>
          <a:blip r:embed="rId2"/>
          <a:stretch>
            <a:fillRect/>
          </a:stretch>
        </p:blipFill>
        <p:spPr>
          <a:xfrm>
            <a:off x="2843784" y="4782312"/>
            <a:ext cx="256032" cy="256032"/>
          </a:xfrm>
          <a:prstGeom prst="rect">
            <a:avLst/>
          </a:prstGeom>
        </p:spPr>
      </p:pic>
      <p:sp>
        <p:nvSpPr>
          <p:cNvPr id="15" name="Text 11"/>
          <p:cNvSpPr txBox="1"/>
          <p:nvPr/>
        </p:nvSpPr>
        <p:spPr>
          <a:xfrm>
            <a:off x="2743200" y="5212080"/>
            <a:ext cx="1554480" cy="320040"/>
          </a:xfrm>
          <a:prstGeom prst="rect">
            <a:avLst/>
          </a:prstGeom>
          <a:noFill/>
          <a:ln/>
        </p:spPr>
        <p:txBody>
          <a:bodyPr wrap="square" lIns="0" tIns="0" rIns="0" bIns="0" rtlCol="0" anchor="t"/>
          <a:lstStyle/>
          <a:p>
            <a:pPr indent="0" marL="0">
              <a:buNone/>
            </a:pPr>
            <a:r>
              <a:rPr lang="en-US" sz="1300" b="1" dirty="0">
                <a:solidFill>
                  <a:srgbClr val="0B032B"/>
                </a:solidFill>
                <a:latin typeface="Calibri" pitchFamily="34" charset="0"/>
                <a:ea typeface="Calibri" pitchFamily="34" charset="-122"/>
                <a:cs typeface="Calibri" pitchFamily="34" charset="-120"/>
              </a:rPr>
              <a:t>Proximité</a:t>
            </a:r>
            <a:endParaRPr lang="en-US" sz="1300" dirty="0"/>
          </a:p>
        </p:txBody>
      </p:sp>
      <p:sp>
        <p:nvSpPr>
          <p:cNvPr id="16" name="Shape 12"/>
          <p:cNvSpPr/>
          <p:nvPr/>
        </p:nvSpPr>
        <p:spPr>
          <a:xfrm>
            <a:off x="4572000" y="4526280"/>
            <a:ext cx="1828800" cy="1097280"/>
          </a:xfrm>
          <a:prstGeom prst="roundRect">
            <a:avLst>
              <a:gd name="adj" fmla="val 10000"/>
            </a:avLst>
          </a:prstGeom>
          <a:solidFill>
            <a:srgbClr val="F3F2F8"/>
          </a:solidFill>
          <a:ln/>
        </p:spPr>
      </p:sp>
      <p:sp>
        <p:nvSpPr>
          <p:cNvPr id="17" name="Shape 13"/>
          <p:cNvSpPr/>
          <p:nvPr/>
        </p:nvSpPr>
        <p:spPr>
          <a:xfrm>
            <a:off x="4754880" y="4681728"/>
            <a:ext cx="457200" cy="457200"/>
          </a:xfrm>
          <a:prstGeom prst="ellipse">
            <a:avLst/>
          </a:prstGeom>
          <a:solidFill>
            <a:srgbClr val="0B032B"/>
          </a:solidFill>
          <a:ln/>
        </p:spPr>
      </p:sp>
      <p:pic>
        <p:nvPicPr>
          <p:cNvPr id="18" name="Image 2" descr="preencoded.png">    </p:cNvPr>
          <p:cNvPicPr>
            <a:picLocks noChangeAspect="1"/>
          </p:cNvPicPr>
          <p:nvPr/>
        </p:nvPicPr>
        <p:blipFill>
          <a:blip r:embed="rId3"/>
          <a:stretch>
            <a:fillRect/>
          </a:stretch>
        </p:blipFill>
        <p:spPr>
          <a:xfrm>
            <a:off x="4855464" y="4782312"/>
            <a:ext cx="256032" cy="256032"/>
          </a:xfrm>
          <a:prstGeom prst="rect">
            <a:avLst/>
          </a:prstGeom>
        </p:spPr>
      </p:pic>
      <p:sp>
        <p:nvSpPr>
          <p:cNvPr id="19" name="Text 14"/>
          <p:cNvSpPr txBox="1"/>
          <p:nvPr/>
        </p:nvSpPr>
        <p:spPr>
          <a:xfrm>
            <a:off x="4754880" y="5212080"/>
            <a:ext cx="1554480" cy="320040"/>
          </a:xfrm>
          <a:prstGeom prst="rect">
            <a:avLst/>
          </a:prstGeom>
          <a:noFill/>
          <a:ln/>
        </p:spPr>
        <p:txBody>
          <a:bodyPr wrap="square" lIns="0" tIns="0" rIns="0" bIns="0" rtlCol="0" anchor="t"/>
          <a:lstStyle/>
          <a:p>
            <a:pPr indent="0" marL="0">
              <a:buNone/>
            </a:pPr>
            <a:r>
              <a:rPr lang="en-US" sz="1300" b="1" dirty="0">
                <a:solidFill>
                  <a:srgbClr val="0B032B"/>
                </a:solidFill>
                <a:latin typeface="Calibri" pitchFamily="34" charset="0"/>
                <a:ea typeface="Calibri" pitchFamily="34" charset="-122"/>
                <a:cs typeface="Calibri" pitchFamily="34" charset="-120"/>
              </a:rPr>
              <a:t>Développement</a:t>
            </a:r>
            <a:endParaRPr lang="en-US" sz="1300" dirty="0"/>
          </a:p>
        </p:txBody>
      </p:sp>
      <p:sp>
        <p:nvSpPr>
          <p:cNvPr id="20" name="Shape 15"/>
          <p:cNvSpPr/>
          <p:nvPr/>
        </p:nvSpPr>
        <p:spPr>
          <a:xfrm>
            <a:off x="7543800" y="1234440"/>
            <a:ext cx="4206240" cy="4206240"/>
          </a:xfrm>
          <a:prstGeom prst="ellipse">
            <a:avLst/>
          </a:prstGeom>
          <a:solidFill>
            <a:srgbClr val="F3F2F8"/>
          </a:solidFill>
          <a:ln/>
        </p:spPr>
      </p:sp>
      <p:sp>
        <p:nvSpPr>
          <p:cNvPr id="21" name="Shape 16"/>
          <p:cNvSpPr/>
          <p:nvPr/>
        </p:nvSpPr>
        <p:spPr>
          <a:xfrm>
            <a:off x="7863840" y="1554480"/>
            <a:ext cx="3566160" cy="3566160"/>
          </a:xfrm>
          <a:prstGeom prst="ellipse">
            <a:avLst/>
          </a:prstGeom>
          <a:solidFill>
            <a:srgbClr val="FFF9C7"/>
          </a:solidFill>
          <a:ln/>
        </p:spPr>
      </p:sp>
      <p:pic>
        <p:nvPicPr>
          <p:cNvPr id="22" name="Image 3" descr="preencoded.png">    </p:cNvPr>
          <p:cNvPicPr>
            <a:picLocks noChangeAspect="1"/>
          </p:cNvPicPr>
          <p:nvPr/>
        </p:nvPicPr>
        <p:blipFill>
          <a:blip r:embed="rId4"/>
          <a:stretch>
            <a:fillRect/>
          </a:stretch>
        </p:blipFill>
        <p:spPr>
          <a:xfrm>
            <a:off x="8503920" y="2240280"/>
            <a:ext cx="2286000" cy="2133600"/>
          </a:xfrm>
          <a:prstGeom prst="rect">
            <a:avLst/>
          </a:prstGeom>
        </p:spPr>
      </p:pic>
      <p:sp>
        <p:nvSpPr>
          <p:cNvPr id="23" name="Text 17"/>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spc="100" kern="0" dirty="0">
                <a:solidFill>
                  <a:srgbClr val="8A8699"/>
                </a:solidFill>
                <a:latin typeface="Calibri" pitchFamily="34" charset="0"/>
                <a:ea typeface="Calibri" pitchFamily="34" charset="-122"/>
                <a:cs typeface="Calibri" pitchFamily="34" charset="-120"/>
              </a:rPr>
              <a:t>ENMA FORMATION  ·  Formation des élus municipaux 2026</a:t>
            </a:r>
            <a:endParaRPr lang="en-US" sz="900" dirty="0"/>
          </a:p>
        </p:txBody>
      </p:sp>
      <p:sp>
        <p:nvSpPr>
          <p:cNvPr id="24" name="Text 18"/>
          <p:cNvSpPr txBox="1"/>
          <p:nvPr/>
        </p:nvSpPr>
        <p:spPr>
          <a:xfrm>
            <a:off x="9692640" y="6400800"/>
            <a:ext cx="548640" cy="274320"/>
          </a:xfrm>
          <a:prstGeom prst="rect">
            <a:avLst/>
          </a:prstGeom>
          <a:noFill/>
          <a:ln/>
        </p:spPr>
        <p:txBody>
          <a:bodyPr wrap="square" lIns="0" tIns="0" rIns="0" bIns="0" rtlCol="0" anchor="ctr"/>
          <a:lstStyle/>
          <a:p>
            <a:pPr algn="r" indent="0" marL="0">
              <a:buNone/>
            </a:pPr>
            <a:r>
              <a:rPr lang="en-US" sz="900" dirty="0">
                <a:solidFill>
                  <a:srgbClr val="8A8699"/>
                </a:solidFill>
                <a:latin typeface="Calibri" pitchFamily="34" charset="0"/>
                <a:ea typeface="Calibri" pitchFamily="34" charset="-122"/>
                <a:cs typeface="Calibri" pitchFamily="34" charset="-120"/>
              </a:rPr>
              <a:t>2</a:t>
            </a:r>
            <a:endParaRPr lang="en-US" sz="900" dirty="0"/>
          </a:p>
        </p:txBody>
      </p:sp>
      <p:pic>
        <p:nvPicPr>
          <p:cNvPr id="25" name="Image 4" descr="preencoded.png">    </p:cNvPr>
          <p:cNvPicPr>
            <a:picLocks noChangeAspect="1"/>
          </p:cNvPicPr>
          <p:nvPr/>
        </p:nvPicPr>
        <p:blipFill>
          <a:blip r:embed="rId5"/>
          <a:stretch>
            <a:fillRect/>
          </a:stretch>
        </p:blipFill>
        <p:spPr>
          <a:xfrm>
            <a:off x="10469880" y="6309360"/>
            <a:ext cx="1170432" cy="48463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420624" cy="310896"/>
          </a:xfrm>
          <a:prstGeom prst="roundRect">
            <a:avLst>
              <a:gd name="adj" fmla="val 23529"/>
            </a:avLst>
          </a:prstGeom>
          <a:solidFill>
            <a:srgbClr val="0B032B"/>
          </a:solidFill>
          <a:ln/>
        </p:spPr>
      </p:sp>
      <p:sp>
        <p:nvSpPr>
          <p:cNvPr id="3" name="Text 1"/>
          <p:cNvSpPr txBox="1"/>
          <p:nvPr/>
        </p:nvSpPr>
        <p:spPr>
          <a:xfrm>
            <a:off x="548640" y="438912"/>
            <a:ext cx="420624" cy="310896"/>
          </a:xfrm>
          <a:prstGeom prst="rect">
            <a:avLst/>
          </a:prstGeom>
          <a:noFill/>
          <a:ln/>
        </p:spPr>
        <p:txBody>
          <a:bodyPr wrap="square" lIns="0" tIns="0" rIns="0" bIns="0" rtlCol="0" anchor="ctr"/>
          <a:lstStyle/>
          <a:p>
            <a:pPr algn="ctr" indent="0" marL="0">
              <a:buNone/>
            </a:pPr>
            <a:r>
              <a:rPr lang="en-US" sz="1100" b="1" dirty="0">
                <a:solidFill>
                  <a:srgbClr val="FFF9C7"/>
                </a:solidFill>
                <a:latin typeface="Calibri" pitchFamily="34" charset="0"/>
                <a:ea typeface="Calibri" pitchFamily="34" charset="-122"/>
                <a:cs typeface="Calibri" pitchFamily="34" charset="-120"/>
              </a:rPr>
              <a:t>00</a:t>
            </a:r>
            <a:endParaRPr lang="en-US" sz="1100" dirty="0"/>
          </a:p>
        </p:txBody>
      </p:sp>
      <p:sp>
        <p:nvSpPr>
          <p:cNvPr id="4" name="Text 2"/>
          <p:cNvSpPr txBox="1"/>
          <p:nvPr/>
        </p:nvSpPr>
        <p:spPr>
          <a:xfrm>
            <a:off x="1115568" y="438912"/>
            <a:ext cx="8229600" cy="310896"/>
          </a:xfrm>
          <a:prstGeom prst="rect">
            <a:avLst/>
          </a:prstGeom>
          <a:noFill/>
          <a:ln/>
        </p:spPr>
        <p:txBody>
          <a:bodyPr wrap="square" lIns="0" tIns="0" rIns="0" bIns="0" rtlCol="0" anchor="ctr"/>
          <a:lstStyle/>
          <a:p>
            <a:pPr indent="0" marL="0">
              <a:buNone/>
            </a:pPr>
            <a:r>
              <a:rPr lang="en-US" sz="1100" b="1" spc="200" kern="0" dirty="0">
                <a:solidFill>
                  <a:srgbClr val="55516E"/>
                </a:solidFill>
                <a:latin typeface="Calibri" pitchFamily="34" charset="0"/>
                <a:ea typeface="Calibri" pitchFamily="34" charset="-122"/>
                <a:cs typeface="Calibri" pitchFamily="34" charset="-120"/>
              </a:rPr>
              <a:t>OUVERTURE</a:t>
            </a:r>
            <a:endParaRPr lang="en-US" sz="1100" dirty="0"/>
          </a:p>
        </p:txBody>
      </p:sp>
      <p:sp>
        <p:nvSpPr>
          <p:cNvPr id="5" name="Text 3"/>
          <p:cNvSpPr txBox="1"/>
          <p:nvPr/>
        </p:nvSpPr>
        <p:spPr>
          <a:xfrm>
            <a:off x="548640" y="841248"/>
            <a:ext cx="11064240" cy="685800"/>
          </a:xfrm>
          <a:prstGeom prst="rect">
            <a:avLst/>
          </a:prstGeom>
          <a:noFill/>
          <a:ln/>
        </p:spPr>
        <p:txBody>
          <a:bodyPr wrap="square" lIns="0" tIns="0" rIns="0" bIns="0" rtlCol="0" anchor="ctr">
            <a:normAutofit/>
          </a:bodyPr>
          <a:lstStyle/>
          <a:p>
            <a:pPr indent="0" marL="0">
              <a:buNone/>
            </a:pPr>
            <a:r>
              <a:rPr lang="en-US" sz="2800" b="1" dirty="0">
                <a:solidFill>
                  <a:srgbClr val="0B032B"/>
                </a:solidFill>
                <a:latin typeface="Calibri" pitchFamily="34" charset="0"/>
                <a:ea typeface="Calibri" pitchFamily="34" charset="-122"/>
                <a:cs typeface="Calibri" pitchFamily="34" charset="-120"/>
              </a:rPr>
              <a:t>Au cours de cette formation, vous découvrirez :</a:t>
            </a:r>
            <a:endParaRPr lang="en-US" sz="2800" dirty="0"/>
          </a:p>
        </p:txBody>
      </p:sp>
      <p:sp>
        <p:nvSpPr>
          <p:cNvPr id="6" name="Shape 4"/>
          <p:cNvSpPr/>
          <p:nvPr/>
        </p:nvSpPr>
        <p:spPr>
          <a:xfrm>
            <a:off x="795528" y="2011680"/>
            <a:ext cx="0" cy="3840480"/>
          </a:xfrm>
          <a:prstGeom prst="line">
            <a:avLst/>
          </a:prstGeom>
          <a:noFill/>
          <a:ln w="38100">
            <a:solidFill>
              <a:srgbClr val="E7E5F0"/>
            </a:solidFill>
            <a:prstDash val="dash"/>
          </a:ln>
        </p:spPr>
      </p:sp>
      <p:sp>
        <p:nvSpPr>
          <p:cNvPr id="7" name="Shape 5"/>
          <p:cNvSpPr/>
          <p:nvPr/>
        </p:nvSpPr>
        <p:spPr>
          <a:xfrm>
            <a:off x="548640" y="1828800"/>
            <a:ext cx="512064" cy="512064"/>
          </a:xfrm>
          <a:prstGeom prst="ellipse">
            <a:avLst/>
          </a:prstGeom>
          <a:solidFill>
            <a:srgbClr val="0B032B"/>
          </a:solidFill>
          <a:ln/>
        </p:spPr>
      </p:sp>
      <p:sp>
        <p:nvSpPr>
          <p:cNvPr id="8" name="Text 6"/>
          <p:cNvSpPr txBox="1"/>
          <p:nvPr/>
        </p:nvSpPr>
        <p:spPr>
          <a:xfrm>
            <a:off x="548640" y="1828800"/>
            <a:ext cx="512064" cy="512064"/>
          </a:xfrm>
          <a:prstGeom prst="rect">
            <a:avLst/>
          </a:prstGeom>
          <a:noFill/>
          <a:ln/>
        </p:spPr>
        <p:txBody>
          <a:bodyPr wrap="square" lIns="0" tIns="0" rIns="0" bIns="0" rtlCol="0" anchor="ctr"/>
          <a:lstStyle/>
          <a:p>
            <a:pPr algn="ctr" indent="0" marL="0">
              <a:buNone/>
            </a:pPr>
            <a:r>
              <a:rPr lang="en-US" sz="1600" b="1" dirty="0">
                <a:solidFill>
                  <a:srgbClr val="FFF9C7"/>
                </a:solidFill>
                <a:latin typeface="Calibri" pitchFamily="34" charset="0"/>
                <a:ea typeface="Calibri" pitchFamily="34" charset="-122"/>
                <a:cs typeface="Calibri" pitchFamily="34" charset="-120"/>
              </a:rPr>
              <a:t>1</a:t>
            </a:r>
            <a:endParaRPr lang="en-US" sz="1600" dirty="0"/>
          </a:p>
        </p:txBody>
      </p:sp>
      <p:sp>
        <p:nvSpPr>
          <p:cNvPr id="9" name="Text 7"/>
          <p:cNvSpPr txBox="1"/>
          <p:nvPr/>
        </p:nvSpPr>
        <p:spPr>
          <a:xfrm>
            <a:off x="1280160" y="1847088"/>
            <a:ext cx="5486400" cy="512064"/>
          </a:xfrm>
          <a:prstGeom prst="rect">
            <a:avLst/>
          </a:prstGeom>
          <a:noFill/>
          <a:ln/>
        </p:spPr>
        <p:txBody>
          <a:bodyPr wrap="square" lIns="0" tIns="0" rIns="0" bIns="0" rtlCol="0" anchor="ctr"/>
          <a:lstStyle/>
          <a:p>
            <a:pPr indent="0" marL="0">
              <a:buNone/>
            </a:pPr>
            <a:r>
              <a:rPr lang="en-US" sz="1600" dirty="0">
                <a:solidFill>
                  <a:srgbClr val="0B032B"/>
                </a:solidFill>
                <a:latin typeface="Calibri" pitchFamily="34" charset="0"/>
                <a:ea typeface="Calibri" pitchFamily="34" charset="-122"/>
                <a:cs typeface="Calibri" pitchFamily="34" charset="-120"/>
              </a:rPr>
              <a:t>Les fondamentaux du rôle de l’élu municipal ;</a:t>
            </a:r>
            <a:endParaRPr lang="en-US" sz="1600" dirty="0"/>
          </a:p>
        </p:txBody>
      </p:sp>
      <p:sp>
        <p:nvSpPr>
          <p:cNvPr id="10" name="Shape 8"/>
          <p:cNvSpPr/>
          <p:nvPr/>
        </p:nvSpPr>
        <p:spPr>
          <a:xfrm>
            <a:off x="548640" y="2651760"/>
            <a:ext cx="512064" cy="512064"/>
          </a:xfrm>
          <a:prstGeom prst="ellipse">
            <a:avLst/>
          </a:prstGeom>
          <a:solidFill>
            <a:srgbClr val="0B032B"/>
          </a:solidFill>
          <a:ln/>
        </p:spPr>
      </p:sp>
      <p:sp>
        <p:nvSpPr>
          <p:cNvPr id="11" name="Text 9"/>
          <p:cNvSpPr txBox="1"/>
          <p:nvPr/>
        </p:nvSpPr>
        <p:spPr>
          <a:xfrm>
            <a:off x="548640" y="2651760"/>
            <a:ext cx="512064" cy="512064"/>
          </a:xfrm>
          <a:prstGeom prst="rect">
            <a:avLst/>
          </a:prstGeom>
          <a:noFill/>
          <a:ln/>
        </p:spPr>
        <p:txBody>
          <a:bodyPr wrap="square" lIns="0" tIns="0" rIns="0" bIns="0" rtlCol="0" anchor="ctr"/>
          <a:lstStyle/>
          <a:p>
            <a:pPr algn="ctr" indent="0" marL="0">
              <a:buNone/>
            </a:pPr>
            <a:r>
              <a:rPr lang="en-US" sz="1600" b="1" dirty="0">
                <a:solidFill>
                  <a:srgbClr val="FFF9C7"/>
                </a:solidFill>
                <a:latin typeface="Calibri" pitchFamily="34" charset="0"/>
                <a:ea typeface="Calibri" pitchFamily="34" charset="-122"/>
                <a:cs typeface="Calibri" pitchFamily="34" charset="-120"/>
              </a:rPr>
              <a:t>2</a:t>
            </a:r>
            <a:endParaRPr lang="en-US" sz="1600" dirty="0"/>
          </a:p>
        </p:txBody>
      </p:sp>
      <p:sp>
        <p:nvSpPr>
          <p:cNvPr id="12" name="Text 10"/>
          <p:cNvSpPr txBox="1"/>
          <p:nvPr/>
        </p:nvSpPr>
        <p:spPr>
          <a:xfrm>
            <a:off x="1280160" y="2670048"/>
            <a:ext cx="5486400" cy="512064"/>
          </a:xfrm>
          <a:prstGeom prst="rect">
            <a:avLst/>
          </a:prstGeom>
          <a:noFill/>
          <a:ln/>
        </p:spPr>
        <p:txBody>
          <a:bodyPr wrap="square" lIns="0" tIns="0" rIns="0" bIns="0" rtlCol="0" anchor="ctr"/>
          <a:lstStyle/>
          <a:p>
            <a:pPr indent="0" marL="0">
              <a:buNone/>
            </a:pPr>
            <a:r>
              <a:rPr lang="en-US" sz="1600" dirty="0">
                <a:solidFill>
                  <a:srgbClr val="0B032B"/>
                </a:solidFill>
                <a:latin typeface="Calibri" pitchFamily="34" charset="0"/>
                <a:ea typeface="Calibri" pitchFamily="34" charset="-122"/>
                <a:cs typeface="Calibri" pitchFamily="34" charset="-120"/>
              </a:rPr>
              <a:t>Les droits, devoirs et responsabilités des élus ;</a:t>
            </a:r>
            <a:endParaRPr lang="en-US" sz="1600" dirty="0"/>
          </a:p>
        </p:txBody>
      </p:sp>
      <p:sp>
        <p:nvSpPr>
          <p:cNvPr id="13" name="Shape 11"/>
          <p:cNvSpPr/>
          <p:nvPr/>
        </p:nvSpPr>
        <p:spPr>
          <a:xfrm>
            <a:off x="548640" y="3474720"/>
            <a:ext cx="512064" cy="512064"/>
          </a:xfrm>
          <a:prstGeom prst="ellipse">
            <a:avLst/>
          </a:prstGeom>
          <a:solidFill>
            <a:srgbClr val="0B032B"/>
          </a:solidFill>
          <a:ln/>
        </p:spPr>
      </p:sp>
      <p:sp>
        <p:nvSpPr>
          <p:cNvPr id="14" name="Text 12"/>
          <p:cNvSpPr txBox="1"/>
          <p:nvPr/>
        </p:nvSpPr>
        <p:spPr>
          <a:xfrm>
            <a:off x="548640" y="3474720"/>
            <a:ext cx="512064" cy="512064"/>
          </a:xfrm>
          <a:prstGeom prst="rect">
            <a:avLst/>
          </a:prstGeom>
          <a:noFill/>
          <a:ln/>
        </p:spPr>
        <p:txBody>
          <a:bodyPr wrap="square" lIns="0" tIns="0" rIns="0" bIns="0" rtlCol="0" anchor="ctr"/>
          <a:lstStyle/>
          <a:p>
            <a:pPr algn="ctr" indent="0" marL="0">
              <a:buNone/>
            </a:pPr>
            <a:r>
              <a:rPr lang="en-US" sz="1600" b="1" dirty="0">
                <a:solidFill>
                  <a:srgbClr val="FFF9C7"/>
                </a:solidFill>
                <a:latin typeface="Calibri" pitchFamily="34" charset="0"/>
                <a:ea typeface="Calibri" pitchFamily="34" charset="-122"/>
                <a:cs typeface="Calibri" pitchFamily="34" charset="-120"/>
              </a:rPr>
              <a:t>3</a:t>
            </a:r>
            <a:endParaRPr lang="en-US" sz="1600" dirty="0"/>
          </a:p>
        </p:txBody>
      </p:sp>
      <p:sp>
        <p:nvSpPr>
          <p:cNvPr id="15" name="Text 13"/>
          <p:cNvSpPr txBox="1"/>
          <p:nvPr/>
        </p:nvSpPr>
        <p:spPr>
          <a:xfrm>
            <a:off x="1280160" y="3493008"/>
            <a:ext cx="5486400" cy="512064"/>
          </a:xfrm>
          <a:prstGeom prst="rect">
            <a:avLst/>
          </a:prstGeom>
          <a:noFill/>
          <a:ln/>
        </p:spPr>
        <p:txBody>
          <a:bodyPr wrap="square" lIns="0" tIns="0" rIns="0" bIns="0" rtlCol="0" anchor="ctr"/>
          <a:lstStyle/>
          <a:p>
            <a:pPr indent="0" marL="0">
              <a:buNone/>
            </a:pPr>
            <a:r>
              <a:rPr lang="en-US" sz="1600" dirty="0">
                <a:solidFill>
                  <a:srgbClr val="0B032B"/>
                </a:solidFill>
                <a:latin typeface="Calibri" pitchFamily="34" charset="0"/>
                <a:ea typeface="Calibri" pitchFamily="34" charset="-122"/>
                <a:cs typeface="Calibri" pitchFamily="34" charset="-120"/>
              </a:rPr>
              <a:t>Le fonctionnement des collectivités territoriales ;</a:t>
            </a:r>
            <a:endParaRPr lang="en-US" sz="1600" dirty="0"/>
          </a:p>
        </p:txBody>
      </p:sp>
      <p:sp>
        <p:nvSpPr>
          <p:cNvPr id="16" name="Shape 14"/>
          <p:cNvSpPr/>
          <p:nvPr/>
        </p:nvSpPr>
        <p:spPr>
          <a:xfrm>
            <a:off x="548640" y="4297680"/>
            <a:ext cx="512064" cy="512064"/>
          </a:xfrm>
          <a:prstGeom prst="ellipse">
            <a:avLst/>
          </a:prstGeom>
          <a:solidFill>
            <a:srgbClr val="0B032B"/>
          </a:solidFill>
          <a:ln/>
        </p:spPr>
      </p:sp>
      <p:sp>
        <p:nvSpPr>
          <p:cNvPr id="17" name="Text 15"/>
          <p:cNvSpPr txBox="1"/>
          <p:nvPr/>
        </p:nvSpPr>
        <p:spPr>
          <a:xfrm>
            <a:off x="548640" y="4297680"/>
            <a:ext cx="512064" cy="512064"/>
          </a:xfrm>
          <a:prstGeom prst="rect">
            <a:avLst/>
          </a:prstGeom>
          <a:noFill/>
          <a:ln/>
        </p:spPr>
        <p:txBody>
          <a:bodyPr wrap="square" lIns="0" tIns="0" rIns="0" bIns="0" rtlCol="0" anchor="ctr"/>
          <a:lstStyle/>
          <a:p>
            <a:pPr algn="ctr" indent="0" marL="0">
              <a:buNone/>
            </a:pPr>
            <a:r>
              <a:rPr lang="en-US" sz="1600" b="1" dirty="0">
                <a:solidFill>
                  <a:srgbClr val="FFF9C7"/>
                </a:solidFill>
                <a:latin typeface="Calibri" pitchFamily="34" charset="0"/>
                <a:ea typeface="Calibri" pitchFamily="34" charset="-122"/>
                <a:cs typeface="Calibri" pitchFamily="34" charset="-120"/>
              </a:rPr>
              <a:t>4</a:t>
            </a:r>
            <a:endParaRPr lang="en-US" sz="1600" dirty="0"/>
          </a:p>
        </p:txBody>
      </p:sp>
      <p:sp>
        <p:nvSpPr>
          <p:cNvPr id="18" name="Text 16"/>
          <p:cNvSpPr txBox="1"/>
          <p:nvPr/>
        </p:nvSpPr>
        <p:spPr>
          <a:xfrm>
            <a:off x="1280160" y="4315968"/>
            <a:ext cx="5486400" cy="512064"/>
          </a:xfrm>
          <a:prstGeom prst="rect">
            <a:avLst/>
          </a:prstGeom>
          <a:noFill/>
          <a:ln/>
        </p:spPr>
        <p:txBody>
          <a:bodyPr wrap="square" lIns="0" tIns="0" rIns="0" bIns="0" rtlCol="0" anchor="ctr"/>
          <a:lstStyle/>
          <a:p>
            <a:pPr indent="0" marL="0">
              <a:buNone/>
            </a:pPr>
            <a:r>
              <a:rPr lang="en-US" sz="1600" dirty="0">
                <a:solidFill>
                  <a:srgbClr val="0B032B"/>
                </a:solidFill>
                <a:latin typeface="Calibri" pitchFamily="34" charset="0"/>
                <a:ea typeface="Calibri" pitchFamily="34" charset="-122"/>
                <a:cs typeface="Calibri" pitchFamily="34" charset="-120"/>
              </a:rPr>
              <a:t>Les relations avec les habitants, les partenaires et les institutions ;</a:t>
            </a:r>
            <a:endParaRPr lang="en-US" sz="1600" dirty="0"/>
          </a:p>
        </p:txBody>
      </p:sp>
      <p:sp>
        <p:nvSpPr>
          <p:cNvPr id="19" name="Shape 17"/>
          <p:cNvSpPr/>
          <p:nvPr/>
        </p:nvSpPr>
        <p:spPr>
          <a:xfrm>
            <a:off x="548640" y="5120640"/>
            <a:ext cx="512064" cy="512064"/>
          </a:xfrm>
          <a:prstGeom prst="ellipse">
            <a:avLst/>
          </a:prstGeom>
          <a:solidFill>
            <a:srgbClr val="FFF9C7"/>
          </a:solidFill>
          <a:ln w="25400">
            <a:solidFill>
              <a:srgbClr val="0B032B"/>
            </a:solidFill>
            <a:prstDash val="solid"/>
          </a:ln>
        </p:spPr>
      </p:sp>
      <p:sp>
        <p:nvSpPr>
          <p:cNvPr id="20" name="Text 18"/>
          <p:cNvSpPr txBox="1"/>
          <p:nvPr/>
        </p:nvSpPr>
        <p:spPr>
          <a:xfrm>
            <a:off x="548640" y="5120640"/>
            <a:ext cx="512064" cy="512064"/>
          </a:xfrm>
          <a:prstGeom prst="rect">
            <a:avLst/>
          </a:prstGeom>
          <a:noFill/>
          <a:ln/>
        </p:spPr>
        <p:txBody>
          <a:bodyPr wrap="square" lIns="0" tIns="0" rIns="0" bIns="0" rtlCol="0" anchor="ctr"/>
          <a:lstStyle/>
          <a:p>
            <a:pPr algn="ctr" indent="0" marL="0">
              <a:buNone/>
            </a:pPr>
            <a:r>
              <a:rPr lang="en-US" sz="1600" b="1" dirty="0">
                <a:solidFill>
                  <a:srgbClr val="0B032B"/>
                </a:solidFill>
                <a:latin typeface="Calibri" pitchFamily="34" charset="0"/>
                <a:ea typeface="Calibri" pitchFamily="34" charset="-122"/>
                <a:cs typeface="Calibri" pitchFamily="34" charset="-120"/>
              </a:rPr>
              <a:t>5</a:t>
            </a:r>
            <a:endParaRPr lang="en-US" sz="1600" dirty="0"/>
          </a:p>
        </p:txBody>
      </p:sp>
      <p:sp>
        <p:nvSpPr>
          <p:cNvPr id="21" name="Text 19"/>
          <p:cNvSpPr txBox="1"/>
          <p:nvPr/>
        </p:nvSpPr>
        <p:spPr>
          <a:xfrm>
            <a:off x="1280160" y="5138928"/>
            <a:ext cx="5486400" cy="512064"/>
          </a:xfrm>
          <a:prstGeom prst="rect">
            <a:avLst/>
          </a:prstGeom>
          <a:noFill/>
          <a:ln/>
        </p:spPr>
        <p:txBody>
          <a:bodyPr wrap="square" lIns="0" tIns="0" rIns="0" bIns="0" rtlCol="0" anchor="ctr"/>
          <a:lstStyle/>
          <a:p>
            <a:pPr indent="0" marL="0">
              <a:buNone/>
            </a:pPr>
            <a:r>
              <a:rPr lang="en-US" sz="1600" dirty="0">
                <a:solidFill>
                  <a:srgbClr val="0B032B"/>
                </a:solidFill>
                <a:latin typeface="Calibri" pitchFamily="34" charset="0"/>
                <a:ea typeface="Calibri" pitchFamily="34" charset="-122"/>
                <a:cs typeface="Calibri" pitchFamily="34" charset="-120"/>
              </a:rPr>
              <a:t>Les clés pour exercer votre mandat avec efficacité, éthique et sérénité.</a:t>
            </a:r>
            <a:endParaRPr lang="en-US" sz="1600" dirty="0"/>
          </a:p>
        </p:txBody>
      </p:sp>
      <p:sp>
        <p:nvSpPr>
          <p:cNvPr id="22" name="Shape 20"/>
          <p:cNvSpPr/>
          <p:nvPr/>
        </p:nvSpPr>
        <p:spPr>
          <a:xfrm>
            <a:off x="7086600" y="1828800"/>
            <a:ext cx="4572000" cy="2377440"/>
          </a:xfrm>
          <a:prstGeom prst="roundRect">
            <a:avLst>
              <a:gd name="adj" fmla="val 4615"/>
            </a:avLst>
          </a:prstGeom>
          <a:solidFill>
            <a:srgbClr val="0B032B"/>
          </a:solidFill>
          <a:ln/>
        </p:spPr>
      </p:sp>
      <p:sp>
        <p:nvSpPr>
          <p:cNvPr id="23" name="Text 21"/>
          <p:cNvSpPr txBox="1"/>
          <p:nvPr/>
        </p:nvSpPr>
        <p:spPr>
          <a:xfrm>
            <a:off x="7406640" y="2057400"/>
            <a:ext cx="4023360" cy="274320"/>
          </a:xfrm>
          <a:prstGeom prst="rect">
            <a:avLst/>
          </a:prstGeom>
          <a:noFill/>
          <a:ln/>
        </p:spPr>
        <p:txBody>
          <a:bodyPr wrap="square" lIns="0" tIns="0" rIns="0" bIns="0" rtlCol="0" anchor="t"/>
          <a:lstStyle/>
          <a:p>
            <a:pPr indent="0" marL="0">
              <a:buNone/>
            </a:pPr>
            <a:r>
              <a:rPr lang="en-US" sz="1100" b="1" spc="300" kern="0" dirty="0">
                <a:solidFill>
                  <a:srgbClr val="FFF9C7"/>
                </a:solidFill>
                <a:latin typeface="Calibri" pitchFamily="34" charset="0"/>
                <a:ea typeface="Calibri" pitchFamily="34" charset="-122"/>
                <a:cs typeface="Calibri" pitchFamily="34" charset="-120"/>
              </a:rPr>
              <a:t>NOTRE OBJECTIF AUJOURD’HUI</a:t>
            </a:r>
            <a:endParaRPr lang="en-US" sz="1100" dirty="0"/>
          </a:p>
        </p:txBody>
      </p:sp>
      <p:sp>
        <p:nvSpPr>
          <p:cNvPr id="24" name="Text 22"/>
          <p:cNvSpPr txBox="1"/>
          <p:nvPr/>
        </p:nvSpPr>
        <p:spPr>
          <a:xfrm>
            <a:off x="7406640" y="2423160"/>
            <a:ext cx="3977640" cy="1645920"/>
          </a:xfrm>
          <a:prstGeom prst="rect">
            <a:avLst/>
          </a:prstGeom>
          <a:noFill/>
          <a:ln/>
        </p:spPr>
        <p:txBody>
          <a:bodyPr wrap="square" lIns="0" tIns="0" rIns="0" bIns="0" rtlCol="0" anchor="t"/>
          <a:lstStyle/>
          <a:p>
            <a:pPr indent="0" marL="0">
              <a:lnSpc>
                <a:spcPct val="110000"/>
              </a:lnSpc>
              <a:buNone/>
            </a:pPr>
            <a:r>
              <a:rPr lang="en-US" sz="1600" dirty="0">
                <a:solidFill>
                  <a:srgbClr val="FFFFFF"/>
                </a:solidFill>
                <a:latin typeface="Calibri" pitchFamily="34" charset="0"/>
                <a:ea typeface="Calibri" pitchFamily="34" charset="-122"/>
                <a:cs typeface="Calibri" pitchFamily="34" charset="-120"/>
              </a:rPr>
              <a:t>Vous donner toutes les clés pour exercer votre mandat avec confiance, compétence et responsabilité, au service de votre commune et de ses habitants.</a:t>
            </a:r>
            <a:endParaRPr lang="en-US" sz="1600" dirty="0"/>
          </a:p>
        </p:txBody>
      </p:sp>
      <p:sp>
        <p:nvSpPr>
          <p:cNvPr id="25" name="Shape 23"/>
          <p:cNvSpPr/>
          <p:nvPr/>
        </p:nvSpPr>
        <p:spPr>
          <a:xfrm>
            <a:off x="7086600" y="4434840"/>
            <a:ext cx="4572000" cy="1600200"/>
          </a:xfrm>
          <a:prstGeom prst="roundRect">
            <a:avLst>
              <a:gd name="adj" fmla="val 6857"/>
            </a:avLst>
          </a:prstGeom>
          <a:solidFill>
            <a:srgbClr val="FFF9C7"/>
          </a:solidFill>
          <a:ln/>
        </p:spPr>
      </p:sp>
      <p:sp>
        <p:nvSpPr>
          <p:cNvPr id="26" name="Text 24"/>
          <p:cNvSpPr txBox="1"/>
          <p:nvPr/>
        </p:nvSpPr>
        <p:spPr>
          <a:xfrm>
            <a:off x="7269480" y="4315968"/>
            <a:ext cx="548640" cy="731520"/>
          </a:xfrm>
          <a:prstGeom prst="rect">
            <a:avLst/>
          </a:prstGeom>
          <a:noFill/>
          <a:ln/>
        </p:spPr>
        <p:txBody>
          <a:bodyPr wrap="square" lIns="0" tIns="0" rIns="0" bIns="0" rtlCol="0" anchor="t"/>
          <a:lstStyle/>
          <a:p>
            <a:pPr indent="0" marL="0">
              <a:buNone/>
            </a:pPr>
            <a:r>
              <a:rPr lang="en-US" sz="6000" b="1" dirty="0">
                <a:solidFill>
                  <a:srgbClr val="0B032B"/>
                </a:solidFill>
                <a:latin typeface="Cambria" pitchFamily="34" charset="0"/>
                <a:ea typeface="Cambria" pitchFamily="34" charset="-122"/>
                <a:cs typeface="Cambria" pitchFamily="34" charset="-120"/>
              </a:rPr>
              <a:t>“</a:t>
            </a:r>
            <a:endParaRPr lang="en-US" sz="6000" dirty="0"/>
          </a:p>
        </p:txBody>
      </p:sp>
      <p:sp>
        <p:nvSpPr>
          <p:cNvPr id="27" name="Text 25"/>
          <p:cNvSpPr txBox="1"/>
          <p:nvPr/>
        </p:nvSpPr>
        <p:spPr>
          <a:xfrm>
            <a:off x="7818120" y="4617720"/>
            <a:ext cx="3611880" cy="1280160"/>
          </a:xfrm>
          <a:prstGeom prst="rect">
            <a:avLst/>
          </a:prstGeom>
          <a:noFill/>
          <a:ln/>
        </p:spPr>
        <p:txBody>
          <a:bodyPr wrap="square" lIns="0" tIns="0" rIns="0" bIns="0" rtlCol="0" anchor="ctr"/>
          <a:lstStyle/>
          <a:p>
            <a:pPr indent="0" marL="0">
              <a:buNone/>
            </a:pPr>
            <a:r>
              <a:rPr lang="en-US" sz="1500" i="1" dirty="0">
                <a:solidFill>
                  <a:srgbClr val="0B032B"/>
                </a:solidFill>
                <a:latin typeface="Cambria" pitchFamily="34" charset="0"/>
                <a:ea typeface="Cambria" pitchFamily="34" charset="-122"/>
                <a:cs typeface="Cambria" pitchFamily="34" charset="-120"/>
              </a:rPr>
              <a:t>Être élu, c’est transformer la confiance des citoyens en actions concrètes au service de l’intérêt général.</a:t>
            </a:r>
            <a:endParaRPr lang="en-US" sz="1500" dirty="0"/>
          </a:p>
        </p:txBody>
      </p:sp>
      <p:sp>
        <p:nvSpPr>
          <p:cNvPr id="28" name="Text 26"/>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spc="100" kern="0" dirty="0">
                <a:solidFill>
                  <a:srgbClr val="8A8699"/>
                </a:solidFill>
                <a:latin typeface="Calibri" pitchFamily="34" charset="0"/>
                <a:ea typeface="Calibri" pitchFamily="34" charset="-122"/>
                <a:cs typeface="Calibri" pitchFamily="34" charset="-120"/>
              </a:rPr>
              <a:t>ENMA FORMATION  ·  Formation des élus municipaux 2026</a:t>
            </a:r>
            <a:endParaRPr lang="en-US" sz="900" dirty="0"/>
          </a:p>
        </p:txBody>
      </p:sp>
      <p:sp>
        <p:nvSpPr>
          <p:cNvPr id="29" name="Text 27"/>
          <p:cNvSpPr txBox="1"/>
          <p:nvPr/>
        </p:nvSpPr>
        <p:spPr>
          <a:xfrm>
            <a:off x="9692640" y="6400800"/>
            <a:ext cx="548640" cy="274320"/>
          </a:xfrm>
          <a:prstGeom prst="rect">
            <a:avLst/>
          </a:prstGeom>
          <a:noFill/>
          <a:ln/>
        </p:spPr>
        <p:txBody>
          <a:bodyPr wrap="square" lIns="0" tIns="0" rIns="0" bIns="0" rtlCol="0" anchor="ctr"/>
          <a:lstStyle/>
          <a:p>
            <a:pPr algn="r" indent="0" marL="0">
              <a:buNone/>
            </a:pPr>
            <a:r>
              <a:rPr lang="en-US" sz="900" dirty="0">
                <a:solidFill>
                  <a:srgbClr val="8A8699"/>
                </a:solidFill>
                <a:latin typeface="Calibri" pitchFamily="34" charset="0"/>
                <a:ea typeface="Calibri" pitchFamily="34" charset="-122"/>
                <a:cs typeface="Calibri" pitchFamily="34" charset="-120"/>
              </a:rPr>
              <a:t>3</a:t>
            </a:r>
            <a:endParaRPr lang="en-US" sz="900" dirty="0"/>
          </a:p>
        </p:txBody>
      </p:sp>
      <p:pic>
        <p:nvPicPr>
          <p:cNvPr id="30" name="Image 0" descr="preencoded.png">    </p:cNvPr>
          <p:cNvPicPr>
            <a:picLocks noChangeAspect="1"/>
          </p:cNvPicPr>
          <p:nvPr/>
        </p:nvPicPr>
        <p:blipFill>
          <a:blip r:embed="rId1"/>
          <a:stretch>
            <a:fillRect/>
          </a:stretch>
        </p:blipFill>
        <p:spPr>
          <a:xfrm>
            <a:off x="10469880" y="6309360"/>
            <a:ext cx="1170432" cy="48463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420624" cy="310896"/>
          </a:xfrm>
          <a:prstGeom prst="roundRect">
            <a:avLst>
              <a:gd name="adj" fmla="val 23529"/>
            </a:avLst>
          </a:prstGeom>
          <a:solidFill>
            <a:srgbClr val="0B032B"/>
          </a:solidFill>
          <a:ln/>
        </p:spPr>
      </p:sp>
      <p:sp>
        <p:nvSpPr>
          <p:cNvPr id="3" name="Text 1"/>
          <p:cNvSpPr txBox="1"/>
          <p:nvPr/>
        </p:nvSpPr>
        <p:spPr>
          <a:xfrm>
            <a:off x="548640" y="438912"/>
            <a:ext cx="420624" cy="310896"/>
          </a:xfrm>
          <a:prstGeom prst="rect">
            <a:avLst/>
          </a:prstGeom>
          <a:noFill/>
          <a:ln/>
        </p:spPr>
        <p:txBody>
          <a:bodyPr wrap="square" lIns="0" tIns="0" rIns="0" bIns="0" rtlCol="0" anchor="ctr"/>
          <a:lstStyle/>
          <a:p>
            <a:pPr algn="ctr" indent="0" marL="0">
              <a:buNone/>
            </a:pPr>
            <a:r>
              <a:rPr lang="en-US" sz="1100" b="1" dirty="0">
                <a:solidFill>
                  <a:srgbClr val="FFF9C7"/>
                </a:solidFill>
                <a:latin typeface="Calibri" pitchFamily="34" charset="0"/>
                <a:ea typeface="Calibri" pitchFamily="34" charset="-122"/>
                <a:cs typeface="Calibri" pitchFamily="34" charset="-120"/>
              </a:rPr>
              <a:t>00</a:t>
            </a:r>
            <a:endParaRPr lang="en-US" sz="1100" dirty="0"/>
          </a:p>
        </p:txBody>
      </p:sp>
      <p:sp>
        <p:nvSpPr>
          <p:cNvPr id="4" name="Text 2"/>
          <p:cNvSpPr txBox="1"/>
          <p:nvPr/>
        </p:nvSpPr>
        <p:spPr>
          <a:xfrm>
            <a:off x="1115568" y="438912"/>
            <a:ext cx="8229600" cy="310896"/>
          </a:xfrm>
          <a:prstGeom prst="rect">
            <a:avLst/>
          </a:prstGeom>
          <a:noFill/>
          <a:ln/>
        </p:spPr>
        <p:txBody>
          <a:bodyPr wrap="square" lIns="0" tIns="0" rIns="0" bIns="0" rtlCol="0" anchor="ctr"/>
          <a:lstStyle/>
          <a:p>
            <a:pPr indent="0" marL="0">
              <a:buNone/>
            </a:pPr>
            <a:r>
              <a:rPr lang="en-US" sz="1100" b="1" spc="200" kern="0" dirty="0">
                <a:solidFill>
                  <a:srgbClr val="55516E"/>
                </a:solidFill>
                <a:latin typeface="Calibri" pitchFamily="34" charset="0"/>
                <a:ea typeface="Calibri" pitchFamily="34" charset="-122"/>
                <a:cs typeface="Calibri" pitchFamily="34" charset="-120"/>
              </a:rPr>
              <a:t>ORGANISATION DE LA JOURNÉE</a:t>
            </a:r>
            <a:endParaRPr lang="en-US" sz="1100" dirty="0"/>
          </a:p>
        </p:txBody>
      </p:sp>
      <p:sp>
        <p:nvSpPr>
          <p:cNvPr id="5" name="Text 3"/>
          <p:cNvSpPr txBox="1"/>
          <p:nvPr/>
        </p:nvSpPr>
        <p:spPr>
          <a:xfrm>
            <a:off x="548640" y="841248"/>
            <a:ext cx="11064240" cy="685800"/>
          </a:xfrm>
          <a:prstGeom prst="rect">
            <a:avLst/>
          </a:prstGeom>
          <a:noFill/>
          <a:ln/>
        </p:spPr>
        <p:txBody>
          <a:bodyPr wrap="square" lIns="0" tIns="0" rIns="0" bIns="0" rtlCol="0" anchor="ctr">
            <a:normAutofit/>
          </a:bodyPr>
          <a:lstStyle/>
          <a:p>
            <a:pPr indent="0" marL="0">
              <a:buNone/>
            </a:pPr>
            <a:r>
              <a:rPr lang="en-US" sz="2800" b="1" dirty="0">
                <a:solidFill>
                  <a:srgbClr val="0B032B"/>
                </a:solidFill>
                <a:latin typeface="Calibri" pitchFamily="34" charset="0"/>
                <a:ea typeface="Calibri" pitchFamily="34" charset="-122"/>
                <a:cs typeface="Calibri" pitchFamily="34" charset="-120"/>
              </a:rPr>
              <a:t>Déroulé pédagogique : 7 heures, 1 journée</a:t>
            </a:r>
            <a:endParaRPr lang="en-US" sz="2800" dirty="0"/>
          </a:p>
        </p:txBody>
      </p:sp>
      <p:sp>
        <p:nvSpPr>
          <p:cNvPr id="6" name="Text 4"/>
          <p:cNvSpPr txBox="1"/>
          <p:nvPr/>
        </p:nvSpPr>
        <p:spPr>
          <a:xfrm>
            <a:off x="548640" y="1691640"/>
            <a:ext cx="2743200" cy="274320"/>
          </a:xfrm>
          <a:prstGeom prst="rect">
            <a:avLst/>
          </a:prstGeom>
          <a:noFill/>
          <a:ln/>
        </p:spPr>
        <p:txBody>
          <a:bodyPr wrap="square" lIns="0" tIns="0" rIns="0" bIns="0" rtlCol="0" anchor="t"/>
          <a:lstStyle/>
          <a:p>
            <a:pPr indent="0" marL="0">
              <a:buNone/>
            </a:pPr>
            <a:r>
              <a:rPr lang="en-US" sz="1100" b="1" spc="300" kern="0" dirty="0">
                <a:solidFill>
                  <a:srgbClr val="55516E"/>
                </a:solidFill>
                <a:latin typeface="Calibri" pitchFamily="34" charset="0"/>
                <a:ea typeface="Calibri" pitchFamily="34" charset="-122"/>
                <a:cs typeface="Calibri" pitchFamily="34" charset="-120"/>
              </a:rPr>
              <a:t>MATIN</a:t>
            </a:r>
            <a:endParaRPr lang="en-US" sz="1100" dirty="0"/>
          </a:p>
        </p:txBody>
      </p:sp>
      <p:sp>
        <p:nvSpPr>
          <p:cNvPr id="7" name="Shape 5"/>
          <p:cNvSpPr/>
          <p:nvPr/>
        </p:nvSpPr>
        <p:spPr>
          <a:xfrm>
            <a:off x="548640" y="2057400"/>
            <a:ext cx="1309878" cy="1508760"/>
          </a:xfrm>
          <a:prstGeom prst="roundRect">
            <a:avLst>
              <a:gd name="adj" fmla="val 6981"/>
            </a:avLst>
          </a:prstGeom>
          <a:solidFill>
            <a:srgbClr val="0B032B"/>
          </a:solidFill>
          <a:ln/>
        </p:spPr>
      </p:sp>
      <p:sp>
        <p:nvSpPr>
          <p:cNvPr id="8" name="Text 6"/>
          <p:cNvSpPr txBox="1"/>
          <p:nvPr/>
        </p:nvSpPr>
        <p:spPr>
          <a:xfrm>
            <a:off x="658368" y="2167128"/>
            <a:ext cx="1126998" cy="228600"/>
          </a:xfrm>
          <a:prstGeom prst="rect">
            <a:avLst/>
          </a:prstGeom>
          <a:noFill/>
          <a:ln/>
        </p:spPr>
        <p:txBody>
          <a:bodyPr wrap="square" lIns="0" tIns="0" rIns="0" bIns="0" rtlCol="0" anchor="t"/>
          <a:lstStyle/>
          <a:p>
            <a:pPr indent="0" marL="0">
              <a:buNone/>
            </a:pPr>
            <a:r>
              <a:rPr lang="en-US" sz="1000" b="1" dirty="0">
                <a:solidFill>
                  <a:srgbClr val="B3B3BA"/>
                </a:solidFill>
                <a:latin typeface="Calibri" pitchFamily="34" charset="0"/>
                <a:ea typeface="Calibri" pitchFamily="34" charset="-122"/>
                <a:cs typeface="Calibri" pitchFamily="34" charset="-120"/>
              </a:rPr>
              <a:t>09h00</a:t>
            </a:r>
            <a:endParaRPr lang="en-US" sz="1000" dirty="0"/>
          </a:p>
        </p:txBody>
      </p:sp>
      <p:sp>
        <p:nvSpPr>
          <p:cNvPr id="9" name="Text 7"/>
          <p:cNvSpPr txBox="1"/>
          <p:nvPr/>
        </p:nvSpPr>
        <p:spPr>
          <a:xfrm>
            <a:off x="658368" y="2386584"/>
            <a:ext cx="914400" cy="457200"/>
          </a:xfrm>
          <a:prstGeom prst="rect">
            <a:avLst/>
          </a:prstGeom>
          <a:noFill/>
          <a:ln/>
        </p:spPr>
        <p:txBody>
          <a:bodyPr wrap="square" lIns="0" tIns="0" rIns="0" bIns="0" rtlCol="0" anchor="t"/>
          <a:lstStyle/>
          <a:p>
            <a:pPr indent="0" marL="0">
              <a:buNone/>
            </a:pPr>
            <a:r>
              <a:rPr lang="en-US" sz="2400" dirty="0">
                <a:solidFill>
                  <a:srgbClr val="FFF9C7"/>
                </a:solidFill>
                <a:latin typeface="Impact" pitchFamily="34" charset="0"/>
                <a:ea typeface="Impact" pitchFamily="34" charset="-122"/>
                <a:cs typeface="Impact" pitchFamily="34" charset="-120"/>
              </a:rPr>
              <a:t>00</a:t>
            </a:r>
            <a:endParaRPr lang="en-US" sz="2400" dirty="0"/>
          </a:p>
        </p:txBody>
      </p:sp>
      <p:sp>
        <p:nvSpPr>
          <p:cNvPr id="10" name="Text 8"/>
          <p:cNvSpPr txBox="1"/>
          <p:nvPr/>
        </p:nvSpPr>
        <p:spPr>
          <a:xfrm>
            <a:off x="658368" y="2880360"/>
            <a:ext cx="1108710" cy="594360"/>
          </a:xfrm>
          <a:prstGeom prst="rect">
            <a:avLst/>
          </a:prstGeom>
          <a:noFill/>
          <a:ln/>
        </p:spPr>
        <p:txBody>
          <a:bodyPr wrap="square" lIns="0" tIns="0" rIns="0" bIns="0" rtlCol="0" anchor="t">
            <a:normAutofit/>
          </a:bodyPr>
          <a:lstStyle/>
          <a:p>
            <a:pPr indent="0" marL="0">
              <a:buNone/>
            </a:pPr>
            <a:r>
              <a:rPr lang="en-US" sz="1100" b="1" dirty="0">
                <a:solidFill>
                  <a:srgbClr val="FFFFFF"/>
                </a:solidFill>
                <a:latin typeface="Calibri" pitchFamily="34" charset="0"/>
                <a:ea typeface="Calibri" pitchFamily="34" charset="-122"/>
                <a:cs typeface="Calibri" pitchFamily="34" charset="-120"/>
              </a:rPr>
              <a:t>Ouverture</a:t>
            </a:r>
            <a:endParaRPr lang="en-US" sz="1100" dirty="0"/>
          </a:p>
        </p:txBody>
      </p:sp>
      <p:sp>
        <p:nvSpPr>
          <p:cNvPr id="11" name="Text 9"/>
          <p:cNvSpPr txBox="1"/>
          <p:nvPr/>
        </p:nvSpPr>
        <p:spPr>
          <a:xfrm>
            <a:off x="1035558" y="2167128"/>
            <a:ext cx="713232" cy="228600"/>
          </a:xfrm>
          <a:prstGeom prst="rect">
            <a:avLst/>
          </a:prstGeom>
          <a:noFill/>
          <a:ln/>
        </p:spPr>
        <p:txBody>
          <a:bodyPr wrap="square" lIns="0" tIns="0" rIns="0" bIns="0" rtlCol="0" anchor="t"/>
          <a:lstStyle/>
          <a:p>
            <a:pPr algn="r" indent="0" marL="0">
              <a:buNone/>
            </a:pPr>
            <a:r>
              <a:rPr lang="en-US" sz="1000" dirty="0">
                <a:solidFill>
                  <a:srgbClr val="FFF9C7"/>
                </a:solidFill>
                <a:latin typeface="Calibri" pitchFamily="34" charset="0"/>
                <a:ea typeface="Calibri" pitchFamily="34" charset="-122"/>
                <a:cs typeface="Calibri" pitchFamily="34" charset="-120"/>
              </a:rPr>
              <a:t>30 min</a:t>
            </a:r>
            <a:endParaRPr lang="en-US" sz="1000" dirty="0"/>
          </a:p>
        </p:txBody>
      </p:sp>
      <p:sp>
        <p:nvSpPr>
          <p:cNvPr id="12" name="Shape 10"/>
          <p:cNvSpPr/>
          <p:nvPr/>
        </p:nvSpPr>
        <p:spPr>
          <a:xfrm>
            <a:off x="1931670" y="2057400"/>
            <a:ext cx="2692908" cy="1508760"/>
          </a:xfrm>
          <a:prstGeom prst="roundRect">
            <a:avLst>
              <a:gd name="adj" fmla="val 6061"/>
            </a:avLst>
          </a:prstGeom>
          <a:solidFill>
            <a:srgbClr val="0B032B"/>
          </a:solidFill>
          <a:ln/>
        </p:spPr>
      </p:sp>
      <p:sp>
        <p:nvSpPr>
          <p:cNvPr id="13" name="Text 11"/>
          <p:cNvSpPr txBox="1"/>
          <p:nvPr/>
        </p:nvSpPr>
        <p:spPr>
          <a:xfrm>
            <a:off x="2041398" y="2167128"/>
            <a:ext cx="2510028" cy="228600"/>
          </a:xfrm>
          <a:prstGeom prst="rect">
            <a:avLst/>
          </a:prstGeom>
          <a:noFill/>
          <a:ln/>
        </p:spPr>
        <p:txBody>
          <a:bodyPr wrap="square" lIns="0" tIns="0" rIns="0" bIns="0" rtlCol="0" anchor="t"/>
          <a:lstStyle/>
          <a:p>
            <a:pPr indent="0" marL="0">
              <a:buNone/>
            </a:pPr>
            <a:r>
              <a:rPr lang="en-US" sz="1000" b="1" dirty="0">
                <a:solidFill>
                  <a:srgbClr val="B3B3BA"/>
                </a:solidFill>
                <a:latin typeface="Calibri" pitchFamily="34" charset="0"/>
                <a:ea typeface="Calibri" pitchFamily="34" charset="-122"/>
                <a:cs typeface="Calibri" pitchFamily="34" charset="-120"/>
              </a:rPr>
              <a:t>09h30</a:t>
            </a:r>
            <a:endParaRPr lang="en-US" sz="1000" dirty="0"/>
          </a:p>
        </p:txBody>
      </p:sp>
      <p:sp>
        <p:nvSpPr>
          <p:cNvPr id="14" name="Text 12"/>
          <p:cNvSpPr txBox="1"/>
          <p:nvPr/>
        </p:nvSpPr>
        <p:spPr>
          <a:xfrm>
            <a:off x="2041398" y="2386584"/>
            <a:ext cx="914400" cy="457200"/>
          </a:xfrm>
          <a:prstGeom prst="rect">
            <a:avLst/>
          </a:prstGeom>
          <a:noFill/>
          <a:ln/>
        </p:spPr>
        <p:txBody>
          <a:bodyPr wrap="square" lIns="0" tIns="0" rIns="0" bIns="0" rtlCol="0" anchor="t"/>
          <a:lstStyle/>
          <a:p>
            <a:pPr indent="0" marL="0">
              <a:buNone/>
            </a:pPr>
            <a:r>
              <a:rPr lang="en-US" sz="2400" dirty="0">
                <a:solidFill>
                  <a:srgbClr val="FFF9C7"/>
                </a:solidFill>
                <a:latin typeface="Impact" pitchFamily="34" charset="0"/>
                <a:ea typeface="Impact" pitchFamily="34" charset="-122"/>
                <a:cs typeface="Impact" pitchFamily="34" charset="-120"/>
              </a:rPr>
              <a:t>01</a:t>
            </a:r>
            <a:endParaRPr lang="en-US" sz="2400" dirty="0"/>
          </a:p>
        </p:txBody>
      </p:sp>
      <p:sp>
        <p:nvSpPr>
          <p:cNvPr id="15" name="Text 13"/>
          <p:cNvSpPr txBox="1"/>
          <p:nvPr/>
        </p:nvSpPr>
        <p:spPr>
          <a:xfrm>
            <a:off x="2041398" y="2880360"/>
            <a:ext cx="2491740" cy="594360"/>
          </a:xfrm>
          <a:prstGeom prst="rect">
            <a:avLst/>
          </a:prstGeom>
          <a:noFill/>
          <a:ln/>
        </p:spPr>
        <p:txBody>
          <a:bodyPr wrap="square" lIns="0" tIns="0" rIns="0" bIns="0" rtlCol="0" anchor="t">
            <a:normAutofit/>
          </a:bodyPr>
          <a:lstStyle/>
          <a:p>
            <a:pPr indent="0" marL="0">
              <a:buNone/>
            </a:pPr>
            <a:r>
              <a:rPr lang="en-US" sz="1300" b="1" dirty="0">
                <a:solidFill>
                  <a:srgbClr val="FFFFFF"/>
                </a:solidFill>
                <a:latin typeface="Calibri" pitchFamily="34" charset="0"/>
                <a:ea typeface="Calibri" pitchFamily="34" charset="-122"/>
                <a:cs typeface="Calibri" pitchFamily="34" charset="-120"/>
              </a:rPr>
              <a:t>Le rôle du Maire</a:t>
            </a:r>
            <a:endParaRPr lang="en-US" sz="1300" dirty="0"/>
          </a:p>
        </p:txBody>
      </p:sp>
      <p:sp>
        <p:nvSpPr>
          <p:cNvPr id="16" name="Text 14"/>
          <p:cNvSpPr txBox="1"/>
          <p:nvPr/>
        </p:nvSpPr>
        <p:spPr>
          <a:xfrm>
            <a:off x="3801618" y="2167128"/>
            <a:ext cx="713232" cy="228600"/>
          </a:xfrm>
          <a:prstGeom prst="rect">
            <a:avLst/>
          </a:prstGeom>
          <a:noFill/>
          <a:ln/>
        </p:spPr>
        <p:txBody>
          <a:bodyPr wrap="square" lIns="0" tIns="0" rIns="0" bIns="0" rtlCol="0" anchor="t"/>
          <a:lstStyle/>
          <a:p>
            <a:pPr algn="r" indent="0" marL="0">
              <a:buNone/>
            </a:pPr>
            <a:r>
              <a:rPr lang="en-US" sz="1000" dirty="0">
                <a:solidFill>
                  <a:srgbClr val="FFF9C7"/>
                </a:solidFill>
                <a:latin typeface="Calibri" pitchFamily="34" charset="0"/>
                <a:ea typeface="Calibri" pitchFamily="34" charset="-122"/>
                <a:cs typeface="Calibri" pitchFamily="34" charset="-120"/>
              </a:rPr>
              <a:t>60 min</a:t>
            </a:r>
            <a:endParaRPr lang="en-US" sz="1000" dirty="0"/>
          </a:p>
        </p:txBody>
      </p:sp>
      <p:sp>
        <p:nvSpPr>
          <p:cNvPr id="17" name="Shape 15"/>
          <p:cNvSpPr/>
          <p:nvPr/>
        </p:nvSpPr>
        <p:spPr>
          <a:xfrm>
            <a:off x="4697730" y="2057400"/>
            <a:ext cx="618363" cy="1508760"/>
          </a:xfrm>
          <a:prstGeom prst="roundRect">
            <a:avLst>
              <a:gd name="adj" fmla="val 14787"/>
            </a:avLst>
          </a:prstGeom>
          <a:solidFill>
            <a:srgbClr val="F3F2F8"/>
          </a:solidFill>
          <a:ln/>
        </p:spPr>
      </p:sp>
      <p:sp>
        <p:nvSpPr>
          <p:cNvPr id="18" name="Text 16"/>
          <p:cNvSpPr txBox="1"/>
          <p:nvPr/>
        </p:nvSpPr>
        <p:spPr>
          <a:xfrm>
            <a:off x="4807458" y="2167128"/>
            <a:ext cx="435483" cy="228600"/>
          </a:xfrm>
          <a:prstGeom prst="rect">
            <a:avLst/>
          </a:prstGeom>
          <a:noFill/>
          <a:ln/>
        </p:spPr>
        <p:txBody>
          <a:bodyPr wrap="square" lIns="0" tIns="0" rIns="0" bIns="0" rtlCol="0" anchor="t"/>
          <a:lstStyle/>
          <a:p>
            <a:pPr indent="0" marL="0">
              <a:buNone/>
            </a:pPr>
            <a:r>
              <a:rPr lang="en-US" sz="1000" b="1" dirty="0">
                <a:solidFill>
                  <a:srgbClr val="55516E"/>
                </a:solidFill>
                <a:latin typeface="Calibri" pitchFamily="34" charset="0"/>
                <a:ea typeface="Calibri" pitchFamily="34" charset="-122"/>
                <a:cs typeface="Calibri" pitchFamily="34" charset="-120"/>
              </a:rPr>
              <a:t>10h30</a:t>
            </a:r>
            <a:endParaRPr lang="en-US" sz="1000" dirty="0"/>
          </a:p>
        </p:txBody>
      </p:sp>
      <p:pic>
        <p:nvPicPr>
          <p:cNvPr id="19" name="Image 0" descr="preencoded.png">    </p:cNvPr>
          <p:cNvPicPr>
            <a:picLocks noChangeAspect="1"/>
          </p:cNvPicPr>
          <p:nvPr/>
        </p:nvPicPr>
        <p:blipFill>
          <a:blip r:embed="rId1"/>
          <a:stretch>
            <a:fillRect/>
          </a:stretch>
        </p:blipFill>
        <p:spPr>
          <a:xfrm>
            <a:off x="4842319" y="2624328"/>
            <a:ext cx="329184" cy="329184"/>
          </a:xfrm>
          <a:prstGeom prst="rect">
            <a:avLst/>
          </a:prstGeom>
        </p:spPr>
      </p:pic>
      <p:sp>
        <p:nvSpPr>
          <p:cNvPr id="20" name="Shape 17"/>
          <p:cNvSpPr/>
          <p:nvPr/>
        </p:nvSpPr>
        <p:spPr>
          <a:xfrm>
            <a:off x="5389245" y="2057400"/>
            <a:ext cx="2692908" cy="1508760"/>
          </a:xfrm>
          <a:prstGeom prst="roundRect">
            <a:avLst>
              <a:gd name="adj" fmla="val 6061"/>
            </a:avLst>
          </a:prstGeom>
          <a:solidFill>
            <a:srgbClr val="0B032B"/>
          </a:solidFill>
          <a:ln/>
        </p:spPr>
      </p:sp>
      <p:sp>
        <p:nvSpPr>
          <p:cNvPr id="21" name="Text 18"/>
          <p:cNvSpPr txBox="1"/>
          <p:nvPr/>
        </p:nvSpPr>
        <p:spPr>
          <a:xfrm>
            <a:off x="5498973" y="2167128"/>
            <a:ext cx="2510028" cy="228600"/>
          </a:xfrm>
          <a:prstGeom prst="rect">
            <a:avLst/>
          </a:prstGeom>
          <a:noFill/>
          <a:ln/>
        </p:spPr>
        <p:txBody>
          <a:bodyPr wrap="square" lIns="0" tIns="0" rIns="0" bIns="0" rtlCol="0" anchor="t"/>
          <a:lstStyle/>
          <a:p>
            <a:pPr indent="0" marL="0">
              <a:buNone/>
            </a:pPr>
            <a:r>
              <a:rPr lang="en-US" sz="1000" b="1" dirty="0">
                <a:solidFill>
                  <a:srgbClr val="B3B3BA"/>
                </a:solidFill>
                <a:latin typeface="Calibri" pitchFamily="34" charset="0"/>
                <a:ea typeface="Calibri" pitchFamily="34" charset="-122"/>
                <a:cs typeface="Calibri" pitchFamily="34" charset="-120"/>
              </a:rPr>
              <a:t>10h45</a:t>
            </a:r>
            <a:endParaRPr lang="en-US" sz="1000" dirty="0"/>
          </a:p>
        </p:txBody>
      </p:sp>
      <p:sp>
        <p:nvSpPr>
          <p:cNvPr id="22" name="Text 19"/>
          <p:cNvSpPr txBox="1"/>
          <p:nvPr/>
        </p:nvSpPr>
        <p:spPr>
          <a:xfrm>
            <a:off x="5498973" y="2386584"/>
            <a:ext cx="914400" cy="457200"/>
          </a:xfrm>
          <a:prstGeom prst="rect">
            <a:avLst/>
          </a:prstGeom>
          <a:noFill/>
          <a:ln/>
        </p:spPr>
        <p:txBody>
          <a:bodyPr wrap="square" lIns="0" tIns="0" rIns="0" bIns="0" rtlCol="0" anchor="t"/>
          <a:lstStyle/>
          <a:p>
            <a:pPr indent="0" marL="0">
              <a:buNone/>
            </a:pPr>
            <a:r>
              <a:rPr lang="en-US" sz="2400" dirty="0">
                <a:solidFill>
                  <a:srgbClr val="FFF9C7"/>
                </a:solidFill>
                <a:latin typeface="Impact" pitchFamily="34" charset="0"/>
                <a:ea typeface="Impact" pitchFamily="34" charset="-122"/>
                <a:cs typeface="Impact" pitchFamily="34" charset="-120"/>
              </a:rPr>
              <a:t>02</a:t>
            </a:r>
            <a:endParaRPr lang="en-US" sz="2400" dirty="0"/>
          </a:p>
        </p:txBody>
      </p:sp>
      <p:sp>
        <p:nvSpPr>
          <p:cNvPr id="23" name="Text 20"/>
          <p:cNvSpPr txBox="1"/>
          <p:nvPr/>
        </p:nvSpPr>
        <p:spPr>
          <a:xfrm>
            <a:off x="5498973" y="2880360"/>
            <a:ext cx="2491740" cy="594360"/>
          </a:xfrm>
          <a:prstGeom prst="rect">
            <a:avLst/>
          </a:prstGeom>
          <a:noFill/>
          <a:ln/>
        </p:spPr>
        <p:txBody>
          <a:bodyPr wrap="square" lIns="0" tIns="0" rIns="0" bIns="0" rtlCol="0" anchor="t">
            <a:normAutofit/>
          </a:bodyPr>
          <a:lstStyle/>
          <a:p>
            <a:pPr indent="0" marL="0">
              <a:buNone/>
            </a:pPr>
            <a:r>
              <a:rPr lang="en-US" sz="1300" b="1" dirty="0">
                <a:solidFill>
                  <a:srgbClr val="FFFFFF"/>
                </a:solidFill>
                <a:latin typeface="Calibri" pitchFamily="34" charset="0"/>
                <a:ea typeface="Calibri" pitchFamily="34" charset="-122"/>
                <a:cs typeface="Calibri" pitchFamily="34" charset="-120"/>
              </a:rPr>
              <a:t>Adjoints, conseillers &amp; opposition</a:t>
            </a:r>
            <a:endParaRPr lang="en-US" sz="1300" dirty="0"/>
          </a:p>
        </p:txBody>
      </p:sp>
      <p:sp>
        <p:nvSpPr>
          <p:cNvPr id="24" name="Text 21"/>
          <p:cNvSpPr txBox="1"/>
          <p:nvPr/>
        </p:nvSpPr>
        <p:spPr>
          <a:xfrm>
            <a:off x="7259193" y="2167128"/>
            <a:ext cx="713232" cy="228600"/>
          </a:xfrm>
          <a:prstGeom prst="rect">
            <a:avLst/>
          </a:prstGeom>
          <a:noFill/>
          <a:ln/>
        </p:spPr>
        <p:txBody>
          <a:bodyPr wrap="square" lIns="0" tIns="0" rIns="0" bIns="0" rtlCol="0" anchor="t"/>
          <a:lstStyle/>
          <a:p>
            <a:pPr algn="r" indent="0" marL="0">
              <a:buNone/>
            </a:pPr>
            <a:r>
              <a:rPr lang="en-US" sz="1000" dirty="0">
                <a:solidFill>
                  <a:srgbClr val="FFF9C7"/>
                </a:solidFill>
                <a:latin typeface="Calibri" pitchFamily="34" charset="0"/>
                <a:ea typeface="Calibri" pitchFamily="34" charset="-122"/>
                <a:cs typeface="Calibri" pitchFamily="34" charset="-120"/>
              </a:rPr>
              <a:t>60 min</a:t>
            </a:r>
            <a:endParaRPr lang="en-US" sz="1000" dirty="0"/>
          </a:p>
        </p:txBody>
      </p:sp>
      <p:sp>
        <p:nvSpPr>
          <p:cNvPr id="25" name="Shape 22"/>
          <p:cNvSpPr/>
          <p:nvPr/>
        </p:nvSpPr>
        <p:spPr>
          <a:xfrm>
            <a:off x="8155305" y="2057400"/>
            <a:ext cx="2001393" cy="1508760"/>
          </a:xfrm>
          <a:prstGeom prst="roundRect">
            <a:avLst>
              <a:gd name="adj" fmla="val 6061"/>
            </a:avLst>
          </a:prstGeom>
          <a:solidFill>
            <a:srgbClr val="0B032B"/>
          </a:solidFill>
          <a:ln/>
        </p:spPr>
      </p:sp>
      <p:sp>
        <p:nvSpPr>
          <p:cNvPr id="26" name="Text 23"/>
          <p:cNvSpPr txBox="1"/>
          <p:nvPr/>
        </p:nvSpPr>
        <p:spPr>
          <a:xfrm>
            <a:off x="8265033" y="2167128"/>
            <a:ext cx="1818513" cy="228600"/>
          </a:xfrm>
          <a:prstGeom prst="rect">
            <a:avLst/>
          </a:prstGeom>
          <a:noFill/>
          <a:ln/>
        </p:spPr>
        <p:txBody>
          <a:bodyPr wrap="square" lIns="0" tIns="0" rIns="0" bIns="0" rtlCol="0" anchor="t"/>
          <a:lstStyle/>
          <a:p>
            <a:pPr indent="0" marL="0">
              <a:buNone/>
            </a:pPr>
            <a:r>
              <a:rPr lang="en-US" sz="1000" b="1" dirty="0">
                <a:solidFill>
                  <a:srgbClr val="B3B3BA"/>
                </a:solidFill>
                <a:latin typeface="Calibri" pitchFamily="34" charset="0"/>
                <a:ea typeface="Calibri" pitchFamily="34" charset="-122"/>
                <a:cs typeface="Calibri" pitchFamily="34" charset="-120"/>
              </a:rPr>
              <a:t>11h45</a:t>
            </a:r>
            <a:endParaRPr lang="en-US" sz="1000" dirty="0"/>
          </a:p>
        </p:txBody>
      </p:sp>
      <p:sp>
        <p:nvSpPr>
          <p:cNvPr id="27" name="Text 24"/>
          <p:cNvSpPr txBox="1"/>
          <p:nvPr/>
        </p:nvSpPr>
        <p:spPr>
          <a:xfrm>
            <a:off x="8265033" y="2386584"/>
            <a:ext cx="914400" cy="457200"/>
          </a:xfrm>
          <a:prstGeom prst="rect">
            <a:avLst/>
          </a:prstGeom>
          <a:noFill/>
          <a:ln/>
        </p:spPr>
        <p:txBody>
          <a:bodyPr wrap="square" lIns="0" tIns="0" rIns="0" bIns="0" rtlCol="0" anchor="t"/>
          <a:lstStyle/>
          <a:p>
            <a:pPr indent="0" marL="0">
              <a:buNone/>
            </a:pPr>
            <a:r>
              <a:rPr lang="en-US" sz="2400" dirty="0">
                <a:solidFill>
                  <a:srgbClr val="FFF9C7"/>
                </a:solidFill>
                <a:latin typeface="Impact" pitchFamily="34" charset="0"/>
                <a:ea typeface="Impact" pitchFamily="34" charset="-122"/>
                <a:cs typeface="Impact" pitchFamily="34" charset="-120"/>
              </a:rPr>
              <a:t>03</a:t>
            </a:r>
            <a:endParaRPr lang="en-US" sz="2400" dirty="0"/>
          </a:p>
        </p:txBody>
      </p:sp>
      <p:sp>
        <p:nvSpPr>
          <p:cNvPr id="28" name="Text 25"/>
          <p:cNvSpPr txBox="1"/>
          <p:nvPr/>
        </p:nvSpPr>
        <p:spPr>
          <a:xfrm>
            <a:off x="8265033" y="2880360"/>
            <a:ext cx="1800225" cy="594360"/>
          </a:xfrm>
          <a:prstGeom prst="rect">
            <a:avLst/>
          </a:prstGeom>
          <a:noFill/>
          <a:ln/>
        </p:spPr>
        <p:txBody>
          <a:bodyPr wrap="square" lIns="0" tIns="0" rIns="0" bIns="0" rtlCol="0" anchor="t">
            <a:normAutofit/>
          </a:bodyPr>
          <a:lstStyle/>
          <a:p>
            <a:pPr indent="0" marL="0">
              <a:buNone/>
            </a:pPr>
            <a:r>
              <a:rPr lang="en-US" sz="1300" b="1" dirty="0">
                <a:solidFill>
                  <a:srgbClr val="FFFFFF"/>
                </a:solidFill>
                <a:latin typeface="Calibri" pitchFamily="34" charset="0"/>
                <a:ea typeface="Calibri" pitchFamily="34" charset="-122"/>
                <a:cs typeface="Calibri" pitchFamily="34" charset="-120"/>
              </a:rPr>
              <a:t>Gestion des agents</a:t>
            </a:r>
            <a:endParaRPr lang="en-US" sz="1300" dirty="0"/>
          </a:p>
        </p:txBody>
      </p:sp>
      <p:sp>
        <p:nvSpPr>
          <p:cNvPr id="29" name="Text 26"/>
          <p:cNvSpPr txBox="1"/>
          <p:nvPr/>
        </p:nvSpPr>
        <p:spPr>
          <a:xfrm>
            <a:off x="9333738" y="2167128"/>
            <a:ext cx="713232" cy="228600"/>
          </a:xfrm>
          <a:prstGeom prst="rect">
            <a:avLst/>
          </a:prstGeom>
          <a:noFill/>
          <a:ln/>
        </p:spPr>
        <p:txBody>
          <a:bodyPr wrap="square" lIns="0" tIns="0" rIns="0" bIns="0" rtlCol="0" anchor="t"/>
          <a:lstStyle/>
          <a:p>
            <a:pPr algn="r" indent="0" marL="0">
              <a:buNone/>
            </a:pPr>
            <a:r>
              <a:rPr lang="en-US" sz="1000" dirty="0">
                <a:solidFill>
                  <a:srgbClr val="FFF9C7"/>
                </a:solidFill>
                <a:latin typeface="Calibri" pitchFamily="34" charset="0"/>
                <a:ea typeface="Calibri" pitchFamily="34" charset="-122"/>
                <a:cs typeface="Calibri" pitchFamily="34" charset="-120"/>
              </a:rPr>
              <a:t>45 min</a:t>
            </a:r>
            <a:endParaRPr lang="en-US" sz="1000" dirty="0"/>
          </a:p>
        </p:txBody>
      </p:sp>
      <p:sp>
        <p:nvSpPr>
          <p:cNvPr id="30" name="Shape 27"/>
          <p:cNvSpPr/>
          <p:nvPr/>
        </p:nvSpPr>
        <p:spPr>
          <a:xfrm>
            <a:off x="10321290" y="2057400"/>
            <a:ext cx="1291590" cy="1508760"/>
          </a:xfrm>
          <a:prstGeom prst="roundRect">
            <a:avLst>
              <a:gd name="adj" fmla="val 7080"/>
            </a:avLst>
          </a:prstGeom>
          <a:solidFill>
            <a:srgbClr val="FFF9C7"/>
          </a:solidFill>
          <a:ln/>
        </p:spPr>
      </p:sp>
      <p:pic>
        <p:nvPicPr>
          <p:cNvPr id="31" name="Image 1" descr="preencoded.png">    </p:cNvPr>
          <p:cNvPicPr>
            <a:picLocks noChangeAspect="1"/>
          </p:cNvPicPr>
          <p:nvPr/>
        </p:nvPicPr>
        <p:blipFill>
          <a:blip r:embed="rId2"/>
          <a:stretch>
            <a:fillRect/>
          </a:stretch>
        </p:blipFill>
        <p:spPr>
          <a:xfrm>
            <a:off x="10504170" y="2240280"/>
            <a:ext cx="365760" cy="365760"/>
          </a:xfrm>
          <a:prstGeom prst="rect">
            <a:avLst/>
          </a:prstGeom>
        </p:spPr>
      </p:pic>
      <p:sp>
        <p:nvSpPr>
          <p:cNvPr id="32" name="Text 28"/>
          <p:cNvSpPr txBox="1"/>
          <p:nvPr/>
        </p:nvSpPr>
        <p:spPr>
          <a:xfrm>
            <a:off x="10504170" y="2743200"/>
            <a:ext cx="1188720" cy="274320"/>
          </a:xfrm>
          <a:prstGeom prst="rect">
            <a:avLst/>
          </a:prstGeom>
          <a:noFill/>
          <a:ln/>
        </p:spPr>
        <p:txBody>
          <a:bodyPr wrap="square" lIns="0" tIns="0" rIns="0" bIns="0" rtlCol="0" anchor="t"/>
          <a:lstStyle/>
          <a:p>
            <a:pPr indent="0" marL="0">
              <a:buNone/>
            </a:pPr>
            <a:r>
              <a:rPr lang="en-US" sz="1300" b="1" dirty="0">
                <a:solidFill>
                  <a:srgbClr val="0B032B"/>
                </a:solidFill>
                <a:latin typeface="Calibri" pitchFamily="34" charset="0"/>
                <a:ea typeface="Calibri" pitchFamily="34" charset="-122"/>
                <a:cs typeface="Calibri" pitchFamily="34" charset="-120"/>
              </a:rPr>
              <a:t>Déjeuner</a:t>
            </a:r>
            <a:endParaRPr lang="en-US" sz="1300" dirty="0"/>
          </a:p>
        </p:txBody>
      </p:sp>
      <p:sp>
        <p:nvSpPr>
          <p:cNvPr id="33" name="Text 29"/>
          <p:cNvSpPr txBox="1"/>
          <p:nvPr/>
        </p:nvSpPr>
        <p:spPr>
          <a:xfrm>
            <a:off x="10504170" y="3044952"/>
            <a:ext cx="1188720" cy="274320"/>
          </a:xfrm>
          <a:prstGeom prst="rect">
            <a:avLst/>
          </a:prstGeom>
          <a:noFill/>
          <a:ln/>
        </p:spPr>
        <p:txBody>
          <a:bodyPr wrap="square" lIns="0" tIns="0" rIns="0" bIns="0" rtlCol="0" anchor="t"/>
          <a:lstStyle/>
          <a:p>
            <a:pPr indent="0" marL="0">
              <a:buNone/>
            </a:pPr>
            <a:r>
              <a:rPr lang="en-US" sz="1100" dirty="0">
                <a:solidFill>
                  <a:srgbClr val="55516E"/>
                </a:solidFill>
                <a:latin typeface="Calibri" pitchFamily="34" charset="0"/>
                <a:ea typeface="Calibri" pitchFamily="34" charset="-122"/>
                <a:cs typeface="Calibri" pitchFamily="34" charset="-120"/>
              </a:rPr>
              <a:t>12h30 – 13h45</a:t>
            </a:r>
            <a:endParaRPr lang="en-US" sz="1100" dirty="0"/>
          </a:p>
        </p:txBody>
      </p:sp>
      <p:sp>
        <p:nvSpPr>
          <p:cNvPr id="34" name="Text 30"/>
          <p:cNvSpPr txBox="1"/>
          <p:nvPr/>
        </p:nvSpPr>
        <p:spPr>
          <a:xfrm>
            <a:off x="548640" y="3794760"/>
            <a:ext cx="2743200" cy="274320"/>
          </a:xfrm>
          <a:prstGeom prst="rect">
            <a:avLst/>
          </a:prstGeom>
          <a:noFill/>
          <a:ln/>
        </p:spPr>
        <p:txBody>
          <a:bodyPr wrap="square" lIns="0" tIns="0" rIns="0" bIns="0" rtlCol="0" anchor="t"/>
          <a:lstStyle/>
          <a:p>
            <a:pPr indent="0" marL="0">
              <a:buNone/>
            </a:pPr>
            <a:r>
              <a:rPr lang="en-US" sz="1100" b="1" spc="300" kern="0" dirty="0">
                <a:solidFill>
                  <a:srgbClr val="55516E"/>
                </a:solidFill>
                <a:latin typeface="Calibri" pitchFamily="34" charset="0"/>
                <a:ea typeface="Calibri" pitchFamily="34" charset="-122"/>
                <a:cs typeface="Calibri" pitchFamily="34" charset="-120"/>
              </a:rPr>
              <a:t>APRÈS-MIDI</a:t>
            </a:r>
            <a:endParaRPr lang="en-US" sz="1100" dirty="0"/>
          </a:p>
        </p:txBody>
      </p:sp>
      <p:sp>
        <p:nvSpPr>
          <p:cNvPr id="35" name="Shape 31"/>
          <p:cNvSpPr/>
          <p:nvPr/>
        </p:nvSpPr>
        <p:spPr>
          <a:xfrm>
            <a:off x="548640" y="4160520"/>
            <a:ext cx="2692908" cy="1508760"/>
          </a:xfrm>
          <a:prstGeom prst="roundRect">
            <a:avLst>
              <a:gd name="adj" fmla="val 6061"/>
            </a:avLst>
          </a:prstGeom>
          <a:solidFill>
            <a:srgbClr val="0B032B"/>
          </a:solidFill>
          <a:ln/>
        </p:spPr>
      </p:sp>
      <p:sp>
        <p:nvSpPr>
          <p:cNvPr id="36" name="Text 32"/>
          <p:cNvSpPr txBox="1"/>
          <p:nvPr/>
        </p:nvSpPr>
        <p:spPr>
          <a:xfrm>
            <a:off x="658368" y="4270248"/>
            <a:ext cx="2510028" cy="228600"/>
          </a:xfrm>
          <a:prstGeom prst="rect">
            <a:avLst/>
          </a:prstGeom>
          <a:noFill/>
          <a:ln/>
        </p:spPr>
        <p:txBody>
          <a:bodyPr wrap="square" lIns="0" tIns="0" rIns="0" bIns="0" rtlCol="0" anchor="t"/>
          <a:lstStyle/>
          <a:p>
            <a:pPr indent="0" marL="0">
              <a:buNone/>
            </a:pPr>
            <a:r>
              <a:rPr lang="en-US" sz="1000" b="1" dirty="0">
                <a:solidFill>
                  <a:srgbClr val="B3B3BA"/>
                </a:solidFill>
                <a:latin typeface="Calibri" pitchFamily="34" charset="0"/>
                <a:ea typeface="Calibri" pitchFamily="34" charset="-122"/>
                <a:cs typeface="Calibri" pitchFamily="34" charset="-120"/>
              </a:rPr>
              <a:t>13h45</a:t>
            </a:r>
            <a:endParaRPr lang="en-US" sz="1000" dirty="0"/>
          </a:p>
        </p:txBody>
      </p:sp>
      <p:sp>
        <p:nvSpPr>
          <p:cNvPr id="37" name="Text 33"/>
          <p:cNvSpPr txBox="1"/>
          <p:nvPr/>
        </p:nvSpPr>
        <p:spPr>
          <a:xfrm>
            <a:off x="658368" y="4489704"/>
            <a:ext cx="914400" cy="457200"/>
          </a:xfrm>
          <a:prstGeom prst="rect">
            <a:avLst/>
          </a:prstGeom>
          <a:noFill/>
          <a:ln/>
        </p:spPr>
        <p:txBody>
          <a:bodyPr wrap="square" lIns="0" tIns="0" rIns="0" bIns="0" rtlCol="0" anchor="t"/>
          <a:lstStyle/>
          <a:p>
            <a:pPr indent="0" marL="0">
              <a:buNone/>
            </a:pPr>
            <a:r>
              <a:rPr lang="en-US" sz="2400" dirty="0">
                <a:solidFill>
                  <a:srgbClr val="FFF9C7"/>
                </a:solidFill>
                <a:latin typeface="Impact" pitchFamily="34" charset="0"/>
                <a:ea typeface="Impact" pitchFamily="34" charset="-122"/>
                <a:cs typeface="Impact" pitchFamily="34" charset="-120"/>
              </a:rPr>
              <a:t>04</a:t>
            </a:r>
            <a:endParaRPr lang="en-US" sz="2400" dirty="0"/>
          </a:p>
        </p:txBody>
      </p:sp>
      <p:sp>
        <p:nvSpPr>
          <p:cNvPr id="38" name="Text 34"/>
          <p:cNvSpPr txBox="1"/>
          <p:nvPr/>
        </p:nvSpPr>
        <p:spPr>
          <a:xfrm>
            <a:off x="658368" y="4983480"/>
            <a:ext cx="2491740" cy="594360"/>
          </a:xfrm>
          <a:prstGeom prst="rect">
            <a:avLst/>
          </a:prstGeom>
          <a:noFill/>
          <a:ln/>
        </p:spPr>
        <p:txBody>
          <a:bodyPr wrap="square" lIns="0" tIns="0" rIns="0" bIns="0" rtlCol="0" anchor="t">
            <a:normAutofit/>
          </a:bodyPr>
          <a:lstStyle/>
          <a:p>
            <a:pPr indent="0" marL="0">
              <a:buNone/>
            </a:pPr>
            <a:r>
              <a:rPr lang="en-US" sz="1300" b="1" dirty="0">
                <a:solidFill>
                  <a:srgbClr val="FFFFFF"/>
                </a:solidFill>
                <a:latin typeface="Calibri" pitchFamily="34" charset="0"/>
                <a:ea typeface="Calibri" pitchFamily="34" charset="-122"/>
                <a:cs typeface="Calibri" pitchFamily="34" charset="-120"/>
              </a:rPr>
              <a:t>Droits, devoirs &amp; responsabilités</a:t>
            </a:r>
            <a:endParaRPr lang="en-US" sz="1300" dirty="0"/>
          </a:p>
        </p:txBody>
      </p:sp>
      <p:sp>
        <p:nvSpPr>
          <p:cNvPr id="39" name="Text 35"/>
          <p:cNvSpPr txBox="1"/>
          <p:nvPr/>
        </p:nvSpPr>
        <p:spPr>
          <a:xfrm>
            <a:off x="2418588" y="4270248"/>
            <a:ext cx="713232" cy="228600"/>
          </a:xfrm>
          <a:prstGeom prst="rect">
            <a:avLst/>
          </a:prstGeom>
          <a:noFill/>
          <a:ln/>
        </p:spPr>
        <p:txBody>
          <a:bodyPr wrap="square" lIns="0" tIns="0" rIns="0" bIns="0" rtlCol="0" anchor="t"/>
          <a:lstStyle/>
          <a:p>
            <a:pPr algn="r" indent="0" marL="0">
              <a:buNone/>
            </a:pPr>
            <a:r>
              <a:rPr lang="en-US" sz="1000" dirty="0">
                <a:solidFill>
                  <a:srgbClr val="FFF9C7"/>
                </a:solidFill>
                <a:latin typeface="Calibri" pitchFamily="34" charset="0"/>
                <a:ea typeface="Calibri" pitchFamily="34" charset="-122"/>
                <a:cs typeface="Calibri" pitchFamily="34" charset="-120"/>
              </a:rPr>
              <a:t>60 min</a:t>
            </a:r>
            <a:endParaRPr lang="en-US" sz="1000" dirty="0"/>
          </a:p>
        </p:txBody>
      </p:sp>
      <p:sp>
        <p:nvSpPr>
          <p:cNvPr id="40" name="Shape 36"/>
          <p:cNvSpPr/>
          <p:nvPr/>
        </p:nvSpPr>
        <p:spPr>
          <a:xfrm>
            <a:off x="3314700" y="4160520"/>
            <a:ext cx="4075938" cy="1508760"/>
          </a:xfrm>
          <a:prstGeom prst="roundRect">
            <a:avLst>
              <a:gd name="adj" fmla="val 6061"/>
            </a:avLst>
          </a:prstGeom>
          <a:solidFill>
            <a:srgbClr val="0B032B"/>
          </a:solidFill>
          <a:ln/>
        </p:spPr>
      </p:sp>
      <p:sp>
        <p:nvSpPr>
          <p:cNvPr id="41" name="Text 37"/>
          <p:cNvSpPr txBox="1"/>
          <p:nvPr/>
        </p:nvSpPr>
        <p:spPr>
          <a:xfrm>
            <a:off x="3424428" y="4270248"/>
            <a:ext cx="3893058" cy="228600"/>
          </a:xfrm>
          <a:prstGeom prst="rect">
            <a:avLst/>
          </a:prstGeom>
          <a:noFill/>
          <a:ln/>
        </p:spPr>
        <p:txBody>
          <a:bodyPr wrap="square" lIns="0" tIns="0" rIns="0" bIns="0" rtlCol="0" anchor="t"/>
          <a:lstStyle/>
          <a:p>
            <a:pPr indent="0" marL="0">
              <a:buNone/>
            </a:pPr>
            <a:r>
              <a:rPr lang="en-US" sz="1000" b="1" dirty="0">
                <a:solidFill>
                  <a:srgbClr val="B3B3BA"/>
                </a:solidFill>
                <a:latin typeface="Calibri" pitchFamily="34" charset="0"/>
                <a:ea typeface="Calibri" pitchFamily="34" charset="-122"/>
                <a:cs typeface="Calibri" pitchFamily="34" charset="-120"/>
              </a:rPr>
              <a:t>14h45</a:t>
            </a:r>
            <a:endParaRPr lang="en-US" sz="1000" dirty="0"/>
          </a:p>
        </p:txBody>
      </p:sp>
      <p:sp>
        <p:nvSpPr>
          <p:cNvPr id="42" name="Text 38"/>
          <p:cNvSpPr txBox="1"/>
          <p:nvPr/>
        </p:nvSpPr>
        <p:spPr>
          <a:xfrm>
            <a:off x="3424428" y="4489704"/>
            <a:ext cx="914400" cy="457200"/>
          </a:xfrm>
          <a:prstGeom prst="rect">
            <a:avLst/>
          </a:prstGeom>
          <a:noFill/>
          <a:ln/>
        </p:spPr>
        <p:txBody>
          <a:bodyPr wrap="square" lIns="0" tIns="0" rIns="0" bIns="0" rtlCol="0" anchor="t"/>
          <a:lstStyle/>
          <a:p>
            <a:pPr indent="0" marL="0">
              <a:buNone/>
            </a:pPr>
            <a:r>
              <a:rPr lang="en-US" sz="2400" dirty="0">
                <a:solidFill>
                  <a:srgbClr val="FFF9C7"/>
                </a:solidFill>
                <a:latin typeface="Impact" pitchFamily="34" charset="0"/>
                <a:ea typeface="Impact" pitchFamily="34" charset="-122"/>
                <a:cs typeface="Impact" pitchFamily="34" charset="-120"/>
              </a:rPr>
              <a:t>05</a:t>
            </a:r>
            <a:endParaRPr lang="en-US" sz="2400" dirty="0"/>
          </a:p>
        </p:txBody>
      </p:sp>
      <p:sp>
        <p:nvSpPr>
          <p:cNvPr id="43" name="Text 39"/>
          <p:cNvSpPr txBox="1"/>
          <p:nvPr/>
        </p:nvSpPr>
        <p:spPr>
          <a:xfrm>
            <a:off x="3424428" y="4983480"/>
            <a:ext cx="3874770" cy="594360"/>
          </a:xfrm>
          <a:prstGeom prst="rect">
            <a:avLst/>
          </a:prstGeom>
          <a:noFill/>
          <a:ln/>
        </p:spPr>
        <p:txBody>
          <a:bodyPr wrap="square" lIns="0" tIns="0" rIns="0" bIns="0" rtlCol="0" anchor="t">
            <a:normAutofit/>
          </a:bodyPr>
          <a:lstStyle/>
          <a:p>
            <a:pPr indent="0" marL="0">
              <a:buNone/>
            </a:pPr>
            <a:r>
              <a:rPr lang="en-US" sz="1300" b="1" dirty="0">
                <a:solidFill>
                  <a:srgbClr val="FFFFFF"/>
                </a:solidFill>
                <a:latin typeface="Calibri" pitchFamily="34" charset="0"/>
                <a:ea typeface="Calibri" pitchFamily="34" charset="-122"/>
                <a:cs typeface="Calibri" pitchFamily="34" charset="-120"/>
              </a:rPr>
              <a:t>EPCI, Département, Région, État</a:t>
            </a:r>
            <a:endParaRPr lang="en-US" sz="1300" dirty="0"/>
          </a:p>
        </p:txBody>
      </p:sp>
      <p:sp>
        <p:nvSpPr>
          <p:cNvPr id="44" name="Text 40"/>
          <p:cNvSpPr txBox="1"/>
          <p:nvPr/>
        </p:nvSpPr>
        <p:spPr>
          <a:xfrm>
            <a:off x="6567678" y="4270248"/>
            <a:ext cx="713232" cy="228600"/>
          </a:xfrm>
          <a:prstGeom prst="rect">
            <a:avLst/>
          </a:prstGeom>
          <a:noFill/>
          <a:ln/>
        </p:spPr>
        <p:txBody>
          <a:bodyPr wrap="square" lIns="0" tIns="0" rIns="0" bIns="0" rtlCol="0" anchor="t"/>
          <a:lstStyle/>
          <a:p>
            <a:pPr algn="r" indent="0" marL="0">
              <a:buNone/>
            </a:pPr>
            <a:r>
              <a:rPr lang="en-US" sz="1000" dirty="0">
                <a:solidFill>
                  <a:srgbClr val="FFF9C7"/>
                </a:solidFill>
                <a:latin typeface="Calibri" pitchFamily="34" charset="0"/>
                <a:ea typeface="Calibri" pitchFamily="34" charset="-122"/>
                <a:cs typeface="Calibri" pitchFamily="34" charset="-120"/>
              </a:rPr>
              <a:t>90 min</a:t>
            </a:r>
            <a:endParaRPr lang="en-US" sz="1000" dirty="0"/>
          </a:p>
        </p:txBody>
      </p:sp>
      <p:sp>
        <p:nvSpPr>
          <p:cNvPr id="45" name="Shape 41"/>
          <p:cNvSpPr/>
          <p:nvPr/>
        </p:nvSpPr>
        <p:spPr>
          <a:xfrm>
            <a:off x="7463790" y="4160520"/>
            <a:ext cx="618363" cy="1508760"/>
          </a:xfrm>
          <a:prstGeom prst="roundRect">
            <a:avLst>
              <a:gd name="adj" fmla="val 14787"/>
            </a:avLst>
          </a:prstGeom>
          <a:solidFill>
            <a:srgbClr val="F3F2F8"/>
          </a:solidFill>
          <a:ln/>
        </p:spPr>
      </p:sp>
      <p:sp>
        <p:nvSpPr>
          <p:cNvPr id="46" name="Text 42"/>
          <p:cNvSpPr txBox="1"/>
          <p:nvPr/>
        </p:nvSpPr>
        <p:spPr>
          <a:xfrm>
            <a:off x="7573518" y="4270248"/>
            <a:ext cx="435483" cy="228600"/>
          </a:xfrm>
          <a:prstGeom prst="rect">
            <a:avLst/>
          </a:prstGeom>
          <a:noFill/>
          <a:ln/>
        </p:spPr>
        <p:txBody>
          <a:bodyPr wrap="square" lIns="0" tIns="0" rIns="0" bIns="0" rtlCol="0" anchor="t"/>
          <a:lstStyle/>
          <a:p>
            <a:pPr indent="0" marL="0">
              <a:buNone/>
            </a:pPr>
            <a:r>
              <a:rPr lang="en-US" sz="1000" b="1" dirty="0">
                <a:solidFill>
                  <a:srgbClr val="55516E"/>
                </a:solidFill>
                <a:latin typeface="Calibri" pitchFamily="34" charset="0"/>
                <a:ea typeface="Calibri" pitchFamily="34" charset="-122"/>
                <a:cs typeface="Calibri" pitchFamily="34" charset="-120"/>
              </a:rPr>
              <a:t>16h15</a:t>
            </a:r>
            <a:endParaRPr lang="en-US" sz="1000" dirty="0"/>
          </a:p>
        </p:txBody>
      </p:sp>
      <p:pic>
        <p:nvPicPr>
          <p:cNvPr id="47" name="Image 2" descr="preencoded.png">    </p:cNvPr>
          <p:cNvPicPr>
            <a:picLocks noChangeAspect="1"/>
          </p:cNvPicPr>
          <p:nvPr/>
        </p:nvPicPr>
        <p:blipFill>
          <a:blip r:embed="rId3"/>
          <a:stretch>
            <a:fillRect/>
          </a:stretch>
        </p:blipFill>
        <p:spPr>
          <a:xfrm>
            <a:off x="7608380" y="4727448"/>
            <a:ext cx="329184" cy="329184"/>
          </a:xfrm>
          <a:prstGeom prst="rect">
            <a:avLst/>
          </a:prstGeom>
        </p:spPr>
      </p:pic>
      <p:sp>
        <p:nvSpPr>
          <p:cNvPr id="48" name="Shape 43"/>
          <p:cNvSpPr/>
          <p:nvPr/>
        </p:nvSpPr>
        <p:spPr>
          <a:xfrm>
            <a:off x="8155305" y="4160520"/>
            <a:ext cx="2001393" cy="1508760"/>
          </a:xfrm>
          <a:prstGeom prst="roundRect">
            <a:avLst>
              <a:gd name="adj" fmla="val 6061"/>
            </a:avLst>
          </a:prstGeom>
          <a:solidFill>
            <a:srgbClr val="0B032B"/>
          </a:solidFill>
          <a:ln/>
        </p:spPr>
      </p:sp>
      <p:sp>
        <p:nvSpPr>
          <p:cNvPr id="49" name="Text 44"/>
          <p:cNvSpPr txBox="1"/>
          <p:nvPr/>
        </p:nvSpPr>
        <p:spPr>
          <a:xfrm>
            <a:off x="8265033" y="4270248"/>
            <a:ext cx="1818513" cy="228600"/>
          </a:xfrm>
          <a:prstGeom prst="rect">
            <a:avLst/>
          </a:prstGeom>
          <a:noFill/>
          <a:ln/>
        </p:spPr>
        <p:txBody>
          <a:bodyPr wrap="square" lIns="0" tIns="0" rIns="0" bIns="0" rtlCol="0" anchor="t"/>
          <a:lstStyle/>
          <a:p>
            <a:pPr indent="0" marL="0">
              <a:buNone/>
            </a:pPr>
            <a:r>
              <a:rPr lang="en-US" sz="1000" b="1" dirty="0">
                <a:solidFill>
                  <a:srgbClr val="B3B3BA"/>
                </a:solidFill>
                <a:latin typeface="Calibri" pitchFamily="34" charset="0"/>
                <a:ea typeface="Calibri" pitchFamily="34" charset="-122"/>
                <a:cs typeface="Calibri" pitchFamily="34" charset="-120"/>
              </a:rPr>
              <a:t>16h30</a:t>
            </a:r>
            <a:endParaRPr lang="en-US" sz="1000" dirty="0"/>
          </a:p>
        </p:txBody>
      </p:sp>
      <p:sp>
        <p:nvSpPr>
          <p:cNvPr id="50" name="Text 45"/>
          <p:cNvSpPr txBox="1"/>
          <p:nvPr/>
        </p:nvSpPr>
        <p:spPr>
          <a:xfrm>
            <a:off x="8265033" y="4489704"/>
            <a:ext cx="914400" cy="457200"/>
          </a:xfrm>
          <a:prstGeom prst="rect">
            <a:avLst/>
          </a:prstGeom>
          <a:noFill/>
          <a:ln/>
        </p:spPr>
        <p:txBody>
          <a:bodyPr wrap="square" lIns="0" tIns="0" rIns="0" bIns="0" rtlCol="0" anchor="t"/>
          <a:lstStyle/>
          <a:p>
            <a:pPr indent="0" marL="0">
              <a:buNone/>
            </a:pPr>
            <a:r>
              <a:rPr lang="en-US" sz="2400" dirty="0">
                <a:solidFill>
                  <a:srgbClr val="FFF9C7"/>
                </a:solidFill>
                <a:latin typeface="Impact" pitchFamily="34" charset="0"/>
                <a:ea typeface="Impact" pitchFamily="34" charset="-122"/>
                <a:cs typeface="Impact" pitchFamily="34" charset="-120"/>
              </a:rPr>
              <a:t>06</a:t>
            </a:r>
            <a:endParaRPr lang="en-US" sz="2400" dirty="0"/>
          </a:p>
        </p:txBody>
      </p:sp>
      <p:sp>
        <p:nvSpPr>
          <p:cNvPr id="51" name="Text 46"/>
          <p:cNvSpPr txBox="1"/>
          <p:nvPr/>
        </p:nvSpPr>
        <p:spPr>
          <a:xfrm>
            <a:off x="8265033" y="4983480"/>
            <a:ext cx="1800225" cy="594360"/>
          </a:xfrm>
          <a:prstGeom prst="rect">
            <a:avLst/>
          </a:prstGeom>
          <a:noFill/>
          <a:ln/>
        </p:spPr>
        <p:txBody>
          <a:bodyPr wrap="square" lIns="0" tIns="0" rIns="0" bIns="0" rtlCol="0" anchor="t">
            <a:normAutofit/>
          </a:bodyPr>
          <a:lstStyle/>
          <a:p>
            <a:pPr indent="0" marL="0">
              <a:buNone/>
            </a:pPr>
            <a:r>
              <a:rPr lang="en-US" sz="1300" b="1" dirty="0">
                <a:solidFill>
                  <a:srgbClr val="FFFFFF"/>
                </a:solidFill>
                <a:latin typeface="Calibri" pitchFamily="34" charset="0"/>
                <a:ea typeface="Calibri" pitchFamily="34" charset="-122"/>
                <a:cs typeface="Calibri" pitchFamily="34" charset="-120"/>
              </a:rPr>
              <a:t>Habitants &amp; exemplarité</a:t>
            </a:r>
            <a:endParaRPr lang="en-US" sz="1300" dirty="0"/>
          </a:p>
        </p:txBody>
      </p:sp>
      <p:sp>
        <p:nvSpPr>
          <p:cNvPr id="52" name="Text 47"/>
          <p:cNvSpPr txBox="1"/>
          <p:nvPr/>
        </p:nvSpPr>
        <p:spPr>
          <a:xfrm>
            <a:off x="9333738" y="4270248"/>
            <a:ext cx="713232" cy="228600"/>
          </a:xfrm>
          <a:prstGeom prst="rect">
            <a:avLst/>
          </a:prstGeom>
          <a:noFill/>
          <a:ln/>
        </p:spPr>
        <p:txBody>
          <a:bodyPr wrap="square" lIns="0" tIns="0" rIns="0" bIns="0" rtlCol="0" anchor="t"/>
          <a:lstStyle/>
          <a:p>
            <a:pPr algn="r" indent="0" marL="0">
              <a:buNone/>
            </a:pPr>
            <a:r>
              <a:rPr lang="en-US" sz="1000" dirty="0">
                <a:solidFill>
                  <a:srgbClr val="FFF9C7"/>
                </a:solidFill>
                <a:latin typeface="Calibri" pitchFamily="34" charset="0"/>
                <a:ea typeface="Calibri" pitchFamily="34" charset="-122"/>
                <a:cs typeface="Calibri" pitchFamily="34" charset="-120"/>
              </a:rPr>
              <a:t>45 min</a:t>
            </a:r>
            <a:endParaRPr lang="en-US" sz="1000" dirty="0"/>
          </a:p>
        </p:txBody>
      </p:sp>
      <p:sp>
        <p:nvSpPr>
          <p:cNvPr id="53" name="Shape 48"/>
          <p:cNvSpPr/>
          <p:nvPr/>
        </p:nvSpPr>
        <p:spPr>
          <a:xfrm>
            <a:off x="10229850" y="4160520"/>
            <a:ext cx="1309878" cy="1508760"/>
          </a:xfrm>
          <a:prstGeom prst="roundRect">
            <a:avLst>
              <a:gd name="adj" fmla="val 6981"/>
            </a:avLst>
          </a:prstGeom>
          <a:solidFill>
            <a:srgbClr val="0B032B"/>
          </a:solidFill>
          <a:ln/>
        </p:spPr>
      </p:sp>
      <p:sp>
        <p:nvSpPr>
          <p:cNvPr id="54" name="Text 49"/>
          <p:cNvSpPr txBox="1"/>
          <p:nvPr/>
        </p:nvSpPr>
        <p:spPr>
          <a:xfrm>
            <a:off x="10339578" y="4270248"/>
            <a:ext cx="1126998" cy="228600"/>
          </a:xfrm>
          <a:prstGeom prst="rect">
            <a:avLst/>
          </a:prstGeom>
          <a:noFill/>
          <a:ln/>
        </p:spPr>
        <p:txBody>
          <a:bodyPr wrap="square" lIns="0" tIns="0" rIns="0" bIns="0" rtlCol="0" anchor="t"/>
          <a:lstStyle/>
          <a:p>
            <a:pPr indent="0" marL="0">
              <a:buNone/>
            </a:pPr>
            <a:r>
              <a:rPr lang="en-US" sz="1000" b="1" dirty="0">
                <a:solidFill>
                  <a:srgbClr val="B3B3BA"/>
                </a:solidFill>
                <a:latin typeface="Calibri" pitchFamily="34" charset="0"/>
                <a:ea typeface="Calibri" pitchFamily="34" charset="-122"/>
                <a:cs typeface="Calibri" pitchFamily="34" charset="-120"/>
              </a:rPr>
              <a:t>17h15</a:t>
            </a:r>
            <a:endParaRPr lang="en-US" sz="1000" dirty="0"/>
          </a:p>
        </p:txBody>
      </p:sp>
      <p:sp>
        <p:nvSpPr>
          <p:cNvPr id="55" name="Text 50"/>
          <p:cNvSpPr txBox="1"/>
          <p:nvPr/>
        </p:nvSpPr>
        <p:spPr>
          <a:xfrm>
            <a:off x="10339578" y="4489704"/>
            <a:ext cx="914400" cy="457200"/>
          </a:xfrm>
          <a:prstGeom prst="rect">
            <a:avLst/>
          </a:prstGeom>
          <a:noFill/>
          <a:ln/>
        </p:spPr>
        <p:txBody>
          <a:bodyPr wrap="square" lIns="0" tIns="0" rIns="0" bIns="0" rtlCol="0" anchor="t"/>
          <a:lstStyle/>
          <a:p>
            <a:pPr indent="0" marL="0">
              <a:buNone/>
            </a:pPr>
            <a:r>
              <a:rPr lang="en-US" sz="2400" dirty="0">
                <a:solidFill>
                  <a:srgbClr val="FFF9C7"/>
                </a:solidFill>
                <a:latin typeface="Impact" pitchFamily="34" charset="0"/>
                <a:ea typeface="Impact" pitchFamily="34" charset="-122"/>
                <a:cs typeface="Impact" pitchFamily="34" charset="-120"/>
              </a:rPr>
              <a:t>07</a:t>
            </a:r>
            <a:endParaRPr lang="en-US" sz="2400" dirty="0"/>
          </a:p>
        </p:txBody>
      </p:sp>
      <p:sp>
        <p:nvSpPr>
          <p:cNvPr id="56" name="Text 51"/>
          <p:cNvSpPr txBox="1"/>
          <p:nvPr/>
        </p:nvSpPr>
        <p:spPr>
          <a:xfrm>
            <a:off x="10339578" y="4983480"/>
            <a:ext cx="1108710" cy="594360"/>
          </a:xfrm>
          <a:prstGeom prst="rect">
            <a:avLst/>
          </a:prstGeom>
          <a:noFill/>
          <a:ln/>
        </p:spPr>
        <p:txBody>
          <a:bodyPr wrap="square" lIns="0" tIns="0" rIns="0" bIns="0" rtlCol="0" anchor="t">
            <a:normAutofit/>
          </a:bodyPr>
          <a:lstStyle/>
          <a:p>
            <a:pPr indent="0" marL="0">
              <a:buNone/>
            </a:pPr>
            <a:r>
              <a:rPr lang="en-US" sz="1100" b="1" dirty="0">
                <a:solidFill>
                  <a:srgbClr val="FFFFFF"/>
                </a:solidFill>
                <a:latin typeface="Calibri" pitchFamily="34" charset="0"/>
                <a:ea typeface="Calibri" pitchFamily="34" charset="-122"/>
                <a:cs typeface="Calibri" pitchFamily="34" charset="-120"/>
              </a:rPr>
              <a:t>Conclusion</a:t>
            </a:r>
            <a:endParaRPr lang="en-US" sz="1100" dirty="0"/>
          </a:p>
        </p:txBody>
      </p:sp>
      <p:sp>
        <p:nvSpPr>
          <p:cNvPr id="57" name="Text 52"/>
          <p:cNvSpPr txBox="1"/>
          <p:nvPr/>
        </p:nvSpPr>
        <p:spPr>
          <a:xfrm>
            <a:off x="10716768" y="4270248"/>
            <a:ext cx="713232" cy="228600"/>
          </a:xfrm>
          <a:prstGeom prst="rect">
            <a:avLst/>
          </a:prstGeom>
          <a:noFill/>
          <a:ln/>
        </p:spPr>
        <p:txBody>
          <a:bodyPr wrap="square" lIns="0" tIns="0" rIns="0" bIns="0" rtlCol="0" anchor="t"/>
          <a:lstStyle/>
          <a:p>
            <a:pPr algn="r" indent="0" marL="0">
              <a:buNone/>
            </a:pPr>
            <a:r>
              <a:rPr lang="en-US" sz="1000" dirty="0">
                <a:solidFill>
                  <a:srgbClr val="FFF9C7"/>
                </a:solidFill>
                <a:latin typeface="Calibri" pitchFamily="34" charset="0"/>
                <a:ea typeface="Calibri" pitchFamily="34" charset="-122"/>
                <a:cs typeface="Calibri" pitchFamily="34" charset="-120"/>
              </a:rPr>
              <a:t>30 min</a:t>
            </a:r>
            <a:endParaRPr lang="en-US" sz="1000" dirty="0"/>
          </a:p>
        </p:txBody>
      </p:sp>
      <p:sp>
        <p:nvSpPr>
          <p:cNvPr id="58" name="Text 53"/>
          <p:cNvSpPr txBox="1"/>
          <p:nvPr/>
        </p:nvSpPr>
        <p:spPr>
          <a:xfrm>
            <a:off x="548640" y="5897880"/>
            <a:ext cx="9144000" cy="320040"/>
          </a:xfrm>
          <a:prstGeom prst="rect">
            <a:avLst/>
          </a:prstGeom>
          <a:noFill/>
          <a:ln/>
        </p:spPr>
        <p:txBody>
          <a:bodyPr wrap="square" lIns="0" tIns="0" rIns="0" bIns="0" rtlCol="0" anchor="t"/>
          <a:lstStyle/>
          <a:p>
            <a:pPr indent="0" marL="0">
              <a:buNone/>
            </a:pPr>
            <a:r>
              <a:rPr lang="en-US" sz="1200" i="1" dirty="0">
                <a:solidFill>
                  <a:srgbClr val="55516E"/>
                </a:solidFill>
                <a:latin typeface="Calibri" pitchFamily="34" charset="0"/>
                <a:ea typeface="Calibri" pitchFamily="34" charset="-122"/>
                <a:cs typeface="Calibri" pitchFamily="34" charset="-120"/>
              </a:rPr>
              <a:t>Pédagogie active : apports, exemples concrets du quotidien municipal, échanges et questions tout au long de la journée.</a:t>
            </a:r>
            <a:endParaRPr lang="en-US" sz="1200" dirty="0"/>
          </a:p>
        </p:txBody>
      </p:sp>
      <p:sp>
        <p:nvSpPr>
          <p:cNvPr id="59" name="Text 54"/>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spc="100" kern="0" dirty="0">
                <a:solidFill>
                  <a:srgbClr val="8A8699"/>
                </a:solidFill>
                <a:latin typeface="Calibri" pitchFamily="34" charset="0"/>
                <a:ea typeface="Calibri" pitchFamily="34" charset="-122"/>
                <a:cs typeface="Calibri" pitchFamily="34" charset="-120"/>
              </a:rPr>
              <a:t>ENMA FORMATION  ·  Formation des élus municipaux 2026</a:t>
            </a:r>
            <a:endParaRPr lang="en-US" sz="900" dirty="0"/>
          </a:p>
        </p:txBody>
      </p:sp>
      <p:sp>
        <p:nvSpPr>
          <p:cNvPr id="60" name="Text 55"/>
          <p:cNvSpPr txBox="1"/>
          <p:nvPr/>
        </p:nvSpPr>
        <p:spPr>
          <a:xfrm>
            <a:off x="9692640" y="6400800"/>
            <a:ext cx="548640" cy="274320"/>
          </a:xfrm>
          <a:prstGeom prst="rect">
            <a:avLst/>
          </a:prstGeom>
          <a:noFill/>
          <a:ln/>
        </p:spPr>
        <p:txBody>
          <a:bodyPr wrap="square" lIns="0" tIns="0" rIns="0" bIns="0" rtlCol="0" anchor="ctr"/>
          <a:lstStyle/>
          <a:p>
            <a:pPr algn="r" indent="0" marL="0">
              <a:buNone/>
            </a:pPr>
            <a:r>
              <a:rPr lang="en-US" sz="900" dirty="0">
                <a:solidFill>
                  <a:srgbClr val="8A8699"/>
                </a:solidFill>
                <a:latin typeface="Calibri" pitchFamily="34" charset="0"/>
                <a:ea typeface="Calibri" pitchFamily="34" charset="-122"/>
                <a:cs typeface="Calibri" pitchFamily="34" charset="-120"/>
              </a:rPr>
              <a:t>4</a:t>
            </a:r>
            <a:endParaRPr lang="en-US" sz="900" dirty="0"/>
          </a:p>
        </p:txBody>
      </p:sp>
      <p:pic>
        <p:nvPicPr>
          <p:cNvPr id="61" name="Image 3" descr="preencoded.png">    </p:cNvPr>
          <p:cNvPicPr>
            <a:picLocks noChangeAspect="1"/>
          </p:cNvPicPr>
          <p:nvPr/>
        </p:nvPicPr>
        <p:blipFill>
          <a:blip r:embed="rId4"/>
          <a:stretch>
            <a:fillRect/>
          </a:stretch>
        </p:blipFill>
        <p:spPr>
          <a:xfrm>
            <a:off x="10469880" y="6309360"/>
            <a:ext cx="1170432" cy="48463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32B"/>
        </a:solidFill>
      </p:bgPr>
    </p:bg>
    <p:spTree>
      <p:nvGrpSpPr>
        <p:cNvPr id="1" name=""/>
        <p:cNvGrpSpPr/>
        <p:nvPr/>
      </p:nvGrpSpPr>
      <p:grpSpPr>
        <a:xfrm>
          <a:off x="0" y="0"/>
          <a:ext cx="0" cy="0"/>
          <a:chOff x="0" y="0"/>
          <a:chExt cx="0" cy="0"/>
        </a:xfrm>
      </p:grpSpPr>
      <p:sp>
        <p:nvSpPr>
          <p:cNvPr id="2" name="Text 0"/>
          <p:cNvSpPr txBox="1"/>
          <p:nvPr/>
        </p:nvSpPr>
        <p:spPr>
          <a:xfrm>
            <a:off x="548640" y="640080"/>
            <a:ext cx="4114800" cy="2286000"/>
          </a:xfrm>
          <a:prstGeom prst="rect">
            <a:avLst/>
          </a:prstGeom>
          <a:noFill/>
          <a:ln/>
        </p:spPr>
        <p:txBody>
          <a:bodyPr wrap="square" lIns="0" tIns="0" rIns="0" bIns="0" rtlCol="0" anchor="b"/>
          <a:lstStyle/>
          <a:p>
            <a:pPr indent="0" marL="0">
              <a:buNone/>
            </a:pPr>
            <a:r>
              <a:rPr lang="en-US" sz="15000" dirty="0">
                <a:solidFill>
                  <a:srgbClr val="FFF9C7"/>
                </a:solidFill>
                <a:latin typeface="Impact" pitchFamily="34" charset="0"/>
                <a:ea typeface="Impact" pitchFamily="34" charset="-122"/>
                <a:cs typeface="Impact" pitchFamily="34" charset="-120"/>
              </a:rPr>
              <a:t>01</a:t>
            </a:r>
            <a:endParaRPr lang="en-US" sz="15000" dirty="0"/>
          </a:p>
        </p:txBody>
      </p:sp>
      <p:sp>
        <p:nvSpPr>
          <p:cNvPr id="3" name="Text 1"/>
          <p:cNvSpPr txBox="1"/>
          <p:nvPr/>
        </p:nvSpPr>
        <p:spPr>
          <a:xfrm>
            <a:off x="594360" y="3017520"/>
            <a:ext cx="5486400" cy="320040"/>
          </a:xfrm>
          <a:prstGeom prst="rect">
            <a:avLst/>
          </a:prstGeom>
          <a:noFill/>
          <a:ln/>
        </p:spPr>
        <p:txBody>
          <a:bodyPr wrap="square" lIns="0" tIns="0" rIns="0" bIns="0" rtlCol="0" anchor="t"/>
          <a:lstStyle/>
          <a:p>
            <a:pPr indent="0" marL="0">
              <a:buNone/>
            </a:pPr>
            <a:r>
              <a:rPr lang="en-US" sz="1300" b="1" spc="400" kern="0" dirty="0">
                <a:solidFill>
                  <a:srgbClr val="FFF9C7"/>
                </a:solidFill>
                <a:latin typeface="Calibri" pitchFamily="34" charset="0"/>
                <a:ea typeface="Calibri" pitchFamily="34" charset="-122"/>
                <a:cs typeface="Calibri" pitchFamily="34" charset="-120"/>
              </a:rPr>
              <a:t>SÉQUENCE 01</a:t>
            </a:r>
            <a:endParaRPr lang="en-US" sz="1300" dirty="0"/>
          </a:p>
        </p:txBody>
      </p:sp>
      <p:sp>
        <p:nvSpPr>
          <p:cNvPr id="4" name="Text 2"/>
          <p:cNvSpPr txBox="1"/>
          <p:nvPr/>
        </p:nvSpPr>
        <p:spPr>
          <a:xfrm>
            <a:off x="548640" y="3401568"/>
            <a:ext cx="5486400" cy="1463040"/>
          </a:xfrm>
          <a:prstGeom prst="rect">
            <a:avLst/>
          </a:prstGeom>
          <a:noFill/>
          <a:ln/>
        </p:spPr>
        <p:txBody>
          <a:bodyPr wrap="square" lIns="0" tIns="0" rIns="0" bIns="0"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Le rôle du Maire : premier magistrat de la commune</a:t>
            </a:r>
            <a:endParaRPr lang="en-US" sz="3000" dirty="0"/>
          </a:p>
        </p:txBody>
      </p:sp>
      <p:sp>
        <p:nvSpPr>
          <p:cNvPr id="5" name="Text 3"/>
          <p:cNvSpPr txBox="1"/>
          <p:nvPr/>
        </p:nvSpPr>
        <p:spPr>
          <a:xfrm>
            <a:off x="548640" y="4937760"/>
            <a:ext cx="5486400" cy="640080"/>
          </a:xfrm>
          <a:prstGeom prst="rect">
            <a:avLst/>
          </a:prstGeom>
          <a:noFill/>
          <a:ln/>
        </p:spPr>
        <p:txBody>
          <a:bodyPr wrap="square" lIns="0" tIns="0" rIns="0" bIns="0" rtlCol="0" anchor="t">
            <a:normAutofit/>
          </a:bodyPr>
          <a:lstStyle/>
          <a:p>
            <a:pPr indent="0" marL="0">
              <a:buNone/>
            </a:pPr>
            <a:r>
              <a:rPr lang="en-US" sz="1600" dirty="0">
                <a:solidFill>
                  <a:srgbClr val="B3B3BA"/>
                </a:solidFill>
                <a:latin typeface="Calibri" pitchFamily="34" charset="0"/>
                <a:ea typeface="Calibri" pitchFamily="34" charset="-122"/>
                <a:cs typeface="Calibri" pitchFamily="34" charset="-120"/>
              </a:rPr>
              <a:t>Chef de l’exécutif, représentant de l’État, autorité de police administrative.</a:t>
            </a:r>
            <a:endParaRPr lang="en-US" sz="1600" dirty="0"/>
          </a:p>
        </p:txBody>
      </p:sp>
      <p:sp>
        <p:nvSpPr>
          <p:cNvPr id="6" name="Shape 4"/>
          <p:cNvSpPr/>
          <p:nvPr/>
        </p:nvSpPr>
        <p:spPr>
          <a:xfrm>
            <a:off x="548640" y="5623560"/>
            <a:ext cx="3017520" cy="384048"/>
          </a:xfrm>
          <a:prstGeom prst="roundRect">
            <a:avLst>
              <a:gd name="adj" fmla="val 50000"/>
            </a:avLst>
          </a:prstGeom>
          <a:solidFill>
            <a:srgbClr val="0B032B"/>
          </a:solidFill>
          <a:ln w="12700">
            <a:solidFill>
              <a:srgbClr val="FFF9C7"/>
            </a:solidFill>
            <a:prstDash val="solid"/>
          </a:ln>
        </p:spPr>
      </p:sp>
      <p:sp>
        <p:nvSpPr>
          <p:cNvPr id="7" name="Text 5"/>
          <p:cNvSpPr txBox="1"/>
          <p:nvPr/>
        </p:nvSpPr>
        <p:spPr>
          <a:xfrm>
            <a:off x="548640" y="5623560"/>
            <a:ext cx="3017520" cy="384048"/>
          </a:xfrm>
          <a:prstGeom prst="rect">
            <a:avLst/>
          </a:prstGeom>
          <a:noFill/>
          <a:ln/>
        </p:spPr>
        <p:txBody>
          <a:bodyPr wrap="square" lIns="0" tIns="0" rIns="0" bIns="0" rtlCol="0" anchor="ctr"/>
          <a:lstStyle/>
          <a:p>
            <a:pPr algn="ctr" indent="0" marL="0">
              <a:buNone/>
            </a:pPr>
            <a:r>
              <a:rPr lang="en-US" sz="1200" b="1" dirty="0">
                <a:solidFill>
                  <a:srgbClr val="FFF9C7"/>
                </a:solidFill>
                <a:latin typeface="Calibri" pitchFamily="34" charset="0"/>
                <a:ea typeface="Calibri" pitchFamily="34" charset="-122"/>
                <a:cs typeface="Calibri" pitchFamily="34" charset="-120"/>
              </a:rPr>
              <a:t>09h30 – 10h30  ·  60 min</a:t>
            </a:r>
            <a:endParaRPr lang="en-US" sz="1200" dirty="0"/>
          </a:p>
        </p:txBody>
      </p:sp>
      <p:sp>
        <p:nvSpPr>
          <p:cNvPr id="8" name="Shape 6"/>
          <p:cNvSpPr/>
          <p:nvPr/>
        </p:nvSpPr>
        <p:spPr>
          <a:xfrm>
            <a:off x="6263640" y="411480"/>
            <a:ext cx="5486400" cy="5486400"/>
          </a:xfrm>
          <a:prstGeom prst="ellipse">
            <a:avLst/>
          </a:prstGeom>
          <a:solidFill>
            <a:srgbClr val="0B032B"/>
          </a:solidFill>
          <a:ln w="12700">
            <a:solidFill>
              <a:srgbClr val="FFF9C7"/>
            </a:solidFill>
            <a:prstDash val="dash"/>
          </a:ln>
        </p:spPr>
      </p:sp>
      <p:sp>
        <p:nvSpPr>
          <p:cNvPr id="9" name="Shape 7"/>
          <p:cNvSpPr/>
          <p:nvPr/>
        </p:nvSpPr>
        <p:spPr>
          <a:xfrm>
            <a:off x="6583680" y="731520"/>
            <a:ext cx="4846320" cy="4846320"/>
          </a:xfrm>
          <a:prstGeom prst="ellipse">
            <a:avLst/>
          </a:prstGeom>
          <a:solidFill>
            <a:srgbClr val="FFF9C7"/>
          </a:solidFill>
          <a:ln/>
        </p:spPr>
      </p:sp>
      <p:pic>
        <p:nvPicPr>
          <p:cNvPr id="10" name="Image 0" descr="preencoded.png">    </p:cNvPr>
          <p:cNvPicPr>
            <a:picLocks noChangeAspect="1"/>
          </p:cNvPicPr>
          <p:nvPr/>
        </p:nvPicPr>
        <p:blipFill>
          <a:blip r:embed="rId1"/>
          <a:stretch>
            <a:fillRect/>
          </a:stretch>
        </p:blipFill>
        <p:spPr>
          <a:xfrm>
            <a:off x="7933414" y="1508760"/>
            <a:ext cx="2146852" cy="3291840"/>
          </a:xfrm>
          <a:prstGeom prst="rect">
            <a:avLst/>
          </a:prstGeom>
        </p:spPr>
      </p:pic>
      <p:sp>
        <p:nvSpPr>
          <p:cNvPr id="11" name="Text 8"/>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spc="100" kern="0" dirty="0">
                <a:solidFill>
                  <a:srgbClr val="B3B3BA"/>
                </a:solidFill>
                <a:latin typeface="Calibri" pitchFamily="34" charset="0"/>
                <a:ea typeface="Calibri" pitchFamily="34" charset="-122"/>
                <a:cs typeface="Calibri" pitchFamily="34" charset="-120"/>
              </a:rPr>
              <a:t>ENMA FORMATION  ·  Formation des élus municipaux 2026</a:t>
            </a:r>
            <a:endParaRPr lang="en-US" sz="900" dirty="0"/>
          </a:p>
        </p:txBody>
      </p:sp>
      <p:sp>
        <p:nvSpPr>
          <p:cNvPr id="12" name="Text 9"/>
          <p:cNvSpPr txBox="1"/>
          <p:nvPr/>
        </p:nvSpPr>
        <p:spPr>
          <a:xfrm>
            <a:off x="9692640" y="6400800"/>
            <a:ext cx="548640" cy="274320"/>
          </a:xfrm>
          <a:prstGeom prst="rect">
            <a:avLst/>
          </a:prstGeom>
          <a:noFill/>
          <a:ln/>
        </p:spPr>
        <p:txBody>
          <a:bodyPr wrap="square" lIns="0" tIns="0" rIns="0" bIns="0" rtlCol="0" anchor="ctr"/>
          <a:lstStyle/>
          <a:p>
            <a:pPr algn="r" indent="0" marL="0">
              <a:buNone/>
            </a:pPr>
            <a:r>
              <a:rPr lang="en-US" sz="900" dirty="0">
                <a:solidFill>
                  <a:srgbClr val="B3B3BA"/>
                </a:solidFill>
                <a:latin typeface="Calibri" pitchFamily="34" charset="0"/>
                <a:ea typeface="Calibri" pitchFamily="34" charset="-122"/>
                <a:cs typeface="Calibri" pitchFamily="34" charset="-120"/>
              </a:rPr>
              <a:t>5</a:t>
            </a:r>
            <a:endParaRPr lang="en-US" sz="900" dirty="0"/>
          </a:p>
        </p:txBody>
      </p:sp>
      <p:pic>
        <p:nvPicPr>
          <p:cNvPr id="13" name="Image 1" descr="preencoded.png">    </p:cNvPr>
          <p:cNvPicPr>
            <a:picLocks noChangeAspect="1"/>
          </p:cNvPicPr>
          <p:nvPr/>
        </p:nvPicPr>
        <p:blipFill>
          <a:blip r:embed="rId2"/>
          <a:stretch>
            <a:fillRect/>
          </a:stretch>
        </p:blipFill>
        <p:spPr>
          <a:xfrm>
            <a:off x="10469880" y="6309360"/>
            <a:ext cx="1170432" cy="48463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420624" cy="310896"/>
          </a:xfrm>
          <a:prstGeom prst="roundRect">
            <a:avLst>
              <a:gd name="adj" fmla="val 23529"/>
            </a:avLst>
          </a:prstGeom>
          <a:solidFill>
            <a:srgbClr val="0B032B"/>
          </a:solidFill>
          <a:ln/>
        </p:spPr>
      </p:sp>
      <p:sp>
        <p:nvSpPr>
          <p:cNvPr id="3" name="Text 1"/>
          <p:cNvSpPr txBox="1"/>
          <p:nvPr/>
        </p:nvSpPr>
        <p:spPr>
          <a:xfrm>
            <a:off x="548640" y="438912"/>
            <a:ext cx="420624" cy="310896"/>
          </a:xfrm>
          <a:prstGeom prst="rect">
            <a:avLst/>
          </a:prstGeom>
          <a:noFill/>
          <a:ln/>
        </p:spPr>
        <p:txBody>
          <a:bodyPr wrap="square" lIns="0" tIns="0" rIns="0" bIns="0" rtlCol="0" anchor="ctr"/>
          <a:lstStyle/>
          <a:p>
            <a:pPr algn="ctr" indent="0" marL="0">
              <a:buNone/>
            </a:pPr>
            <a:r>
              <a:rPr lang="en-US" sz="1100" b="1" dirty="0">
                <a:solidFill>
                  <a:srgbClr val="FFF9C7"/>
                </a:solidFill>
                <a:latin typeface="Calibri" pitchFamily="34" charset="0"/>
                <a:ea typeface="Calibri" pitchFamily="34" charset="-122"/>
                <a:cs typeface="Calibri" pitchFamily="34" charset="-120"/>
              </a:rPr>
              <a:t>01</a:t>
            </a:r>
            <a:endParaRPr lang="en-US" sz="1100" dirty="0"/>
          </a:p>
        </p:txBody>
      </p:sp>
      <p:sp>
        <p:nvSpPr>
          <p:cNvPr id="4" name="Text 2"/>
          <p:cNvSpPr txBox="1"/>
          <p:nvPr/>
        </p:nvSpPr>
        <p:spPr>
          <a:xfrm>
            <a:off x="1115568" y="438912"/>
            <a:ext cx="8229600" cy="310896"/>
          </a:xfrm>
          <a:prstGeom prst="rect">
            <a:avLst/>
          </a:prstGeom>
          <a:noFill/>
          <a:ln/>
        </p:spPr>
        <p:txBody>
          <a:bodyPr wrap="square" lIns="0" tIns="0" rIns="0" bIns="0" rtlCol="0" anchor="ctr"/>
          <a:lstStyle/>
          <a:p>
            <a:pPr indent="0" marL="0">
              <a:buNone/>
            </a:pPr>
            <a:r>
              <a:rPr lang="en-US" sz="1100" b="1" spc="200" kern="0" dirty="0">
                <a:solidFill>
                  <a:srgbClr val="55516E"/>
                </a:solidFill>
                <a:latin typeface="Calibri" pitchFamily="34" charset="0"/>
                <a:ea typeface="Calibri" pitchFamily="34" charset="-122"/>
                <a:cs typeface="Calibri" pitchFamily="34" charset="-120"/>
              </a:rPr>
              <a:t>LE RÔLE DU MAIRE</a:t>
            </a:r>
            <a:endParaRPr lang="en-US" sz="1100" dirty="0"/>
          </a:p>
        </p:txBody>
      </p:sp>
      <p:sp>
        <p:nvSpPr>
          <p:cNvPr id="5" name="Text 3"/>
          <p:cNvSpPr txBox="1"/>
          <p:nvPr/>
        </p:nvSpPr>
        <p:spPr>
          <a:xfrm>
            <a:off x="548640" y="841248"/>
            <a:ext cx="11064240" cy="685800"/>
          </a:xfrm>
          <a:prstGeom prst="rect">
            <a:avLst/>
          </a:prstGeom>
          <a:noFill/>
          <a:ln/>
        </p:spPr>
        <p:txBody>
          <a:bodyPr wrap="square" lIns="0" tIns="0" rIns="0" bIns="0" rtlCol="0" anchor="ctr">
            <a:normAutofit/>
          </a:bodyPr>
          <a:lstStyle/>
          <a:p>
            <a:pPr indent="0" marL="0">
              <a:buNone/>
            </a:pPr>
            <a:r>
              <a:rPr lang="en-US" sz="2800" b="1" dirty="0">
                <a:solidFill>
                  <a:srgbClr val="0B032B"/>
                </a:solidFill>
                <a:latin typeface="Calibri" pitchFamily="34" charset="0"/>
                <a:ea typeface="Calibri" pitchFamily="34" charset="-122"/>
                <a:cs typeface="Calibri" pitchFamily="34" charset="-120"/>
              </a:rPr>
              <a:t>Le Maire, un acteur au cœur de la vie communale</a:t>
            </a:r>
            <a:endParaRPr lang="en-US" sz="2800" dirty="0"/>
          </a:p>
        </p:txBody>
      </p:sp>
      <p:sp>
        <p:nvSpPr>
          <p:cNvPr id="6" name="Text 4"/>
          <p:cNvSpPr txBox="1"/>
          <p:nvPr/>
        </p:nvSpPr>
        <p:spPr>
          <a:xfrm>
            <a:off x="548640" y="1600200"/>
            <a:ext cx="7315200" cy="365760"/>
          </a:xfrm>
          <a:prstGeom prst="rect">
            <a:avLst/>
          </a:prstGeom>
          <a:noFill/>
          <a:ln/>
        </p:spPr>
        <p:txBody>
          <a:bodyPr wrap="square" lIns="0" tIns="0" rIns="0" bIns="0" rtlCol="0" anchor="t"/>
          <a:lstStyle/>
          <a:p>
            <a:pPr indent="0" marL="0">
              <a:buNone/>
            </a:pPr>
            <a:r>
              <a:rPr lang="en-US" sz="1600" i="1" dirty="0">
                <a:solidFill>
                  <a:srgbClr val="55516E"/>
                </a:solidFill>
                <a:latin typeface="Calibri" pitchFamily="34" charset="0"/>
                <a:ea typeface="Calibri" pitchFamily="34" charset="-122"/>
                <a:cs typeface="Calibri" pitchFamily="34" charset="-120"/>
              </a:rPr>
              <a:t>Élu par le conseil municipal, le maire est à la fois :</a:t>
            </a:r>
            <a:endParaRPr lang="en-US" sz="1600" dirty="0"/>
          </a:p>
        </p:txBody>
      </p:sp>
      <p:sp>
        <p:nvSpPr>
          <p:cNvPr id="7" name="Shape 5"/>
          <p:cNvSpPr/>
          <p:nvPr/>
        </p:nvSpPr>
        <p:spPr>
          <a:xfrm>
            <a:off x="640080" y="2240280"/>
            <a:ext cx="3566160" cy="3566160"/>
          </a:xfrm>
          <a:prstGeom prst="ellipse">
            <a:avLst/>
          </a:prstGeom>
          <a:solidFill>
            <a:srgbClr val="F3F2F8"/>
          </a:solidFill>
          <a:ln/>
        </p:spPr>
      </p:sp>
      <p:pic>
        <p:nvPicPr>
          <p:cNvPr id="8" name="Image 0" descr="preencoded.png">    </p:cNvPr>
          <p:cNvPicPr>
            <a:picLocks noChangeAspect="1"/>
          </p:cNvPicPr>
          <p:nvPr/>
        </p:nvPicPr>
        <p:blipFill>
          <a:blip r:embed="rId1"/>
          <a:stretch>
            <a:fillRect/>
          </a:stretch>
        </p:blipFill>
        <p:spPr>
          <a:xfrm>
            <a:off x="1508760" y="2514600"/>
            <a:ext cx="1967948" cy="3017520"/>
          </a:xfrm>
          <a:prstGeom prst="rect">
            <a:avLst/>
          </a:prstGeom>
        </p:spPr>
      </p:pic>
      <p:sp>
        <p:nvSpPr>
          <p:cNvPr id="9" name="Shape 6"/>
          <p:cNvSpPr/>
          <p:nvPr/>
        </p:nvSpPr>
        <p:spPr>
          <a:xfrm>
            <a:off x="4754880" y="2148840"/>
            <a:ext cx="6858000" cy="1188720"/>
          </a:xfrm>
          <a:prstGeom prst="roundRect">
            <a:avLst>
              <a:gd name="adj" fmla="val 9231"/>
            </a:avLst>
          </a:prstGeom>
          <a:solidFill>
            <a:srgbClr val="F3F2F8"/>
          </a:solidFill>
          <a:ln/>
        </p:spPr>
      </p:sp>
      <p:sp>
        <p:nvSpPr>
          <p:cNvPr id="10" name="Shape 7"/>
          <p:cNvSpPr/>
          <p:nvPr/>
        </p:nvSpPr>
        <p:spPr>
          <a:xfrm>
            <a:off x="4956048" y="2395728"/>
            <a:ext cx="694944" cy="694944"/>
          </a:xfrm>
          <a:prstGeom prst="ellipse">
            <a:avLst/>
          </a:prstGeom>
          <a:solidFill>
            <a:srgbClr val="0B032B"/>
          </a:solidFill>
          <a:ln/>
        </p:spPr>
      </p:sp>
      <p:pic>
        <p:nvPicPr>
          <p:cNvPr id="11" name="Image 1" descr="preencoded.png">    </p:cNvPr>
          <p:cNvPicPr>
            <a:picLocks noChangeAspect="1"/>
          </p:cNvPicPr>
          <p:nvPr/>
        </p:nvPicPr>
        <p:blipFill>
          <a:blip r:embed="rId2"/>
          <a:stretch>
            <a:fillRect/>
          </a:stretch>
        </p:blipFill>
        <p:spPr>
          <a:xfrm>
            <a:off x="5108936" y="2548616"/>
            <a:ext cx="389169" cy="389169"/>
          </a:xfrm>
          <a:prstGeom prst="rect">
            <a:avLst/>
          </a:prstGeom>
        </p:spPr>
      </p:pic>
      <p:sp>
        <p:nvSpPr>
          <p:cNvPr id="12" name="Text 8"/>
          <p:cNvSpPr txBox="1"/>
          <p:nvPr/>
        </p:nvSpPr>
        <p:spPr>
          <a:xfrm>
            <a:off x="5897880" y="2331720"/>
            <a:ext cx="5486400" cy="365760"/>
          </a:xfrm>
          <a:prstGeom prst="rect">
            <a:avLst/>
          </a:prstGeom>
          <a:noFill/>
          <a:ln/>
        </p:spPr>
        <p:txBody>
          <a:bodyPr wrap="square" lIns="0" tIns="0" rIns="0" bIns="0" rtlCol="0" anchor="t"/>
          <a:lstStyle/>
          <a:p>
            <a:pPr indent="0" marL="0">
              <a:buNone/>
            </a:pPr>
            <a:r>
              <a:rPr lang="en-US" sz="1800" b="1" dirty="0">
                <a:solidFill>
                  <a:srgbClr val="0B032B"/>
                </a:solidFill>
                <a:latin typeface="Calibri" pitchFamily="34" charset="0"/>
                <a:ea typeface="Calibri" pitchFamily="34" charset="-122"/>
                <a:cs typeface="Calibri" pitchFamily="34" charset="-120"/>
              </a:rPr>
              <a:t>Chef de l’exécutif communal</a:t>
            </a:r>
            <a:endParaRPr lang="en-US" sz="1800" dirty="0"/>
          </a:p>
        </p:txBody>
      </p:sp>
      <p:sp>
        <p:nvSpPr>
          <p:cNvPr id="13" name="Text 9"/>
          <p:cNvSpPr txBox="1"/>
          <p:nvPr/>
        </p:nvSpPr>
        <p:spPr>
          <a:xfrm>
            <a:off x="5897880" y="2715768"/>
            <a:ext cx="5486400" cy="548640"/>
          </a:xfrm>
          <a:prstGeom prst="rect">
            <a:avLst/>
          </a:prstGeom>
          <a:noFill/>
          <a:ln/>
        </p:spPr>
        <p:txBody>
          <a:bodyPr wrap="square" lIns="0" tIns="0" rIns="0" bIns="0" rtlCol="0" anchor="t"/>
          <a:lstStyle/>
          <a:p>
            <a:pPr indent="0" marL="0">
              <a:buNone/>
            </a:pPr>
            <a:r>
              <a:rPr lang="en-US" sz="1400" dirty="0">
                <a:solidFill>
                  <a:srgbClr val="55516E"/>
                </a:solidFill>
                <a:latin typeface="Calibri" pitchFamily="34" charset="0"/>
                <a:ea typeface="Calibri" pitchFamily="34" charset="-122"/>
                <a:cs typeface="Calibri" pitchFamily="34" charset="-120"/>
              </a:rPr>
              <a:t>Il met en œuvre les décisions du conseil municipal et administre la commune.</a:t>
            </a:r>
            <a:endParaRPr lang="en-US" sz="1400" dirty="0"/>
          </a:p>
        </p:txBody>
      </p:sp>
      <p:sp>
        <p:nvSpPr>
          <p:cNvPr id="14" name="Shape 10"/>
          <p:cNvSpPr/>
          <p:nvPr/>
        </p:nvSpPr>
        <p:spPr>
          <a:xfrm>
            <a:off x="3840480" y="2743200"/>
            <a:ext cx="914400" cy="0"/>
          </a:xfrm>
          <a:prstGeom prst="line">
            <a:avLst/>
          </a:prstGeom>
          <a:noFill/>
          <a:ln w="15875">
            <a:solidFill>
              <a:srgbClr val="0B032B"/>
            </a:solidFill>
            <a:prstDash val="sysDot"/>
            <a:tailEnd type="oval"/>
          </a:ln>
        </p:spPr>
      </p:sp>
      <p:sp>
        <p:nvSpPr>
          <p:cNvPr id="15" name="Shape 11"/>
          <p:cNvSpPr/>
          <p:nvPr/>
        </p:nvSpPr>
        <p:spPr>
          <a:xfrm>
            <a:off x="4754880" y="3493008"/>
            <a:ext cx="6858000" cy="1188720"/>
          </a:xfrm>
          <a:prstGeom prst="roundRect">
            <a:avLst>
              <a:gd name="adj" fmla="val 9231"/>
            </a:avLst>
          </a:prstGeom>
          <a:solidFill>
            <a:srgbClr val="FFF9C7"/>
          </a:solidFill>
          <a:ln/>
        </p:spPr>
      </p:sp>
      <p:sp>
        <p:nvSpPr>
          <p:cNvPr id="16" name="Shape 12"/>
          <p:cNvSpPr/>
          <p:nvPr/>
        </p:nvSpPr>
        <p:spPr>
          <a:xfrm>
            <a:off x="4956048" y="3739896"/>
            <a:ext cx="694944" cy="694944"/>
          </a:xfrm>
          <a:prstGeom prst="ellipse">
            <a:avLst/>
          </a:prstGeom>
          <a:solidFill>
            <a:srgbClr val="0B032B"/>
          </a:solidFill>
          <a:ln/>
        </p:spPr>
      </p:sp>
      <p:pic>
        <p:nvPicPr>
          <p:cNvPr id="17" name="Image 2" descr="preencoded.png">    </p:cNvPr>
          <p:cNvPicPr>
            <a:picLocks noChangeAspect="1"/>
          </p:cNvPicPr>
          <p:nvPr/>
        </p:nvPicPr>
        <p:blipFill>
          <a:blip r:embed="rId3"/>
          <a:stretch>
            <a:fillRect/>
          </a:stretch>
        </p:blipFill>
        <p:spPr>
          <a:xfrm>
            <a:off x="5108936" y="3892784"/>
            <a:ext cx="389169" cy="389169"/>
          </a:xfrm>
          <a:prstGeom prst="rect">
            <a:avLst/>
          </a:prstGeom>
        </p:spPr>
      </p:pic>
      <p:sp>
        <p:nvSpPr>
          <p:cNvPr id="18" name="Text 13"/>
          <p:cNvSpPr txBox="1"/>
          <p:nvPr/>
        </p:nvSpPr>
        <p:spPr>
          <a:xfrm>
            <a:off x="5897880" y="3675888"/>
            <a:ext cx="5486400" cy="365760"/>
          </a:xfrm>
          <a:prstGeom prst="rect">
            <a:avLst/>
          </a:prstGeom>
          <a:noFill/>
          <a:ln/>
        </p:spPr>
        <p:txBody>
          <a:bodyPr wrap="square" lIns="0" tIns="0" rIns="0" bIns="0" rtlCol="0" anchor="t"/>
          <a:lstStyle/>
          <a:p>
            <a:pPr indent="0" marL="0">
              <a:buNone/>
            </a:pPr>
            <a:r>
              <a:rPr lang="en-US" sz="1800" b="1" dirty="0">
                <a:solidFill>
                  <a:srgbClr val="0B032B"/>
                </a:solidFill>
                <a:latin typeface="Calibri" pitchFamily="34" charset="0"/>
                <a:ea typeface="Calibri" pitchFamily="34" charset="-122"/>
                <a:cs typeface="Calibri" pitchFamily="34" charset="-120"/>
              </a:rPr>
              <a:t>Représentant de l’État</a:t>
            </a:r>
            <a:endParaRPr lang="en-US" sz="1800" dirty="0"/>
          </a:p>
        </p:txBody>
      </p:sp>
      <p:sp>
        <p:nvSpPr>
          <p:cNvPr id="19" name="Text 14"/>
          <p:cNvSpPr txBox="1"/>
          <p:nvPr/>
        </p:nvSpPr>
        <p:spPr>
          <a:xfrm>
            <a:off x="5897880" y="4059936"/>
            <a:ext cx="5486400" cy="548640"/>
          </a:xfrm>
          <a:prstGeom prst="rect">
            <a:avLst/>
          </a:prstGeom>
          <a:noFill/>
          <a:ln/>
        </p:spPr>
        <p:txBody>
          <a:bodyPr wrap="square" lIns="0" tIns="0" rIns="0" bIns="0" rtlCol="0" anchor="t"/>
          <a:lstStyle/>
          <a:p>
            <a:pPr indent="0" marL="0">
              <a:buNone/>
            </a:pPr>
            <a:r>
              <a:rPr lang="en-US" sz="1400" dirty="0">
                <a:solidFill>
                  <a:srgbClr val="55516E"/>
                </a:solidFill>
                <a:latin typeface="Calibri" pitchFamily="34" charset="0"/>
                <a:ea typeface="Calibri" pitchFamily="34" charset="-122"/>
                <a:cs typeface="Calibri" pitchFamily="34" charset="-120"/>
              </a:rPr>
              <a:t>Il agit au nom de l’État pour certaines missions (état civil, élections, recensement...).</a:t>
            </a:r>
            <a:endParaRPr lang="en-US" sz="1400" dirty="0"/>
          </a:p>
        </p:txBody>
      </p:sp>
      <p:sp>
        <p:nvSpPr>
          <p:cNvPr id="20" name="Shape 15"/>
          <p:cNvSpPr/>
          <p:nvPr/>
        </p:nvSpPr>
        <p:spPr>
          <a:xfrm>
            <a:off x="3840480" y="4087368"/>
            <a:ext cx="914400" cy="0"/>
          </a:xfrm>
          <a:prstGeom prst="line">
            <a:avLst/>
          </a:prstGeom>
          <a:noFill/>
          <a:ln w="15875">
            <a:solidFill>
              <a:srgbClr val="0B032B"/>
            </a:solidFill>
            <a:prstDash val="sysDot"/>
            <a:tailEnd type="oval"/>
          </a:ln>
        </p:spPr>
      </p:sp>
      <p:sp>
        <p:nvSpPr>
          <p:cNvPr id="21" name="Shape 16"/>
          <p:cNvSpPr/>
          <p:nvPr/>
        </p:nvSpPr>
        <p:spPr>
          <a:xfrm>
            <a:off x="4754880" y="4837176"/>
            <a:ext cx="6858000" cy="1188720"/>
          </a:xfrm>
          <a:prstGeom prst="roundRect">
            <a:avLst>
              <a:gd name="adj" fmla="val 9231"/>
            </a:avLst>
          </a:prstGeom>
          <a:solidFill>
            <a:srgbClr val="F3F2F8"/>
          </a:solidFill>
          <a:ln/>
        </p:spPr>
      </p:sp>
      <p:sp>
        <p:nvSpPr>
          <p:cNvPr id="22" name="Shape 17"/>
          <p:cNvSpPr/>
          <p:nvPr/>
        </p:nvSpPr>
        <p:spPr>
          <a:xfrm>
            <a:off x="4956048" y="5084064"/>
            <a:ext cx="694944" cy="694944"/>
          </a:xfrm>
          <a:prstGeom prst="ellipse">
            <a:avLst/>
          </a:prstGeom>
          <a:solidFill>
            <a:srgbClr val="0B032B"/>
          </a:solidFill>
          <a:ln/>
        </p:spPr>
      </p:sp>
      <p:pic>
        <p:nvPicPr>
          <p:cNvPr id="23" name="Image 3" descr="preencoded.png">    </p:cNvPr>
          <p:cNvPicPr>
            <a:picLocks noChangeAspect="1"/>
          </p:cNvPicPr>
          <p:nvPr/>
        </p:nvPicPr>
        <p:blipFill>
          <a:blip r:embed="rId4"/>
          <a:stretch>
            <a:fillRect/>
          </a:stretch>
        </p:blipFill>
        <p:spPr>
          <a:xfrm>
            <a:off x="5108936" y="5236952"/>
            <a:ext cx="389169" cy="389169"/>
          </a:xfrm>
          <a:prstGeom prst="rect">
            <a:avLst/>
          </a:prstGeom>
        </p:spPr>
      </p:pic>
      <p:sp>
        <p:nvSpPr>
          <p:cNvPr id="24" name="Text 18"/>
          <p:cNvSpPr txBox="1"/>
          <p:nvPr/>
        </p:nvSpPr>
        <p:spPr>
          <a:xfrm>
            <a:off x="5897880" y="5020056"/>
            <a:ext cx="5486400" cy="365760"/>
          </a:xfrm>
          <a:prstGeom prst="rect">
            <a:avLst/>
          </a:prstGeom>
          <a:noFill/>
          <a:ln/>
        </p:spPr>
        <p:txBody>
          <a:bodyPr wrap="square" lIns="0" tIns="0" rIns="0" bIns="0" rtlCol="0" anchor="t"/>
          <a:lstStyle/>
          <a:p>
            <a:pPr indent="0" marL="0">
              <a:buNone/>
            </a:pPr>
            <a:r>
              <a:rPr lang="en-US" sz="1800" b="1" dirty="0">
                <a:solidFill>
                  <a:srgbClr val="0B032B"/>
                </a:solidFill>
                <a:latin typeface="Calibri" pitchFamily="34" charset="0"/>
                <a:ea typeface="Calibri" pitchFamily="34" charset="-122"/>
                <a:cs typeface="Calibri" pitchFamily="34" charset="-120"/>
              </a:rPr>
              <a:t>Autorité de police administrative</a:t>
            </a:r>
            <a:endParaRPr lang="en-US" sz="1800" dirty="0"/>
          </a:p>
        </p:txBody>
      </p:sp>
      <p:sp>
        <p:nvSpPr>
          <p:cNvPr id="25" name="Text 19"/>
          <p:cNvSpPr txBox="1"/>
          <p:nvPr/>
        </p:nvSpPr>
        <p:spPr>
          <a:xfrm>
            <a:off x="5897880" y="5404104"/>
            <a:ext cx="5486400" cy="548640"/>
          </a:xfrm>
          <a:prstGeom prst="rect">
            <a:avLst/>
          </a:prstGeom>
          <a:noFill/>
          <a:ln/>
        </p:spPr>
        <p:txBody>
          <a:bodyPr wrap="square" lIns="0" tIns="0" rIns="0" bIns="0" rtlCol="0" anchor="t"/>
          <a:lstStyle/>
          <a:p>
            <a:pPr indent="0" marL="0">
              <a:buNone/>
            </a:pPr>
            <a:r>
              <a:rPr lang="en-US" sz="1400" dirty="0">
                <a:solidFill>
                  <a:srgbClr val="55516E"/>
                </a:solidFill>
                <a:latin typeface="Calibri" pitchFamily="34" charset="0"/>
                <a:ea typeface="Calibri" pitchFamily="34" charset="-122"/>
                <a:cs typeface="Calibri" pitchFamily="34" charset="-120"/>
              </a:rPr>
              <a:t>Il veille à la sécurité, à la salubrité et à la tranquillité publiques.</a:t>
            </a:r>
            <a:endParaRPr lang="en-US" sz="1400" dirty="0"/>
          </a:p>
        </p:txBody>
      </p:sp>
      <p:sp>
        <p:nvSpPr>
          <p:cNvPr id="26" name="Shape 20"/>
          <p:cNvSpPr/>
          <p:nvPr/>
        </p:nvSpPr>
        <p:spPr>
          <a:xfrm>
            <a:off x="3840480" y="5431536"/>
            <a:ext cx="914400" cy="0"/>
          </a:xfrm>
          <a:prstGeom prst="line">
            <a:avLst/>
          </a:prstGeom>
          <a:noFill/>
          <a:ln w="15875">
            <a:solidFill>
              <a:srgbClr val="0B032B"/>
            </a:solidFill>
            <a:prstDash val="sysDot"/>
            <a:tailEnd type="oval"/>
          </a:ln>
        </p:spPr>
      </p:sp>
      <p:sp>
        <p:nvSpPr>
          <p:cNvPr id="27" name="Text 21"/>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spc="100" kern="0" dirty="0">
                <a:solidFill>
                  <a:srgbClr val="8A8699"/>
                </a:solidFill>
                <a:latin typeface="Calibri" pitchFamily="34" charset="0"/>
                <a:ea typeface="Calibri" pitchFamily="34" charset="-122"/>
                <a:cs typeface="Calibri" pitchFamily="34" charset="-120"/>
              </a:rPr>
              <a:t>ENMA FORMATION  ·  Formation des élus municipaux 2026</a:t>
            </a:r>
            <a:endParaRPr lang="en-US" sz="900" dirty="0"/>
          </a:p>
        </p:txBody>
      </p:sp>
      <p:sp>
        <p:nvSpPr>
          <p:cNvPr id="28" name="Text 22"/>
          <p:cNvSpPr txBox="1"/>
          <p:nvPr/>
        </p:nvSpPr>
        <p:spPr>
          <a:xfrm>
            <a:off x="9692640" y="6400800"/>
            <a:ext cx="548640" cy="274320"/>
          </a:xfrm>
          <a:prstGeom prst="rect">
            <a:avLst/>
          </a:prstGeom>
          <a:noFill/>
          <a:ln/>
        </p:spPr>
        <p:txBody>
          <a:bodyPr wrap="square" lIns="0" tIns="0" rIns="0" bIns="0" rtlCol="0" anchor="ctr"/>
          <a:lstStyle/>
          <a:p>
            <a:pPr algn="r" indent="0" marL="0">
              <a:buNone/>
            </a:pPr>
            <a:r>
              <a:rPr lang="en-US" sz="900" dirty="0">
                <a:solidFill>
                  <a:srgbClr val="8A8699"/>
                </a:solidFill>
                <a:latin typeface="Calibri" pitchFamily="34" charset="0"/>
                <a:ea typeface="Calibri" pitchFamily="34" charset="-122"/>
                <a:cs typeface="Calibri" pitchFamily="34" charset="-120"/>
              </a:rPr>
              <a:t>6</a:t>
            </a:r>
            <a:endParaRPr lang="en-US" sz="900" dirty="0"/>
          </a:p>
        </p:txBody>
      </p:sp>
      <p:pic>
        <p:nvPicPr>
          <p:cNvPr id="29" name="Image 4" descr="preencoded.png">    </p:cNvPr>
          <p:cNvPicPr>
            <a:picLocks noChangeAspect="1"/>
          </p:cNvPicPr>
          <p:nvPr/>
        </p:nvPicPr>
        <p:blipFill>
          <a:blip r:embed="rId5"/>
          <a:stretch>
            <a:fillRect/>
          </a:stretch>
        </p:blipFill>
        <p:spPr>
          <a:xfrm>
            <a:off x="10469880" y="6309360"/>
            <a:ext cx="1170432" cy="48463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420624" cy="310896"/>
          </a:xfrm>
          <a:prstGeom prst="roundRect">
            <a:avLst>
              <a:gd name="adj" fmla="val 23529"/>
            </a:avLst>
          </a:prstGeom>
          <a:solidFill>
            <a:srgbClr val="0B032B"/>
          </a:solidFill>
          <a:ln/>
        </p:spPr>
      </p:sp>
      <p:sp>
        <p:nvSpPr>
          <p:cNvPr id="3" name="Text 1"/>
          <p:cNvSpPr txBox="1"/>
          <p:nvPr/>
        </p:nvSpPr>
        <p:spPr>
          <a:xfrm>
            <a:off x="548640" y="438912"/>
            <a:ext cx="420624" cy="310896"/>
          </a:xfrm>
          <a:prstGeom prst="rect">
            <a:avLst/>
          </a:prstGeom>
          <a:noFill/>
          <a:ln/>
        </p:spPr>
        <p:txBody>
          <a:bodyPr wrap="square" lIns="0" tIns="0" rIns="0" bIns="0" rtlCol="0" anchor="ctr"/>
          <a:lstStyle/>
          <a:p>
            <a:pPr algn="ctr" indent="0" marL="0">
              <a:buNone/>
            </a:pPr>
            <a:r>
              <a:rPr lang="en-US" sz="1100" b="1" dirty="0">
                <a:solidFill>
                  <a:srgbClr val="FFF9C7"/>
                </a:solidFill>
                <a:latin typeface="Calibri" pitchFamily="34" charset="0"/>
                <a:ea typeface="Calibri" pitchFamily="34" charset="-122"/>
                <a:cs typeface="Calibri" pitchFamily="34" charset="-120"/>
              </a:rPr>
              <a:t>01</a:t>
            </a:r>
            <a:endParaRPr lang="en-US" sz="1100" dirty="0"/>
          </a:p>
        </p:txBody>
      </p:sp>
      <p:sp>
        <p:nvSpPr>
          <p:cNvPr id="4" name="Text 2"/>
          <p:cNvSpPr txBox="1"/>
          <p:nvPr/>
        </p:nvSpPr>
        <p:spPr>
          <a:xfrm>
            <a:off x="1115568" y="438912"/>
            <a:ext cx="8229600" cy="310896"/>
          </a:xfrm>
          <a:prstGeom prst="rect">
            <a:avLst/>
          </a:prstGeom>
          <a:noFill/>
          <a:ln/>
        </p:spPr>
        <p:txBody>
          <a:bodyPr wrap="square" lIns="0" tIns="0" rIns="0" bIns="0" rtlCol="0" anchor="ctr"/>
          <a:lstStyle/>
          <a:p>
            <a:pPr indent="0" marL="0">
              <a:buNone/>
            </a:pPr>
            <a:r>
              <a:rPr lang="en-US" sz="1100" b="1" spc="200" kern="0" dirty="0">
                <a:solidFill>
                  <a:srgbClr val="55516E"/>
                </a:solidFill>
                <a:latin typeface="Calibri" pitchFamily="34" charset="0"/>
                <a:ea typeface="Calibri" pitchFamily="34" charset="-122"/>
                <a:cs typeface="Calibri" pitchFamily="34" charset="-120"/>
              </a:rPr>
              <a:t>LE RÔLE DU MAIRE</a:t>
            </a:r>
            <a:endParaRPr lang="en-US" sz="1100" dirty="0"/>
          </a:p>
        </p:txBody>
      </p:sp>
      <p:sp>
        <p:nvSpPr>
          <p:cNvPr id="5" name="Text 3"/>
          <p:cNvSpPr txBox="1"/>
          <p:nvPr/>
        </p:nvSpPr>
        <p:spPr>
          <a:xfrm>
            <a:off x="548640" y="841248"/>
            <a:ext cx="11064240" cy="685800"/>
          </a:xfrm>
          <a:prstGeom prst="rect">
            <a:avLst/>
          </a:prstGeom>
          <a:noFill/>
          <a:ln/>
        </p:spPr>
        <p:txBody>
          <a:bodyPr wrap="square" lIns="0" tIns="0" rIns="0" bIns="0" rtlCol="0" anchor="ctr">
            <a:normAutofit/>
          </a:bodyPr>
          <a:lstStyle/>
          <a:p>
            <a:pPr indent="0" marL="0">
              <a:buNone/>
            </a:pPr>
            <a:r>
              <a:rPr lang="en-US" sz="2800" b="1" dirty="0">
                <a:solidFill>
                  <a:srgbClr val="0B032B"/>
                </a:solidFill>
                <a:latin typeface="Calibri" pitchFamily="34" charset="0"/>
                <a:ea typeface="Calibri" pitchFamily="34" charset="-122"/>
                <a:cs typeface="Calibri" pitchFamily="34" charset="-120"/>
              </a:rPr>
              <a:t>Ses principales missions</a:t>
            </a:r>
            <a:endParaRPr lang="en-US" sz="2800" dirty="0"/>
          </a:p>
        </p:txBody>
      </p:sp>
      <p:sp>
        <p:nvSpPr>
          <p:cNvPr id="6" name="Shape 4"/>
          <p:cNvSpPr/>
          <p:nvPr/>
        </p:nvSpPr>
        <p:spPr>
          <a:xfrm>
            <a:off x="548640" y="1828800"/>
            <a:ext cx="3520440" cy="1965960"/>
          </a:xfrm>
          <a:prstGeom prst="roundRect">
            <a:avLst>
              <a:gd name="adj" fmla="val 5581"/>
            </a:avLst>
          </a:prstGeom>
          <a:solidFill>
            <a:srgbClr val="F3F2F8"/>
          </a:solidFill>
          <a:ln/>
        </p:spPr>
      </p:sp>
      <p:sp>
        <p:nvSpPr>
          <p:cNvPr id="7" name="Shape 5"/>
          <p:cNvSpPr/>
          <p:nvPr/>
        </p:nvSpPr>
        <p:spPr>
          <a:xfrm>
            <a:off x="822960" y="2103120"/>
            <a:ext cx="731520" cy="731520"/>
          </a:xfrm>
          <a:prstGeom prst="ellipse">
            <a:avLst/>
          </a:prstGeom>
          <a:solidFill>
            <a:srgbClr val="0B032B"/>
          </a:solidFill>
          <a:ln/>
        </p:spPr>
      </p:sp>
      <p:pic>
        <p:nvPicPr>
          <p:cNvPr id="8" name="Image 0" descr="preencoded.png">    </p:cNvPr>
          <p:cNvPicPr>
            <a:picLocks noChangeAspect="1"/>
          </p:cNvPicPr>
          <p:nvPr/>
        </p:nvPicPr>
        <p:blipFill>
          <a:blip r:embed="rId1"/>
          <a:stretch>
            <a:fillRect/>
          </a:stretch>
        </p:blipFill>
        <p:spPr>
          <a:xfrm>
            <a:off x="983894" y="2264054"/>
            <a:ext cx="409651" cy="409651"/>
          </a:xfrm>
          <a:prstGeom prst="rect">
            <a:avLst/>
          </a:prstGeom>
        </p:spPr>
      </p:pic>
      <p:sp>
        <p:nvSpPr>
          <p:cNvPr id="9" name="Text 6"/>
          <p:cNvSpPr txBox="1"/>
          <p:nvPr/>
        </p:nvSpPr>
        <p:spPr>
          <a:xfrm>
            <a:off x="3154680" y="2084832"/>
            <a:ext cx="685800" cy="457200"/>
          </a:xfrm>
          <a:prstGeom prst="rect">
            <a:avLst/>
          </a:prstGeom>
          <a:noFill/>
          <a:ln/>
        </p:spPr>
        <p:txBody>
          <a:bodyPr wrap="square" lIns="0" tIns="0" rIns="0" bIns="0" rtlCol="0" anchor="t"/>
          <a:lstStyle/>
          <a:p>
            <a:pPr algn="r" indent="0" marL="0">
              <a:buNone/>
            </a:pPr>
            <a:r>
              <a:rPr lang="en-US" sz="2400" dirty="0">
                <a:solidFill>
                  <a:srgbClr val="E7E5F0"/>
                </a:solidFill>
                <a:latin typeface="Impact" pitchFamily="34" charset="0"/>
                <a:ea typeface="Impact" pitchFamily="34" charset="-122"/>
                <a:cs typeface="Impact" pitchFamily="34" charset="-120"/>
              </a:rPr>
              <a:t>01</a:t>
            </a:r>
            <a:endParaRPr lang="en-US" sz="2400" dirty="0"/>
          </a:p>
        </p:txBody>
      </p:sp>
      <p:sp>
        <p:nvSpPr>
          <p:cNvPr id="10" name="Text 7"/>
          <p:cNvSpPr txBox="1"/>
          <p:nvPr/>
        </p:nvSpPr>
        <p:spPr>
          <a:xfrm>
            <a:off x="822960" y="2926080"/>
            <a:ext cx="3017520" cy="777240"/>
          </a:xfrm>
          <a:prstGeom prst="rect">
            <a:avLst/>
          </a:prstGeom>
          <a:noFill/>
          <a:ln/>
        </p:spPr>
        <p:txBody>
          <a:bodyPr wrap="square" lIns="0" tIns="0" rIns="0" bIns="0" rtlCol="0" anchor="t"/>
          <a:lstStyle/>
          <a:p>
            <a:pPr indent="0" marL="0">
              <a:buNone/>
            </a:pPr>
            <a:r>
              <a:rPr lang="en-US" sz="1500" b="1" dirty="0">
                <a:solidFill>
                  <a:srgbClr val="0B032B"/>
                </a:solidFill>
                <a:latin typeface="Calibri" pitchFamily="34" charset="0"/>
                <a:ea typeface="Calibri" pitchFamily="34" charset="-122"/>
                <a:cs typeface="Calibri" pitchFamily="34" charset="-120"/>
              </a:rPr>
              <a:t>Préparer et exécuter les délibérations du conseil municipal.</a:t>
            </a:r>
            <a:endParaRPr lang="en-US" sz="1500" dirty="0"/>
          </a:p>
        </p:txBody>
      </p:sp>
      <p:sp>
        <p:nvSpPr>
          <p:cNvPr id="11" name="Shape 8"/>
          <p:cNvSpPr/>
          <p:nvPr/>
        </p:nvSpPr>
        <p:spPr>
          <a:xfrm>
            <a:off x="4297680" y="1828800"/>
            <a:ext cx="3520440" cy="1965960"/>
          </a:xfrm>
          <a:prstGeom prst="roundRect">
            <a:avLst>
              <a:gd name="adj" fmla="val 5581"/>
            </a:avLst>
          </a:prstGeom>
          <a:solidFill>
            <a:srgbClr val="F3F2F8"/>
          </a:solidFill>
          <a:ln/>
        </p:spPr>
      </p:sp>
      <p:sp>
        <p:nvSpPr>
          <p:cNvPr id="12" name="Shape 9"/>
          <p:cNvSpPr/>
          <p:nvPr/>
        </p:nvSpPr>
        <p:spPr>
          <a:xfrm>
            <a:off x="4572000" y="2103120"/>
            <a:ext cx="731520" cy="731520"/>
          </a:xfrm>
          <a:prstGeom prst="ellipse">
            <a:avLst/>
          </a:prstGeom>
          <a:solidFill>
            <a:srgbClr val="0B032B"/>
          </a:solidFill>
          <a:ln/>
        </p:spPr>
      </p:sp>
      <p:pic>
        <p:nvPicPr>
          <p:cNvPr id="13" name="Image 1" descr="preencoded.png">    </p:cNvPr>
          <p:cNvPicPr>
            <a:picLocks noChangeAspect="1"/>
          </p:cNvPicPr>
          <p:nvPr/>
        </p:nvPicPr>
        <p:blipFill>
          <a:blip r:embed="rId2"/>
          <a:stretch>
            <a:fillRect/>
          </a:stretch>
        </p:blipFill>
        <p:spPr>
          <a:xfrm>
            <a:off x="4732934" y="2264054"/>
            <a:ext cx="409651" cy="409651"/>
          </a:xfrm>
          <a:prstGeom prst="rect">
            <a:avLst/>
          </a:prstGeom>
        </p:spPr>
      </p:pic>
      <p:sp>
        <p:nvSpPr>
          <p:cNvPr id="14" name="Text 10"/>
          <p:cNvSpPr txBox="1"/>
          <p:nvPr/>
        </p:nvSpPr>
        <p:spPr>
          <a:xfrm>
            <a:off x="6903720" y="2084832"/>
            <a:ext cx="685800" cy="457200"/>
          </a:xfrm>
          <a:prstGeom prst="rect">
            <a:avLst/>
          </a:prstGeom>
          <a:noFill/>
          <a:ln/>
        </p:spPr>
        <p:txBody>
          <a:bodyPr wrap="square" lIns="0" tIns="0" rIns="0" bIns="0" rtlCol="0" anchor="t"/>
          <a:lstStyle/>
          <a:p>
            <a:pPr algn="r" indent="0" marL="0">
              <a:buNone/>
            </a:pPr>
            <a:r>
              <a:rPr lang="en-US" sz="2400" dirty="0">
                <a:solidFill>
                  <a:srgbClr val="E7E5F0"/>
                </a:solidFill>
                <a:latin typeface="Impact" pitchFamily="34" charset="0"/>
                <a:ea typeface="Impact" pitchFamily="34" charset="-122"/>
                <a:cs typeface="Impact" pitchFamily="34" charset="-120"/>
              </a:rPr>
              <a:t>02</a:t>
            </a:r>
            <a:endParaRPr lang="en-US" sz="2400" dirty="0"/>
          </a:p>
        </p:txBody>
      </p:sp>
      <p:sp>
        <p:nvSpPr>
          <p:cNvPr id="15" name="Text 11"/>
          <p:cNvSpPr txBox="1"/>
          <p:nvPr/>
        </p:nvSpPr>
        <p:spPr>
          <a:xfrm>
            <a:off x="4572000" y="2926080"/>
            <a:ext cx="3017520" cy="777240"/>
          </a:xfrm>
          <a:prstGeom prst="rect">
            <a:avLst/>
          </a:prstGeom>
          <a:noFill/>
          <a:ln/>
        </p:spPr>
        <p:txBody>
          <a:bodyPr wrap="square" lIns="0" tIns="0" rIns="0" bIns="0" rtlCol="0" anchor="t"/>
          <a:lstStyle/>
          <a:p>
            <a:pPr indent="0" marL="0">
              <a:buNone/>
            </a:pPr>
            <a:r>
              <a:rPr lang="en-US" sz="1500" b="1" dirty="0">
                <a:solidFill>
                  <a:srgbClr val="0B032B"/>
                </a:solidFill>
                <a:latin typeface="Calibri" pitchFamily="34" charset="0"/>
                <a:ea typeface="Calibri" pitchFamily="34" charset="-122"/>
                <a:cs typeface="Calibri" pitchFamily="34" charset="-120"/>
              </a:rPr>
              <a:t>Gérer le budget et les finances communales.</a:t>
            </a:r>
            <a:endParaRPr lang="en-US" sz="1500" dirty="0"/>
          </a:p>
        </p:txBody>
      </p:sp>
      <p:sp>
        <p:nvSpPr>
          <p:cNvPr id="16" name="Shape 12"/>
          <p:cNvSpPr/>
          <p:nvPr/>
        </p:nvSpPr>
        <p:spPr>
          <a:xfrm>
            <a:off x="8046720" y="1828800"/>
            <a:ext cx="3520440" cy="1965960"/>
          </a:xfrm>
          <a:prstGeom prst="roundRect">
            <a:avLst>
              <a:gd name="adj" fmla="val 5581"/>
            </a:avLst>
          </a:prstGeom>
          <a:solidFill>
            <a:srgbClr val="F3F2F8"/>
          </a:solidFill>
          <a:ln/>
        </p:spPr>
      </p:sp>
      <p:sp>
        <p:nvSpPr>
          <p:cNvPr id="17" name="Shape 13"/>
          <p:cNvSpPr/>
          <p:nvPr/>
        </p:nvSpPr>
        <p:spPr>
          <a:xfrm>
            <a:off x="8321040" y="2103120"/>
            <a:ext cx="731520" cy="731520"/>
          </a:xfrm>
          <a:prstGeom prst="ellipse">
            <a:avLst/>
          </a:prstGeom>
          <a:solidFill>
            <a:srgbClr val="0B032B"/>
          </a:solidFill>
          <a:ln/>
        </p:spPr>
      </p:sp>
      <p:pic>
        <p:nvPicPr>
          <p:cNvPr id="18" name="Image 2" descr="preencoded.png">    </p:cNvPr>
          <p:cNvPicPr>
            <a:picLocks noChangeAspect="1"/>
          </p:cNvPicPr>
          <p:nvPr/>
        </p:nvPicPr>
        <p:blipFill>
          <a:blip r:embed="rId3"/>
          <a:stretch>
            <a:fillRect/>
          </a:stretch>
        </p:blipFill>
        <p:spPr>
          <a:xfrm>
            <a:off x="8481974" y="2264054"/>
            <a:ext cx="409651" cy="409651"/>
          </a:xfrm>
          <a:prstGeom prst="rect">
            <a:avLst/>
          </a:prstGeom>
        </p:spPr>
      </p:pic>
      <p:sp>
        <p:nvSpPr>
          <p:cNvPr id="19" name="Text 14"/>
          <p:cNvSpPr txBox="1"/>
          <p:nvPr/>
        </p:nvSpPr>
        <p:spPr>
          <a:xfrm>
            <a:off x="10652760" y="2084832"/>
            <a:ext cx="685800" cy="457200"/>
          </a:xfrm>
          <a:prstGeom prst="rect">
            <a:avLst/>
          </a:prstGeom>
          <a:noFill/>
          <a:ln/>
        </p:spPr>
        <p:txBody>
          <a:bodyPr wrap="square" lIns="0" tIns="0" rIns="0" bIns="0" rtlCol="0" anchor="t"/>
          <a:lstStyle/>
          <a:p>
            <a:pPr algn="r" indent="0" marL="0">
              <a:buNone/>
            </a:pPr>
            <a:r>
              <a:rPr lang="en-US" sz="2400" dirty="0">
                <a:solidFill>
                  <a:srgbClr val="E7E5F0"/>
                </a:solidFill>
                <a:latin typeface="Impact" pitchFamily="34" charset="0"/>
                <a:ea typeface="Impact" pitchFamily="34" charset="-122"/>
                <a:cs typeface="Impact" pitchFamily="34" charset="-120"/>
              </a:rPr>
              <a:t>03</a:t>
            </a:r>
            <a:endParaRPr lang="en-US" sz="2400" dirty="0"/>
          </a:p>
        </p:txBody>
      </p:sp>
      <p:sp>
        <p:nvSpPr>
          <p:cNvPr id="20" name="Text 15"/>
          <p:cNvSpPr txBox="1"/>
          <p:nvPr/>
        </p:nvSpPr>
        <p:spPr>
          <a:xfrm>
            <a:off x="8321040" y="2926080"/>
            <a:ext cx="3017520" cy="777240"/>
          </a:xfrm>
          <a:prstGeom prst="rect">
            <a:avLst/>
          </a:prstGeom>
          <a:noFill/>
          <a:ln/>
        </p:spPr>
        <p:txBody>
          <a:bodyPr wrap="square" lIns="0" tIns="0" rIns="0" bIns="0" rtlCol="0" anchor="t"/>
          <a:lstStyle/>
          <a:p>
            <a:pPr indent="0" marL="0">
              <a:buNone/>
            </a:pPr>
            <a:r>
              <a:rPr lang="en-US" sz="1500" b="1" dirty="0">
                <a:solidFill>
                  <a:srgbClr val="0B032B"/>
                </a:solidFill>
                <a:latin typeface="Calibri" pitchFamily="34" charset="0"/>
                <a:ea typeface="Calibri" pitchFamily="34" charset="-122"/>
                <a:cs typeface="Calibri" pitchFamily="34" charset="-120"/>
              </a:rPr>
              <a:t>Diriger les services municipaux et les agents.</a:t>
            </a:r>
            <a:endParaRPr lang="en-US" sz="1500" dirty="0"/>
          </a:p>
        </p:txBody>
      </p:sp>
      <p:sp>
        <p:nvSpPr>
          <p:cNvPr id="21" name="Shape 16"/>
          <p:cNvSpPr/>
          <p:nvPr/>
        </p:nvSpPr>
        <p:spPr>
          <a:xfrm>
            <a:off x="548640" y="4023360"/>
            <a:ext cx="3520440" cy="1965960"/>
          </a:xfrm>
          <a:prstGeom prst="roundRect">
            <a:avLst>
              <a:gd name="adj" fmla="val 5581"/>
            </a:avLst>
          </a:prstGeom>
          <a:solidFill>
            <a:srgbClr val="F3F2F8"/>
          </a:solidFill>
          <a:ln/>
        </p:spPr>
      </p:sp>
      <p:sp>
        <p:nvSpPr>
          <p:cNvPr id="22" name="Shape 17"/>
          <p:cNvSpPr/>
          <p:nvPr/>
        </p:nvSpPr>
        <p:spPr>
          <a:xfrm>
            <a:off x="822960" y="4297680"/>
            <a:ext cx="731520" cy="731520"/>
          </a:xfrm>
          <a:prstGeom prst="ellipse">
            <a:avLst/>
          </a:prstGeom>
          <a:solidFill>
            <a:srgbClr val="0B032B"/>
          </a:solidFill>
          <a:ln/>
        </p:spPr>
      </p:sp>
      <p:pic>
        <p:nvPicPr>
          <p:cNvPr id="23" name="Image 3" descr="preencoded.png">    </p:cNvPr>
          <p:cNvPicPr>
            <a:picLocks noChangeAspect="1"/>
          </p:cNvPicPr>
          <p:nvPr/>
        </p:nvPicPr>
        <p:blipFill>
          <a:blip r:embed="rId4"/>
          <a:stretch>
            <a:fillRect/>
          </a:stretch>
        </p:blipFill>
        <p:spPr>
          <a:xfrm>
            <a:off x="983894" y="4458614"/>
            <a:ext cx="409651" cy="409651"/>
          </a:xfrm>
          <a:prstGeom prst="rect">
            <a:avLst/>
          </a:prstGeom>
        </p:spPr>
      </p:pic>
      <p:sp>
        <p:nvSpPr>
          <p:cNvPr id="24" name="Text 18"/>
          <p:cNvSpPr txBox="1"/>
          <p:nvPr/>
        </p:nvSpPr>
        <p:spPr>
          <a:xfrm>
            <a:off x="3154680" y="4279392"/>
            <a:ext cx="685800" cy="457200"/>
          </a:xfrm>
          <a:prstGeom prst="rect">
            <a:avLst/>
          </a:prstGeom>
          <a:noFill/>
          <a:ln/>
        </p:spPr>
        <p:txBody>
          <a:bodyPr wrap="square" lIns="0" tIns="0" rIns="0" bIns="0" rtlCol="0" anchor="t"/>
          <a:lstStyle/>
          <a:p>
            <a:pPr algn="r" indent="0" marL="0">
              <a:buNone/>
            </a:pPr>
            <a:r>
              <a:rPr lang="en-US" sz="2400" dirty="0">
                <a:solidFill>
                  <a:srgbClr val="E7E5F0"/>
                </a:solidFill>
                <a:latin typeface="Impact" pitchFamily="34" charset="0"/>
                <a:ea typeface="Impact" pitchFamily="34" charset="-122"/>
                <a:cs typeface="Impact" pitchFamily="34" charset="-120"/>
              </a:rPr>
              <a:t>04</a:t>
            </a:r>
            <a:endParaRPr lang="en-US" sz="2400" dirty="0"/>
          </a:p>
        </p:txBody>
      </p:sp>
      <p:sp>
        <p:nvSpPr>
          <p:cNvPr id="25" name="Text 19"/>
          <p:cNvSpPr txBox="1"/>
          <p:nvPr/>
        </p:nvSpPr>
        <p:spPr>
          <a:xfrm>
            <a:off x="822960" y="5120640"/>
            <a:ext cx="3017520" cy="777240"/>
          </a:xfrm>
          <a:prstGeom prst="rect">
            <a:avLst/>
          </a:prstGeom>
          <a:noFill/>
          <a:ln/>
        </p:spPr>
        <p:txBody>
          <a:bodyPr wrap="square" lIns="0" tIns="0" rIns="0" bIns="0" rtlCol="0" anchor="t"/>
          <a:lstStyle/>
          <a:p>
            <a:pPr indent="0" marL="0">
              <a:buNone/>
            </a:pPr>
            <a:r>
              <a:rPr lang="en-US" sz="1500" b="1" dirty="0">
                <a:solidFill>
                  <a:srgbClr val="0B032B"/>
                </a:solidFill>
                <a:latin typeface="Calibri" pitchFamily="34" charset="0"/>
                <a:ea typeface="Calibri" pitchFamily="34" charset="-122"/>
                <a:cs typeface="Calibri" pitchFamily="34" charset="-120"/>
              </a:rPr>
              <a:t>Délivrer les actes d’état civil (naissances, mariages, décès).</a:t>
            </a:r>
            <a:endParaRPr lang="en-US" sz="1500" dirty="0"/>
          </a:p>
        </p:txBody>
      </p:sp>
      <p:sp>
        <p:nvSpPr>
          <p:cNvPr id="26" name="Shape 20"/>
          <p:cNvSpPr/>
          <p:nvPr/>
        </p:nvSpPr>
        <p:spPr>
          <a:xfrm>
            <a:off x="4297680" y="4023360"/>
            <a:ext cx="3520440" cy="1965960"/>
          </a:xfrm>
          <a:prstGeom prst="roundRect">
            <a:avLst>
              <a:gd name="adj" fmla="val 5581"/>
            </a:avLst>
          </a:prstGeom>
          <a:solidFill>
            <a:srgbClr val="F3F2F8"/>
          </a:solidFill>
          <a:ln/>
        </p:spPr>
      </p:sp>
      <p:sp>
        <p:nvSpPr>
          <p:cNvPr id="27" name="Shape 21"/>
          <p:cNvSpPr/>
          <p:nvPr/>
        </p:nvSpPr>
        <p:spPr>
          <a:xfrm>
            <a:off x="4572000" y="4297680"/>
            <a:ext cx="731520" cy="731520"/>
          </a:xfrm>
          <a:prstGeom prst="ellipse">
            <a:avLst/>
          </a:prstGeom>
          <a:solidFill>
            <a:srgbClr val="0B032B"/>
          </a:solidFill>
          <a:ln/>
        </p:spPr>
      </p:sp>
      <p:pic>
        <p:nvPicPr>
          <p:cNvPr id="28" name="Image 4" descr="preencoded.png">    </p:cNvPr>
          <p:cNvPicPr>
            <a:picLocks noChangeAspect="1"/>
          </p:cNvPicPr>
          <p:nvPr/>
        </p:nvPicPr>
        <p:blipFill>
          <a:blip r:embed="rId5"/>
          <a:stretch>
            <a:fillRect/>
          </a:stretch>
        </p:blipFill>
        <p:spPr>
          <a:xfrm>
            <a:off x="4732934" y="4458614"/>
            <a:ext cx="409651" cy="409651"/>
          </a:xfrm>
          <a:prstGeom prst="rect">
            <a:avLst/>
          </a:prstGeom>
        </p:spPr>
      </p:pic>
      <p:sp>
        <p:nvSpPr>
          <p:cNvPr id="29" name="Text 22"/>
          <p:cNvSpPr txBox="1"/>
          <p:nvPr/>
        </p:nvSpPr>
        <p:spPr>
          <a:xfrm>
            <a:off x="6903720" y="4279392"/>
            <a:ext cx="685800" cy="457200"/>
          </a:xfrm>
          <a:prstGeom prst="rect">
            <a:avLst/>
          </a:prstGeom>
          <a:noFill/>
          <a:ln/>
        </p:spPr>
        <p:txBody>
          <a:bodyPr wrap="square" lIns="0" tIns="0" rIns="0" bIns="0" rtlCol="0" anchor="t"/>
          <a:lstStyle/>
          <a:p>
            <a:pPr algn="r" indent="0" marL="0">
              <a:buNone/>
            </a:pPr>
            <a:r>
              <a:rPr lang="en-US" sz="2400" dirty="0">
                <a:solidFill>
                  <a:srgbClr val="E7E5F0"/>
                </a:solidFill>
                <a:latin typeface="Impact" pitchFamily="34" charset="0"/>
                <a:ea typeface="Impact" pitchFamily="34" charset="-122"/>
                <a:cs typeface="Impact" pitchFamily="34" charset="-120"/>
              </a:rPr>
              <a:t>05</a:t>
            </a:r>
            <a:endParaRPr lang="en-US" sz="2400" dirty="0"/>
          </a:p>
        </p:txBody>
      </p:sp>
      <p:sp>
        <p:nvSpPr>
          <p:cNvPr id="30" name="Text 23"/>
          <p:cNvSpPr txBox="1"/>
          <p:nvPr/>
        </p:nvSpPr>
        <p:spPr>
          <a:xfrm>
            <a:off x="4572000" y="5120640"/>
            <a:ext cx="3017520" cy="777240"/>
          </a:xfrm>
          <a:prstGeom prst="rect">
            <a:avLst/>
          </a:prstGeom>
          <a:noFill/>
          <a:ln/>
        </p:spPr>
        <p:txBody>
          <a:bodyPr wrap="square" lIns="0" tIns="0" rIns="0" bIns="0" rtlCol="0" anchor="t"/>
          <a:lstStyle/>
          <a:p>
            <a:pPr indent="0" marL="0">
              <a:buNone/>
            </a:pPr>
            <a:r>
              <a:rPr lang="en-US" sz="1500" b="1" dirty="0">
                <a:solidFill>
                  <a:srgbClr val="0B032B"/>
                </a:solidFill>
                <a:latin typeface="Calibri" pitchFamily="34" charset="0"/>
                <a:ea typeface="Calibri" pitchFamily="34" charset="-122"/>
                <a:cs typeface="Calibri" pitchFamily="34" charset="-120"/>
              </a:rPr>
              <a:t>Signer les arrêtés municipaux.</a:t>
            </a:r>
            <a:endParaRPr lang="en-US" sz="1500" dirty="0"/>
          </a:p>
        </p:txBody>
      </p:sp>
      <p:sp>
        <p:nvSpPr>
          <p:cNvPr id="31" name="Shape 24"/>
          <p:cNvSpPr/>
          <p:nvPr/>
        </p:nvSpPr>
        <p:spPr>
          <a:xfrm>
            <a:off x="8046720" y="4023360"/>
            <a:ext cx="3520440" cy="1965960"/>
          </a:xfrm>
          <a:prstGeom prst="roundRect">
            <a:avLst>
              <a:gd name="adj" fmla="val 5581"/>
            </a:avLst>
          </a:prstGeom>
          <a:solidFill>
            <a:srgbClr val="F3F2F8"/>
          </a:solidFill>
          <a:ln/>
        </p:spPr>
      </p:sp>
      <p:sp>
        <p:nvSpPr>
          <p:cNvPr id="32" name="Shape 25"/>
          <p:cNvSpPr/>
          <p:nvPr/>
        </p:nvSpPr>
        <p:spPr>
          <a:xfrm>
            <a:off x="8321040" y="4297680"/>
            <a:ext cx="731520" cy="731520"/>
          </a:xfrm>
          <a:prstGeom prst="ellipse">
            <a:avLst/>
          </a:prstGeom>
          <a:solidFill>
            <a:srgbClr val="0B032B"/>
          </a:solidFill>
          <a:ln/>
        </p:spPr>
      </p:sp>
      <p:pic>
        <p:nvPicPr>
          <p:cNvPr id="33" name="Image 5" descr="preencoded.png">    </p:cNvPr>
          <p:cNvPicPr>
            <a:picLocks noChangeAspect="1"/>
          </p:cNvPicPr>
          <p:nvPr/>
        </p:nvPicPr>
        <p:blipFill>
          <a:blip r:embed="rId6"/>
          <a:stretch>
            <a:fillRect/>
          </a:stretch>
        </p:blipFill>
        <p:spPr>
          <a:xfrm>
            <a:off x="8481974" y="4458614"/>
            <a:ext cx="409651" cy="409651"/>
          </a:xfrm>
          <a:prstGeom prst="rect">
            <a:avLst/>
          </a:prstGeom>
        </p:spPr>
      </p:pic>
      <p:sp>
        <p:nvSpPr>
          <p:cNvPr id="34" name="Text 26"/>
          <p:cNvSpPr txBox="1"/>
          <p:nvPr/>
        </p:nvSpPr>
        <p:spPr>
          <a:xfrm>
            <a:off x="10652760" y="4279392"/>
            <a:ext cx="685800" cy="457200"/>
          </a:xfrm>
          <a:prstGeom prst="rect">
            <a:avLst/>
          </a:prstGeom>
          <a:noFill/>
          <a:ln/>
        </p:spPr>
        <p:txBody>
          <a:bodyPr wrap="square" lIns="0" tIns="0" rIns="0" bIns="0" rtlCol="0" anchor="t"/>
          <a:lstStyle/>
          <a:p>
            <a:pPr algn="r" indent="0" marL="0">
              <a:buNone/>
            </a:pPr>
            <a:r>
              <a:rPr lang="en-US" sz="2400" dirty="0">
                <a:solidFill>
                  <a:srgbClr val="E7E5F0"/>
                </a:solidFill>
                <a:latin typeface="Impact" pitchFamily="34" charset="0"/>
                <a:ea typeface="Impact" pitchFamily="34" charset="-122"/>
                <a:cs typeface="Impact" pitchFamily="34" charset="-120"/>
              </a:rPr>
              <a:t>06</a:t>
            </a:r>
            <a:endParaRPr lang="en-US" sz="2400" dirty="0"/>
          </a:p>
        </p:txBody>
      </p:sp>
      <p:sp>
        <p:nvSpPr>
          <p:cNvPr id="35" name="Text 27"/>
          <p:cNvSpPr txBox="1"/>
          <p:nvPr/>
        </p:nvSpPr>
        <p:spPr>
          <a:xfrm>
            <a:off x="8321040" y="5120640"/>
            <a:ext cx="3017520" cy="777240"/>
          </a:xfrm>
          <a:prstGeom prst="rect">
            <a:avLst/>
          </a:prstGeom>
          <a:noFill/>
          <a:ln/>
        </p:spPr>
        <p:txBody>
          <a:bodyPr wrap="square" lIns="0" tIns="0" rIns="0" bIns="0" rtlCol="0" anchor="t"/>
          <a:lstStyle/>
          <a:p>
            <a:pPr indent="0" marL="0">
              <a:buNone/>
            </a:pPr>
            <a:r>
              <a:rPr lang="en-US" sz="1500" b="1" dirty="0">
                <a:solidFill>
                  <a:srgbClr val="0B032B"/>
                </a:solidFill>
                <a:latin typeface="Calibri" pitchFamily="34" charset="0"/>
                <a:ea typeface="Calibri" pitchFamily="34" charset="-122"/>
                <a:cs typeface="Calibri" pitchFamily="34" charset="-120"/>
              </a:rPr>
              <a:t>Représenter la commune devant les tribunaux et auprès des partenaires.</a:t>
            </a:r>
            <a:endParaRPr lang="en-US" sz="1500" dirty="0"/>
          </a:p>
        </p:txBody>
      </p:sp>
      <p:sp>
        <p:nvSpPr>
          <p:cNvPr id="36" name="Text 28"/>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spc="100" kern="0" dirty="0">
                <a:solidFill>
                  <a:srgbClr val="8A8699"/>
                </a:solidFill>
                <a:latin typeface="Calibri" pitchFamily="34" charset="0"/>
                <a:ea typeface="Calibri" pitchFamily="34" charset="-122"/>
                <a:cs typeface="Calibri" pitchFamily="34" charset="-120"/>
              </a:rPr>
              <a:t>ENMA FORMATION  ·  Formation des élus municipaux 2026</a:t>
            </a:r>
            <a:endParaRPr lang="en-US" sz="900" dirty="0"/>
          </a:p>
        </p:txBody>
      </p:sp>
      <p:sp>
        <p:nvSpPr>
          <p:cNvPr id="37" name="Text 29"/>
          <p:cNvSpPr txBox="1"/>
          <p:nvPr/>
        </p:nvSpPr>
        <p:spPr>
          <a:xfrm>
            <a:off x="9692640" y="6400800"/>
            <a:ext cx="548640" cy="274320"/>
          </a:xfrm>
          <a:prstGeom prst="rect">
            <a:avLst/>
          </a:prstGeom>
          <a:noFill/>
          <a:ln/>
        </p:spPr>
        <p:txBody>
          <a:bodyPr wrap="square" lIns="0" tIns="0" rIns="0" bIns="0" rtlCol="0" anchor="ctr"/>
          <a:lstStyle/>
          <a:p>
            <a:pPr algn="r" indent="0" marL="0">
              <a:buNone/>
            </a:pPr>
            <a:r>
              <a:rPr lang="en-US" sz="900" dirty="0">
                <a:solidFill>
                  <a:srgbClr val="8A8699"/>
                </a:solidFill>
                <a:latin typeface="Calibri" pitchFamily="34" charset="0"/>
                <a:ea typeface="Calibri" pitchFamily="34" charset="-122"/>
                <a:cs typeface="Calibri" pitchFamily="34" charset="-120"/>
              </a:rPr>
              <a:t>7</a:t>
            </a:r>
            <a:endParaRPr lang="en-US" sz="900" dirty="0"/>
          </a:p>
        </p:txBody>
      </p:sp>
      <p:pic>
        <p:nvPicPr>
          <p:cNvPr id="38" name="Image 6" descr="preencoded.png">    </p:cNvPr>
          <p:cNvPicPr>
            <a:picLocks noChangeAspect="1"/>
          </p:cNvPicPr>
          <p:nvPr/>
        </p:nvPicPr>
        <p:blipFill>
          <a:blip r:embed="rId7"/>
          <a:stretch>
            <a:fillRect/>
          </a:stretch>
        </p:blipFill>
        <p:spPr>
          <a:xfrm>
            <a:off x="10469880" y="6309360"/>
            <a:ext cx="1170432" cy="48463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420624" cy="310896"/>
          </a:xfrm>
          <a:prstGeom prst="roundRect">
            <a:avLst>
              <a:gd name="adj" fmla="val 23529"/>
            </a:avLst>
          </a:prstGeom>
          <a:solidFill>
            <a:srgbClr val="0B032B"/>
          </a:solidFill>
          <a:ln/>
        </p:spPr>
      </p:sp>
      <p:sp>
        <p:nvSpPr>
          <p:cNvPr id="3" name="Text 1"/>
          <p:cNvSpPr txBox="1"/>
          <p:nvPr/>
        </p:nvSpPr>
        <p:spPr>
          <a:xfrm>
            <a:off x="548640" y="438912"/>
            <a:ext cx="420624" cy="310896"/>
          </a:xfrm>
          <a:prstGeom prst="rect">
            <a:avLst/>
          </a:prstGeom>
          <a:noFill/>
          <a:ln/>
        </p:spPr>
        <p:txBody>
          <a:bodyPr wrap="square" lIns="0" tIns="0" rIns="0" bIns="0" rtlCol="0" anchor="ctr"/>
          <a:lstStyle/>
          <a:p>
            <a:pPr algn="ctr" indent="0" marL="0">
              <a:buNone/>
            </a:pPr>
            <a:r>
              <a:rPr lang="en-US" sz="1100" b="1" dirty="0">
                <a:solidFill>
                  <a:srgbClr val="FFF9C7"/>
                </a:solidFill>
                <a:latin typeface="Calibri" pitchFamily="34" charset="0"/>
                <a:ea typeface="Calibri" pitchFamily="34" charset="-122"/>
                <a:cs typeface="Calibri" pitchFamily="34" charset="-120"/>
              </a:rPr>
              <a:t>01</a:t>
            </a:r>
            <a:endParaRPr lang="en-US" sz="1100" dirty="0"/>
          </a:p>
        </p:txBody>
      </p:sp>
      <p:sp>
        <p:nvSpPr>
          <p:cNvPr id="4" name="Text 2"/>
          <p:cNvSpPr txBox="1"/>
          <p:nvPr/>
        </p:nvSpPr>
        <p:spPr>
          <a:xfrm>
            <a:off x="1115568" y="438912"/>
            <a:ext cx="8229600" cy="310896"/>
          </a:xfrm>
          <a:prstGeom prst="rect">
            <a:avLst/>
          </a:prstGeom>
          <a:noFill/>
          <a:ln/>
        </p:spPr>
        <p:txBody>
          <a:bodyPr wrap="square" lIns="0" tIns="0" rIns="0" bIns="0" rtlCol="0" anchor="ctr"/>
          <a:lstStyle/>
          <a:p>
            <a:pPr indent="0" marL="0">
              <a:buNone/>
            </a:pPr>
            <a:r>
              <a:rPr lang="en-US" sz="1100" b="1" spc="200" kern="0" dirty="0">
                <a:solidFill>
                  <a:srgbClr val="55516E"/>
                </a:solidFill>
                <a:latin typeface="Calibri" pitchFamily="34" charset="0"/>
                <a:ea typeface="Calibri" pitchFamily="34" charset="-122"/>
                <a:cs typeface="Calibri" pitchFamily="34" charset="-120"/>
              </a:rPr>
              <a:t>LE RÔLE DU MAIRE</a:t>
            </a:r>
            <a:endParaRPr lang="en-US" sz="1100" dirty="0"/>
          </a:p>
        </p:txBody>
      </p:sp>
      <p:sp>
        <p:nvSpPr>
          <p:cNvPr id="5" name="Text 3"/>
          <p:cNvSpPr txBox="1"/>
          <p:nvPr/>
        </p:nvSpPr>
        <p:spPr>
          <a:xfrm>
            <a:off x="548640" y="841248"/>
            <a:ext cx="11064240" cy="685800"/>
          </a:xfrm>
          <a:prstGeom prst="rect">
            <a:avLst/>
          </a:prstGeom>
          <a:noFill/>
          <a:ln/>
        </p:spPr>
        <p:txBody>
          <a:bodyPr wrap="square" lIns="0" tIns="0" rIns="0" bIns="0" rtlCol="0" anchor="ctr">
            <a:normAutofit/>
          </a:bodyPr>
          <a:lstStyle/>
          <a:p>
            <a:pPr indent="0" marL="0">
              <a:buNone/>
            </a:pPr>
            <a:r>
              <a:rPr lang="en-US" sz="2800" b="1" dirty="0">
                <a:solidFill>
                  <a:srgbClr val="0B032B"/>
                </a:solidFill>
                <a:latin typeface="Calibri" pitchFamily="34" charset="0"/>
                <a:ea typeface="Calibri" pitchFamily="34" charset="-122"/>
                <a:cs typeface="Calibri" pitchFamily="34" charset="-120"/>
              </a:rPr>
              <a:t>Exemples concrets</a:t>
            </a:r>
            <a:endParaRPr lang="en-US" sz="2800" dirty="0"/>
          </a:p>
        </p:txBody>
      </p:sp>
      <p:sp>
        <p:nvSpPr>
          <p:cNvPr id="6" name="Shape 4"/>
          <p:cNvSpPr/>
          <p:nvPr/>
        </p:nvSpPr>
        <p:spPr>
          <a:xfrm>
            <a:off x="548640" y="1828800"/>
            <a:ext cx="2606040" cy="4160520"/>
          </a:xfrm>
          <a:prstGeom prst="roundRect">
            <a:avLst>
              <a:gd name="adj" fmla="val 4211"/>
            </a:avLst>
          </a:prstGeom>
          <a:solidFill>
            <a:srgbClr val="F3F2F8"/>
          </a:solidFill>
          <a:ln/>
        </p:spPr>
      </p:sp>
      <p:sp>
        <p:nvSpPr>
          <p:cNvPr id="7" name="Shape 5"/>
          <p:cNvSpPr/>
          <p:nvPr/>
        </p:nvSpPr>
        <p:spPr>
          <a:xfrm>
            <a:off x="1024128" y="2194560"/>
            <a:ext cx="1645920" cy="1645920"/>
          </a:xfrm>
          <a:prstGeom prst="ellipse">
            <a:avLst/>
          </a:prstGeom>
          <a:solidFill>
            <a:srgbClr val="FFFFFF"/>
          </a:solidFill>
          <a:ln/>
        </p:spPr>
      </p:sp>
      <p:pic>
        <p:nvPicPr>
          <p:cNvPr id="8" name="Image 0" descr="preencoded.png">    </p:cNvPr>
          <p:cNvPicPr>
            <a:picLocks noChangeAspect="1"/>
          </p:cNvPicPr>
          <p:nvPr/>
        </p:nvPicPr>
        <p:blipFill>
          <a:blip r:embed="rId1"/>
          <a:stretch>
            <a:fillRect/>
          </a:stretch>
        </p:blipFill>
        <p:spPr>
          <a:xfrm>
            <a:off x="1435608" y="2606040"/>
            <a:ext cx="822960" cy="822960"/>
          </a:xfrm>
          <a:prstGeom prst="rect">
            <a:avLst/>
          </a:prstGeom>
        </p:spPr>
      </p:pic>
      <p:sp>
        <p:nvSpPr>
          <p:cNvPr id="9" name="Shape 6"/>
          <p:cNvSpPr/>
          <p:nvPr/>
        </p:nvSpPr>
        <p:spPr>
          <a:xfrm>
            <a:off x="2331720" y="3474720"/>
            <a:ext cx="457200" cy="457200"/>
          </a:xfrm>
          <a:prstGeom prst="ellipse">
            <a:avLst/>
          </a:prstGeom>
          <a:solidFill>
            <a:srgbClr val="0B032B"/>
          </a:solidFill>
          <a:ln/>
        </p:spPr>
      </p:sp>
      <p:pic>
        <p:nvPicPr>
          <p:cNvPr id="10" name="Image 1" descr="preencoded.png">    </p:cNvPr>
          <p:cNvPicPr>
            <a:picLocks noChangeAspect="1"/>
          </p:cNvPicPr>
          <p:nvPr/>
        </p:nvPicPr>
        <p:blipFill>
          <a:blip r:embed="rId2"/>
          <a:stretch>
            <a:fillRect/>
          </a:stretch>
        </p:blipFill>
        <p:spPr>
          <a:xfrm>
            <a:off x="2423160" y="3566160"/>
            <a:ext cx="274320" cy="274320"/>
          </a:xfrm>
          <a:prstGeom prst="rect">
            <a:avLst/>
          </a:prstGeom>
        </p:spPr>
      </p:pic>
      <p:sp>
        <p:nvSpPr>
          <p:cNvPr id="11" name="Text 7"/>
          <p:cNvSpPr txBox="1"/>
          <p:nvPr/>
        </p:nvSpPr>
        <p:spPr>
          <a:xfrm>
            <a:off x="822960" y="4206240"/>
            <a:ext cx="2103120" cy="1554480"/>
          </a:xfrm>
          <a:prstGeom prst="rect">
            <a:avLst/>
          </a:prstGeom>
          <a:noFill/>
          <a:ln/>
        </p:spPr>
        <p:txBody>
          <a:bodyPr wrap="square" lIns="0" tIns="0" rIns="0" bIns="0" rtlCol="0" anchor="t"/>
          <a:lstStyle/>
          <a:p>
            <a:pPr indent="0" marL="0">
              <a:buNone/>
            </a:pPr>
            <a:r>
              <a:rPr lang="en-US" sz="1500" b="1" dirty="0">
                <a:solidFill>
                  <a:srgbClr val="0B032B"/>
                </a:solidFill>
                <a:latin typeface="Calibri" pitchFamily="34" charset="0"/>
                <a:ea typeface="Calibri" pitchFamily="34" charset="-122"/>
                <a:cs typeface="Calibri" pitchFamily="34" charset="-120"/>
              </a:rPr>
              <a:t>Organiser les cérémonies du 14 Juillet ou du 11 Novembre.</a:t>
            </a:r>
            <a:endParaRPr lang="en-US" sz="1500" dirty="0"/>
          </a:p>
        </p:txBody>
      </p:sp>
      <p:sp>
        <p:nvSpPr>
          <p:cNvPr id="12" name="Shape 8"/>
          <p:cNvSpPr/>
          <p:nvPr/>
        </p:nvSpPr>
        <p:spPr>
          <a:xfrm>
            <a:off x="3355848" y="1828800"/>
            <a:ext cx="2606040" cy="4160520"/>
          </a:xfrm>
          <a:prstGeom prst="roundRect">
            <a:avLst>
              <a:gd name="adj" fmla="val 4211"/>
            </a:avLst>
          </a:prstGeom>
          <a:solidFill>
            <a:srgbClr val="FFF9C7"/>
          </a:solidFill>
          <a:ln/>
        </p:spPr>
      </p:sp>
      <p:sp>
        <p:nvSpPr>
          <p:cNvPr id="13" name="Shape 9"/>
          <p:cNvSpPr/>
          <p:nvPr/>
        </p:nvSpPr>
        <p:spPr>
          <a:xfrm>
            <a:off x="3831336" y="2194560"/>
            <a:ext cx="1645920" cy="1645920"/>
          </a:xfrm>
          <a:prstGeom prst="ellipse">
            <a:avLst/>
          </a:prstGeom>
          <a:solidFill>
            <a:srgbClr val="FFFFFF"/>
          </a:solidFill>
          <a:ln/>
        </p:spPr>
      </p:sp>
      <p:pic>
        <p:nvPicPr>
          <p:cNvPr id="14" name="Image 2" descr="preencoded.png">    </p:cNvPr>
          <p:cNvPicPr>
            <a:picLocks noChangeAspect="1"/>
          </p:cNvPicPr>
          <p:nvPr/>
        </p:nvPicPr>
        <p:blipFill>
          <a:blip r:embed="rId3"/>
          <a:stretch>
            <a:fillRect/>
          </a:stretch>
        </p:blipFill>
        <p:spPr>
          <a:xfrm>
            <a:off x="4242816" y="2606040"/>
            <a:ext cx="822960" cy="822960"/>
          </a:xfrm>
          <a:prstGeom prst="rect">
            <a:avLst/>
          </a:prstGeom>
        </p:spPr>
      </p:pic>
      <p:sp>
        <p:nvSpPr>
          <p:cNvPr id="15" name="Shape 10"/>
          <p:cNvSpPr/>
          <p:nvPr/>
        </p:nvSpPr>
        <p:spPr>
          <a:xfrm>
            <a:off x="5138928" y="3474720"/>
            <a:ext cx="457200" cy="457200"/>
          </a:xfrm>
          <a:prstGeom prst="ellipse">
            <a:avLst/>
          </a:prstGeom>
          <a:solidFill>
            <a:srgbClr val="0B032B"/>
          </a:solidFill>
          <a:ln/>
        </p:spPr>
      </p:sp>
      <p:pic>
        <p:nvPicPr>
          <p:cNvPr id="16" name="Image 3" descr="preencoded.png">    </p:cNvPr>
          <p:cNvPicPr>
            <a:picLocks noChangeAspect="1"/>
          </p:cNvPicPr>
          <p:nvPr/>
        </p:nvPicPr>
        <p:blipFill>
          <a:blip r:embed="rId4"/>
          <a:stretch>
            <a:fillRect/>
          </a:stretch>
        </p:blipFill>
        <p:spPr>
          <a:xfrm>
            <a:off x="5230368" y="3566160"/>
            <a:ext cx="274320" cy="274320"/>
          </a:xfrm>
          <a:prstGeom prst="rect">
            <a:avLst/>
          </a:prstGeom>
        </p:spPr>
      </p:pic>
      <p:sp>
        <p:nvSpPr>
          <p:cNvPr id="17" name="Text 11"/>
          <p:cNvSpPr txBox="1"/>
          <p:nvPr/>
        </p:nvSpPr>
        <p:spPr>
          <a:xfrm>
            <a:off x="3630168" y="4206240"/>
            <a:ext cx="2103120" cy="1554480"/>
          </a:xfrm>
          <a:prstGeom prst="rect">
            <a:avLst/>
          </a:prstGeom>
          <a:noFill/>
          <a:ln/>
        </p:spPr>
        <p:txBody>
          <a:bodyPr wrap="square" lIns="0" tIns="0" rIns="0" bIns="0" rtlCol="0" anchor="t"/>
          <a:lstStyle/>
          <a:p>
            <a:pPr indent="0" marL="0">
              <a:buNone/>
            </a:pPr>
            <a:r>
              <a:rPr lang="en-US" sz="1500" b="1" dirty="0">
                <a:solidFill>
                  <a:srgbClr val="0B032B"/>
                </a:solidFill>
                <a:latin typeface="Calibri" pitchFamily="34" charset="0"/>
                <a:ea typeface="Calibri" pitchFamily="34" charset="-122"/>
                <a:cs typeface="Calibri" pitchFamily="34" charset="-120"/>
              </a:rPr>
              <a:t>Prendre un arrêté pour interdire la circulation lors d’une brocante ou d’une course cycliste.</a:t>
            </a:r>
            <a:endParaRPr lang="en-US" sz="1500" dirty="0"/>
          </a:p>
        </p:txBody>
      </p:sp>
      <p:sp>
        <p:nvSpPr>
          <p:cNvPr id="18" name="Shape 12"/>
          <p:cNvSpPr/>
          <p:nvPr/>
        </p:nvSpPr>
        <p:spPr>
          <a:xfrm>
            <a:off x="6163056" y="1828800"/>
            <a:ext cx="2606040" cy="4160520"/>
          </a:xfrm>
          <a:prstGeom prst="roundRect">
            <a:avLst>
              <a:gd name="adj" fmla="val 4211"/>
            </a:avLst>
          </a:prstGeom>
          <a:solidFill>
            <a:srgbClr val="F3F2F8"/>
          </a:solidFill>
          <a:ln/>
        </p:spPr>
      </p:sp>
      <p:sp>
        <p:nvSpPr>
          <p:cNvPr id="19" name="Shape 13"/>
          <p:cNvSpPr/>
          <p:nvPr/>
        </p:nvSpPr>
        <p:spPr>
          <a:xfrm>
            <a:off x="6638544" y="2194560"/>
            <a:ext cx="1645920" cy="1645920"/>
          </a:xfrm>
          <a:prstGeom prst="ellipse">
            <a:avLst/>
          </a:prstGeom>
          <a:solidFill>
            <a:srgbClr val="FFFFFF"/>
          </a:solidFill>
          <a:ln/>
        </p:spPr>
      </p:sp>
      <p:pic>
        <p:nvPicPr>
          <p:cNvPr id="20" name="Image 4" descr="preencoded.png">    </p:cNvPr>
          <p:cNvPicPr>
            <a:picLocks noChangeAspect="1"/>
          </p:cNvPicPr>
          <p:nvPr/>
        </p:nvPicPr>
        <p:blipFill>
          <a:blip r:embed="rId5"/>
          <a:stretch>
            <a:fillRect/>
          </a:stretch>
        </p:blipFill>
        <p:spPr>
          <a:xfrm>
            <a:off x="6867144" y="2395728"/>
            <a:ext cx="1188720" cy="1188720"/>
          </a:xfrm>
          <a:prstGeom prst="rect">
            <a:avLst/>
          </a:prstGeom>
        </p:spPr>
      </p:pic>
      <p:sp>
        <p:nvSpPr>
          <p:cNvPr id="21" name="Shape 14"/>
          <p:cNvSpPr/>
          <p:nvPr/>
        </p:nvSpPr>
        <p:spPr>
          <a:xfrm>
            <a:off x="7946136" y="3474720"/>
            <a:ext cx="457200" cy="457200"/>
          </a:xfrm>
          <a:prstGeom prst="ellipse">
            <a:avLst/>
          </a:prstGeom>
          <a:solidFill>
            <a:srgbClr val="0B032B"/>
          </a:solidFill>
          <a:ln/>
        </p:spPr>
      </p:sp>
      <p:pic>
        <p:nvPicPr>
          <p:cNvPr id="22" name="Image 5" descr="preencoded.png">    </p:cNvPr>
          <p:cNvPicPr>
            <a:picLocks noChangeAspect="1"/>
          </p:cNvPicPr>
          <p:nvPr/>
        </p:nvPicPr>
        <p:blipFill>
          <a:blip r:embed="rId6"/>
          <a:stretch>
            <a:fillRect/>
          </a:stretch>
        </p:blipFill>
        <p:spPr>
          <a:xfrm>
            <a:off x="8037576" y="3566160"/>
            <a:ext cx="274320" cy="274320"/>
          </a:xfrm>
          <a:prstGeom prst="rect">
            <a:avLst/>
          </a:prstGeom>
        </p:spPr>
      </p:pic>
      <p:sp>
        <p:nvSpPr>
          <p:cNvPr id="23" name="Text 15"/>
          <p:cNvSpPr txBox="1"/>
          <p:nvPr/>
        </p:nvSpPr>
        <p:spPr>
          <a:xfrm>
            <a:off x="6437376" y="4206240"/>
            <a:ext cx="2103120" cy="1554480"/>
          </a:xfrm>
          <a:prstGeom prst="rect">
            <a:avLst/>
          </a:prstGeom>
          <a:noFill/>
          <a:ln/>
        </p:spPr>
        <p:txBody>
          <a:bodyPr wrap="square" lIns="0" tIns="0" rIns="0" bIns="0" rtlCol="0" anchor="t"/>
          <a:lstStyle/>
          <a:p>
            <a:pPr indent="0" marL="0">
              <a:buNone/>
            </a:pPr>
            <a:r>
              <a:rPr lang="en-US" sz="1500" b="1" dirty="0">
                <a:solidFill>
                  <a:srgbClr val="0B032B"/>
                </a:solidFill>
                <a:latin typeface="Calibri" pitchFamily="34" charset="0"/>
                <a:ea typeface="Calibri" pitchFamily="34" charset="-122"/>
                <a:cs typeface="Calibri" pitchFamily="34" charset="-120"/>
              </a:rPr>
              <a:t>Fermer un parc municipal en cas de tempête afin d’assurer la sécurité des habitants.</a:t>
            </a:r>
            <a:endParaRPr lang="en-US" sz="1500" dirty="0"/>
          </a:p>
        </p:txBody>
      </p:sp>
      <p:sp>
        <p:nvSpPr>
          <p:cNvPr id="24" name="Shape 16"/>
          <p:cNvSpPr/>
          <p:nvPr/>
        </p:nvSpPr>
        <p:spPr>
          <a:xfrm>
            <a:off x="8970264" y="1828800"/>
            <a:ext cx="2606040" cy="4160520"/>
          </a:xfrm>
          <a:prstGeom prst="roundRect">
            <a:avLst>
              <a:gd name="adj" fmla="val 4211"/>
            </a:avLst>
          </a:prstGeom>
          <a:solidFill>
            <a:srgbClr val="FFF9C7"/>
          </a:solidFill>
          <a:ln/>
        </p:spPr>
      </p:sp>
      <p:sp>
        <p:nvSpPr>
          <p:cNvPr id="25" name="Shape 17"/>
          <p:cNvSpPr/>
          <p:nvPr/>
        </p:nvSpPr>
        <p:spPr>
          <a:xfrm>
            <a:off x="9445752" y="2194560"/>
            <a:ext cx="1645920" cy="1645920"/>
          </a:xfrm>
          <a:prstGeom prst="ellipse">
            <a:avLst/>
          </a:prstGeom>
          <a:solidFill>
            <a:srgbClr val="FFFFFF"/>
          </a:solidFill>
          <a:ln/>
        </p:spPr>
      </p:sp>
      <p:pic>
        <p:nvPicPr>
          <p:cNvPr id="26" name="Image 6" descr="preencoded.png">    </p:cNvPr>
          <p:cNvPicPr>
            <a:picLocks noChangeAspect="1"/>
          </p:cNvPicPr>
          <p:nvPr/>
        </p:nvPicPr>
        <p:blipFill>
          <a:blip r:embed="rId7"/>
          <a:stretch>
            <a:fillRect/>
          </a:stretch>
        </p:blipFill>
        <p:spPr>
          <a:xfrm>
            <a:off x="9857232" y="2606040"/>
            <a:ext cx="822960" cy="822960"/>
          </a:xfrm>
          <a:prstGeom prst="rect">
            <a:avLst/>
          </a:prstGeom>
        </p:spPr>
      </p:pic>
      <p:sp>
        <p:nvSpPr>
          <p:cNvPr id="27" name="Shape 18"/>
          <p:cNvSpPr/>
          <p:nvPr/>
        </p:nvSpPr>
        <p:spPr>
          <a:xfrm>
            <a:off x="10753344" y="3474720"/>
            <a:ext cx="457200" cy="457200"/>
          </a:xfrm>
          <a:prstGeom prst="ellipse">
            <a:avLst/>
          </a:prstGeom>
          <a:solidFill>
            <a:srgbClr val="0B032B"/>
          </a:solidFill>
          <a:ln/>
        </p:spPr>
      </p:sp>
      <p:pic>
        <p:nvPicPr>
          <p:cNvPr id="28" name="Image 7" descr="preencoded.png">    </p:cNvPr>
          <p:cNvPicPr>
            <a:picLocks noChangeAspect="1"/>
          </p:cNvPicPr>
          <p:nvPr/>
        </p:nvPicPr>
        <p:blipFill>
          <a:blip r:embed="rId8"/>
          <a:stretch>
            <a:fillRect/>
          </a:stretch>
        </p:blipFill>
        <p:spPr>
          <a:xfrm>
            <a:off x="10844784" y="3566160"/>
            <a:ext cx="274320" cy="274320"/>
          </a:xfrm>
          <a:prstGeom prst="rect">
            <a:avLst/>
          </a:prstGeom>
        </p:spPr>
      </p:pic>
      <p:sp>
        <p:nvSpPr>
          <p:cNvPr id="29" name="Text 19"/>
          <p:cNvSpPr txBox="1"/>
          <p:nvPr/>
        </p:nvSpPr>
        <p:spPr>
          <a:xfrm>
            <a:off x="9244584" y="4206240"/>
            <a:ext cx="2103120" cy="1554480"/>
          </a:xfrm>
          <a:prstGeom prst="rect">
            <a:avLst/>
          </a:prstGeom>
          <a:noFill/>
          <a:ln/>
        </p:spPr>
        <p:txBody>
          <a:bodyPr wrap="square" lIns="0" tIns="0" rIns="0" bIns="0" rtlCol="0" anchor="t"/>
          <a:lstStyle/>
          <a:p>
            <a:pPr indent="0" marL="0">
              <a:buNone/>
            </a:pPr>
            <a:r>
              <a:rPr lang="en-US" sz="1500" b="1" dirty="0">
                <a:solidFill>
                  <a:srgbClr val="0B032B"/>
                </a:solidFill>
                <a:latin typeface="Calibri" pitchFamily="34" charset="0"/>
                <a:ea typeface="Calibri" pitchFamily="34" charset="-122"/>
                <a:cs typeface="Calibri" pitchFamily="34" charset="-120"/>
              </a:rPr>
              <a:t>Célébrer un mariage ou parrainer une cérémonie de citoyenneté.</a:t>
            </a:r>
            <a:endParaRPr lang="en-US" sz="1500" dirty="0"/>
          </a:p>
        </p:txBody>
      </p:sp>
      <p:sp>
        <p:nvSpPr>
          <p:cNvPr id="30" name="Text 20"/>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spc="100" kern="0" dirty="0">
                <a:solidFill>
                  <a:srgbClr val="8A8699"/>
                </a:solidFill>
                <a:latin typeface="Calibri" pitchFamily="34" charset="0"/>
                <a:ea typeface="Calibri" pitchFamily="34" charset="-122"/>
                <a:cs typeface="Calibri" pitchFamily="34" charset="-120"/>
              </a:rPr>
              <a:t>ENMA FORMATION  ·  Formation des élus municipaux 2026</a:t>
            </a:r>
            <a:endParaRPr lang="en-US" sz="900" dirty="0"/>
          </a:p>
        </p:txBody>
      </p:sp>
      <p:sp>
        <p:nvSpPr>
          <p:cNvPr id="31" name="Text 21"/>
          <p:cNvSpPr txBox="1"/>
          <p:nvPr/>
        </p:nvSpPr>
        <p:spPr>
          <a:xfrm>
            <a:off x="9692640" y="6400800"/>
            <a:ext cx="548640" cy="274320"/>
          </a:xfrm>
          <a:prstGeom prst="rect">
            <a:avLst/>
          </a:prstGeom>
          <a:noFill/>
          <a:ln/>
        </p:spPr>
        <p:txBody>
          <a:bodyPr wrap="square" lIns="0" tIns="0" rIns="0" bIns="0" rtlCol="0" anchor="ctr"/>
          <a:lstStyle/>
          <a:p>
            <a:pPr algn="r" indent="0" marL="0">
              <a:buNone/>
            </a:pPr>
            <a:r>
              <a:rPr lang="en-US" sz="900" dirty="0">
                <a:solidFill>
                  <a:srgbClr val="8A8699"/>
                </a:solidFill>
                <a:latin typeface="Calibri" pitchFamily="34" charset="0"/>
                <a:ea typeface="Calibri" pitchFamily="34" charset="-122"/>
                <a:cs typeface="Calibri" pitchFamily="34" charset="-120"/>
              </a:rPr>
              <a:t>8</a:t>
            </a:r>
            <a:endParaRPr lang="en-US" sz="900" dirty="0"/>
          </a:p>
        </p:txBody>
      </p:sp>
      <p:pic>
        <p:nvPicPr>
          <p:cNvPr id="32" name="Image 8" descr="preencoded.png">    </p:cNvPr>
          <p:cNvPicPr>
            <a:picLocks noChangeAspect="1"/>
          </p:cNvPicPr>
          <p:nvPr/>
        </p:nvPicPr>
        <p:blipFill>
          <a:blip r:embed="rId9"/>
          <a:stretch>
            <a:fillRect/>
          </a:stretch>
        </p:blipFill>
        <p:spPr>
          <a:xfrm>
            <a:off x="10469880" y="6309360"/>
            <a:ext cx="1170432" cy="48463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420624" cy="310896"/>
          </a:xfrm>
          <a:prstGeom prst="roundRect">
            <a:avLst>
              <a:gd name="adj" fmla="val 23529"/>
            </a:avLst>
          </a:prstGeom>
          <a:solidFill>
            <a:srgbClr val="0B032B"/>
          </a:solidFill>
          <a:ln/>
        </p:spPr>
      </p:sp>
      <p:sp>
        <p:nvSpPr>
          <p:cNvPr id="3" name="Text 1"/>
          <p:cNvSpPr txBox="1"/>
          <p:nvPr/>
        </p:nvSpPr>
        <p:spPr>
          <a:xfrm>
            <a:off x="548640" y="438912"/>
            <a:ext cx="420624" cy="310896"/>
          </a:xfrm>
          <a:prstGeom prst="rect">
            <a:avLst/>
          </a:prstGeom>
          <a:noFill/>
          <a:ln/>
        </p:spPr>
        <p:txBody>
          <a:bodyPr wrap="square" lIns="0" tIns="0" rIns="0" bIns="0" rtlCol="0" anchor="ctr"/>
          <a:lstStyle/>
          <a:p>
            <a:pPr algn="ctr" indent="0" marL="0">
              <a:buNone/>
            </a:pPr>
            <a:r>
              <a:rPr lang="en-US" sz="1100" b="1" dirty="0">
                <a:solidFill>
                  <a:srgbClr val="FFF9C7"/>
                </a:solidFill>
                <a:latin typeface="Calibri" pitchFamily="34" charset="0"/>
                <a:ea typeface="Calibri" pitchFamily="34" charset="-122"/>
                <a:cs typeface="Calibri" pitchFamily="34" charset="-120"/>
              </a:rPr>
              <a:t>01</a:t>
            </a:r>
            <a:endParaRPr lang="en-US" sz="1100" dirty="0"/>
          </a:p>
        </p:txBody>
      </p:sp>
      <p:sp>
        <p:nvSpPr>
          <p:cNvPr id="4" name="Text 2"/>
          <p:cNvSpPr txBox="1"/>
          <p:nvPr/>
        </p:nvSpPr>
        <p:spPr>
          <a:xfrm>
            <a:off x="1115568" y="438912"/>
            <a:ext cx="8229600" cy="310896"/>
          </a:xfrm>
          <a:prstGeom prst="rect">
            <a:avLst/>
          </a:prstGeom>
          <a:noFill/>
          <a:ln/>
        </p:spPr>
        <p:txBody>
          <a:bodyPr wrap="square" lIns="0" tIns="0" rIns="0" bIns="0" rtlCol="0" anchor="ctr"/>
          <a:lstStyle/>
          <a:p>
            <a:pPr indent="0" marL="0">
              <a:buNone/>
            </a:pPr>
            <a:r>
              <a:rPr lang="en-US" sz="1100" b="1" spc="200" kern="0" dirty="0">
                <a:solidFill>
                  <a:srgbClr val="55516E"/>
                </a:solidFill>
                <a:latin typeface="Calibri" pitchFamily="34" charset="0"/>
                <a:ea typeface="Calibri" pitchFamily="34" charset="-122"/>
                <a:cs typeface="Calibri" pitchFamily="34" charset="-120"/>
              </a:rPr>
              <a:t>LE RÔLE DU MAIRE</a:t>
            </a:r>
            <a:endParaRPr lang="en-US" sz="1100" dirty="0"/>
          </a:p>
        </p:txBody>
      </p:sp>
      <p:sp>
        <p:nvSpPr>
          <p:cNvPr id="5" name="Text 3"/>
          <p:cNvSpPr txBox="1"/>
          <p:nvPr/>
        </p:nvSpPr>
        <p:spPr>
          <a:xfrm>
            <a:off x="548640" y="841248"/>
            <a:ext cx="11064240" cy="685800"/>
          </a:xfrm>
          <a:prstGeom prst="rect">
            <a:avLst/>
          </a:prstGeom>
          <a:noFill/>
          <a:ln/>
        </p:spPr>
        <p:txBody>
          <a:bodyPr wrap="square" lIns="0" tIns="0" rIns="0" bIns="0" rtlCol="0" anchor="ctr">
            <a:normAutofit/>
          </a:bodyPr>
          <a:lstStyle/>
          <a:p>
            <a:pPr indent="0" marL="0">
              <a:buNone/>
            </a:pPr>
            <a:r>
              <a:rPr lang="en-US" sz="2800" b="1" dirty="0">
                <a:solidFill>
                  <a:srgbClr val="0B032B"/>
                </a:solidFill>
                <a:latin typeface="Calibri" pitchFamily="34" charset="0"/>
                <a:ea typeface="Calibri" pitchFamily="34" charset="-122"/>
                <a:cs typeface="Calibri" pitchFamily="34" charset="-120"/>
              </a:rPr>
              <a:t>Ses droits, ses devoirs et responsabilités</a:t>
            </a:r>
            <a:endParaRPr lang="en-US" sz="2800" dirty="0"/>
          </a:p>
        </p:txBody>
      </p:sp>
      <p:pic>
        <p:nvPicPr>
          <p:cNvPr id="6" name="Image 0" descr="preencoded.png">    </p:cNvPr>
          <p:cNvPicPr>
            <a:picLocks noChangeAspect="1"/>
          </p:cNvPicPr>
          <p:nvPr/>
        </p:nvPicPr>
        <p:blipFill>
          <a:blip r:embed="rId1"/>
          <a:stretch>
            <a:fillRect/>
          </a:stretch>
        </p:blipFill>
        <p:spPr>
          <a:xfrm>
            <a:off x="4709160" y="2011680"/>
            <a:ext cx="2788920" cy="2614613"/>
          </a:xfrm>
          <a:prstGeom prst="rect">
            <a:avLst/>
          </a:prstGeom>
        </p:spPr>
      </p:pic>
      <p:sp>
        <p:nvSpPr>
          <p:cNvPr id="7" name="Text 4"/>
          <p:cNvSpPr txBox="1"/>
          <p:nvPr/>
        </p:nvSpPr>
        <p:spPr>
          <a:xfrm>
            <a:off x="4572000" y="4800600"/>
            <a:ext cx="3063240" cy="365760"/>
          </a:xfrm>
          <a:prstGeom prst="rect">
            <a:avLst/>
          </a:prstGeom>
          <a:noFill/>
          <a:ln/>
        </p:spPr>
        <p:txBody>
          <a:bodyPr wrap="square" lIns="0" tIns="0" rIns="0" bIns="0" rtlCol="0" anchor="t"/>
          <a:lstStyle/>
          <a:p>
            <a:pPr algn="ctr" indent="0" marL="0">
              <a:buNone/>
            </a:pPr>
            <a:r>
              <a:rPr lang="en-US" sz="1300" i="1" dirty="0">
                <a:solidFill>
                  <a:srgbClr val="55516E"/>
                </a:solidFill>
                <a:latin typeface="Calibri" pitchFamily="34" charset="0"/>
                <a:ea typeface="Calibri" pitchFamily="34" charset="-122"/>
                <a:cs typeface="Calibri" pitchFamily="34" charset="-120"/>
              </a:rPr>
              <a:t>Un équilibre permanent</a:t>
            </a:r>
            <a:endParaRPr lang="en-US" sz="1300" dirty="0"/>
          </a:p>
        </p:txBody>
      </p:sp>
      <p:sp>
        <p:nvSpPr>
          <p:cNvPr id="8" name="Shape 5"/>
          <p:cNvSpPr/>
          <p:nvPr/>
        </p:nvSpPr>
        <p:spPr>
          <a:xfrm>
            <a:off x="548640" y="1828800"/>
            <a:ext cx="3931920" cy="4206240"/>
          </a:xfrm>
          <a:prstGeom prst="roundRect">
            <a:avLst>
              <a:gd name="adj" fmla="val 2791"/>
            </a:avLst>
          </a:prstGeom>
          <a:solidFill>
            <a:srgbClr val="F3F2F8"/>
          </a:solidFill>
          <a:ln/>
        </p:spPr>
      </p:sp>
      <p:sp>
        <p:nvSpPr>
          <p:cNvPr id="9" name="Text 6"/>
          <p:cNvSpPr txBox="1"/>
          <p:nvPr/>
        </p:nvSpPr>
        <p:spPr>
          <a:xfrm>
            <a:off x="868680" y="2057400"/>
            <a:ext cx="3291840" cy="320040"/>
          </a:xfrm>
          <a:prstGeom prst="rect">
            <a:avLst/>
          </a:prstGeom>
          <a:noFill/>
          <a:ln/>
        </p:spPr>
        <p:txBody>
          <a:bodyPr wrap="square" lIns="0" tIns="0" rIns="0" bIns="0" rtlCol="0" anchor="t"/>
          <a:lstStyle/>
          <a:p>
            <a:pPr indent="0" marL="0">
              <a:buNone/>
            </a:pPr>
            <a:r>
              <a:rPr lang="en-US" sz="1300" b="1" spc="300" kern="0" dirty="0">
                <a:solidFill>
                  <a:srgbClr val="0B032B"/>
                </a:solidFill>
                <a:latin typeface="Calibri" pitchFamily="34" charset="0"/>
                <a:ea typeface="Calibri" pitchFamily="34" charset="-122"/>
                <a:cs typeface="Calibri" pitchFamily="34" charset="-120"/>
              </a:rPr>
              <a:t>SES DROITS</a:t>
            </a:r>
            <a:endParaRPr lang="en-US" sz="1300" dirty="0"/>
          </a:p>
        </p:txBody>
      </p:sp>
      <p:sp>
        <p:nvSpPr>
          <p:cNvPr id="10" name="Text 7"/>
          <p:cNvSpPr txBox="1"/>
          <p:nvPr/>
        </p:nvSpPr>
        <p:spPr>
          <a:xfrm>
            <a:off x="868680" y="2514600"/>
            <a:ext cx="3383280" cy="3383280"/>
          </a:xfrm>
          <a:prstGeom prst="rect">
            <a:avLst/>
          </a:prstGeom>
          <a:noFill/>
          <a:ln/>
        </p:spPr>
        <p:txBody>
          <a:bodyPr wrap="square" lIns="0" tIns="0" rIns="0" bIns="0" rtlCol="0" anchor="t"/>
          <a:lstStyle/>
          <a:p>
            <a:pPr marL="203200" indent="-203200">
              <a:spcAft>
                <a:spcPts val="1000"/>
              </a:spcAft>
              <a:buSzPct val="100000"/>
              <a:buChar char="●"/>
            </a:pPr>
            <a:r>
              <a:rPr lang="en-US" sz="1500" dirty="0">
                <a:solidFill>
                  <a:srgbClr val="0B032B"/>
                </a:solidFill>
                <a:latin typeface="Calibri" pitchFamily="34" charset="0"/>
                <a:ea typeface="Calibri" pitchFamily="34" charset="-122"/>
                <a:cs typeface="Calibri" pitchFamily="34" charset="-120"/>
              </a:rPr>
              <a:t>Être informé et accompagné par les services de l’État.</a:t>
            </a:r>
            <a:endParaRPr lang="en-US" sz="1500" dirty="0"/>
          </a:p>
          <a:p>
            <a:pPr marL="203200" indent="-203200">
              <a:spcAft>
                <a:spcPts val="1000"/>
              </a:spcAft>
              <a:buSzPct val="100000"/>
              <a:buChar char="●"/>
            </a:pPr>
            <a:r>
              <a:rPr lang="en-US" sz="1500" dirty="0">
                <a:solidFill>
                  <a:srgbClr val="0B032B"/>
                </a:solidFill>
                <a:latin typeface="Calibri" pitchFamily="34" charset="0"/>
                <a:ea typeface="Calibri" pitchFamily="34" charset="-122"/>
                <a:cs typeface="Calibri" pitchFamily="34" charset="-120"/>
              </a:rPr>
              <a:t>Bénéficier d’une formation tout au long du mandat.</a:t>
            </a:r>
            <a:endParaRPr lang="en-US" sz="1500" dirty="0"/>
          </a:p>
          <a:p>
            <a:pPr marL="203200" indent="-203200">
              <a:spcAft>
                <a:spcPts val="1000"/>
              </a:spcAft>
              <a:buSzPct val="100000"/>
              <a:buChar char="●"/>
            </a:pPr>
            <a:r>
              <a:rPr lang="en-US" sz="1500" dirty="0">
                <a:solidFill>
                  <a:srgbClr val="0B032B"/>
                </a:solidFill>
                <a:latin typeface="Calibri" pitchFamily="34" charset="0"/>
                <a:ea typeface="Calibri" pitchFamily="34" charset="-122"/>
                <a:cs typeface="Calibri" pitchFamily="34" charset="-120"/>
              </a:rPr>
              <a:t>Percevoir une indemnité de fonction (selon les règles applicables).</a:t>
            </a:r>
            <a:endParaRPr lang="en-US" sz="1500" dirty="0"/>
          </a:p>
          <a:p>
            <a:pPr marL="203200" indent="-203200">
              <a:spcAft>
                <a:spcPts val="1000"/>
              </a:spcAft>
              <a:buSzPct val="100000"/>
              <a:buChar char="●"/>
            </a:pPr>
            <a:r>
              <a:rPr lang="en-US" sz="1500" dirty="0">
                <a:solidFill>
                  <a:srgbClr val="0B032B"/>
                </a:solidFill>
                <a:latin typeface="Calibri" pitchFamily="34" charset="0"/>
                <a:ea typeface="Calibri" pitchFamily="34" charset="-122"/>
                <a:cs typeface="Calibri" pitchFamily="34" charset="-120"/>
              </a:rPr>
              <a:t>Déléguer certaines fonctions à ses adjoints.</a:t>
            </a:r>
            <a:endParaRPr lang="en-US" sz="1500" dirty="0"/>
          </a:p>
        </p:txBody>
      </p:sp>
      <p:sp>
        <p:nvSpPr>
          <p:cNvPr id="11" name="Shape 8"/>
          <p:cNvSpPr/>
          <p:nvPr/>
        </p:nvSpPr>
        <p:spPr>
          <a:xfrm>
            <a:off x="7680960" y="1828800"/>
            <a:ext cx="3959352" cy="4206240"/>
          </a:xfrm>
          <a:prstGeom prst="roundRect">
            <a:avLst>
              <a:gd name="adj" fmla="val 2771"/>
            </a:avLst>
          </a:prstGeom>
          <a:solidFill>
            <a:srgbClr val="0B032B"/>
          </a:solidFill>
          <a:ln/>
        </p:spPr>
      </p:sp>
      <p:sp>
        <p:nvSpPr>
          <p:cNvPr id="12" name="Text 9"/>
          <p:cNvSpPr txBox="1"/>
          <p:nvPr/>
        </p:nvSpPr>
        <p:spPr>
          <a:xfrm>
            <a:off x="8001000" y="2057400"/>
            <a:ext cx="3474720" cy="320040"/>
          </a:xfrm>
          <a:prstGeom prst="rect">
            <a:avLst/>
          </a:prstGeom>
          <a:noFill/>
          <a:ln/>
        </p:spPr>
        <p:txBody>
          <a:bodyPr wrap="square" lIns="0" tIns="0" rIns="0" bIns="0" rtlCol="0" anchor="t"/>
          <a:lstStyle/>
          <a:p>
            <a:pPr indent="0" marL="0">
              <a:buNone/>
            </a:pPr>
            <a:r>
              <a:rPr lang="en-US" sz="1300" b="1" spc="200" kern="0" dirty="0">
                <a:solidFill>
                  <a:srgbClr val="FFF9C7"/>
                </a:solidFill>
                <a:latin typeface="Calibri" pitchFamily="34" charset="0"/>
                <a:ea typeface="Calibri" pitchFamily="34" charset="-122"/>
                <a:cs typeface="Calibri" pitchFamily="34" charset="-120"/>
              </a:rPr>
              <a:t>SES DEVOIRS ET RESPONSABILITÉS</a:t>
            </a:r>
            <a:endParaRPr lang="en-US" sz="1300" dirty="0"/>
          </a:p>
        </p:txBody>
      </p:sp>
      <p:sp>
        <p:nvSpPr>
          <p:cNvPr id="13" name="Text 10"/>
          <p:cNvSpPr txBox="1"/>
          <p:nvPr/>
        </p:nvSpPr>
        <p:spPr>
          <a:xfrm>
            <a:off x="8001000" y="2514600"/>
            <a:ext cx="3429000" cy="342900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Respecter les lois et agir dans l’intérêt général.</a:t>
            </a:r>
            <a:endParaRPr lang="en-US" sz="1400" dirty="0"/>
          </a:p>
          <a:p>
            <a:pPr marL="203200" indent="-2032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Garantir l’égalité de traitement entre tous les habitants.</a:t>
            </a:r>
            <a:endParaRPr lang="en-US" sz="1400" dirty="0"/>
          </a:p>
          <a:p>
            <a:pPr marL="203200" indent="-2032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Assurer la continuité du service public.</a:t>
            </a:r>
            <a:endParaRPr lang="en-US" sz="1400" dirty="0"/>
          </a:p>
          <a:p>
            <a:pPr marL="203200" indent="-2032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Rendre compte de son action devant le conseil municipal et les citoyens.</a:t>
            </a:r>
            <a:endParaRPr lang="en-US" sz="1400" dirty="0"/>
          </a:p>
          <a:p>
            <a:pPr marL="203200" indent="-2032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Engager sa responsabilité civile, pénale ou politique en cas de faute ou de manquement.</a:t>
            </a:r>
            <a:endParaRPr lang="en-US" sz="1400" dirty="0"/>
          </a:p>
        </p:txBody>
      </p:sp>
      <p:sp>
        <p:nvSpPr>
          <p:cNvPr id="14" name="Text 11"/>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spc="100" kern="0" dirty="0">
                <a:solidFill>
                  <a:srgbClr val="8A8699"/>
                </a:solidFill>
                <a:latin typeface="Calibri" pitchFamily="34" charset="0"/>
                <a:ea typeface="Calibri" pitchFamily="34" charset="-122"/>
                <a:cs typeface="Calibri" pitchFamily="34" charset="-120"/>
              </a:rPr>
              <a:t>ENMA FORMATION  ·  Formation des élus municipaux 2026</a:t>
            </a:r>
            <a:endParaRPr lang="en-US" sz="900" dirty="0"/>
          </a:p>
        </p:txBody>
      </p:sp>
      <p:sp>
        <p:nvSpPr>
          <p:cNvPr id="15" name="Text 12"/>
          <p:cNvSpPr txBox="1"/>
          <p:nvPr/>
        </p:nvSpPr>
        <p:spPr>
          <a:xfrm>
            <a:off x="9692640" y="6400800"/>
            <a:ext cx="548640" cy="274320"/>
          </a:xfrm>
          <a:prstGeom prst="rect">
            <a:avLst/>
          </a:prstGeom>
          <a:noFill/>
          <a:ln/>
        </p:spPr>
        <p:txBody>
          <a:bodyPr wrap="square" lIns="0" tIns="0" rIns="0" bIns="0" rtlCol="0" anchor="ctr"/>
          <a:lstStyle/>
          <a:p>
            <a:pPr algn="r" indent="0" marL="0">
              <a:buNone/>
            </a:pPr>
            <a:r>
              <a:rPr lang="en-US" sz="900" dirty="0">
                <a:solidFill>
                  <a:srgbClr val="8A8699"/>
                </a:solidFill>
                <a:latin typeface="Calibri" pitchFamily="34" charset="0"/>
                <a:ea typeface="Calibri" pitchFamily="34" charset="-122"/>
                <a:cs typeface="Calibri" pitchFamily="34" charset="-120"/>
              </a:rPr>
              <a:t>9</a:t>
            </a:r>
            <a:endParaRPr lang="en-US" sz="900" dirty="0"/>
          </a:p>
        </p:txBody>
      </p:sp>
      <p:pic>
        <p:nvPicPr>
          <p:cNvPr id="16" name="Image 1" descr="preencoded.png">    </p:cNvPr>
          <p:cNvPicPr>
            <a:picLocks noChangeAspect="1"/>
          </p:cNvPicPr>
          <p:nvPr/>
        </p:nvPicPr>
        <p:blipFill>
          <a:blip r:embed="rId2"/>
          <a:stretch>
            <a:fillRect/>
          </a:stretch>
        </p:blipFill>
        <p:spPr>
          <a:xfrm>
            <a:off x="10469880" y="6309360"/>
            <a:ext cx="1170432" cy="48463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32B"/>
        </a:solidFill>
      </p:bgPr>
    </p:bg>
    <p:spTree>
      <p:nvGrpSpPr>
        <p:cNvPr id="1" name=""/>
        <p:cNvGrpSpPr/>
        <p:nvPr/>
      </p:nvGrpSpPr>
      <p:grpSpPr>
        <a:xfrm>
          <a:off x="0" y="0"/>
          <a:ext cx="0" cy="0"/>
          <a:chOff x="0" y="0"/>
          <a:chExt cx="0" cy="0"/>
        </a:xfrm>
      </p:grpSpPr>
      <p:sp>
        <p:nvSpPr>
          <p:cNvPr id="2" name="Shape 0"/>
          <p:cNvSpPr/>
          <p:nvPr/>
        </p:nvSpPr>
        <p:spPr>
          <a:xfrm>
            <a:off x="548640" y="438912"/>
            <a:ext cx="420624" cy="310896"/>
          </a:xfrm>
          <a:prstGeom prst="roundRect">
            <a:avLst>
              <a:gd name="adj" fmla="val 23529"/>
            </a:avLst>
          </a:prstGeom>
          <a:solidFill>
            <a:srgbClr val="FFF9C7"/>
          </a:solidFill>
          <a:ln/>
        </p:spPr>
      </p:sp>
      <p:sp>
        <p:nvSpPr>
          <p:cNvPr id="3" name="Text 1"/>
          <p:cNvSpPr txBox="1"/>
          <p:nvPr/>
        </p:nvSpPr>
        <p:spPr>
          <a:xfrm>
            <a:off x="548640" y="438912"/>
            <a:ext cx="420624" cy="310896"/>
          </a:xfrm>
          <a:prstGeom prst="rect">
            <a:avLst/>
          </a:prstGeom>
          <a:noFill/>
          <a:ln/>
        </p:spPr>
        <p:txBody>
          <a:bodyPr wrap="square" lIns="0" tIns="0" rIns="0" bIns="0" rtlCol="0" anchor="ctr"/>
          <a:lstStyle/>
          <a:p>
            <a:pPr algn="ctr" indent="0" marL="0">
              <a:buNone/>
            </a:pPr>
            <a:r>
              <a:rPr lang="en-US" sz="1100" b="1" dirty="0">
                <a:solidFill>
                  <a:srgbClr val="0B032B"/>
                </a:solidFill>
                <a:latin typeface="Calibri" pitchFamily="34" charset="0"/>
                <a:ea typeface="Calibri" pitchFamily="34" charset="-122"/>
                <a:cs typeface="Calibri" pitchFamily="34" charset="-120"/>
              </a:rPr>
              <a:t>01</a:t>
            </a:r>
            <a:endParaRPr lang="en-US" sz="1100" dirty="0"/>
          </a:p>
        </p:txBody>
      </p:sp>
      <p:sp>
        <p:nvSpPr>
          <p:cNvPr id="4" name="Text 2"/>
          <p:cNvSpPr txBox="1"/>
          <p:nvPr/>
        </p:nvSpPr>
        <p:spPr>
          <a:xfrm>
            <a:off x="1115568" y="438912"/>
            <a:ext cx="8229600" cy="310896"/>
          </a:xfrm>
          <a:prstGeom prst="rect">
            <a:avLst/>
          </a:prstGeom>
          <a:noFill/>
          <a:ln/>
        </p:spPr>
        <p:txBody>
          <a:bodyPr wrap="square" lIns="0" tIns="0" rIns="0" bIns="0" rtlCol="0" anchor="ctr"/>
          <a:lstStyle/>
          <a:p>
            <a:pPr indent="0" marL="0">
              <a:buNone/>
            </a:pPr>
            <a:r>
              <a:rPr lang="en-US" sz="1100" b="1" spc="200" kern="0" dirty="0">
                <a:solidFill>
                  <a:srgbClr val="FFF9C7"/>
                </a:solidFill>
                <a:latin typeface="Calibri" pitchFamily="34" charset="0"/>
                <a:ea typeface="Calibri" pitchFamily="34" charset="-122"/>
                <a:cs typeface="Calibri" pitchFamily="34" charset="-120"/>
              </a:rPr>
              <a:t>LE RÔLE DU MAIRE</a:t>
            </a:r>
            <a:endParaRPr lang="en-US" sz="1100" dirty="0"/>
          </a:p>
        </p:txBody>
      </p:sp>
      <p:sp>
        <p:nvSpPr>
          <p:cNvPr id="5" name="Text 3"/>
          <p:cNvSpPr txBox="1"/>
          <p:nvPr/>
        </p:nvSpPr>
        <p:spPr>
          <a:xfrm>
            <a:off x="548640" y="841248"/>
            <a:ext cx="11064240" cy="685800"/>
          </a:xfrm>
          <a:prstGeom prst="rect">
            <a:avLst/>
          </a:prstGeom>
          <a:noFill/>
          <a:ln/>
        </p:spPr>
        <p:txBody>
          <a:bodyPr wrap="square" lIns="0" tIns="0" rIns="0" bIns="0" rtlCol="0" anchor="ctr">
            <a:normAutofit/>
          </a:bodyPr>
          <a:lstStyle/>
          <a:p>
            <a:pPr indent="0" marL="0">
              <a:buNone/>
            </a:pPr>
            <a:r>
              <a:rPr lang="en-US" sz="2800" b="1" dirty="0">
                <a:solidFill>
                  <a:srgbClr val="FFFFFF"/>
                </a:solidFill>
                <a:latin typeface="Calibri" pitchFamily="34" charset="0"/>
                <a:ea typeface="Calibri" pitchFamily="34" charset="-122"/>
                <a:cs typeface="Calibri" pitchFamily="34" charset="-120"/>
              </a:rPr>
              <a:t>Message clé à retenir</a:t>
            </a:r>
            <a:endParaRPr lang="en-US" sz="2800" dirty="0"/>
          </a:p>
        </p:txBody>
      </p:sp>
      <p:sp>
        <p:nvSpPr>
          <p:cNvPr id="6" name="Text 4"/>
          <p:cNvSpPr txBox="1"/>
          <p:nvPr/>
        </p:nvSpPr>
        <p:spPr>
          <a:xfrm>
            <a:off x="548640" y="1783080"/>
            <a:ext cx="10972800" cy="731520"/>
          </a:xfrm>
          <a:prstGeom prst="rect">
            <a:avLst/>
          </a:prstGeom>
          <a:noFill/>
          <a:ln/>
        </p:spPr>
        <p:txBody>
          <a:bodyPr wrap="square" lIns="0" tIns="0" rIns="0" bIns="0" rtlCol="0" anchor="t"/>
          <a:lstStyle/>
          <a:p>
            <a:pPr indent="0" marL="0">
              <a:buNone/>
            </a:pPr>
            <a:r>
              <a:rPr lang="en-US" sz="3000" b="1" dirty="0">
                <a:solidFill>
                  <a:srgbClr val="FFF9C7"/>
                </a:solidFill>
                <a:latin typeface="Calibri" pitchFamily="34" charset="0"/>
                <a:ea typeface="Calibri" pitchFamily="34" charset="-122"/>
                <a:cs typeface="Calibri" pitchFamily="34" charset="-120"/>
              </a:rPr>
              <a:t>Le maire est le garant du bon fonctionnement de la commune.</a:t>
            </a:r>
            <a:endParaRPr lang="en-US" sz="3000" dirty="0"/>
          </a:p>
        </p:txBody>
      </p:sp>
      <p:sp>
        <p:nvSpPr>
          <p:cNvPr id="7" name="Shape 5"/>
          <p:cNvSpPr/>
          <p:nvPr/>
        </p:nvSpPr>
        <p:spPr>
          <a:xfrm>
            <a:off x="548640" y="2697480"/>
            <a:ext cx="2606040" cy="1417320"/>
          </a:xfrm>
          <a:prstGeom prst="roundRect">
            <a:avLst>
              <a:gd name="adj" fmla="val 7742"/>
            </a:avLst>
          </a:prstGeom>
          <a:solidFill>
            <a:srgbClr val="1F1A4D"/>
          </a:solidFill>
          <a:ln/>
        </p:spPr>
      </p:sp>
      <p:sp>
        <p:nvSpPr>
          <p:cNvPr id="8" name="Shape 6"/>
          <p:cNvSpPr/>
          <p:nvPr/>
        </p:nvSpPr>
        <p:spPr>
          <a:xfrm>
            <a:off x="777240" y="2880360"/>
            <a:ext cx="548640" cy="548640"/>
          </a:xfrm>
          <a:prstGeom prst="ellipse">
            <a:avLst/>
          </a:prstGeom>
          <a:solidFill>
            <a:srgbClr val="FFF9C7"/>
          </a:solidFill>
          <a:ln/>
        </p:spPr>
      </p:sp>
      <p:pic>
        <p:nvPicPr>
          <p:cNvPr id="9" name="Image 0" descr="preencoded.png">    </p:cNvPr>
          <p:cNvPicPr>
            <a:picLocks noChangeAspect="1"/>
          </p:cNvPicPr>
          <p:nvPr/>
        </p:nvPicPr>
        <p:blipFill>
          <a:blip r:embed="rId1"/>
          <a:stretch>
            <a:fillRect/>
          </a:stretch>
        </p:blipFill>
        <p:spPr>
          <a:xfrm>
            <a:off x="897941" y="3001061"/>
            <a:ext cx="307238" cy="307238"/>
          </a:xfrm>
          <a:prstGeom prst="rect">
            <a:avLst/>
          </a:prstGeom>
        </p:spPr>
      </p:pic>
      <p:sp>
        <p:nvSpPr>
          <p:cNvPr id="10" name="Text 7"/>
          <p:cNvSpPr txBox="1"/>
          <p:nvPr/>
        </p:nvSpPr>
        <p:spPr>
          <a:xfrm>
            <a:off x="777240" y="3520440"/>
            <a:ext cx="2240280" cy="502920"/>
          </a:xfrm>
          <a:prstGeom prst="rect">
            <a:avLst/>
          </a:prstGeom>
          <a:noFill/>
          <a:ln/>
        </p:spPr>
        <p:txBody>
          <a:bodyPr wrap="square" lIns="0" tIns="0" rIns="0" bIns="0" rtlCol="0" anchor="t">
            <a:normAutofit/>
          </a:bodyPr>
          <a:lstStyle/>
          <a:p>
            <a:pPr indent="0" marL="0">
              <a:buNone/>
            </a:pPr>
            <a:r>
              <a:rPr lang="en-US" sz="1500" b="1" dirty="0">
                <a:solidFill>
                  <a:srgbClr val="FFFFFF"/>
                </a:solidFill>
                <a:latin typeface="Calibri" pitchFamily="34" charset="0"/>
                <a:ea typeface="Calibri" pitchFamily="34" charset="-122"/>
                <a:cs typeface="Calibri" pitchFamily="34" charset="-120"/>
              </a:rPr>
              <a:t>Décideur</a:t>
            </a:r>
            <a:endParaRPr lang="en-US" sz="1500" dirty="0"/>
          </a:p>
        </p:txBody>
      </p:sp>
      <p:sp>
        <p:nvSpPr>
          <p:cNvPr id="11" name="Shape 8"/>
          <p:cNvSpPr/>
          <p:nvPr/>
        </p:nvSpPr>
        <p:spPr>
          <a:xfrm>
            <a:off x="3355848" y="2697480"/>
            <a:ext cx="2606040" cy="1417320"/>
          </a:xfrm>
          <a:prstGeom prst="roundRect">
            <a:avLst>
              <a:gd name="adj" fmla="val 7742"/>
            </a:avLst>
          </a:prstGeom>
          <a:solidFill>
            <a:srgbClr val="1F1A4D"/>
          </a:solidFill>
          <a:ln/>
        </p:spPr>
      </p:sp>
      <p:sp>
        <p:nvSpPr>
          <p:cNvPr id="12" name="Shape 9"/>
          <p:cNvSpPr/>
          <p:nvPr/>
        </p:nvSpPr>
        <p:spPr>
          <a:xfrm>
            <a:off x="3584448" y="2880360"/>
            <a:ext cx="548640" cy="548640"/>
          </a:xfrm>
          <a:prstGeom prst="ellipse">
            <a:avLst/>
          </a:prstGeom>
          <a:solidFill>
            <a:srgbClr val="FFF9C7"/>
          </a:solidFill>
          <a:ln/>
        </p:spPr>
      </p:sp>
      <p:pic>
        <p:nvPicPr>
          <p:cNvPr id="13" name="Image 1" descr="preencoded.png">    </p:cNvPr>
          <p:cNvPicPr>
            <a:picLocks noChangeAspect="1"/>
          </p:cNvPicPr>
          <p:nvPr/>
        </p:nvPicPr>
        <p:blipFill>
          <a:blip r:embed="rId2"/>
          <a:stretch>
            <a:fillRect/>
          </a:stretch>
        </p:blipFill>
        <p:spPr>
          <a:xfrm>
            <a:off x="3705149" y="3001061"/>
            <a:ext cx="307238" cy="307238"/>
          </a:xfrm>
          <a:prstGeom prst="rect">
            <a:avLst/>
          </a:prstGeom>
        </p:spPr>
      </p:pic>
      <p:sp>
        <p:nvSpPr>
          <p:cNvPr id="14" name="Text 10"/>
          <p:cNvSpPr txBox="1"/>
          <p:nvPr/>
        </p:nvSpPr>
        <p:spPr>
          <a:xfrm>
            <a:off x="3584448" y="3520440"/>
            <a:ext cx="2240280" cy="502920"/>
          </a:xfrm>
          <a:prstGeom prst="rect">
            <a:avLst/>
          </a:prstGeom>
          <a:noFill/>
          <a:ln/>
        </p:spPr>
        <p:txBody>
          <a:bodyPr wrap="square" lIns="0" tIns="0" rIns="0" bIns="0" rtlCol="0" anchor="t">
            <a:normAutofit/>
          </a:bodyPr>
          <a:lstStyle/>
          <a:p>
            <a:pPr indent="0" marL="0">
              <a:buNone/>
            </a:pPr>
            <a:r>
              <a:rPr lang="en-US" sz="1500" b="1" dirty="0">
                <a:solidFill>
                  <a:srgbClr val="FFFFFF"/>
                </a:solidFill>
                <a:latin typeface="Calibri" pitchFamily="34" charset="0"/>
                <a:ea typeface="Calibri" pitchFamily="34" charset="-122"/>
                <a:cs typeface="Calibri" pitchFamily="34" charset="-120"/>
              </a:rPr>
              <a:t>Gestionnaire</a:t>
            </a:r>
            <a:endParaRPr lang="en-US" sz="1500" dirty="0"/>
          </a:p>
        </p:txBody>
      </p:sp>
      <p:sp>
        <p:nvSpPr>
          <p:cNvPr id="15" name="Shape 11"/>
          <p:cNvSpPr/>
          <p:nvPr/>
        </p:nvSpPr>
        <p:spPr>
          <a:xfrm>
            <a:off x="6163056" y="2697480"/>
            <a:ext cx="2606040" cy="1417320"/>
          </a:xfrm>
          <a:prstGeom prst="roundRect">
            <a:avLst>
              <a:gd name="adj" fmla="val 7742"/>
            </a:avLst>
          </a:prstGeom>
          <a:solidFill>
            <a:srgbClr val="1F1A4D"/>
          </a:solidFill>
          <a:ln/>
        </p:spPr>
      </p:sp>
      <p:sp>
        <p:nvSpPr>
          <p:cNvPr id="16" name="Shape 12"/>
          <p:cNvSpPr/>
          <p:nvPr/>
        </p:nvSpPr>
        <p:spPr>
          <a:xfrm>
            <a:off x="6391656" y="2880360"/>
            <a:ext cx="548640" cy="548640"/>
          </a:xfrm>
          <a:prstGeom prst="ellipse">
            <a:avLst/>
          </a:prstGeom>
          <a:solidFill>
            <a:srgbClr val="FFF9C7"/>
          </a:solidFill>
          <a:ln/>
        </p:spPr>
      </p:sp>
      <p:pic>
        <p:nvPicPr>
          <p:cNvPr id="17" name="Image 2" descr="preencoded.png">    </p:cNvPr>
          <p:cNvPicPr>
            <a:picLocks noChangeAspect="1"/>
          </p:cNvPicPr>
          <p:nvPr/>
        </p:nvPicPr>
        <p:blipFill>
          <a:blip r:embed="rId3"/>
          <a:stretch>
            <a:fillRect/>
          </a:stretch>
        </p:blipFill>
        <p:spPr>
          <a:xfrm>
            <a:off x="6512357" y="3001061"/>
            <a:ext cx="307238" cy="307238"/>
          </a:xfrm>
          <a:prstGeom prst="rect">
            <a:avLst/>
          </a:prstGeom>
        </p:spPr>
      </p:pic>
      <p:sp>
        <p:nvSpPr>
          <p:cNvPr id="18" name="Text 13"/>
          <p:cNvSpPr txBox="1"/>
          <p:nvPr/>
        </p:nvSpPr>
        <p:spPr>
          <a:xfrm>
            <a:off x="6391656" y="3520440"/>
            <a:ext cx="2240280" cy="502920"/>
          </a:xfrm>
          <a:prstGeom prst="rect">
            <a:avLst/>
          </a:prstGeom>
          <a:noFill/>
          <a:ln/>
        </p:spPr>
        <p:txBody>
          <a:bodyPr wrap="square" lIns="0" tIns="0" rIns="0" bIns="0" rtlCol="0" anchor="t">
            <a:normAutofit/>
          </a:bodyPr>
          <a:lstStyle/>
          <a:p>
            <a:pPr indent="0" marL="0">
              <a:buNone/>
            </a:pPr>
            <a:r>
              <a:rPr lang="en-US" sz="1500" b="1" dirty="0">
                <a:solidFill>
                  <a:srgbClr val="FFFFFF"/>
                </a:solidFill>
                <a:latin typeface="Calibri" pitchFamily="34" charset="0"/>
                <a:ea typeface="Calibri" pitchFamily="34" charset="-122"/>
                <a:cs typeface="Calibri" pitchFamily="34" charset="-120"/>
              </a:rPr>
              <a:t>Représentant de l’État</a:t>
            </a:r>
            <a:endParaRPr lang="en-US" sz="1500" dirty="0"/>
          </a:p>
        </p:txBody>
      </p:sp>
      <p:sp>
        <p:nvSpPr>
          <p:cNvPr id="19" name="Shape 14"/>
          <p:cNvSpPr/>
          <p:nvPr/>
        </p:nvSpPr>
        <p:spPr>
          <a:xfrm>
            <a:off x="8970264" y="2697480"/>
            <a:ext cx="2606040" cy="1417320"/>
          </a:xfrm>
          <a:prstGeom prst="roundRect">
            <a:avLst>
              <a:gd name="adj" fmla="val 7742"/>
            </a:avLst>
          </a:prstGeom>
          <a:solidFill>
            <a:srgbClr val="1F1A4D"/>
          </a:solidFill>
          <a:ln/>
        </p:spPr>
      </p:sp>
      <p:sp>
        <p:nvSpPr>
          <p:cNvPr id="20" name="Shape 15"/>
          <p:cNvSpPr/>
          <p:nvPr/>
        </p:nvSpPr>
        <p:spPr>
          <a:xfrm>
            <a:off x="9198864" y="2880360"/>
            <a:ext cx="548640" cy="548640"/>
          </a:xfrm>
          <a:prstGeom prst="ellipse">
            <a:avLst/>
          </a:prstGeom>
          <a:solidFill>
            <a:srgbClr val="FFF9C7"/>
          </a:solidFill>
          <a:ln/>
        </p:spPr>
      </p:sp>
      <p:pic>
        <p:nvPicPr>
          <p:cNvPr id="21" name="Image 3" descr="preencoded.png">    </p:cNvPr>
          <p:cNvPicPr>
            <a:picLocks noChangeAspect="1"/>
          </p:cNvPicPr>
          <p:nvPr/>
        </p:nvPicPr>
        <p:blipFill>
          <a:blip r:embed="rId4"/>
          <a:stretch>
            <a:fillRect/>
          </a:stretch>
        </p:blipFill>
        <p:spPr>
          <a:xfrm>
            <a:off x="9319565" y="3001061"/>
            <a:ext cx="307238" cy="307238"/>
          </a:xfrm>
          <a:prstGeom prst="rect">
            <a:avLst/>
          </a:prstGeom>
        </p:spPr>
      </p:pic>
      <p:sp>
        <p:nvSpPr>
          <p:cNvPr id="22" name="Text 16"/>
          <p:cNvSpPr txBox="1"/>
          <p:nvPr/>
        </p:nvSpPr>
        <p:spPr>
          <a:xfrm>
            <a:off x="9198864" y="3520440"/>
            <a:ext cx="2240280" cy="502920"/>
          </a:xfrm>
          <a:prstGeom prst="rect">
            <a:avLst/>
          </a:prstGeom>
          <a:noFill/>
          <a:ln/>
        </p:spPr>
        <p:txBody>
          <a:bodyPr wrap="square" lIns="0" tIns="0" rIns="0" bIns="0" rtlCol="0" anchor="t">
            <a:normAutofit/>
          </a:bodyPr>
          <a:lstStyle/>
          <a:p>
            <a:pPr indent="0" marL="0">
              <a:buNone/>
            </a:pPr>
            <a:r>
              <a:rPr lang="en-US" sz="1500" b="1" dirty="0">
                <a:solidFill>
                  <a:srgbClr val="FFFFFF"/>
                </a:solidFill>
                <a:latin typeface="Calibri" pitchFamily="34" charset="0"/>
                <a:ea typeface="Calibri" pitchFamily="34" charset="-122"/>
                <a:cs typeface="Calibri" pitchFamily="34" charset="-120"/>
              </a:rPr>
              <a:t>Interlocuteur privilégié des habitants</a:t>
            </a:r>
            <a:endParaRPr lang="en-US" sz="1500" dirty="0"/>
          </a:p>
        </p:txBody>
      </p:sp>
      <p:sp>
        <p:nvSpPr>
          <p:cNvPr id="23" name="Text 17"/>
          <p:cNvSpPr txBox="1"/>
          <p:nvPr/>
        </p:nvSpPr>
        <p:spPr>
          <a:xfrm>
            <a:off x="548640" y="4389120"/>
            <a:ext cx="6949440" cy="1280160"/>
          </a:xfrm>
          <a:prstGeom prst="rect">
            <a:avLst/>
          </a:prstGeom>
          <a:noFill/>
          <a:ln/>
        </p:spPr>
        <p:txBody>
          <a:bodyPr wrap="square" lIns="0" tIns="0" rIns="0" bIns="0" rtlCol="0" anchor="t"/>
          <a:lstStyle/>
          <a:p>
            <a:pPr indent="0" marL="0">
              <a:lnSpc>
                <a:spcPct val="110000"/>
              </a:lnSpc>
              <a:buNone/>
            </a:pPr>
            <a:r>
              <a:rPr lang="en-US" sz="1600" dirty="0">
                <a:solidFill>
                  <a:srgbClr val="FFFFFF"/>
                </a:solidFill>
                <a:latin typeface="Calibri" pitchFamily="34" charset="0"/>
                <a:ea typeface="Calibri" pitchFamily="34" charset="-122"/>
                <a:cs typeface="Calibri" pitchFamily="34" charset="-120"/>
              </a:rPr>
              <a:t>Il est à la fois décideur, gestionnaire, représentant de l’État et interlocuteur privilégié des habitants. Son action quotidienne repose sur un équilibre entre proximité, responsabilité et respect de la loi.</a:t>
            </a:r>
            <a:endParaRPr lang="en-US" sz="1600" dirty="0"/>
          </a:p>
        </p:txBody>
      </p:sp>
      <p:sp>
        <p:nvSpPr>
          <p:cNvPr id="24" name="Shape 18"/>
          <p:cNvSpPr/>
          <p:nvPr/>
        </p:nvSpPr>
        <p:spPr>
          <a:xfrm>
            <a:off x="8229600" y="4572000"/>
            <a:ext cx="2011680" cy="1051560"/>
          </a:xfrm>
          <a:prstGeom prst="triangle">
            <a:avLst/>
          </a:prstGeom>
          <a:solidFill>
            <a:srgbClr val="0B032B"/>
          </a:solidFill>
          <a:ln w="15875">
            <a:solidFill>
              <a:srgbClr val="FFF9C7"/>
            </a:solidFill>
            <a:prstDash val="dash"/>
          </a:ln>
        </p:spPr>
      </p:sp>
      <p:sp>
        <p:nvSpPr>
          <p:cNvPr id="25" name="Shape 19"/>
          <p:cNvSpPr/>
          <p:nvPr/>
        </p:nvSpPr>
        <p:spPr>
          <a:xfrm>
            <a:off x="8732520" y="4343400"/>
            <a:ext cx="1508760" cy="365760"/>
          </a:xfrm>
          <a:prstGeom prst="roundRect">
            <a:avLst>
              <a:gd name="adj" fmla="val 50000"/>
            </a:avLst>
          </a:prstGeom>
          <a:solidFill>
            <a:srgbClr val="FFF9C7"/>
          </a:solidFill>
          <a:ln/>
        </p:spPr>
      </p:sp>
      <p:sp>
        <p:nvSpPr>
          <p:cNvPr id="26" name="Text 20"/>
          <p:cNvSpPr txBox="1"/>
          <p:nvPr/>
        </p:nvSpPr>
        <p:spPr>
          <a:xfrm>
            <a:off x="8732520" y="4343400"/>
            <a:ext cx="1508760" cy="365760"/>
          </a:xfrm>
          <a:prstGeom prst="rect">
            <a:avLst/>
          </a:prstGeom>
          <a:noFill/>
          <a:ln/>
        </p:spPr>
        <p:txBody>
          <a:bodyPr wrap="square" lIns="0" tIns="0" rIns="0" bIns="0" rtlCol="0" anchor="ctr"/>
          <a:lstStyle/>
          <a:p>
            <a:pPr algn="ctr" indent="0" marL="0">
              <a:buNone/>
            </a:pPr>
            <a:r>
              <a:rPr lang="en-US" sz="1200" b="1" dirty="0">
                <a:solidFill>
                  <a:srgbClr val="0B032B"/>
                </a:solidFill>
                <a:latin typeface="Calibri" pitchFamily="34" charset="0"/>
                <a:ea typeface="Calibri" pitchFamily="34" charset="-122"/>
                <a:cs typeface="Calibri" pitchFamily="34" charset="-120"/>
              </a:rPr>
              <a:t>Proximité</a:t>
            </a:r>
            <a:endParaRPr lang="en-US" sz="1200" dirty="0"/>
          </a:p>
        </p:txBody>
      </p:sp>
      <p:sp>
        <p:nvSpPr>
          <p:cNvPr id="27" name="Shape 21"/>
          <p:cNvSpPr/>
          <p:nvPr/>
        </p:nvSpPr>
        <p:spPr>
          <a:xfrm>
            <a:off x="7726680" y="5440680"/>
            <a:ext cx="1508760" cy="365760"/>
          </a:xfrm>
          <a:prstGeom prst="roundRect">
            <a:avLst>
              <a:gd name="adj" fmla="val 50000"/>
            </a:avLst>
          </a:prstGeom>
          <a:solidFill>
            <a:srgbClr val="FFF9C7"/>
          </a:solidFill>
          <a:ln/>
        </p:spPr>
      </p:sp>
      <p:sp>
        <p:nvSpPr>
          <p:cNvPr id="28" name="Text 22"/>
          <p:cNvSpPr txBox="1"/>
          <p:nvPr/>
        </p:nvSpPr>
        <p:spPr>
          <a:xfrm>
            <a:off x="7726680" y="5440680"/>
            <a:ext cx="1508760" cy="365760"/>
          </a:xfrm>
          <a:prstGeom prst="rect">
            <a:avLst/>
          </a:prstGeom>
          <a:noFill/>
          <a:ln/>
        </p:spPr>
        <p:txBody>
          <a:bodyPr wrap="square" lIns="0" tIns="0" rIns="0" bIns="0" rtlCol="0" anchor="ctr"/>
          <a:lstStyle/>
          <a:p>
            <a:pPr algn="ctr" indent="0" marL="0">
              <a:buNone/>
            </a:pPr>
            <a:r>
              <a:rPr lang="en-US" sz="1200" b="1" dirty="0">
                <a:solidFill>
                  <a:srgbClr val="0B032B"/>
                </a:solidFill>
                <a:latin typeface="Calibri" pitchFamily="34" charset="0"/>
                <a:ea typeface="Calibri" pitchFamily="34" charset="-122"/>
                <a:cs typeface="Calibri" pitchFamily="34" charset="-120"/>
              </a:rPr>
              <a:t>Responsabilité</a:t>
            </a:r>
            <a:endParaRPr lang="en-US" sz="1200" dirty="0"/>
          </a:p>
        </p:txBody>
      </p:sp>
      <p:sp>
        <p:nvSpPr>
          <p:cNvPr id="29" name="Shape 23"/>
          <p:cNvSpPr/>
          <p:nvPr/>
        </p:nvSpPr>
        <p:spPr>
          <a:xfrm>
            <a:off x="9738360" y="5440680"/>
            <a:ext cx="1508760" cy="365760"/>
          </a:xfrm>
          <a:prstGeom prst="roundRect">
            <a:avLst>
              <a:gd name="adj" fmla="val 50000"/>
            </a:avLst>
          </a:prstGeom>
          <a:solidFill>
            <a:srgbClr val="FFF9C7"/>
          </a:solidFill>
          <a:ln/>
        </p:spPr>
      </p:sp>
      <p:sp>
        <p:nvSpPr>
          <p:cNvPr id="30" name="Text 24"/>
          <p:cNvSpPr txBox="1"/>
          <p:nvPr/>
        </p:nvSpPr>
        <p:spPr>
          <a:xfrm>
            <a:off x="9738360" y="5440680"/>
            <a:ext cx="1508760" cy="365760"/>
          </a:xfrm>
          <a:prstGeom prst="rect">
            <a:avLst/>
          </a:prstGeom>
          <a:noFill/>
          <a:ln/>
        </p:spPr>
        <p:txBody>
          <a:bodyPr wrap="square" lIns="0" tIns="0" rIns="0" bIns="0" rtlCol="0" anchor="ctr"/>
          <a:lstStyle/>
          <a:p>
            <a:pPr algn="ctr" indent="0" marL="0">
              <a:buNone/>
            </a:pPr>
            <a:r>
              <a:rPr lang="en-US" sz="1200" b="1" dirty="0">
                <a:solidFill>
                  <a:srgbClr val="0B032B"/>
                </a:solidFill>
                <a:latin typeface="Calibri" pitchFamily="34" charset="0"/>
                <a:ea typeface="Calibri" pitchFamily="34" charset="-122"/>
                <a:cs typeface="Calibri" pitchFamily="34" charset="-120"/>
              </a:rPr>
              <a:t>Respect de la loi</a:t>
            </a:r>
            <a:endParaRPr lang="en-US" sz="1200" dirty="0"/>
          </a:p>
        </p:txBody>
      </p:sp>
      <p:sp>
        <p:nvSpPr>
          <p:cNvPr id="31" name="Text 25"/>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spc="100" kern="0" dirty="0">
                <a:solidFill>
                  <a:srgbClr val="B3B3BA"/>
                </a:solidFill>
                <a:latin typeface="Calibri" pitchFamily="34" charset="0"/>
                <a:ea typeface="Calibri" pitchFamily="34" charset="-122"/>
                <a:cs typeface="Calibri" pitchFamily="34" charset="-120"/>
              </a:rPr>
              <a:t>ENMA FORMATION  ·  Formation des élus municipaux 2026</a:t>
            </a:r>
            <a:endParaRPr lang="en-US" sz="900" dirty="0"/>
          </a:p>
        </p:txBody>
      </p:sp>
      <p:sp>
        <p:nvSpPr>
          <p:cNvPr id="32" name="Text 26"/>
          <p:cNvSpPr txBox="1"/>
          <p:nvPr/>
        </p:nvSpPr>
        <p:spPr>
          <a:xfrm>
            <a:off x="9692640" y="6400800"/>
            <a:ext cx="548640" cy="274320"/>
          </a:xfrm>
          <a:prstGeom prst="rect">
            <a:avLst/>
          </a:prstGeom>
          <a:noFill/>
          <a:ln/>
        </p:spPr>
        <p:txBody>
          <a:bodyPr wrap="square" lIns="0" tIns="0" rIns="0" bIns="0" rtlCol="0" anchor="ctr"/>
          <a:lstStyle/>
          <a:p>
            <a:pPr algn="r" indent="0" marL="0">
              <a:buNone/>
            </a:pPr>
            <a:r>
              <a:rPr lang="en-US" sz="900" dirty="0">
                <a:solidFill>
                  <a:srgbClr val="B3B3BA"/>
                </a:solidFill>
                <a:latin typeface="Calibri" pitchFamily="34" charset="0"/>
                <a:ea typeface="Calibri" pitchFamily="34" charset="-122"/>
                <a:cs typeface="Calibri" pitchFamily="34" charset="-120"/>
              </a:rPr>
              <a:t>10</a:t>
            </a:r>
            <a:endParaRPr lang="en-US" sz="900" dirty="0"/>
          </a:p>
        </p:txBody>
      </p:sp>
      <p:pic>
        <p:nvPicPr>
          <p:cNvPr id="33" name="Image 4" descr="preencoded.png">    </p:cNvPr>
          <p:cNvPicPr>
            <a:picLocks noChangeAspect="1"/>
          </p:cNvPicPr>
          <p:nvPr/>
        </p:nvPicPr>
        <p:blipFill>
          <a:blip r:embed="rId5"/>
          <a:stretch>
            <a:fillRect/>
          </a:stretch>
        </p:blipFill>
        <p:spPr>
          <a:xfrm>
            <a:off x="10469880" y="6309360"/>
            <a:ext cx="1170432" cy="48463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32B"/>
        </a:solidFill>
      </p:bgPr>
    </p:bg>
    <p:spTree>
      <p:nvGrpSpPr>
        <p:cNvPr id="1" name=""/>
        <p:cNvGrpSpPr/>
        <p:nvPr/>
      </p:nvGrpSpPr>
      <p:grpSpPr>
        <a:xfrm>
          <a:off x="0" y="0"/>
          <a:ext cx="0" cy="0"/>
          <a:chOff x="0" y="0"/>
          <a:chExt cx="0" cy="0"/>
        </a:xfrm>
      </p:grpSpPr>
      <p:sp>
        <p:nvSpPr>
          <p:cNvPr id="2" name="Text 0"/>
          <p:cNvSpPr txBox="1"/>
          <p:nvPr/>
        </p:nvSpPr>
        <p:spPr>
          <a:xfrm>
            <a:off x="548640" y="640080"/>
            <a:ext cx="4114800" cy="2286000"/>
          </a:xfrm>
          <a:prstGeom prst="rect">
            <a:avLst/>
          </a:prstGeom>
          <a:noFill/>
          <a:ln/>
        </p:spPr>
        <p:txBody>
          <a:bodyPr wrap="square" lIns="0" tIns="0" rIns="0" bIns="0" rtlCol="0" anchor="b"/>
          <a:lstStyle/>
          <a:p>
            <a:pPr indent="0" marL="0">
              <a:buNone/>
            </a:pPr>
            <a:r>
              <a:rPr lang="en-US" sz="15000" dirty="0">
                <a:solidFill>
                  <a:srgbClr val="FFF9C7"/>
                </a:solidFill>
                <a:latin typeface="Impact" pitchFamily="34" charset="0"/>
                <a:ea typeface="Impact" pitchFamily="34" charset="-122"/>
                <a:cs typeface="Impact" pitchFamily="34" charset="-120"/>
              </a:rPr>
              <a:t>02</a:t>
            </a:r>
            <a:endParaRPr lang="en-US" sz="15000" dirty="0"/>
          </a:p>
        </p:txBody>
      </p:sp>
      <p:sp>
        <p:nvSpPr>
          <p:cNvPr id="3" name="Text 1"/>
          <p:cNvSpPr txBox="1"/>
          <p:nvPr/>
        </p:nvSpPr>
        <p:spPr>
          <a:xfrm>
            <a:off x="594360" y="3017520"/>
            <a:ext cx="5486400" cy="320040"/>
          </a:xfrm>
          <a:prstGeom prst="rect">
            <a:avLst/>
          </a:prstGeom>
          <a:noFill/>
          <a:ln/>
        </p:spPr>
        <p:txBody>
          <a:bodyPr wrap="square" lIns="0" tIns="0" rIns="0" bIns="0" rtlCol="0" anchor="t"/>
          <a:lstStyle/>
          <a:p>
            <a:pPr indent="0" marL="0">
              <a:buNone/>
            </a:pPr>
            <a:r>
              <a:rPr lang="en-US" sz="1300" b="1" spc="400" kern="0" dirty="0">
                <a:solidFill>
                  <a:srgbClr val="FFF9C7"/>
                </a:solidFill>
                <a:latin typeface="Calibri" pitchFamily="34" charset="0"/>
                <a:ea typeface="Calibri" pitchFamily="34" charset="-122"/>
                <a:cs typeface="Calibri" pitchFamily="34" charset="-120"/>
              </a:rPr>
              <a:t>SÉQUENCE 02</a:t>
            </a:r>
            <a:endParaRPr lang="en-US" sz="1300" dirty="0"/>
          </a:p>
        </p:txBody>
      </p:sp>
      <p:sp>
        <p:nvSpPr>
          <p:cNvPr id="4" name="Text 2"/>
          <p:cNvSpPr txBox="1"/>
          <p:nvPr/>
        </p:nvSpPr>
        <p:spPr>
          <a:xfrm>
            <a:off x="548640" y="3401568"/>
            <a:ext cx="5486400" cy="1463040"/>
          </a:xfrm>
          <a:prstGeom prst="rect">
            <a:avLst/>
          </a:prstGeom>
          <a:noFill/>
          <a:ln/>
        </p:spPr>
        <p:txBody>
          <a:bodyPr wrap="square" lIns="0" tIns="0" rIns="0" bIns="0"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Les adjoints, les conseillers délégués et les conseillers municipaux</a:t>
            </a:r>
            <a:endParaRPr lang="en-US" sz="3000" dirty="0"/>
          </a:p>
        </p:txBody>
      </p:sp>
      <p:sp>
        <p:nvSpPr>
          <p:cNvPr id="5" name="Text 3"/>
          <p:cNvSpPr txBox="1"/>
          <p:nvPr/>
        </p:nvSpPr>
        <p:spPr>
          <a:xfrm>
            <a:off x="548640" y="4937760"/>
            <a:ext cx="5486400" cy="640080"/>
          </a:xfrm>
          <a:prstGeom prst="rect">
            <a:avLst/>
          </a:prstGeom>
          <a:noFill/>
          <a:ln/>
        </p:spPr>
        <p:txBody>
          <a:bodyPr wrap="square" lIns="0" tIns="0" rIns="0" bIns="0" rtlCol="0" anchor="t">
            <a:normAutofit/>
          </a:bodyPr>
          <a:lstStyle/>
          <a:p>
            <a:pPr indent="0" marL="0">
              <a:buNone/>
            </a:pPr>
            <a:r>
              <a:rPr lang="en-US" sz="1600" dirty="0">
                <a:solidFill>
                  <a:srgbClr val="B3B3BA"/>
                </a:solidFill>
                <a:latin typeface="Calibri" pitchFamily="34" charset="0"/>
                <a:ea typeface="Calibri" pitchFamily="34" charset="-122"/>
                <a:cs typeface="Calibri" pitchFamily="34" charset="-120"/>
              </a:rPr>
              <a:t>Des rôles complémentaires… et une opposition aux droits garantis.</a:t>
            </a:r>
            <a:endParaRPr lang="en-US" sz="1600" dirty="0"/>
          </a:p>
        </p:txBody>
      </p:sp>
      <p:sp>
        <p:nvSpPr>
          <p:cNvPr id="6" name="Shape 4"/>
          <p:cNvSpPr/>
          <p:nvPr/>
        </p:nvSpPr>
        <p:spPr>
          <a:xfrm>
            <a:off x="548640" y="5623560"/>
            <a:ext cx="3017520" cy="384048"/>
          </a:xfrm>
          <a:prstGeom prst="roundRect">
            <a:avLst>
              <a:gd name="adj" fmla="val 50000"/>
            </a:avLst>
          </a:prstGeom>
          <a:solidFill>
            <a:srgbClr val="0B032B"/>
          </a:solidFill>
          <a:ln w="12700">
            <a:solidFill>
              <a:srgbClr val="FFF9C7"/>
            </a:solidFill>
            <a:prstDash val="solid"/>
          </a:ln>
        </p:spPr>
      </p:sp>
      <p:sp>
        <p:nvSpPr>
          <p:cNvPr id="7" name="Text 5"/>
          <p:cNvSpPr txBox="1"/>
          <p:nvPr/>
        </p:nvSpPr>
        <p:spPr>
          <a:xfrm>
            <a:off x="548640" y="5623560"/>
            <a:ext cx="3017520" cy="384048"/>
          </a:xfrm>
          <a:prstGeom prst="rect">
            <a:avLst/>
          </a:prstGeom>
          <a:noFill/>
          <a:ln/>
        </p:spPr>
        <p:txBody>
          <a:bodyPr wrap="square" lIns="0" tIns="0" rIns="0" bIns="0" rtlCol="0" anchor="ctr"/>
          <a:lstStyle/>
          <a:p>
            <a:pPr algn="ctr" indent="0" marL="0">
              <a:buNone/>
            </a:pPr>
            <a:r>
              <a:rPr lang="en-US" sz="1200" b="1" dirty="0">
                <a:solidFill>
                  <a:srgbClr val="FFF9C7"/>
                </a:solidFill>
                <a:latin typeface="Calibri" pitchFamily="34" charset="0"/>
                <a:ea typeface="Calibri" pitchFamily="34" charset="-122"/>
                <a:cs typeface="Calibri" pitchFamily="34" charset="-120"/>
              </a:rPr>
              <a:t>10h45 – 11h45  ·  60 min</a:t>
            </a:r>
            <a:endParaRPr lang="en-US" sz="1200" dirty="0"/>
          </a:p>
        </p:txBody>
      </p:sp>
      <p:sp>
        <p:nvSpPr>
          <p:cNvPr id="8" name="Shape 6"/>
          <p:cNvSpPr/>
          <p:nvPr/>
        </p:nvSpPr>
        <p:spPr>
          <a:xfrm>
            <a:off x="6263640" y="411480"/>
            <a:ext cx="5486400" cy="5486400"/>
          </a:xfrm>
          <a:prstGeom prst="ellipse">
            <a:avLst/>
          </a:prstGeom>
          <a:solidFill>
            <a:srgbClr val="0B032B"/>
          </a:solidFill>
          <a:ln w="12700">
            <a:solidFill>
              <a:srgbClr val="FFF9C7"/>
            </a:solidFill>
            <a:prstDash val="dash"/>
          </a:ln>
        </p:spPr>
      </p:sp>
      <p:sp>
        <p:nvSpPr>
          <p:cNvPr id="9" name="Shape 7"/>
          <p:cNvSpPr/>
          <p:nvPr/>
        </p:nvSpPr>
        <p:spPr>
          <a:xfrm>
            <a:off x="6583680" y="731520"/>
            <a:ext cx="4846320" cy="4846320"/>
          </a:xfrm>
          <a:prstGeom prst="ellipse">
            <a:avLst/>
          </a:prstGeom>
          <a:solidFill>
            <a:srgbClr val="FFF9C7"/>
          </a:solidFill>
          <a:ln/>
        </p:spPr>
      </p:sp>
      <p:pic>
        <p:nvPicPr>
          <p:cNvPr id="10" name="Image 0" descr="preencoded.png">    </p:cNvPr>
          <p:cNvPicPr>
            <a:picLocks noChangeAspect="1"/>
          </p:cNvPicPr>
          <p:nvPr/>
        </p:nvPicPr>
        <p:blipFill>
          <a:blip r:embed="rId1"/>
          <a:stretch>
            <a:fillRect/>
          </a:stretch>
        </p:blipFill>
        <p:spPr>
          <a:xfrm>
            <a:off x="7315200" y="1723292"/>
            <a:ext cx="3383280" cy="2862775"/>
          </a:xfrm>
          <a:prstGeom prst="rect">
            <a:avLst/>
          </a:prstGeom>
        </p:spPr>
      </p:pic>
      <p:sp>
        <p:nvSpPr>
          <p:cNvPr id="11" name="Text 8"/>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spc="100" kern="0" dirty="0">
                <a:solidFill>
                  <a:srgbClr val="B3B3BA"/>
                </a:solidFill>
                <a:latin typeface="Calibri" pitchFamily="34" charset="0"/>
                <a:ea typeface="Calibri" pitchFamily="34" charset="-122"/>
                <a:cs typeface="Calibri" pitchFamily="34" charset="-120"/>
              </a:rPr>
              <a:t>ENMA FORMATION  ·  Formation des élus municipaux 2026</a:t>
            </a:r>
            <a:endParaRPr lang="en-US" sz="900" dirty="0"/>
          </a:p>
        </p:txBody>
      </p:sp>
      <p:sp>
        <p:nvSpPr>
          <p:cNvPr id="12" name="Text 9"/>
          <p:cNvSpPr txBox="1"/>
          <p:nvPr/>
        </p:nvSpPr>
        <p:spPr>
          <a:xfrm>
            <a:off x="9692640" y="6400800"/>
            <a:ext cx="548640" cy="274320"/>
          </a:xfrm>
          <a:prstGeom prst="rect">
            <a:avLst/>
          </a:prstGeom>
          <a:noFill/>
          <a:ln/>
        </p:spPr>
        <p:txBody>
          <a:bodyPr wrap="square" lIns="0" tIns="0" rIns="0" bIns="0" rtlCol="0" anchor="ctr"/>
          <a:lstStyle/>
          <a:p>
            <a:pPr algn="r" indent="0" marL="0">
              <a:buNone/>
            </a:pPr>
            <a:r>
              <a:rPr lang="en-US" sz="900" dirty="0">
                <a:solidFill>
                  <a:srgbClr val="B3B3BA"/>
                </a:solidFill>
                <a:latin typeface="Calibri" pitchFamily="34" charset="0"/>
                <a:ea typeface="Calibri" pitchFamily="34" charset="-122"/>
                <a:cs typeface="Calibri" pitchFamily="34" charset="-120"/>
              </a:rPr>
              <a:t>11</a:t>
            </a:r>
            <a:endParaRPr lang="en-US" sz="900" dirty="0"/>
          </a:p>
        </p:txBody>
      </p:sp>
      <p:pic>
        <p:nvPicPr>
          <p:cNvPr id="13" name="Image 1" descr="preencoded.png">    </p:cNvPr>
          <p:cNvPicPr>
            <a:picLocks noChangeAspect="1"/>
          </p:cNvPicPr>
          <p:nvPr/>
        </p:nvPicPr>
        <p:blipFill>
          <a:blip r:embed="rId2"/>
          <a:stretch>
            <a:fillRect/>
          </a:stretch>
        </p:blipFill>
        <p:spPr>
          <a:xfrm>
            <a:off x="10469880" y="6309360"/>
            <a:ext cx="1170432" cy="48463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420624" cy="310896"/>
          </a:xfrm>
          <a:prstGeom prst="roundRect">
            <a:avLst>
              <a:gd name="adj" fmla="val 23529"/>
            </a:avLst>
          </a:prstGeom>
          <a:solidFill>
            <a:srgbClr val="0B032B"/>
          </a:solidFill>
          <a:ln/>
        </p:spPr>
      </p:sp>
      <p:sp>
        <p:nvSpPr>
          <p:cNvPr id="3" name="Text 1"/>
          <p:cNvSpPr txBox="1"/>
          <p:nvPr/>
        </p:nvSpPr>
        <p:spPr>
          <a:xfrm>
            <a:off x="548640" y="438912"/>
            <a:ext cx="420624" cy="310896"/>
          </a:xfrm>
          <a:prstGeom prst="rect">
            <a:avLst/>
          </a:prstGeom>
          <a:noFill/>
          <a:ln/>
        </p:spPr>
        <p:txBody>
          <a:bodyPr wrap="square" lIns="0" tIns="0" rIns="0" bIns="0" rtlCol="0" anchor="ctr"/>
          <a:lstStyle/>
          <a:p>
            <a:pPr algn="ctr" indent="0" marL="0">
              <a:buNone/>
            </a:pPr>
            <a:r>
              <a:rPr lang="en-US" sz="1100" b="1" dirty="0">
                <a:solidFill>
                  <a:srgbClr val="FFF9C7"/>
                </a:solidFill>
                <a:latin typeface="Calibri" pitchFamily="34" charset="0"/>
                <a:ea typeface="Calibri" pitchFamily="34" charset="-122"/>
                <a:cs typeface="Calibri" pitchFamily="34" charset="-120"/>
              </a:rPr>
              <a:t>02</a:t>
            </a:r>
            <a:endParaRPr lang="en-US" sz="1100" dirty="0"/>
          </a:p>
        </p:txBody>
      </p:sp>
      <p:sp>
        <p:nvSpPr>
          <p:cNvPr id="4" name="Text 2"/>
          <p:cNvSpPr txBox="1"/>
          <p:nvPr/>
        </p:nvSpPr>
        <p:spPr>
          <a:xfrm>
            <a:off x="1115568" y="438912"/>
            <a:ext cx="8229600" cy="310896"/>
          </a:xfrm>
          <a:prstGeom prst="rect">
            <a:avLst/>
          </a:prstGeom>
          <a:noFill/>
          <a:ln/>
        </p:spPr>
        <p:txBody>
          <a:bodyPr wrap="square" lIns="0" tIns="0" rIns="0" bIns="0" rtlCol="0" anchor="ctr"/>
          <a:lstStyle/>
          <a:p>
            <a:pPr indent="0" marL="0">
              <a:buNone/>
            </a:pPr>
            <a:r>
              <a:rPr lang="en-US" sz="1100" b="1" spc="200" kern="0" dirty="0">
                <a:solidFill>
                  <a:srgbClr val="55516E"/>
                </a:solidFill>
                <a:latin typeface="Calibri" pitchFamily="34" charset="0"/>
                <a:ea typeface="Calibri" pitchFamily="34" charset="-122"/>
                <a:cs typeface="Calibri" pitchFamily="34" charset="-120"/>
              </a:rPr>
              <a:t>L’ÉQUIPE MUNICIPALE</a:t>
            </a:r>
            <a:endParaRPr lang="en-US" sz="1100" dirty="0"/>
          </a:p>
        </p:txBody>
      </p:sp>
      <p:sp>
        <p:nvSpPr>
          <p:cNvPr id="5" name="Text 3"/>
          <p:cNvSpPr txBox="1"/>
          <p:nvPr/>
        </p:nvSpPr>
        <p:spPr>
          <a:xfrm>
            <a:off x="548640" y="841248"/>
            <a:ext cx="11064240" cy="685800"/>
          </a:xfrm>
          <a:prstGeom prst="rect">
            <a:avLst/>
          </a:prstGeom>
          <a:noFill/>
          <a:ln/>
        </p:spPr>
        <p:txBody>
          <a:bodyPr wrap="square" lIns="0" tIns="0" rIns="0" bIns="0" rtlCol="0" anchor="ctr">
            <a:normAutofit/>
          </a:bodyPr>
          <a:lstStyle/>
          <a:p>
            <a:pPr indent="0" marL="0">
              <a:buNone/>
            </a:pPr>
            <a:r>
              <a:rPr lang="en-US" sz="2800" b="1" dirty="0">
                <a:solidFill>
                  <a:srgbClr val="0B032B"/>
                </a:solidFill>
                <a:latin typeface="Calibri" pitchFamily="34" charset="0"/>
                <a:ea typeface="Calibri" pitchFamily="34" charset="-122"/>
                <a:cs typeface="Calibri" pitchFamily="34" charset="-120"/>
              </a:rPr>
              <a:t>Des rôles complémentaires au service du projet municipal</a:t>
            </a:r>
            <a:endParaRPr lang="en-US" sz="2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2377440"/>
                <a:gridCol w="4937760"/>
                <a:gridCol w="3749040"/>
              </a:tblGrid>
              <a:tr h="411480">
                <a:tc>
                  <a:txBody>
                    <a:bodyPr/>
                    <a:lstStyle/>
                    <a:p>
                      <a:pPr indent="0" marL="0">
                        <a:buNone/>
                      </a:pPr>
                      <a:r>
                        <a:rPr lang="en-US" sz="1300" b="1" dirty="0">
                          <a:solidFill>
                            <a:srgbClr val="FFF9C7"/>
                          </a:solidFill>
                          <a:latin typeface="Calibri" pitchFamily="34" charset="0"/>
                          <a:ea typeface="Calibri" pitchFamily="34" charset="-122"/>
                          <a:cs typeface="Calibri" pitchFamily="34" charset="-120"/>
                        </a:rPr>
                        <a:t>Fonction</a:t>
                      </a:r>
                      <a:endParaRPr lang="en-US" sz="1300" dirty="0">
                        <a:latin typeface="Calibri" charset="0"/>
                        <a:ea typeface="Calibri" charset="0"/>
                        <a:cs typeface="Calibri" charset="0"/>
                      </a:endParaRPr>
                    </a:p>
                  </a:txBody>
                  <a:tcPr marL="128016" marR="128016" marT="73152" marB="73152"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B032B"/>
                    </a:solidFill>
                  </a:tcPr>
                </a:tc>
                <a:tc>
                  <a:txBody>
                    <a:bodyPr/>
                    <a:lstStyle/>
                    <a:p>
                      <a:pPr indent="0" marL="0">
                        <a:buNone/>
                      </a:pPr>
                      <a:r>
                        <a:rPr lang="en-US" sz="1300" b="1" dirty="0">
                          <a:solidFill>
                            <a:srgbClr val="FFF9C7"/>
                          </a:solidFill>
                          <a:latin typeface="Calibri" pitchFamily="34" charset="0"/>
                          <a:ea typeface="Calibri" pitchFamily="34" charset="-122"/>
                          <a:cs typeface="Calibri" pitchFamily="34" charset="-120"/>
                        </a:rPr>
                        <a:t>Missions principales</a:t>
                      </a:r>
                      <a:endParaRPr lang="en-US" sz="1300" dirty="0">
                        <a:latin typeface="Calibri" charset="0"/>
                        <a:ea typeface="Calibri" charset="0"/>
                        <a:cs typeface="Calibri" charset="0"/>
                      </a:endParaRPr>
                    </a:p>
                  </a:txBody>
                  <a:tcPr marL="128016" marR="128016" marT="73152" marB="73152"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B032B"/>
                    </a:solidFill>
                  </a:tcPr>
                </a:tc>
                <a:tc>
                  <a:txBody>
                    <a:bodyPr/>
                    <a:lstStyle/>
                    <a:p>
                      <a:pPr indent="0" marL="0">
                        <a:buNone/>
                      </a:pPr>
                      <a:r>
                        <a:rPr lang="en-US" sz="1300" b="1" dirty="0">
                          <a:solidFill>
                            <a:srgbClr val="FFF9C7"/>
                          </a:solidFill>
                          <a:latin typeface="Calibri" pitchFamily="34" charset="0"/>
                          <a:ea typeface="Calibri" pitchFamily="34" charset="-122"/>
                          <a:cs typeface="Calibri" pitchFamily="34" charset="-120"/>
                        </a:rPr>
                        <a:t>Exemples concrets</a:t>
                      </a:r>
                      <a:endParaRPr lang="en-US" sz="1300" dirty="0">
                        <a:latin typeface="Calibri" charset="0"/>
                        <a:ea typeface="Calibri" charset="0"/>
                        <a:cs typeface="Calibri" charset="0"/>
                      </a:endParaRPr>
                    </a:p>
                  </a:txBody>
                  <a:tcPr marL="128016" marR="128016" marT="73152" marB="73152"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B032B"/>
                    </a:solidFill>
                  </a:tcPr>
                </a:tc>
              </a:tr>
              <a:tr h="1234440">
                <a:tc>
                  <a:txBody>
                    <a:bodyPr/>
                    <a:lstStyle/>
                    <a:p>
                      <a:pPr indent="0" marL="0">
                        <a:buNone/>
                      </a:pPr>
                      <a:r>
                        <a:rPr lang="en-US" sz="1400" b="1" dirty="0">
                          <a:solidFill>
                            <a:srgbClr val="0B032B"/>
                          </a:solidFill>
                          <a:latin typeface="Calibri" pitchFamily="34" charset="0"/>
                          <a:ea typeface="Calibri" pitchFamily="34" charset="-122"/>
                          <a:cs typeface="Calibri" pitchFamily="34" charset="-120"/>
                        </a:rPr>
                        <a:t>Les adjoints au maire</a:t>
                      </a:r>
                      <a:endParaRPr lang="en-US" sz="1400" dirty="0">
                        <a:latin typeface="Calibri" charset="0"/>
                        <a:ea typeface="Calibri" charset="0"/>
                        <a:cs typeface="Calibri" charset="0"/>
                      </a:endParaRPr>
                    </a:p>
                  </a:txBody>
                  <a:tcPr marL="128016" marR="128016" marT="73152" marB="73152"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3F2F8"/>
                    </a:solidFill>
                  </a:tcPr>
                </a:tc>
                <a:tc>
                  <a:txBody>
                    <a:bodyPr/>
                    <a:lstStyle/>
                    <a:p>
                      <a:pPr indent="0" marL="0">
                        <a:buNone/>
                      </a:pPr>
                      <a:r>
                        <a:rPr lang="en-US" sz="1250" dirty="0">
                          <a:solidFill>
                            <a:srgbClr val="0B032B"/>
                          </a:solidFill>
                          <a:latin typeface="Calibri" pitchFamily="34" charset="0"/>
                          <a:ea typeface="Calibri" pitchFamily="34" charset="-122"/>
                          <a:cs typeface="Calibri" pitchFamily="34" charset="-120"/>
                        </a:rPr>
                        <a:t>Assistent le maire dans l’exercice de ses fonctions et reçoivent une délégation de compétences (urbanisme, finances, écoles, sports, culture, travaux, etc.). Ils peuvent remplacer le maire en cas d’absence selon l’ordre du tableau.</a:t>
                      </a:r>
                      <a:endParaRPr lang="en-US" sz="1250" dirty="0">
                        <a:latin typeface="Calibri" charset="0"/>
                        <a:ea typeface="Calibri" charset="0"/>
                        <a:cs typeface="Calibri" charset="0"/>
                      </a:endParaRPr>
                    </a:p>
                  </a:txBody>
                  <a:tcPr marL="128016" marR="128016" marT="73152" marB="73152"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dirty="0">
                          <a:solidFill>
                            <a:srgbClr val="0B032B"/>
                          </a:solidFill>
                          <a:latin typeface="Calibri" pitchFamily="34" charset="0"/>
                          <a:ea typeface="Calibri" pitchFamily="34" charset="-122"/>
                          <a:cs typeface="Calibri" pitchFamily="34" charset="-120"/>
                        </a:rPr>
                        <a:t>L’adjoint aux travaux suit la réfection d’une voirie. L’adjointe aux affaires scolaires prépare la rentrée et participe aux conseils d’école.</a:t>
                      </a:r>
                      <a:endParaRPr lang="en-US" sz="1250" dirty="0">
                        <a:latin typeface="Calibri" charset="0"/>
                        <a:ea typeface="Calibri" charset="0"/>
                        <a:cs typeface="Calibri" charset="0"/>
                      </a:endParaRPr>
                    </a:p>
                  </a:txBody>
                  <a:tcPr marL="128016" marR="128016" marT="73152" marB="73152"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FFDEB"/>
                    </a:solidFill>
                  </a:tcPr>
                </a:tc>
              </a:tr>
              <a:tr h="1005840">
                <a:tc>
                  <a:txBody>
                    <a:bodyPr/>
                    <a:lstStyle/>
                    <a:p>
                      <a:pPr indent="0" marL="0">
                        <a:buNone/>
                      </a:pPr>
                      <a:r>
                        <a:rPr lang="en-US" sz="1400" b="1" dirty="0">
                          <a:solidFill>
                            <a:srgbClr val="0B032B"/>
                          </a:solidFill>
                          <a:latin typeface="Calibri" pitchFamily="34" charset="0"/>
                          <a:ea typeface="Calibri" pitchFamily="34" charset="-122"/>
                          <a:cs typeface="Calibri" pitchFamily="34" charset="-120"/>
                        </a:rPr>
                        <a:t>Les conseillers municipaux délégués</a:t>
                      </a:r>
                      <a:endParaRPr lang="en-US" sz="1400" dirty="0">
                        <a:latin typeface="Calibri" charset="0"/>
                        <a:ea typeface="Calibri" charset="0"/>
                        <a:cs typeface="Calibri" charset="0"/>
                      </a:endParaRPr>
                    </a:p>
                  </a:txBody>
                  <a:tcPr marL="128016" marR="128016" marT="73152" marB="73152"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3F2F8"/>
                    </a:solidFill>
                  </a:tcPr>
                </a:tc>
                <a:tc>
                  <a:txBody>
                    <a:bodyPr/>
                    <a:lstStyle/>
                    <a:p>
                      <a:pPr indent="0" marL="0">
                        <a:buNone/>
                      </a:pPr>
                      <a:r>
                        <a:rPr lang="en-US" sz="1250" dirty="0">
                          <a:solidFill>
                            <a:srgbClr val="0B032B"/>
                          </a:solidFill>
                          <a:latin typeface="Calibri" pitchFamily="34" charset="0"/>
                          <a:ea typeface="Calibri" pitchFamily="34" charset="-122"/>
                          <a:cs typeface="Calibri" pitchFamily="34" charset="-120"/>
                        </a:rPr>
                        <a:t>Conseillers municipaux auxquels le maire confie une mission précise par délégation. Ils viennent renforcer l’action des adjoints sur des dossiers ciblés.</a:t>
                      </a:r>
                      <a:endParaRPr lang="en-US" sz="1250" dirty="0">
                        <a:latin typeface="Calibri" charset="0"/>
                        <a:ea typeface="Calibri" charset="0"/>
                        <a:cs typeface="Calibri" charset="0"/>
                      </a:endParaRPr>
                    </a:p>
                  </a:txBody>
                  <a:tcPr marL="128016" marR="128016" marT="73152" marB="73152"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dirty="0">
                          <a:solidFill>
                            <a:srgbClr val="0B032B"/>
                          </a:solidFill>
                          <a:latin typeface="Calibri" pitchFamily="34" charset="0"/>
                          <a:ea typeface="Calibri" pitchFamily="34" charset="-122"/>
                          <a:cs typeface="Calibri" pitchFamily="34" charset="-120"/>
                        </a:rPr>
                        <a:t>Suivi du commerce local, transition écologique, devoir de mémoire, numérique, vie associative ou participation citoyenne.</a:t>
                      </a:r>
                      <a:endParaRPr lang="en-US" sz="1250" dirty="0">
                        <a:latin typeface="Calibri" charset="0"/>
                        <a:ea typeface="Calibri" charset="0"/>
                        <a:cs typeface="Calibri" charset="0"/>
                      </a:endParaRPr>
                    </a:p>
                  </a:txBody>
                  <a:tcPr marL="128016" marR="128016" marT="73152" marB="73152"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FFDEB"/>
                    </a:solidFill>
                  </a:tcPr>
                </a:tc>
              </a:tr>
              <a:tr h="1325880">
                <a:tc>
                  <a:txBody>
                    <a:bodyPr/>
                    <a:lstStyle/>
                    <a:p>
                      <a:pPr indent="0" marL="0">
                        <a:buNone/>
                      </a:pPr>
                      <a:r>
                        <a:rPr lang="en-US" sz="1400" b="1" dirty="0">
                          <a:solidFill>
                            <a:srgbClr val="0B032B"/>
                          </a:solidFill>
                          <a:latin typeface="Calibri" pitchFamily="34" charset="0"/>
                          <a:ea typeface="Calibri" pitchFamily="34" charset="-122"/>
                          <a:cs typeface="Calibri" pitchFamily="34" charset="-120"/>
                        </a:rPr>
                        <a:t>Les conseillers municipaux</a:t>
                      </a:r>
                      <a:endParaRPr lang="en-US" sz="1400" dirty="0">
                        <a:latin typeface="Calibri" charset="0"/>
                        <a:ea typeface="Calibri" charset="0"/>
                        <a:cs typeface="Calibri" charset="0"/>
                      </a:endParaRPr>
                    </a:p>
                  </a:txBody>
                  <a:tcPr marL="128016" marR="128016" marT="73152" marB="73152"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3F2F8"/>
                    </a:solidFill>
                  </a:tcPr>
                </a:tc>
                <a:tc>
                  <a:txBody>
                    <a:bodyPr/>
                    <a:lstStyle/>
                    <a:p>
                      <a:pPr indent="0" marL="0">
                        <a:buNone/>
                      </a:pPr>
                      <a:r>
                        <a:rPr lang="en-US" sz="1250" dirty="0">
                          <a:solidFill>
                            <a:srgbClr val="0B032B"/>
                          </a:solidFill>
                          <a:latin typeface="Calibri" pitchFamily="34" charset="0"/>
                          <a:ea typeface="Calibri" pitchFamily="34" charset="-122"/>
                          <a:cs typeface="Calibri" pitchFamily="34" charset="-120"/>
                        </a:rPr>
                        <a:t>Participent aux séances du conseil municipal, débattent, proposent des idées, votent les délibérations et représentent les habitants. Ils peuvent siéger dans des commissions municipales ou représenter la commune dans des organismes extérieurs.</a:t>
                      </a:r>
                      <a:endParaRPr lang="en-US" sz="1250" dirty="0">
                        <a:latin typeface="Calibri" charset="0"/>
                        <a:ea typeface="Calibri" charset="0"/>
                        <a:cs typeface="Calibri" charset="0"/>
                      </a:endParaRPr>
                    </a:p>
                  </a:txBody>
                  <a:tcPr marL="128016" marR="128016" marT="73152" marB="73152"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dirty="0">
                          <a:solidFill>
                            <a:srgbClr val="0B032B"/>
                          </a:solidFill>
                          <a:latin typeface="Calibri" pitchFamily="34" charset="0"/>
                          <a:ea typeface="Calibri" pitchFamily="34" charset="-122"/>
                          <a:cs typeface="Calibri" pitchFamily="34" charset="-120"/>
                        </a:rPr>
                        <a:t>Vote du budget, participation à la commission urbanisme, représentation au conseil d’administration du CCAS ou d’un établissement scolaire.</a:t>
                      </a:r>
                      <a:endParaRPr lang="en-US" sz="1250" dirty="0">
                        <a:latin typeface="Calibri" charset="0"/>
                        <a:ea typeface="Calibri" charset="0"/>
                        <a:cs typeface="Calibri" charset="0"/>
                      </a:endParaRPr>
                    </a:p>
                  </a:txBody>
                  <a:tcPr marL="128016" marR="128016" marT="73152" marB="73152"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FFDEB"/>
                    </a:solidFill>
                  </a:tcPr>
                </a:tc>
              </a:tr>
            </a:tbl>
          </a:graphicData>
        </a:graphic>
      </p:graphicFrame>
      <p:sp>
        <p:nvSpPr>
          <p:cNvPr id="7" name="Text 4"/>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spc="100" kern="0" dirty="0">
                <a:solidFill>
                  <a:srgbClr val="8A8699"/>
                </a:solidFill>
                <a:latin typeface="Calibri" pitchFamily="34" charset="0"/>
                <a:ea typeface="Calibri" pitchFamily="34" charset="-122"/>
                <a:cs typeface="Calibri" pitchFamily="34" charset="-120"/>
              </a:rPr>
              <a:t>ENMA FORMATION  ·  Formation des élus municipaux 2026</a:t>
            </a:r>
            <a:endParaRPr lang="en-US" sz="900" dirty="0"/>
          </a:p>
        </p:txBody>
      </p:sp>
      <p:sp>
        <p:nvSpPr>
          <p:cNvPr id="8" name="Text 5"/>
          <p:cNvSpPr txBox="1"/>
          <p:nvPr/>
        </p:nvSpPr>
        <p:spPr>
          <a:xfrm>
            <a:off x="9692640" y="6400800"/>
            <a:ext cx="548640" cy="274320"/>
          </a:xfrm>
          <a:prstGeom prst="rect">
            <a:avLst/>
          </a:prstGeom>
          <a:noFill/>
          <a:ln/>
        </p:spPr>
        <p:txBody>
          <a:bodyPr wrap="square" lIns="0" tIns="0" rIns="0" bIns="0" rtlCol="0" anchor="ctr"/>
          <a:lstStyle/>
          <a:p>
            <a:pPr algn="r" indent="0" marL="0">
              <a:buNone/>
            </a:pPr>
            <a:r>
              <a:rPr lang="en-US" sz="900" dirty="0">
                <a:solidFill>
                  <a:srgbClr val="8A8699"/>
                </a:solidFill>
                <a:latin typeface="Calibri" pitchFamily="34" charset="0"/>
                <a:ea typeface="Calibri" pitchFamily="34" charset="-122"/>
                <a:cs typeface="Calibri" pitchFamily="34" charset="-120"/>
              </a:rPr>
              <a:t>12</a:t>
            </a:r>
            <a:endParaRPr lang="en-US" sz="900" dirty="0"/>
          </a:p>
        </p:txBody>
      </p:sp>
      <p:pic>
        <p:nvPicPr>
          <p:cNvPr id="9" name="Image 0" descr="preencoded.png">    </p:cNvPr>
          <p:cNvPicPr>
            <a:picLocks noChangeAspect="1"/>
          </p:cNvPicPr>
          <p:nvPr/>
        </p:nvPicPr>
        <p:blipFill>
          <a:blip r:embed="rId1"/>
          <a:stretch>
            <a:fillRect/>
          </a:stretch>
        </p:blipFill>
        <p:spPr>
          <a:xfrm>
            <a:off x="10469880" y="6309360"/>
            <a:ext cx="1170432" cy="48463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420624" cy="310896"/>
          </a:xfrm>
          <a:prstGeom prst="roundRect">
            <a:avLst>
              <a:gd name="adj" fmla="val 23529"/>
            </a:avLst>
          </a:prstGeom>
          <a:solidFill>
            <a:srgbClr val="0B032B"/>
          </a:solidFill>
          <a:ln/>
        </p:spPr>
      </p:sp>
      <p:sp>
        <p:nvSpPr>
          <p:cNvPr id="3" name="Text 1"/>
          <p:cNvSpPr txBox="1"/>
          <p:nvPr/>
        </p:nvSpPr>
        <p:spPr>
          <a:xfrm>
            <a:off x="548640" y="438912"/>
            <a:ext cx="420624" cy="310896"/>
          </a:xfrm>
          <a:prstGeom prst="rect">
            <a:avLst/>
          </a:prstGeom>
          <a:noFill/>
          <a:ln/>
        </p:spPr>
        <p:txBody>
          <a:bodyPr wrap="square" lIns="0" tIns="0" rIns="0" bIns="0" rtlCol="0" anchor="ctr"/>
          <a:lstStyle/>
          <a:p>
            <a:pPr algn="ctr" indent="0" marL="0">
              <a:buNone/>
            </a:pPr>
            <a:r>
              <a:rPr lang="en-US" sz="1100" b="1" dirty="0">
                <a:solidFill>
                  <a:srgbClr val="FFF9C7"/>
                </a:solidFill>
                <a:latin typeface="Calibri" pitchFamily="34" charset="0"/>
                <a:ea typeface="Calibri" pitchFamily="34" charset="-122"/>
                <a:cs typeface="Calibri" pitchFamily="34" charset="-120"/>
              </a:rPr>
              <a:t>02</a:t>
            </a:r>
            <a:endParaRPr lang="en-US" sz="1100" dirty="0"/>
          </a:p>
        </p:txBody>
      </p:sp>
      <p:sp>
        <p:nvSpPr>
          <p:cNvPr id="4" name="Text 2"/>
          <p:cNvSpPr txBox="1"/>
          <p:nvPr/>
        </p:nvSpPr>
        <p:spPr>
          <a:xfrm>
            <a:off x="1115568" y="438912"/>
            <a:ext cx="8229600" cy="310896"/>
          </a:xfrm>
          <a:prstGeom prst="rect">
            <a:avLst/>
          </a:prstGeom>
          <a:noFill/>
          <a:ln/>
        </p:spPr>
        <p:txBody>
          <a:bodyPr wrap="square" lIns="0" tIns="0" rIns="0" bIns="0" rtlCol="0" anchor="ctr"/>
          <a:lstStyle/>
          <a:p>
            <a:pPr indent="0" marL="0">
              <a:buNone/>
            </a:pPr>
            <a:r>
              <a:rPr lang="en-US" sz="1100" b="1" spc="200" kern="0" dirty="0">
                <a:solidFill>
                  <a:srgbClr val="55516E"/>
                </a:solidFill>
                <a:latin typeface="Calibri" pitchFamily="34" charset="0"/>
                <a:ea typeface="Calibri" pitchFamily="34" charset="-122"/>
                <a:cs typeface="Calibri" pitchFamily="34" charset="-120"/>
              </a:rPr>
              <a:t>L’ÉQUIPE MUNICIPALE</a:t>
            </a:r>
            <a:endParaRPr lang="en-US" sz="1100" dirty="0"/>
          </a:p>
        </p:txBody>
      </p:sp>
      <p:sp>
        <p:nvSpPr>
          <p:cNvPr id="5" name="Text 3"/>
          <p:cNvSpPr txBox="1"/>
          <p:nvPr/>
        </p:nvSpPr>
        <p:spPr>
          <a:xfrm>
            <a:off x="548640" y="841248"/>
            <a:ext cx="11064240" cy="685800"/>
          </a:xfrm>
          <a:prstGeom prst="rect">
            <a:avLst/>
          </a:prstGeom>
          <a:noFill/>
          <a:ln/>
        </p:spPr>
        <p:txBody>
          <a:bodyPr wrap="square" lIns="0" tIns="0" rIns="0" bIns="0" rtlCol="0" anchor="ctr">
            <a:normAutofit/>
          </a:bodyPr>
          <a:lstStyle/>
          <a:p>
            <a:pPr indent="0" marL="0">
              <a:buNone/>
            </a:pPr>
            <a:r>
              <a:rPr lang="en-US" sz="2800" b="1" dirty="0">
                <a:solidFill>
                  <a:srgbClr val="0B032B"/>
                </a:solidFill>
                <a:latin typeface="Calibri" pitchFamily="34" charset="0"/>
                <a:ea typeface="Calibri" pitchFamily="34" charset="-122"/>
                <a:cs typeface="Calibri" pitchFamily="34" charset="-120"/>
              </a:rPr>
              <a:t>Leurs responsabilités</a:t>
            </a:r>
            <a:endParaRPr lang="en-US" sz="2800" dirty="0"/>
          </a:p>
        </p:txBody>
      </p:sp>
      <p:sp>
        <p:nvSpPr>
          <p:cNvPr id="6" name="Shape 4"/>
          <p:cNvSpPr/>
          <p:nvPr/>
        </p:nvSpPr>
        <p:spPr>
          <a:xfrm>
            <a:off x="548640" y="1783080"/>
            <a:ext cx="6766560" cy="731520"/>
          </a:xfrm>
          <a:prstGeom prst="roundRect">
            <a:avLst>
              <a:gd name="adj" fmla="val 15000"/>
            </a:avLst>
          </a:prstGeom>
          <a:solidFill>
            <a:srgbClr val="F3F2F8"/>
          </a:solidFill>
          <a:ln/>
        </p:spPr>
      </p:sp>
      <p:sp>
        <p:nvSpPr>
          <p:cNvPr id="7" name="Shape 5"/>
          <p:cNvSpPr/>
          <p:nvPr/>
        </p:nvSpPr>
        <p:spPr>
          <a:xfrm>
            <a:off x="685800" y="1892808"/>
            <a:ext cx="512064" cy="512064"/>
          </a:xfrm>
          <a:prstGeom prst="ellipse">
            <a:avLst/>
          </a:prstGeom>
          <a:solidFill>
            <a:srgbClr val="0B032B"/>
          </a:solidFill>
          <a:ln/>
        </p:spPr>
      </p:sp>
      <p:pic>
        <p:nvPicPr>
          <p:cNvPr id="8" name="Image 0" descr="preencoded.png">    </p:cNvPr>
          <p:cNvPicPr>
            <a:picLocks noChangeAspect="1"/>
          </p:cNvPicPr>
          <p:nvPr/>
        </p:nvPicPr>
        <p:blipFill>
          <a:blip r:embed="rId1"/>
          <a:stretch>
            <a:fillRect/>
          </a:stretch>
        </p:blipFill>
        <p:spPr>
          <a:xfrm>
            <a:off x="798454" y="2005462"/>
            <a:ext cx="286756" cy="286756"/>
          </a:xfrm>
          <a:prstGeom prst="rect">
            <a:avLst/>
          </a:prstGeom>
        </p:spPr>
      </p:pic>
      <p:sp>
        <p:nvSpPr>
          <p:cNvPr id="9" name="Text 6"/>
          <p:cNvSpPr txBox="1"/>
          <p:nvPr/>
        </p:nvSpPr>
        <p:spPr>
          <a:xfrm>
            <a:off x="1371600" y="1783080"/>
            <a:ext cx="5806440" cy="731520"/>
          </a:xfrm>
          <a:prstGeom prst="rect">
            <a:avLst/>
          </a:prstGeom>
          <a:noFill/>
          <a:ln/>
        </p:spPr>
        <p:txBody>
          <a:bodyPr wrap="square" lIns="0" tIns="0" rIns="0" bIns="0" rtlCol="0" anchor="ctr"/>
          <a:lstStyle/>
          <a:p>
            <a:pPr indent="0" marL="0">
              <a:buNone/>
            </a:pPr>
            <a:r>
              <a:rPr lang="en-US" sz="1500" dirty="0">
                <a:solidFill>
                  <a:srgbClr val="0B032B"/>
                </a:solidFill>
                <a:latin typeface="Calibri" pitchFamily="34" charset="0"/>
                <a:ea typeface="Calibri" pitchFamily="34" charset="-122"/>
                <a:cs typeface="Calibri" pitchFamily="34" charset="-120"/>
              </a:rPr>
              <a:t>Respecter les principes de neutralité, de probité et d’intérêt général.</a:t>
            </a:r>
            <a:endParaRPr lang="en-US" sz="1500" dirty="0"/>
          </a:p>
        </p:txBody>
      </p:sp>
      <p:sp>
        <p:nvSpPr>
          <p:cNvPr id="10" name="Shape 7"/>
          <p:cNvSpPr/>
          <p:nvPr/>
        </p:nvSpPr>
        <p:spPr>
          <a:xfrm>
            <a:off x="548640" y="2651760"/>
            <a:ext cx="6766560" cy="731520"/>
          </a:xfrm>
          <a:prstGeom prst="roundRect">
            <a:avLst>
              <a:gd name="adj" fmla="val 15000"/>
            </a:avLst>
          </a:prstGeom>
          <a:solidFill>
            <a:srgbClr val="FFFFFF"/>
          </a:solidFill>
          <a:ln w="12700">
            <a:solidFill>
              <a:srgbClr val="E7E5F0"/>
            </a:solidFill>
            <a:prstDash val="solid"/>
          </a:ln>
        </p:spPr>
      </p:sp>
      <p:sp>
        <p:nvSpPr>
          <p:cNvPr id="11" name="Shape 8"/>
          <p:cNvSpPr/>
          <p:nvPr/>
        </p:nvSpPr>
        <p:spPr>
          <a:xfrm>
            <a:off x="685800" y="2761488"/>
            <a:ext cx="512064" cy="512064"/>
          </a:xfrm>
          <a:prstGeom prst="ellipse">
            <a:avLst/>
          </a:prstGeom>
          <a:solidFill>
            <a:srgbClr val="0B032B"/>
          </a:solidFill>
          <a:ln/>
        </p:spPr>
      </p:sp>
      <p:pic>
        <p:nvPicPr>
          <p:cNvPr id="12" name="Image 1" descr="preencoded.png">    </p:cNvPr>
          <p:cNvPicPr>
            <a:picLocks noChangeAspect="1"/>
          </p:cNvPicPr>
          <p:nvPr/>
        </p:nvPicPr>
        <p:blipFill>
          <a:blip r:embed="rId2"/>
          <a:stretch>
            <a:fillRect/>
          </a:stretch>
        </p:blipFill>
        <p:spPr>
          <a:xfrm>
            <a:off x="798454" y="2874142"/>
            <a:ext cx="286756" cy="286756"/>
          </a:xfrm>
          <a:prstGeom prst="rect">
            <a:avLst/>
          </a:prstGeom>
        </p:spPr>
      </p:pic>
      <p:sp>
        <p:nvSpPr>
          <p:cNvPr id="13" name="Text 9"/>
          <p:cNvSpPr txBox="1"/>
          <p:nvPr/>
        </p:nvSpPr>
        <p:spPr>
          <a:xfrm>
            <a:off x="1371600" y="2651760"/>
            <a:ext cx="5806440" cy="731520"/>
          </a:xfrm>
          <a:prstGeom prst="rect">
            <a:avLst/>
          </a:prstGeom>
          <a:noFill/>
          <a:ln/>
        </p:spPr>
        <p:txBody>
          <a:bodyPr wrap="square" lIns="0" tIns="0" rIns="0" bIns="0" rtlCol="0" anchor="ctr"/>
          <a:lstStyle/>
          <a:p>
            <a:pPr indent="0" marL="0">
              <a:buNone/>
            </a:pPr>
            <a:r>
              <a:rPr lang="en-US" sz="1500" dirty="0">
                <a:solidFill>
                  <a:srgbClr val="0B032B"/>
                </a:solidFill>
                <a:latin typeface="Calibri" pitchFamily="34" charset="0"/>
                <a:ea typeface="Calibri" pitchFamily="34" charset="-122"/>
                <a:cs typeface="Calibri" pitchFamily="34" charset="-120"/>
              </a:rPr>
              <a:t>Participer activement aux réunions et aux commissions.</a:t>
            </a:r>
            <a:endParaRPr lang="en-US" sz="1500" dirty="0"/>
          </a:p>
        </p:txBody>
      </p:sp>
      <p:sp>
        <p:nvSpPr>
          <p:cNvPr id="14" name="Shape 10"/>
          <p:cNvSpPr/>
          <p:nvPr/>
        </p:nvSpPr>
        <p:spPr>
          <a:xfrm>
            <a:off x="548640" y="3520440"/>
            <a:ext cx="6766560" cy="731520"/>
          </a:xfrm>
          <a:prstGeom prst="roundRect">
            <a:avLst>
              <a:gd name="adj" fmla="val 15000"/>
            </a:avLst>
          </a:prstGeom>
          <a:solidFill>
            <a:srgbClr val="F3F2F8"/>
          </a:solidFill>
          <a:ln/>
        </p:spPr>
      </p:sp>
      <p:sp>
        <p:nvSpPr>
          <p:cNvPr id="15" name="Shape 11"/>
          <p:cNvSpPr/>
          <p:nvPr/>
        </p:nvSpPr>
        <p:spPr>
          <a:xfrm>
            <a:off x="685800" y="3630168"/>
            <a:ext cx="512064" cy="512064"/>
          </a:xfrm>
          <a:prstGeom prst="ellipse">
            <a:avLst/>
          </a:prstGeom>
          <a:solidFill>
            <a:srgbClr val="0B032B"/>
          </a:solidFill>
          <a:ln/>
        </p:spPr>
      </p:sp>
      <p:pic>
        <p:nvPicPr>
          <p:cNvPr id="16" name="Image 2" descr="preencoded.png">    </p:cNvPr>
          <p:cNvPicPr>
            <a:picLocks noChangeAspect="1"/>
          </p:cNvPicPr>
          <p:nvPr/>
        </p:nvPicPr>
        <p:blipFill>
          <a:blip r:embed="rId3"/>
          <a:stretch>
            <a:fillRect/>
          </a:stretch>
        </p:blipFill>
        <p:spPr>
          <a:xfrm>
            <a:off x="798454" y="3742822"/>
            <a:ext cx="286756" cy="286756"/>
          </a:xfrm>
          <a:prstGeom prst="rect">
            <a:avLst/>
          </a:prstGeom>
        </p:spPr>
      </p:pic>
      <p:sp>
        <p:nvSpPr>
          <p:cNvPr id="17" name="Text 12"/>
          <p:cNvSpPr txBox="1"/>
          <p:nvPr/>
        </p:nvSpPr>
        <p:spPr>
          <a:xfrm>
            <a:off x="1371600" y="3520440"/>
            <a:ext cx="5806440" cy="731520"/>
          </a:xfrm>
          <a:prstGeom prst="rect">
            <a:avLst/>
          </a:prstGeom>
          <a:noFill/>
          <a:ln/>
        </p:spPr>
        <p:txBody>
          <a:bodyPr wrap="square" lIns="0" tIns="0" rIns="0" bIns="0" rtlCol="0" anchor="ctr"/>
          <a:lstStyle/>
          <a:p>
            <a:pPr indent="0" marL="0">
              <a:buNone/>
            </a:pPr>
            <a:r>
              <a:rPr lang="en-US" sz="1500" dirty="0">
                <a:solidFill>
                  <a:srgbClr val="0B032B"/>
                </a:solidFill>
                <a:latin typeface="Calibri" pitchFamily="34" charset="0"/>
                <a:ea typeface="Calibri" pitchFamily="34" charset="-122"/>
                <a:cs typeface="Calibri" pitchFamily="34" charset="-120"/>
              </a:rPr>
              <a:t>Être à l’écoute des habitants et faire remonter leurs attentes.</a:t>
            </a:r>
            <a:endParaRPr lang="en-US" sz="1500" dirty="0"/>
          </a:p>
        </p:txBody>
      </p:sp>
      <p:sp>
        <p:nvSpPr>
          <p:cNvPr id="18" name="Shape 13"/>
          <p:cNvSpPr/>
          <p:nvPr/>
        </p:nvSpPr>
        <p:spPr>
          <a:xfrm>
            <a:off x="548640" y="4389120"/>
            <a:ext cx="6766560" cy="731520"/>
          </a:xfrm>
          <a:prstGeom prst="roundRect">
            <a:avLst>
              <a:gd name="adj" fmla="val 15000"/>
            </a:avLst>
          </a:prstGeom>
          <a:solidFill>
            <a:srgbClr val="FFFFFF"/>
          </a:solidFill>
          <a:ln w="12700">
            <a:solidFill>
              <a:srgbClr val="E7E5F0"/>
            </a:solidFill>
            <a:prstDash val="solid"/>
          </a:ln>
        </p:spPr>
      </p:sp>
      <p:sp>
        <p:nvSpPr>
          <p:cNvPr id="19" name="Shape 14"/>
          <p:cNvSpPr/>
          <p:nvPr/>
        </p:nvSpPr>
        <p:spPr>
          <a:xfrm>
            <a:off x="685800" y="4498848"/>
            <a:ext cx="512064" cy="512064"/>
          </a:xfrm>
          <a:prstGeom prst="ellipse">
            <a:avLst/>
          </a:prstGeom>
          <a:solidFill>
            <a:srgbClr val="0B032B"/>
          </a:solidFill>
          <a:ln/>
        </p:spPr>
      </p:sp>
      <p:pic>
        <p:nvPicPr>
          <p:cNvPr id="20" name="Image 3" descr="preencoded.png">    </p:cNvPr>
          <p:cNvPicPr>
            <a:picLocks noChangeAspect="1"/>
          </p:cNvPicPr>
          <p:nvPr/>
        </p:nvPicPr>
        <p:blipFill>
          <a:blip r:embed="rId4"/>
          <a:stretch>
            <a:fillRect/>
          </a:stretch>
        </p:blipFill>
        <p:spPr>
          <a:xfrm>
            <a:off x="798454" y="4611502"/>
            <a:ext cx="286756" cy="286756"/>
          </a:xfrm>
          <a:prstGeom prst="rect">
            <a:avLst/>
          </a:prstGeom>
        </p:spPr>
      </p:pic>
      <p:sp>
        <p:nvSpPr>
          <p:cNvPr id="21" name="Text 15"/>
          <p:cNvSpPr txBox="1"/>
          <p:nvPr/>
        </p:nvSpPr>
        <p:spPr>
          <a:xfrm>
            <a:off x="1371600" y="4389120"/>
            <a:ext cx="5806440" cy="731520"/>
          </a:xfrm>
          <a:prstGeom prst="rect">
            <a:avLst/>
          </a:prstGeom>
          <a:noFill/>
          <a:ln/>
        </p:spPr>
        <p:txBody>
          <a:bodyPr wrap="square" lIns="0" tIns="0" rIns="0" bIns="0" rtlCol="0" anchor="ctr"/>
          <a:lstStyle/>
          <a:p>
            <a:pPr indent="0" marL="0">
              <a:buNone/>
            </a:pPr>
            <a:r>
              <a:rPr lang="en-US" sz="1500" dirty="0">
                <a:solidFill>
                  <a:srgbClr val="0B032B"/>
                </a:solidFill>
                <a:latin typeface="Calibri" pitchFamily="34" charset="0"/>
                <a:ea typeface="Calibri" pitchFamily="34" charset="-122"/>
                <a:cs typeface="Calibri" pitchFamily="34" charset="-120"/>
              </a:rPr>
              <a:t>Appliquer le devoir de réserve et respecter la confidentialité des informations sensibles.</a:t>
            </a:r>
            <a:endParaRPr lang="en-US" sz="1500" dirty="0"/>
          </a:p>
        </p:txBody>
      </p:sp>
      <p:sp>
        <p:nvSpPr>
          <p:cNvPr id="22" name="Shape 16"/>
          <p:cNvSpPr/>
          <p:nvPr/>
        </p:nvSpPr>
        <p:spPr>
          <a:xfrm>
            <a:off x="548640" y="5257800"/>
            <a:ext cx="6766560" cy="731520"/>
          </a:xfrm>
          <a:prstGeom prst="roundRect">
            <a:avLst>
              <a:gd name="adj" fmla="val 15000"/>
            </a:avLst>
          </a:prstGeom>
          <a:solidFill>
            <a:srgbClr val="F3F2F8"/>
          </a:solidFill>
          <a:ln/>
        </p:spPr>
      </p:sp>
      <p:sp>
        <p:nvSpPr>
          <p:cNvPr id="23" name="Shape 17"/>
          <p:cNvSpPr/>
          <p:nvPr/>
        </p:nvSpPr>
        <p:spPr>
          <a:xfrm>
            <a:off x="685800" y="5367528"/>
            <a:ext cx="512064" cy="512064"/>
          </a:xfrm>
          <a:prstGeom prst="ellipse">
            <a:avLst/>
          </a:prstGeom>
          <a:solidFill>
            <a:srgbClr val="0B032B"/>
          </a:solidFill>
          <a:ln/>
        </p:spPr>
      </p:sp>
      <p:pic>
        <p:nvPicPr>
          <p:cNvPr id="24" name="Image 4" descr="preencoded.png">    </p:cNvPr>
          <p:cNvPicPr>
            <a:picLocks noChangeAspect="1"/>
          </p:cNvPicPr>
          <p:nvPr/>
        </p:nvPicPr>
        <p:blipFill>
          <a:blip r:embed="rId5"/>
          <a:stretch>
            <a:fillRect/>
          </a:stretch>
        </p:blipFill>
        <p:spPr>
          <a:xfrm>
            <a:off x="798454" y="5480182"/>
            <a:ext cx="286756" cy="286756"/>
          </a:xfrm>
          <a:prstGeom prst="rect">
            <a:avLst/>
          </a:prstGeom>
        </p:spPr>
      </p:pic>
      <p:sp>
        <p:nvSpPr>
          <p:cNvPr id="25" name="Text 18"/>
          <p:cNvSpPr txBox="1"/>
          <p:nvPr/>
        </p:nvSpPr>
        <p:spPr>
          <a:xfrm>
            <a:off x="1371600" y="5257800"/>
            <a:ext cx="5806440" cy="731520"/>
          </a:xfrm>
          <a:prstGeom prst="rect">
            <a:avLst/>
          </a:prstGeom>
          <a:noFill/>
          <a:ln/>
        </p:spPr>
        <p:txBody>
          <a:bodyPr wrap="square" lIns="0" tIns="0" rIns="0" bIns="0" rtlCol="0" anchor="ctr"/>
          <a:lstStyle/>
          <a:p>
            <a:pPr indent="0" marL="0">
              <a:buNone/>
            </a:pPr>
            <a:r>
              <a:rPr lang="en-US" sz="1500" dirty="0">
                <a:solidFill>
                  <a:srgbClr val="0B032B"/>
                </a:solidFill>
                <a:latin typeface="Calibri" pitchFamily="34" charset="0"/>
                <a:ea typeface="Calibri" pitchFamily="34" charset="-122"/>
                <a:cs typeface="Calibri" pitchFamily="34" charset="-120"/>
              </a:rPr>
              <a:t>Contribuer à la mise en œuvre du projet municipal dans un esprit de travail collectif.</a:t>
            </a:r>
            <a:endParaRPr lang="en-US" sz="1500" dirty="0"/>
          </a:p>
        </p:txBody>
      </p:sp>
      <p:sp>
        <p:nvSpPr>
          <p:cNvPr id="26" name="Shape 19"/>
          <p:cNvSpPr/>
          <p:nvPr/>
        </p:nvSpPr>
        <p:spPr>
          <a:xfrm>
            <a:off x="7863840" y="1737360"/>
            <a:ext cx="3749040" cy="3749040"/>
          </a:xfrm>
          <a:prstGeom prst="ellipse">
            <a:avLst/>
          </a:prstGeom>
          <a:solidFill>
            <a:srgbClr val="FFF9C7"/>
          </a:solidFill>
          <a:ln/>
        </p:spPr>
      </p:sp>
      <p:pic>
        <p:nvPicPr>
          <p:cNvPr id="27" name="Image 5" descr="preencoded.png">    </p:cNvPr>
          <p:cNvPicPr>
            <a:picLocks noChangeAspect="1"/>
          </p:cNvPicPr>
          <p:nvPr/>
        </p:nvPicPr>
        <p:blipFill>
          <a:blip r:embed="rId6"/>
          <a:stretch>
            <a:fillRect/>
          </a:stretch>
        </p:blipFill>
        <p:spPr>
          <a:xfrm>
            <a:off x="8183880" y="2240280"/>
            <a:ext cx="3108960" cy="2630658"/>
          </a:xfrm>
          <a:prstGeom prst="rect">
            <a:avLst/>
          </a:prstGeom>
        </p:spPr>
      </p:pic>
      <p:sp>
        <p:nvSpPr>
          <p:cNvPr id="28" name="Shape 20"/>
          <p:cNvSpPr/>
          <p:nvPr/>
        </p:nvSpPr>
        <p:spPr>
          <a:xfrm>
            <a:off x="7818120" y="5769864"/>
            <a:ext cx="219456" cy="219456"/>
          </a:xfrm>
          <a:prstGeom prst="ellipse">
            <a:avLst/>
          </a:prstGeom>
          <a:solidFill>
            <a:srgbClr val="FFF9C7"/>
          </a:solidFill>
          <a:ln w="25400">
            <a:solidFill>
              <a:srgbClr val="0B032B"/>
            </a:solidFill>
            <a:prstDash val="solid"/>
          </a:ln>
        </p:spPr>
      </p:sp>
      <p:sp>
        <p:nvSpPr>
          <p:cNvPr id="29" name="Text 21"/>
          <p:cNvSpPr txBox="1"/>
          <p:nvPr/>
        </p:nvSpPr>
        <p:spPr>
          <a:xfrm>
            <a:off x="8110728" y="5715000"/>
            <a:ext cx="1005840" cy="329184"/>
          </a:xfrm>
          <a:prstGeom prst="rect">
            <a:avLst/>
          </a:prstGeom>
          <a:noFill/>
          <a:ln/>
        </p:spPr>
        <p:txBody>
          <a:bodyPr wrap="square" lIns="0" tIns="0" rIns="0" bIns="0" rtlCol="0" anchor="ctr"/>
          <a:lstStyle/>
          <a:p>
            <a:pPr indent="0" marL="0">
              <a:buNone/>
            </a:pPr>
            <a:r>
              <a:rPr lang="en-US" sz="1100" dirty="0">
                <a:solidFill>
                  <a:srgbClr val="55516E"/>
                </a:solidFill>
                <a:latin typeface="Calibri" pitchFamily="34" charset="0"/>
                <a:ea typeface="Calibri" pitchFamily="34" charset="-122"/>
                <a:cs typeface="Calibri" pitchFamily="34" charset="-120"/>
              </a:rPr>
              <a:t>Maire</a:t>
            </a:r>
            <a:endParaRPr lang="en-US" sz="1100" dirty="0"/>
          </a:p>
        </p:txBody>
      </p:sp>
      <p:sp>
        <p:nvSpPr>
          <p:cNvPr id="30" name="Shape 22"/>
          <p:cNvSpPr/>
          <p:nvPr/>
        </p:nvSpPr>
        <p:spPr>
          <a:xfrm>
            <a:off x="9144000" y="5769864"/>
            <a:ext cx="219456" cy="219456"/>
          </a:xfrm>
          <a:prstGeom prst="ellipse">
            <a:avLst/>
          </a:prstGeom>
          <a:solidFill>
            <a:srgbClr val="0B032B"/>
          </a:solidFill>
          <a:ln/>
        </p:spPr>
      </p:sp>
      <p:sp>
        <p:nvSpPr>
          <p:cNvPr id="31" name="Shape 23"/>
          <p:cNvSpPr/>
          <p:nvPr/>
        </p:nvSpPr>
        <p:spPr>
          <a:xfrm>
            <a:off x="9217152" y="5843016"/>
            <a:ext cx="73152" cy="73152"/>
          </a:xfrm>
          <a:prstGeom prst="ellipse">
            <a:avLst/>
          </a:prstGeom>
          <a:solidFill>
            <a:srgbClr val="FFF9C7"/>
          </a:solidFill>
          <a:ln/>
        </p:spPr>
      </p:sp>
      <p:sp>
        <p:nvSpPr>
          <p:cNvPr id="32" name="Text 24"/>
          <p:cNvSpPr txBox="1"/>
          <p:nvPr/>
        </p:nvSpPr>
        <p:spPr>
          <a:xfrm>
            <a:off x="9436608" y="5715000"/>
            <a:ext cx="1005840" cy="329184"/>
          </a:xfrm>
          <a:prstGeom prst="rect">
            <a:avLst/>
          </a:prstGeom>
          <a:noFill/>
          <a:ln/>
        </p:spPr>
        <p:txBody>
          <a:bodyPr wrap="square" lIns="0" tIns="0" rIns="0" bIns="0" rtlCol="0" anchor="ctr"/>
          <a:lstStyle/>
          <a:p>
            <a:pPr indent="0" marL="0">
              <a:buNone/>
            </a:pPr>
            <a:r>
              <a:rPr lang="en-US" sz="1100" dirty="0">
                <a:solidFill>
                  <a:srgbClr val="55516E"/>
                </a:solidFill>
                <a:latin typeface="Calibri" pitchFamily="34" charset="0"/>
                <a:ea typeface="Calibri" pitchFamily="34" charset="-122"/>
                <a:cs typeface="Calibri" pitchFamily="34" charset="-120"/>
              </a:rPr>
              <a:t>Adjoints</a:t>
            </a:r>
            <a:endParaRPr lang="en-US" sz="1100" dirty="0"/>
          </a:p>
        </p:txBody>
      </p:sp>
      <p:sp>
        <p:nvSpPr>
          <p:cNvPr id="33" name="Shape 25"/>
          <p:cNvSpPr/>
          <p:nvPr/>
        </p:nvSpPr>
        <p:spPr>
          <a:xfrm>
            <a:off x="10469880" y="5769864"/>
            <a:ext cx="219456" cy="219456"/>
          </a:xfrm>
          <a:prstGeom prst="ellipse">
            <a:avLst/>
          </a:prstGeom>
          <a:solidFill>
            <a:srgbClr val="0B032B"/>
          </a:solidFill>
          <a:ln/>
        </p:spPr>
      </p:sp>
      <p:sp>
        <p:nvSpPr>
          <p:cNvPr id="34" name="Text 26"/>
          <p:cNvSpPr txBox="1"/>
          <p:nvPr/>
        </p:nvSpPr>
        <p:spPr>
          <a:xfrm>
            <a:off x="10762488" y="5715000"/>
            <a:ext cx="1005840" cy="329184"/>
          </a:xfrm>
          <a:prstGeom prst="rect">
            <a:avLst/>
          </a:prstGeom>
          <a:noFill/>
          <a:ln/>
        </p:spPr>
        <p:txBody>
          <a:bodyPr wrap="square" lIns="0" tIns="0" rIns="0" bIns="0" rtlCol="0" anchor="ctr"/>
          <a:lstStyle/>
          <a:p>
            <a:pPr indent="0" marL="0">
              <a:buNone/>
            </a:pPr>
            <a:r>
              <a:rPr lang="en-US" sz="1100" dirty="0">
                <a:solidFill>
                  <a:srgbClr val="55516E"/>
                </a:solidFill>
                <a:latin typeface="Calibri" pitchFamily="34" charset="0"/>
                <a:ea typeface="Calibri" pitchFamily="34" charset="-122"/>
                <a:cs typeface="Calibri" pitchFamily="34" charset="-120"/>
              </a:rPr>
              <a:t>Conseillers</a:t>
            </a:r>
            <a:endParaRPr lang="en-US" sz="1100" dirty="0"/>
          </a:p>
        </p:txBody>
      </p:sp>
      <p:sp>
        <p:nvSpPr>
          <p:cNvPr id="35" name="Text 27"/>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spc="100" kern="0" dirty="0">
                <a:solidFill>
                  <a:srgbClr val="8A8699"/>
                </a:solidFill>
                <a:latin typeface="Calibri" pitchFamily="34" charset="0"/>
                <a:ea typeface="Calibri" pitchFamily="34" charset="-122"/>
                <a:cs typeface="Calibri" pitchFamily="34" charset="-120"/>
              </a:rPr>
              <a:t>ENMA FORMATION  ·  Formation des élus municipaux 2026</a:t>
            </a:r>
            <a:endParaRPr lang="en-US" sz="900" dirty="0"/>
          </a:p>
        </p:txBody>
      </p:sp>
      <p:sp>
        <p:nvSpPr>
          <p:cNvPr id="36" name="Text 28"/>
          <p:cNvSpPr txBox="1"/>
          <p:nvPr/>
        </p:nvSpPr>
        <p:spPr>
          <a:xfrm>
            <a:off x="9692640" y="6400800"/>
            <a:ext cx="548640" cy="274320"/>
          </a:xfrm>
          <a:prstGeom prst="rect">
            <a:avLst/>
          </a:prstGeom>
          <a:noFill/>
          <a:ln/>
        </p:spPr>
        <p:txBody>
          <a:bodyPr wrap="square" lIns="0" tIns="0" rIns="0" bIns="0" rtlCol="0" anchor="ctr"/>
          <a:lstStyle/>
          <a:p>
            <a:pPr algn="r" indent="0" marL="0">
              <a:buNone/>
            </a:pPr>
            <a:r>
              <a:rPr lang="en-US" sz="900" dirty="0">
                <a:solidFill>
                  <a:srgbClr val="8A8699"/>
                </a:solidFill>
                <a:latin typeface="Calibri" pitchFamily="34" charset="0"/>
                <a:ea typeface="Calibri" pitchFamily="34" charset="-122"/>
                <a:cs typeface="Calibri" pitchFamily="34" charset="-120"/>
              </a:rPr>
              <a:t>13</a:t>
            </a:r>
            <a:endParaRPr lang="en-US" sz="900" dirty="0"/>
          </a:p>
        </p:txBody>
      </p:sp>
      <p:pic>
        <p:nvPicPr>
          <p:cNvPr id="37" name="Image 6" descr="preencoded.png">    </p:cNvPr>
          <p:cNvPicPr>
            <a:picLocks noChangeAspect="1"/>
          </p:cNvPicPr>
          <p:nvPr/>
        </p:nvPicPr>
        <p:blipFill>
          <a:blip r:embed="rId7"/>
          <a:stretch>
            <a:fillRect/>
          </a:stretch>
        </p:blipFill>
        <p:spPr>
          <a:xfrm>
            <a:off x="10469880" y="6309360"/>
            <a:ext cx="1170432" cy="48463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420624" cy="310896"/>
          </a:xfrm>
          <a:prstGeom prst="roundRect">
            <a:avLst>
              <a:gd name="adj" fmla="val 23529"/>
            </a:avLst>
          </a:prstGeom>
          <a:solidFill>
            <a:srgbClr val="0B032B"/>
          </a:solidFill>
          <a:ln/>
        </p:spPr>
      </p:sp>
      <p:sp>
        <p:nvSpPr>
          <p:cNvPr id="3" name="Text 1"/>
          <p:cNvSpPr txBox="1"/>
          <p:nvPr/>
        </p:nvSpPr>
        <p:spPr>
          <a:xfrm>
            <a:off x="548640" y="438912"/>
            <a:ext cx="420624" cy="310896"/>
          </a:xfrm>
          <a:prstGeom prst="rect">
            <a:avLst/>
          </a:prstGeom>
          <a:noFill/>
          <a:ln/>
        </p:spPr>
        <p:txBody>
          <a:bodyPr wrap="square" lIns="0" tIns="0" rIns="0" bIns="0" rtlCol="0" anchor="ctr"/>
          <a:lstStyle/>
          <a:p>
            <a:pPr algn="ctr" indent="0" marL="0">
              <a:buNone/>
            </a:pPr>
            <a:r>
              <a:rPr lang="en-US" sz="1100" b="1" dirty="0">
                <a:solidFill>
                  <a:srgbClr val="FFF9C7"/>
                </a:solidFill>
                <a:latin typeface="Calibri" pitchFamily="34" charset="0"/>
                <a:ea typeface="Calibri" pitchFamily="34" charset="-122"/>
                <a:cs typeface="Calibri" pitchFamily="34" charset="-120"/>
              </a:rPr>
              <a:t>02</a:t>
            </a:r>
            <a:endParaRPr lang="en-US" sz="1100" dirty="0"/>
          </a:p>
        </p:txBody>
      </p:sp>
      <p:sp>
        <p:nvSpPr>
          <p:cNvPr id="4" name="Text 2"/>
          <p:cNvSpPr txBox="1"/>
          <p:nvPr/>
        </p:nvSpPr>
        <p:spPr>
          <a:xfrm>
            <a:off x="1115568" y="438912"/>
            <a:ext cx="8229600" cy="310896"/>
          </a:xfrm>
          <a:prstGeom prst="rect">
            <a:avLst/>
          </a:prstGeom>
          <a:noFill/>
          <a:ln/>
        </p:spPr>
        <p:txBody>
          <a:bodyPr wrap="square" lIns="0" tIns="0" rIns="0" bIns="0" rtlCol="0" anchor="ctr"/>
          <a:lstStyle/>
          <a:p>
            <a:pPr indent="0" marL="0">
              <a:buNone/>
            </a:pPr>
            <a:r>
              <a:rPr lang="en-US" sz="1100" b="1" spc="200" kern="0" dirty="0">
                <a:solidFill>
                  <a:srgbClr val="55516E"/>
                </a:solidFill>
                <a:latin typeface="Calibri" pitchFamily="34" charset="0"/>
                <a:ea typeface="Calibri" pitchFamily="34" charset="-122"/>
                <a:cs typeface="Calibri" pitchFamily="34" charset="-120"/>
              </a:rPr>
              <a:t>L’ÉQUIPE MUNICIPALE</a:t>
            </a:r>
            <a:endParaRPr lang="en-US" sz="1100" dirty="0"/>
          </a:p>
        </p:txBody>
      </p:sp>
      <p:sp>
        <p:nvSpPr>
          <p:cNvPr id="5" name="Text 3"/>
          <p:cNvSpPr txBox="1"/>
          <p:nvPr/>
        </p:nvSpPr>
        <p:spPr>
          <a:xfrm>
            <a:off x="548640" y="841248"/>
            <a:ext cx="11064240" cy="685800"/>
          </a:xfrm>
          <a:prstGeom prst="rect">
            <a:avLst/>
          </a:prstGeom>
          <a:noFill/>
          <a:ln/>
        </p:spPr>
        <p:txBody>
          <a:bodyPr wrap="square" lIns="0" tIns="0" rIns="0" bIns="0" rtlCol="0" anchor="ctr">
            <a:normAutofit/>
          </a:bodyPr>
          <a:lstStyle/>
          <a:p>
            <a:pPr indent="0" marL="0">
              <a:buNone/>
            </a:pPr>
            <a:r>
              <a:rPr lang="en-US" sz="2800" b="1" dirty="0">
                <a:solidFill>
                  <a:srgbClr val="0B032B"/>
                </a:solidFill>
                <a:latin typeface="Calibri" pitchFamily="34" charset="0"/>
                <a:ea typeface="Calibri" pitchFamily="34" charset="-122"/>
                <a:cs typeface="Calibri" pitchFamily="34" charset="-120"/>
              </a:rPr>
              <a:t>Une équipe efficace repose sur la complémentarité des rôles</a:t>
            </a:r>
            <a:endParaRPr lang="en-US" sz="2800" dirty="0"/>
          </a:p>
        </p:txBody>
      </p:sp>
      <p:sp>
        <p:nvSpPr>
          <p:cNvPr id="6" name="Shape 4"/>
          <p:cNvSpPr/>
          <p:nvPr/>
        </p:nvSpPr>
        <p:spPr>
          <a:xfrm>
            <a:off x="548640" y="1874520"/>
            <a:ext cx="2606040" cy="2331720"/>
          </a:xfrm>
          <a:prstGeom prst="roundRect">
            <a:avLst>
              <a:gd name="adj" fmla="val 4706"/>
            </a:avLst>
          </a:prstGeom>
          <a:solidFill>
            <a:srgbClr val="0B032B"/>
          </a:solidFill>
          <a:ln/>
        </p:spPr>
      </p:sp>
      <p:sp>
        <p:nvSpPr>
          <p:cNvPr id="7" name="Shape 5"/>
          <p:cNvSpPr/>
          <p:nvPr/>
        </p:nvSpPr>
        <p:spPr>
          <a:xfrm>
            <a:off x="822960" y="2148840"/>
            <a:ext cx="731520" cy="731520"/>
          </a:xfrm>
          <a:prstGeom prst="ellipse">
            <a:avLst/>
          </a:prstGeom>
          <a:solidFill>
            <a:srgbClr val="FFF9C7"/>
          </a:solidFill>
          <a:ln/>
        </p:spPr>
      </p:sp>
      <p:pic>
        <p:nvPicPr>
          <p:cNvPr id="8" name="Image 0" descr="preencoded.png">    </p:cNvPr>
          <p:cNvPicPr>
            <a:picLocks noChangeAspect="1"/>
          </p:cNvPicPr>
          <p:nvPr/>
        </p:nvPicPr>
        <p:blipFill>
          <a:blip r:embed="rId1"/>
          <a:stretch>
            <a:fillRect/>
          </a:stretch>
        </p:blipFill>
        <p:spPr>
          <a:xfrm>
            <a:off x="983894" y="2309774"/>
            <a:ext cx="409651" cy="409651"/>
          </a:xfrm>
          <a:prstGeom prst="rect">
            <a:avLst/>
          </a:prstGeom>
        </p:spPr>
      </p:pic>
      <p:sp>
        <p:nvSpPr>
          <p:cNvPr id="9" name="Text 6"/>
          <p:cNvSpPr txBox="1"/>
          <p:nvPr/>
        </p:nvSpPr>
        <p:spPr>
          <a:xfrm>
            <a:off x="822960" y="2971800"/>
            <a:ext cx="2148840" cy="566928"/>
          </a:xfrm>
          <a:prstGeom prst="rect">
            <a:avLst/>
          </a:prstGeom>
          <a:noFill/>
          <a:ln/>
        </p:spPr>
        <p:txBody>
          <a:bodyPr wrap="square" lIns="0" tIns="0" rIns="0" bIns="0" rtlCol="0" anchor="b"/>
          <a:lstStyle/>
          <a:p>
            <a:pPr indent="0" marL="0">
              <a:buNone/>
            </a:pPr>
            <a:r>
              <a:rPr lang="en-US" sz="1550" b="1" dirty="0">
                <a:solidFill>
                  <a:srgbClr val="FFF9C7"/>
                </a:solidFill>
                <a:latin typeface="Calibri" pitchFamily="34" charset="0"/>
                <a:ea typeface="Calibri" pitchFamily="34" charset="-122"/>
                <a:cs typeface="Calibri" pitchFamily="34" charset="-120"/>
              </a:rPr>
              <a:t>Le maire</a:t>
            </a:r>
            <a:endParaRPr lang="en-US" sz="1550" dirty="0"/>
          </a:p>
        </p:txBody>
      </p:sp>
      <p:sp>
        <p:nvSpPr>
          <p:cNvPr id="10" name="Text 7"/>
          <p:cNvSpPr txBox="1"/>
          <p:nvPr/>
        </p:nvSpPr>
        <p:spPr>
          <a:xfrm>
            <a:off x="822960" y="3593592"/>
            <a:ext cx="2148840" cy="566928"/>
          </a:xfrm>
          <a:prstGeom prst="rect">
            <a:avLst/>
          </a:prstGeom>
          <a:noFill/>
          <a:ln/>
        </p:spPr>
        <p:txBody>
          <a:bodyPr wrap="square" lIns="0" tIns="0" rIns="0" bIns="0" rtlCol="0" anchor="t">
            <a:normAutofit/>
          </a:bodyPr>
          <a:lstStyle/>
          <a:p>
            <a:pPr indent="0" marL="0">
              <a:buNone/>
            </a:pPr>
            <a:r>
              <a:rPr lang="en-US" sz="1350" dirty="0">
                <a:solidFill>
                  <a:srgbClr val="FFFFFF"/>
                </a:solidFill>
                <a:latin typeface="Calibri" pitchFamily="34" charset="0"/>
                <a:ea typeface="Calibri" pitchFamily="34" charset="-122"/>
                <a:cs typeface="Calibri" pitchFamily="34" charset="-120"/>
              </a:rPr>
              <a:t>fixe le cap</a:t>
            </a:r>
            <a:endParaRPr lang="en-US" sz="1350" dirty="0"/>
          </a:p>
        </p:txBody>
      </p:sp>
      <p:sp>
        <p:nvSpPr>
          <p:cNvPr id="11" name="Shape 8"/>
          <p:cNvSpPr/>
          <p:nvPr/>
        </p:nvSpPr>
        <p:spPr>
          <a:xfrm>
            <a:off x="3191256" y="2880360"/>
            <a:ext cx="128016" cy="274320"/>
          </a:xfrm>
          <a:prstGeom prst="chevron">
            <a:avLst/>
          </a:prstGeom>
          <a:solidFill>
            <a:srgbClr val="0B032B"/>
          </a:solidFill>
          <a:ln/>
        </p:spPr>
      </p:sp>
      <p:sp>
        <p:nvSpPr>
          <p:cNvPr id="12" name="Shape 9"/>
          <p:cNvSpPr/>
          <p:nvPr/>
        </p:nvSpPr>
        <p:spPr>
          <a:xfrm>
            <a:off x="3355848" y="1874520"/>
            <a:ext cx="2606040" cy="2331720"/>
          </a:xfrm>
          <a:prstGeom prst="roundRect">
            <a:avLst>
              <a:gd name="adj" fmla="val 4706"/>
            </a:avLst>
          </a:prstGeom>
          <a:solidFill>
            <a:srgbClr val="F3F2F8"/>
          </a:solidFill>
          <a:ln/>
        </p:spPr>
      </p:sp>
      <p:sp>
        <p:nvSpPr>
          <p:cNvPr id="13" name="Shape 10"/>
          <p:cNvSpPr/>
          <p:nvPr/>
        </p:nvSpPr>
        <p:spPr>
          <a:xfrm>
            <a:off x="3630168" y="2148840"/>
            <a:ext cx="731520" cy="731520"/>
          </a:xfrm>
          <a:prstGeom prst="ellipse">
            <a:avLst/>
          </a:prstGeom>
          <a:solidFill>
            <a:srgbClr val="0B032B"/>
          </a:solidFill>
          <a:ln/>
        </p:spPr>
      </p:sp>
      <p:pic>
        <p:nvPicPr>
          <p:cNvPr id="14" name="Image 1" descr="preencoded.png">    </p:cNvPr>
          <p:cNvPicPr>
            <a:picLocks noChangeAspect="1"/>
          </p:cNvPicPr>
          <p:nvPr/>
        </p:nvPicPr>
        <p:blipFill>
          <a:blip r:embed="rId2"/>
          <a:stretch>
            <a:fillRect/>
          </a:stretch>
        </p:blipFill>
        <p:spPr>
          <a:xfrm>
            <a:off x="3791102" y="2309774"/>
            <a:ext cx="409651" cy="409651"/>
          </a:xfrm>
          <a:prstGeom prst="rect">
            <a:avLst/>
          </a:prstGeom>
        </p:spPr>
      </p:pic>
      <p:sp>
        <p:nvSpPr>
          <p:cNvPr id="15" name="Text 11"/>
          <p:cNvSpPr txBox="1"/>
          <p:nvPr/>
        </p:nvSpPr>
        <p:spPr>
          <a:xfrm>
            <a:off x="3630168" y="2971800"/>
            <a:ext cx="2148840" cy="566928"/>
          </a:xfrm>
          <a:prstGeom prst="rect">
            <a:avLst/>
          </a:prstGeom>
          <a:noFill/>
          <a:ln/>
        </p:spPr>
        <p:txBody>
          <a:bodyPr wrap="square" lIns="0" tIns="0" rIns="0" bIns="0" rtlCol="0" anchor="b"/>
          <a:lstStyle/>
          <a:p>
            <a:pPr indent="0" marL="0">
              <a:buNone/>
            </a:pPr>
            <a:r>
              <a:rPr lang="en-US" sz="1550" b="1" dirty="0">
                <a:solidFill>
                  <a:srgbClr val="0B032B"/>
                </a:solidFill>
                <a:latin typeface="Calibri" pitchFamily="34" charset="0"/>
                <a:ea typeface="Calibri" pitchFamily="34" charset="-122"/>
                <a:cs typeface="Calibri" pitchFamily="34" charset="-120"/>
              </a:rPr>
              <a:t>Les adjoints</a:t>
            </a:r>
            <a:endParaRPr lang="en-US" sz="1550" dirty="0"/>
          </a:p>
        </p:txBody>
      </p:sp>
      <p:sp>
        <p:nvSpPr>
          <p:cNvPr id="16" name="Text 12"/>
          <p:cNvSpPr txBox="1"/>
          <p:nvPr/>
        </p:nvSpPr>
        <p:spPr>
          <a:xfrm>
            <a:off x="3630168" y="3593592"/>
            <a:ext cx="2148840" cy="566928"/>
          </a:xfrm>
          <a:prstGeom prst="rect">
            <a:avLst/>
          </a:prstGeom>
          <a:noFill/>
          <a:ln/>
        </p:spPr>
        <p:txBody>
          <a:bodyPr wrap="square" lIns="0" tIns="0" rIns="0" bIns="0" rtlCol="0" anchor="t">
            <a:normAutofit/>
          </a:bodyPr>
          <a:lstStyle/>
          <a:p>
            <a:pPr indent="0" marL="0">
              <a:buNone/>
            </a:pPr>
            <a:r>
              <a:rPr lang="en-US" sz="1350" dirty="0">
                <a:solidFill>
                  <a:srgbClr val="55516E"/>
                </a:solidFill>
                <a:latin typeface="Calibri" pitchFamily="34" charset="0"/>
                <a:ea typeface="Calibri" pitchFamily="34" charset="-122"/>
                <a:cs typeface="Calibri" pitchFamily="34" charset="-120"/>
              </a:rPr>
              <a:t>pilotent les grandes politiques publiques</a:t>
            </a:r>
            <a:endParaRPr lang="en-US" sz="1350" dirty="0"/>
          </a:p>
        </p:txBody>
      </p:sp>
      <p:sp>
        <p:nvSpPr>
          <p:cNvPr id="17" name="Shape 13"/>
          <p:cNvSpPr/>
          <p:nvPr/>
        </p:nvSpPr>
        <p:spPr>
          <a:xfrm>
            <a:off x="5998464" y="2880360"/>
            <a:ext cx="128016" cy="274320"/>
          </a:xfrm>
          <a:prstGeom prst="chevron">
            <a:avLst/>
          </a:prstGeom>
          <a:solidFill>
            <a:srgbClr val="0B032B"/>
          </a:solidFill>
          <a:ln/>
        </p:spPr>
      </p:sp>
      <p:sp>
        <p:nvSpPr>
          <p:cNvPr id="18" name="Shape 14"/>
          <p:cNvSpPr/>
          <p:nvPr/>
        </p:nvSpPr>
        <p:spPr>
          <a:xfrm>
            <a:off x="6163056" y="1874520"/>
            <a:ext cx="2606040" cy="2331720"/>
          </a:xfrm>
          <a:prstGeom prst="roundRect">
            <a:avLst>
              <a:gd name="adj" fmla="val 4706"/>
            </a:avLst>
          </a:prstGeom>
          <a:solidFill>
            <a:srgbClr val="F3F2F8"/>
          </a:solidFill>
          <a:ln/>
        </p:spPr>
      </p:sp>
      <p:sp>
        <p:nvSpPr>
          <p:cNvPr id="19" name="Shape 15"/>
          <p:cNvSpPr/>
          <p:nvPr/>
        </p:nvSpPr>
        <p:spPr>
          <a:xfrm>
            <a:off x="6437376" y="2148840"/>
            <a:ext cx="731520" cy="731520"/>
          </a:xfrm>
          <a:prstGeom prst="ellipse">
            <a:avLst/>
          </a:prstGeom>
          <a:solidFill>
            <a:srgbClr val="0B032B"/>
          </a:solidFill>
          <a:ln/>
        </p:spPr>
      </p:sp>
      <p:pic>
        <p:nvPicPr>
          <p:cNvPr id="20" name="Image 2" descr="preencoded.png">    </p:cNvPr>
          <p:cNvPicPr>
            <a:picLocks noChangeAspect="1"/>
          </p:cNvPicPr>
          <p:nvPr/>
        </p:nvPicPr>
        <p:blipFill>
          <a:blip r:embed="rId3"/>
          <a:stretch>
            <a:fillRect/>
          </a:stretch>
        </p:blipFill>
        <p:spPr>
          <a:xfrm>
            <a:off x="6598310" y="2309774"/>
            <a:ext cx="409651" cy="409651"/>
          </a:xfrm>
          <a:prstGeom prst="rect">
            <a:avLst/>
          </a:prstGeom>
        </p:spPr>
      </p:pic>
      <p:sp>
        <p:nvSpPr>
          <p:cNvPr id="21" name="Text 16"/>
          <p:cNvSpPr txBox="1"/>
          <p:nvPr/>
        </p:nvSpPr>
        <p:spPr>
          <a:xfrm>
            <a:off x="6437376" y="2971800"/>
            <a:ext cx="2148840" cy="566928"/>
          </a:xfrm>
          <a:prstGeom prst="rect">
            <a:avLst/>
          </a:prstGeom>
          <a:noFill/>
          <a:ln/>
        </p:spPr>
        <p:txBody>
          <a:bodyPr wrap="square" lIns="0" tIns="0" rIns="0" bIns="0" rtlCol="0" anchor="b"/>
          <a:lstStyle/>
          <a:p>
            <a:pPr indent="0" marL="0">
              <a:buNone/>
            </a:pPr>
            <a:r>
              <a:rPr lang="en-US" sz="1550" b="1" dirty="0">
                <a:solidFill>
                  <a:srgbClr val="0B032B"/>
                </a:solidFill>
                <a:latin typeface="Calibri" pitchFamily="34" charset="0"/>
                <a:ea typeface="Calibri" pitchFamily="34" charset="-122"/>
                <a:cs typeface="Calibri" pitchFamily="34" charset="-120"/>
              </a:rPr>
              <a:t>Les conseillers délégués</a:t>
            </a:r>
            <a:endParaRPr lang="en-US" sz="1550" dirty="0"/>
          </a:p>
        </p:txBody>
      </p:sp>
      <p:sp>
        <p:nvSpPr>
          <p:cNvPr id="22" name="Text 17"/>
          <p:cNvSpPr txBox="1"/>
          <p:nvPr/>
        </p:nvSpPr>
        <p:spPr>
          <a:xfrm>
            <a:off x="6437376" y="3593592"/>
            <a:ext cx="2148840" cy="566928"/>
          </a:xfrm>
          <a:prstGeom prst="rect">
            <a:avLst/>
          </a:prstGeom>
          <a:noFill/>
          <a:ln/>
        </p:spPr>
        <p:txBody>
          <a:bodyPr wrap="square" lIns="0" tIns="0" rIns="0" bIns="0" rtlCol="0" anchor="t">
            <a:normAutofit/>
          </a:bodyPr>
          <a:lstStyle/>
          <a:p>
            <a:pPr indent="0" marL="0">
              <a:buNone/>
            </a:pPr>
            <a:r>
              <a:rPr lang="en-US" sz="1350" dirty="0">
                <a:solidFill>
                  <a:srgbClr val="55516E"/>
                </a:solidFill>
                <a:latin typeface="Calibri" pitchFamily="34" charset="0"/>
                <a:ea typeface="Calibri" pitchFamily="34" charset="-122"/>
                <a:cs typeface="Calibri" pitchFamily="34" charset="-120"/>
              </a:rPr>
              <a:t>suivent des projets spécifiques</a:t>
            </a:r>
            <a:endParaRPr lang="en-US" sz="1350" dirty="0"/>
          </a:p>
        </p:txBody>
      </p:sp>
      <p:sp>
        <p:nvSpPr>
          <p:cNvPr id="23" name="Shape 18"/>
          <p:cNvSpPr/>
          <p:nvPr/>
        </p:nvSpPr>
        <p:spPr>
          <a:xfrm>
            <a:off x="8805672" y="2880360"/>
            <a:ext cx="128016" cy="274320"/>
          </a:xfrm>
          <a:prstGeom prst="chevron">
            <a:avLst/>
          </a:prstGeom>
          <a:solidFill>
            <a:srgbClr val="0B032B"/>
          </a:solidFill>
          <a:ln/>
        </p:spPr>
      </p:sp>
      <p:sp>
        <p:nvSpPr>
          <p:cNvPr id="24" name="Shape 19"/>
          <p:cNvSpPr/>
          <p:nvPr/>
        </p:nvSpPr>
        <p:spPr>
          <a:xfrm>
            <a:off x="8970264" y="1874520"/>
            <a:ext cx="2606040" cy="2331720"/>
          </a:xfrm>
          <a:prstGeom prst="roundRect">
            <a:avLst>
              <a:gd name="adj" fmla="val 4706"/>
            </a:avLst>
          </a:prstGeom>
          <a:solidFill>
            <a:srgbClr val="F3F2F8"/>
          </a:solidFill>
          <a:ln/>
        </p:spPr>
      </p:sp>
      <p:sp>
        <p:nvSpPr>
          <p:cNvPr id="25" name="Shape 20"/>
          <p:cNvSpPr/>
          <p:nvPr/>
        </p:nvSpPr>
        <p:spPr>
          <a:xfrm>
            <a:off x="9244584" y="2148840"/>
            <a:ext cx="731520" cy="731520"/>
          </a:xfrm>
          <a:prstGeom prst="ellipse">
            <a:avLst/>
          </a:prstGeom>
          <a:solidFill>
            <a:srgbClr val="0B032B"/>
          </a:solidFill>
          <a:ln/>
        </p:spPr>
      </p:sp>
      <p:pic>
        <p:nvPicPr>
          <p:cNvPr id="26" name="Image 3" descr="preencoded.png">    </p:cNvPr>
          <p:cNvPicPr>
            <a:picLocks noChangeAspect="1"/>
          </p:cNvPicPr>
          <p:nvPr/>
        </p:nvPicPr>
        <p:blipFill>
          <a:blip r:embed="rId4"/>
          <a:stretch>
            <a:fillRect/>
          </a:stretch>
        </p:blipFill>
        <p:spPr>
          <a:xfrm>
            <a:off x="9405518" y="2309774"/>
            <a:ext cx="409651" cy="409651"/>
          </a:xfrm>
          <a:prstGeom prst="rect">
            <a:avLst/>
          </a:prstGeom>
        </p:spPr>
      </p:pic>
      <p:sp>
        <p:nvSpPr>
          <p:cNvPr id="27" name="Text 21"/>
          <p:cNvSpPr txBox="1"/>
          <p:nvPr/>
        </p:nvSpPr>
        <p:spPr>
          <a:xfrm>
            <a:off x="9244584" y="2971800"/>
            <a:ext cx="2148840" cy="566928"/>
          </a:xfrm>
          <a:prstGeom prst="rect">
            <a:avLst/>
          </a:prstGeom>
          <a:noFill/>
          <a:ln/>
        </p:spPr>
        <p:txBody>
          <a:bodyPr wrap="square" lIns="0" tIns="0" rIns="0" bIns="0" rtlCol="0" anchor="b"/>
          <a:lstStyle/>
          <a:p>
            <a:pPr indent="0" marL="0">
              <a:buNone/>
            </a:pPr>
            <a:r>
              <a:rPr lang="en-US" sz="1550" b="1" dirty="0">
                <a:solidFill>
                  <a:srgbClr val="0B032B"/>
                </a:solidFill>
                <a:latin typeface="Calibri" pitchFamily="34" charset="0"/>
                <a:ea typeface="Calibri" pitchFamily="34" charset="-122"/>
                <a:cs typeface="Calibri" pitchFamily="34" charset="-120"/>
              </a:rPr>
              <a:t>Les conseillers municipaux</a:t>
            </a:r>
            <a:endParaRPr lang="en-US" sz="1550" dirty="0"/>
          </a:p>
        </p:txBody>
      </p:sp>
      <p:sp>
        <p:nvSpPr>
          <p:cNvPr id="28" name="Text 22"/>
          <p:cNvSpPr txBox="1"/>
          <p:nvPr/>
        </p:nvSpPr>
        <p:spPr>
          <a:xfrm>
            <a:off x="9244584" y="3593592"/>
            <a:ext cx="2148840" cy="566928"/>
          </a:xfrm>
          <a:prstGeom prst="rect">
            <a:avLst/>
          </a:prstGeom>
          <a:noFill/>
          <a:ln/>
        </p:spPr>
        <p:txBody>
          <a:bodyPr wrap="square" lIns="0" tIns="0" rIns="0" bIns="0" rtlCol="0" anchor="t">
            <a:normAutofit/>
          </a:bodyPr>
          <a:lstStyle/>
          <a:p>
            <a:pPr indent="0" marL="0">
              <a:buNone/>
            </a:pPr>
            <a:r>
              <a:rPr lang="en-US" sz="1350" dirty="0">
                <a:solidFill>
                  <a:srgbClr val="55516E"/>
                </a:solidFill>
                <a:latin typeface="Calibri" pitchFamily="34" charset="0"/>
                <a:ea typeface="Calibri" pitchFamily="34" charset="-122"/>
                <a:cs typeface="Calibri" pitchFamily="34" charset="-120"/>
              </a:rPr>
              <a:t>participent pleinement aux décisions et au contrôle de l’action municipale</a:t>
            </a:r>
            <a:endParaRPr lang="en-US" sz="1350" dirty="0"/>
          </a:p>
        </p:txBody>
      </p:sp>
      <p:sp>
        <p:nvSpPr>
          <p:cNvPr id="29" name="Shape 23"/>
          <p:cNvSpPr/>
          <p:nvPr/>
        </p:nvSpPr>
        <p:spPr>
          <a:xfrm>
            <a:off x="548640" y="4480560"/>
            <a:ext cx="11064240" cy="1600200"/>
          </a:xfrm>
          <a:prstGeom prst="roundRect">
            <a:avLst>
              <a:gd name="adj" fmla="val 8000"/>
            </a:avLst>
          </a:prstGeom>
          <a:solidFill>
            <a:srgbClr val="0B032B"/>
          </a:solidFill>
          <a:ln/>
        </p:spPr>
      </p:sp>
      <p:sp>
        <p:nvSpPr>
          <p:cNvPr id="30" name="Shape 24"/>
          <p:cNvSpPr/>
          <p:nvPr/>
        </p:nvSpPr>
        <p:spPr>
          <a:xfrm>
            <a:off x="804672" y="4736592"/>
            <a:ext cx="566928" cy="566928"/>
          </a:xfrm>
          <a:prstGeom prst="ellipse">
            <a:avLst/>
          </a:prstGeom>
          <a:solidFill>
            <a:srgbClr val="FFF9C7"/>
          </a:solidFill>
          <a:ln/>
        </p:spPr>
      </p:sp>
      <p:pic>
        <p:nvPicPr>
          <p:cNvPr id="31" name="Image 4" descr="preencoded.png">    </p:cNvPr>
          <p:cNvPicPr>
            <a:picLocks noChangeAspect="1"/>
          </p:cNvPicPr>
          <p:nvPr/>
        </p:nvPicPr>
        <p:blipFill>
          <a:blip r:embed="rId5"/>
          <a:stretch>
            <a:fillRect/>
          </a:stretch>
        </p:blipFill>
        <p:spPr>
          <a:xfrm>
            <a:off x="929396" y="4861316"/>
            <a:ext cx="317480" cy="317480"/>
          </a:xfrm>
          <a:prstGeom prst="rect">
            <a:avLst/>
          </a:prstGeom>
        </p:spPr>
      </p:pic>
      <p:sp>
        <p:nvSpPr>
          <p:cNvPr id="32" name="Text 25"/>
          <p:cNvSpPr txBox="1"/>
          <p:nvPr/>
        </p:nvSpPr>
        <p:spPr>
          <a:xfrm>
            <a:off x="1554480" y="4754880"/>
            <a:ext cx="9784080" cy="274320"/>
          </a:xfrm>
          <a:prstGeom prst="rect">
            <a:avLst/>
          </a:prstGeom>
          <a:noFill/>
          <a:ln/>
        </p:spPr>
        <p:txBody>
          <a:bodyPr wrap="square" lIns="0" tIns="0" rIns="0" bIns="0" rtlCol="0" anchor="t"/>
          <a:lstStyle/>
          <a:p>
            <a:pPr indent="0" marL="0">
              <a:buNone/>
            </a:pPr>
            <a:r>
              <a:rPr lang="en-US" sz="1100" b="1" spc="300" kern="0" dirty="0">
                <a:solidFill>
                  <a:srgbClr val="FFF9C7"/>
                </a:solidFill>
                <a:latin typeface="Calibri" pitchFamily="34" charset="0"/>
                <a:ea typeface="Calibri" pitchFamily="34" charset="-122"/>
                <a:cs typeface="Calibri" pitchFamily="34" charset="-120"/>
              </a:rPr>
              <a:t>À RETENIR</a:t>
            </a:r>
            <a:endParaRPr lang="en-US" sz="1100" dirty="0"/>
          </a:p>
        </p:txBody>
      </p:sp>
      <p:sp>
        <p:nvSpPr>
          <p:cNvPr id="33" name="Text 26"/>
          <p:cNvSpPr txBox="1"/>
          <p:nvPr/>
        </p:nvSpPr>
        <p:spPr>
          <a:xfrm>
            <a:off x="1554480" y="5065776"/>
            <a:ext cx="9784080" cy="813816"/>
          </a:xfrm>
          <a:prstGeom prst="rect">
            <a:avLst/>
          </a:prstGeom>
          <a:noFill/>
          <a:ln/>
        </p:spPr>
        <p:txBody>
          <a:bodyPr wrap="square" lIns="0" tIns="0" rIns="0" bIns="0" rtlCol="0" anchor="t">
            <a:normAutofit/>
          </a:bodyPr>
          <a:lstStyle/>
          <a:p>
            <a:pPr indent="0" marL="0">
              <a:lnSpc>
                <a:spcPct val="105000"/>
              </a:lnSpc>
              <a:buNone/>
            </a:pPr>
            <a:r>
              <a:rPr lang="en-US" sz="1450" dirty="0">
                <a:solidFill>
                  <a:srgbClr val="FFFFFF"/>
                </a:solidFill>
                <a:latin typeface="Calibri" pitchFamily="34" charset="0"/>
                <a:ea typeface="Calibri" pitchFamily="34" charset="-122"/>
                <a:cs typeface="Calibri" pitchFamily="34" charset="-120"/>
              </a:rPr>
              <a:t>Une équipe municipale efficace repose sur la complémentarité des rôles : le maire fixe le cap, les adjoints pilotent les grandes politiques publiques, les conseillers délégués suivent des projets spécifiques et les conseillers municipaux participent pleinement aux décisions et au contrôle de l’action municipale.</a:t>
            </a:r>
            <a:endParaRPr lang="en-US" sz="1450" dirty="0"/>
          </a:p>
        </p:txBody>
      </p:sp>
      <p:sp>
        <p:nvSpPr>
          <p:cNvPr id="34" name="Text 27"/>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spc="100" kern="0" dirty="0">
                <a:solidFill>
                  <a:srgbClr val="8A8699"/>
                </a:solidFill>
                <a:latin typeface="Calibri" pitchFamily="34" charset="0"/>
                <a:ea typeface="Calibri" pitchFamily="34" charset="-122"/>
                <a:cs typeface="Calibri" pitchFamily="34" charset="-120"/>
              </a:rPr>
              <a:t>ENMA FORMATION  ·  Formation des élus municipaux 2026</a:t>
            </a:r>
            <a:endParaRPr lang="en-US" sz="900" dirty="0"/>
          </a:p>
        </p:txBody>
      </p:sp>
      <p:sp>
        <p:nvSpPr>
          <p:cNvPr id="35" name="Text 28"/>
          <p:cNvSpPr txBox="1"/>
          <p:nvPr/>
        </p:nvSpPr>
        <p:spPr>
          <a:xfrm>
            <a:off x="9692640" y="6400800"/>
            <a:ext cx="548640" cy="274320"/>
          </a:xfrm>
          <a:prstGeom prst="rect">
            <a:avLst/>
          </a:prstGeom>
          <a:noFill/>
          <a:ln/>
        </p:spPr>
        <p:txBody>
          <a:bodyPr wrap="square" lIns="0" tIns="0" rIns="0" bIns="0" rtlCol="0" anchor="ctr"/>
          <a:lstStyle/>
          <a:p>
            <a:pPr algn="r" indent="0" marL="0">
              <a:buNone/>
            </a:pPr>
            <a:r>
              <a:rPr lang="en-US" sz="900" dirty="0">
                <a:solidFill>
                  <a:srgbClr val="8A8699"/>
                </a:solidFill>
                <a:latin typeface="Calibri" pitchFamily="34" charset="0"/>
                <a:ea typeface="Calibri" pitchFamily="34" charset="-122"/>
                <a:cs typeface="Calibri" pitchFamily="34" charset="-120"/>
              </a:rPr>
              <a:t>14</a:t>
            </a:r>
            <a:endParaRPr lang="en-US" sz="900" dirty="0"/>
          </a:p>
        </p:txBody>
      </p:sp>
      <p:pic>
        <p:nvPicPr>
          <p:cNvPr id="36" name="Image 5" descr="preencoded.png">    </p:cNvPr>
          <p:cNvPicPr>
            <a:picLocks noChangeAspect="1"/>
          </p:cNvPicPr>
          <p:nvPr/>
        </p:nvPicPr>
        <p:blipFill>
          <a:blip r:embed="rId6"/>
          <a:stretch>
            <a:fillRect/>
          </a:stretch>
        </p:blipFill>
        <p:spPr>
          <a:xfrm>
            <a:off x="10469880" y="6309360"/>
            <a:ext cx="1170432" cy="48463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420624" cy="310896"/>
          </a:xfrm>
          <a:prstGeom prst="roundRect">
            <a:avLst>
              <a:gd name="adj" fmla="val 23529"/>
            </a:avLst>
          </a:prstGeom>
          <a:solidFill>
            <a:srgbClr val="0B032B"/>
          </a:solidFill>
          <a:ln/>
        </p:spPr>
      </p:sp>
      <p:sp>
        <p:nvSpPr>
          <p:cNvPr id="3" name="Text 1"/>
          <p:cNvSpPr txBox="1"/>
          <p:nvPr/>
        </p:nvSpPr>
        <p:spPr>
          <a:xfrm>
            <a:off x="548640" y="438912"/>
            <a:ext cx="420624" cy="310896"/>
          </a:xfrm>
          <a:prstGeom prst="rect">
            <a:avLst/>
          </a:prstGeom>
          <a:noFill/>
          <a:ln/>
        </p:spPr>
        <p:txBody>
          <a:bodyPr wrap="square" lIns="0" tIns="0" rIns="0" bIns="0" rtlCol="0" anchor="ctr"/>
          <a:lstStyle/>
          <a:p>
            <a:pPr algn="ctr" indent="0" marL="0">
              <a:buNone/>
            </a:pPr>
            <a:r>
              <a:rPr lang="en-US" sz="1100" b="1" dirty="0">
                <a:solidFill>
                  <a:srgbClr val="FFF9C7"/>
                </a:solidFill>
                <a:latin typeface="Calibri" pitchFamily="34" charset="0"/>
                <a:ea typeface="Calibri" pitchFamily="34" charset="-122"/>
                <a:cs typeface="Calibri" pitchFamily="34" charset="-120"/>
              </a:rPr>
              <a:t>02</a:t>
            </a:r>
            <a:endParaRPr lang="en-US" sz="1100" dirty="0"/>
          </a:p>
        </p:txBody>
      </p:sp>
      <p:sp>
        <p:nvSpPr>
          <p:cNvPr id="4" name="Text 2"/>
          <p:cNvSpPr txBox="1"/>
          <p:nvPr/>
        </p:nvSpPr>
        <p:spPr>
          <a:xfrm>
            <a:off x="1115568" y="438912"/>
            <a:ext cx="8229600" cy="310896"/>
          </a:xfrm>
          <a:prstGeom prst="rect">
            <a:avLst/>
          </a:prstGeom>
          <a:noFill/>
          <a:ln/>
        </p:spPr>
        <p:txBody>
          <a:bodyPr wrap="square" lIns="0" tIns="0" rIns="0" bIns="0" rtlCol="0" anchor="ctr"/>
          <a:lstStyle/>
          <a:p>
            <a:pPr indent="0" marL="0">
              <a:buNone/>
            </a:pPr>
            <a:r>
              <a:rPr lang="en-US" sz="1100" b="1" spc="200" kern="0" dirty="0">
                <a:solidFill>
                  <a:srgbClr val="55516E"/>
                </a:solidFill>
                <a:latin typeface="Calibri" pitchFamily="34" charset="0"/>
                <a:ea typeface="Calibri" pitchFamily="34" charset="-122"/>
                <a:cs typeface="Calibri" pitchFamily="34" charset="-120"/>
              </a:rPr>
              <a:t>L’OPPOSITION</a:t>
            </a:r>
            <a:endParaRPr lang="en-US" sz="1100" dirty="0"/>
          </a:p>
        </p:txBody>
      </p:sp>
      <p:sp>
        <p:nvSpPr>
          <p:cNvPr id="5" name="Text 3"/>
          <p:cNvSpPr txBox="1"/>
          <p:nvPr/>
        </p:nvSpPr>
        <p:spPr>
          <a:xfrm>
            <a:off x="548640" y="841248"/>
            <a:ext cx="11064240" cy="685800"/>
          </a:xfrm>
          <a:prstGeom prst="rect">
            <a:avLst/>
          </a:prstGeom>
          <a:noFill/>
          <a:ln/>
        </p:spPr>
        <p:txBody>
          <a:bodyPr wrap="square" lIns="0" tIns="0" rIns="0" bIns="0" rtlCol="0" anchor="ctr">
            <a:normAutofit/>
          </a:bodyPr>
          <a:lstStyle/>
          <a:p>
            <a:pPr indent="0" marL="0">
              <a:buNone/>
            </a:pPr>
            <a:r>
              <a:rPr lang="en-US" sz="2600" b="1" dirty="0">
                <a:solidFill>
                  <a:srgbClr val="0B032B"/>
                </a:solidFill>
                <a:latin typeface="Calibri" pitchFamily="34" charset="0"/>
                <a:ea typeface="Calibri" pitchFamily="34" charset="-122"/>
                <a:cs typeface="Calibri" pitchFamily="34" charset="-120"/>
              </a:rPr>
              <a:t>Les conseillers municipaux d’opposition : des droits garantis, des devoirs à respecter</a:t>
            </a:r>
            <a:endParaRPr lang="en-US" sz="2600" dirty="0"/>
          </a:p>
        </p:txBody>
      </p:sp>
      <p:sp>
        <p:nvSpPr>
          <p:cNvPr id="6" name="Text 4"/>
          <p:cNvSpPr txBox="1"/>
          <p:nvPr/>
        </p:nvSpPr>
        <p:spPr>
          <a:xfrm>
            <a:off x="548640" y="1828800"/>
            <a:ext cx="6217920" cy="457200"/>
          </a:xfrm>
          <a:prstGeom prst="rect">
            <a:avLst/>
          </a:prstGeom>
          <a:noFill/>
          <a:ln/>
        </p:spPr>
        <p:txBody>
          <a:bodyPr wrap="square" lIns="0" tIns="0" rIns="0" bIns="0" rtlCol="0" anchor="t"/>
          <a:lstStyle/>
          <a:p>
            <a:pPr indent="0" marL="0">
              <a:buNone/>
            </a:pPr>
            <a:r>
              <a:rPr lang="en-US" sz="2200" b="1" dirty="0">
                <a:solidFill>
                  <a:srgbClr val="0B032B"/>
                </a:solidFill>
                <a:latin typeface="Calibri" pitchFamily="34" charset="0"/>
                <a:ea typeface="Calibri" pitchFamily="34" charset="-122"/>
                <a:cs typeface="Calibri" pitchFamily="34" charset="-120"/>
              </a:rPr>
              <a:t>Un rôle essentiel dans la démocratie locale</a:t>
            </a:r>
            <a:endParaRPr lang="en-US" sz="2200" dirty="0"/>
          </a:p>
        </p:txBody>
      </p:sp>
      <p:sp>
        <p:nvSpPr>
          <p:cNvPr id="7" name="Text 5"/>
          <p:cNvSpPr txBox="1"/>
          <p:nvPr/>
        </p:nvSpPr>
        <p:spPr>
          <a:xfrm>
            <a:off x="548640" y="2377440"/>
            <a:ext cx="6035040" cy="1371600"/>
          </a:xfrm>
          <a:prstGeom prst="rect">
            <a:avLst/>
          </a:prstGeom>
          <a:noFill/>
          <a:ln/>
        </p:spPr>
        <p:txBody>
          <a:bodyPr wrap="square" lIns="0" tIns="0" rIns="0" bIns="0" rtlCol="0" anchor="t"/>
          <a:lstStyle/>
          <a:p>
            <a:pPr indent="0" marL="0">
              <a:lnSpc>
                <a:spcPct val="110000"/>
              </a:lnSpc>
              <a:buNone/>
            </a:pPr>
            <a:r>
              <a:rPr lang="en-US" sz="1700" dirty="0">
                <a:solidFill>
                  <a:srgbClr val="55516E"/>
                </a:solidFill>
                <a:latin typeface="Calibri" pitchFamily="34" charset="0"/>
                <a:ea typeface="Calibri" pitchFamily="34" charset="-122"/>
                <a:cs typeface="Calibri" pitchFamily="34" charset="-120"/>
              </a:rPr>
              <a:t>Les conseillers municipaux d’opposition participent pleinement à la vie démocratique de la commune. Ils contribuent au débat, contrôlent l’action de la majorité et représentent une partie des électeurs.</a:t>
            </a:r>
            <a:endParaRPr lang="en-US" sz="1700" dirty="0"/>
          </a:p>
        </p:txBody>
      </p:sp>
      <p:sp>
        <p:nvSpPr>
          <p:cNvPr id="8" name="Shape 6"/>
          <p:cNvSpPr/>
          <p:nvPr/>
        </p:nvSpPr>
        <p:spPr>
          <a:xfrm>
            <a:off x="548640" y="3931920"/>
            <a:ext cx="502920" cy="502920"/>
          </a:xfrm>
          <a:prstGeom prst="ellipse">
            <a:avLst/>
          </a:prstGeom>
          <a:solidFill>
            <a:srgbClr val="FFF9C7"/>
          </a:solidFill>
          <a:ln/>
        </p:spPr>
      </p:sp>
      <p:pic>
        <p:nvPicPr>
          <p:cNvPr id="9" name="Image 0" descr="preencoded.png">    </p:cNvPr>
          <p:cNvPicPr>
            <a:picLocks noChangeAspect="1"/>
          </p:cNvPicPr>
          <p:nvPr/>
        </p:nvPicPr>
        <p:blipFill>
          <a:blip r:embed="rId1"/>
          <a:stretch>
            <a:fillRect/>
          </a:stretch>
        </p:blipFill>
        <p:spPr>
          <a:xfrm>
            <a:off x="659282" y="4042562"/>
            <a:ext cx="281635" cy="281635"/>
          </a:xfrm>
          <a:prstGeom prst="rect">
            <a:avLst/>
          </a:prstGeom>
        </p:spPr>
      </p:pic>
      <p:sp>
        <p:nvSpPr>
          <p:cNvPr id="10" name="Text 7"/>
          <p:cNvSpPr txBox="1"/>
          <p:nvPr/>
        </p:nvSpPr>
        <p:spPr>
          <a:xfrm>
            <a:off x="1234440" y="3931920"/>
            <a:ext cx="5029200" cy="502920"/>
          </a:xfrm>
          <a:prstGeom prst="rect">
            <a:avLst/>
          </a:prstGeom>
          <a:noFill/>
          <a:ln/>
        </p:spPr>
        <p:txBody>
          <a:bodyPr wrap="square" lIns="0" tIns="0" rIns="0" bIns="0" rtlCol="0" anchor="ctr"/>
          <a:lstStyle/>
          <a:p>
            <a:pPr indent="0" marL="0">
              <a:buNone/>
            </a:pPr>
            <a:r>
              <a:rPr lang="en-US" sz="1500" b="1" dirty="0">
                <a:solidFill>
                  <a:srgbClr val="0B032B"/>
                </a:solidFill>
                <a:latin typeface="Calibri" pitchFamily="34" charset="0"/>
                <a:ea typeface="Calibri" pitchFamily="34" charset="-122"/>
                <a:cs typeface="Calibri" pitchFamily="34" charset="-120"/>
              </a:rPr>
              <a:t>Contribuer au débat</a:t>
            </a:r>
            <a:endParaRPr lang="en-US" sz="1500" dirty="0"/>
          </a:p>
        </p:txBody>
      </p:sp>
      <p:sp>
        <p:nvSpPr>
          <p:cNvPr id="11" name="Shape 8"/>
          <p:cNvSpPr/>
          <p:nvPr/>
        </p:nvSpPr>
        <p:spPr>
          <a:xfrm>
            <a:off x="548640" y="4617720"/>
            <a:ext cx="502920" cy="502920"/>
          </a:xfrm>
          <a:prstGeom prst="ellipse">
            <a:avLst/>
          </a:prstGeom>
          <a:solidFill>
            <a:srgbClr val="FFF9C7"/>
          </a:solidFill>
          <a:ln/>
        </p:spPr>
      </p:sp>
      <p:pic>
        <p:nvPicPr>
          <p:cNvPr id="12" name="Image 1" descr="preencoded.png">    </p:cNvPr>
          <p:cNvPicPr>
            <a:picLocks noChangeAspect="1"/>
          </p:cNvPicPr>
          <p:nvPr/>
        </p:nvPicPr>
        <p:blipFill>
          <a:blip r:embed="rId2"/>
          <a:stretch>
            <a:fillRect/>
          </a:stretch>
        </p:blipFill>
        <p:spPr>
          <a:xfrm>
            <a:off x="659282" y="4728362"/>
            <a:ext cx="281635" cy="281635"/>
          </a:xfrm>
          <a:prstGeom prst="rect">
            <a:avLst/>
          </a:prstGeom>
        </p:spPr>
      </p:pic>
      <p:sp>
        <p:nvSpPr>
          <p:cNvPr id="13" name="Text 9"/>
          <p:cNvSpPr txBox="1"/>
          <p:nvPr/>
        </p:nvSpPr>
        <p:spPr>
          <a:xfrm>
            <a:off x="1234440" y="4617720"/>
            <a:ext cx="5029200" cy="502920"/>
          </a:xfrm>
          <a:prstGeom prst="rect">
            <a:avLst/>
          </a:prstGeom>
          <a:noFill/>
          <a:ln/>
        </p:spPr>
        <p:txBody>
          <a:bodyPr wrap="square" lIns="0" tIns="0" rIns="0" bIns="0" rtlCol="0" anchor="ctr"/>
          <a:lstStyle/>
          <a:p>
            <a:pPr indent="0" marL="0">
              <a:buNone/>
            </a:pPr>
            <a:r>
              <a:rPr lang="en-US" sz="1500" b="1" dirty="0">
                <a:solidFill>
                  <a:srgbClr val="0B032B"/>
                </a:solidFill>
                <a:latin typeface="Calibri" pitchFamily="34" charset="0"/>
                <a:ea typeface="Calibri" pitchFamily="34" charset="-122"/>
                <a:cs typeface="Calibri" pitchFamily="34" charset="-120"/>
              </a:rPr>
              <a:t>Contrôler l’action de la majorité</a:t>
            </a:r>
            <a:endParaRPr lang="en-US" sz="1500" dirty="0"/>
          </a:p>
        </p:txBody>
      </p:sp>
      <p:sp>
        <p:nvSpPr>
          <p:cNvPr id="14" name="Shape 10"/>
          <p:cNvSpPr/>
          <p:nvPr/>
        </p:nvSpPr>
        <p:spPr>
          <a:xfrm>
            <a:off x="548640" y="5303520"/>
            <a:ext cx="502920" cy="502920"/>
          </a:xfrm>
          <a:prstGeom prst="ellipse">
            <a:avLst/>
          </a:prstGeom>
          <a:solidFill>
            <a:srgbClr val="FFF9C7"/>
          </a:solidFill>
          <a:ln/>
        </p:spPr>
      </p:sp>
      <p:pic>
        <p:nvPicPr>
          <p:cNvPr id="15" name="Image 2" descr="preencoded.png">    </p:cNvPr>
          <p:cNvPicPr>
            <a:picLocks noChangeAspect="1"/>
          </p:cNvPicPr>
          <p:nvPr/>
        </p:nvPicPr>
        <p:blipFill>
          <a:blip r:embed="rId3"/>
          <a:stretch>
            <a:fillRect/>
          </a:stretch>
        </p:blipFill>
        <p:spPr>
          <a:xfrm>
            <a:off x="659282" y="5414162"/>
            <a:ext cx="281635" cy="281635"/>
          </a:xfrm>
          <a:prstGeom prst="rect">
            <a:avLst/>
          </a:prstGeom>
        </p:spPr>
      </p:pic>
      <p:sp>
        <p:nvSpPr>
          <p:cNvPr id="16" name="Text 11"/>
          <p:cNvSpPr txBox="1"/>
          <p:nvPr/>
        </p:nvSpPr>
        <p:spPr>
          <a:xfrm>
            <a:off x="1234440" y="5303520"/>
            <a:ext cx="5029200" cy="502920"/>
          </a:xfrm>
          <a:prstGeom prst="rect">
            <a:avLst/>
          </a:prstGeom>
          <a:noFill/>
          <a:ln/>
        </p:spPr>
        <p:txBody>
          <a:bodyPr wrap="square" lIns="0" tIns="0" rIns="0" bIns="0" rtlCol="0" anchor="ctr"/>
          <a:lstStyle/>
          <a:p>
            <a:pPr indent="0" marL="0">
              <a:buNone/>
            </a:pPr>
            <a:r>
              <a:rPr lang="en-US" sz="1500" b="1" dirty="0">
                <a:solidFill>
                  <a:srgbClr val="0B032B"/>
                </a:solidFill>
                <a:latin typeface="Calibri" pitchFamily="34" charset="0"/>
                <a:ea typeface="Calibri" pitchFamily="34" charset="-122"/>
                <a:cs typeface="Calibri" pitchFamily="34" charset="-120"/>
              </a:rPr>
              <a:t>Représenter une partie des électeurs</a:t>
            </a:r>
            <a:endParaRPr lang="en-US" sz="1500" dirty="0"/>
          </a:p>
        </p:txBody>
      </p:sp>
      <p:sp>
        <p:nvSpPr>
          <p:cNvPr id="17" name="Shape 12"/>
          <p:cNvSpPr/>
          <p:nvPr/>
        </p:nvSpPr>
        <p:spPr>
          <a:xfrm>
            <a:off x="7360920" y="1783080"/>
            <a:ext cx="4297680" cy="4297680"/>
          </a:xfrm>
          <a:prstGeom prst="ellipse">
            <a:avLst/>
          </a:prstGeom>
          <a:solidFill>
            <a:srgbClr val="F3F2F8"/>
          </a:solidFill>
          <a:ln/>
        </p:spPr>
      </p:sp>
      <p:pic>
        <p:nvPicPr>
          <p:cNvPr id="18" name="Image 3" descr="preencoded.png">    </p:cNvPr>
          <p:cNvPicPr>
            <a:picLocks noChangeAspect="1"/>
          </p:cNvPicPr>
          <p:nvPr/>
        </p:nvPicPr>
        <p:blipFill>
          <a:blip r:embed="rId4"/>
          <a:stretch>
            <a:fillRect/>
          </a:stretch>
        </p:blipFill>
        <p:spPr>
          <a:xfrm>
            <a:off x="7726680" y="2286000"/>
            <a:ext cx="3566160" cy="3017520"/>
          </a:xfrm>
          <a:prstGeom prst="rect">
            <a:avLst/>
          </a:prstGeom>
        </p:spPr>
      </p:pic>
      <p:sp>
        <p:nvSpPr>
          <p:cNvPr id="19" name="Shape 13"/>
          <p:cNvSpPr/>
          <p:nvPr/>
        </p:nvSpPr>
        <p:spPr>
          <a:xfrm>
            <a:off x="8138160" y="5861304"/>
            <a:ext cx="219456" cy="219456"/>
          </a:xfrm>
          <a:prstGeom prst="ellipse">
            <a:avLst/>
          </a:prstGeom>
          <a:solidFill>
            <a:srgbClr val="0B032B"/>
          </a:solidFill>
          <a:ln/>
        </p:spPr>
      </p:sp>
      <p:sp>
        <p:nvSpPr>
          <p:cNvPr id="20" name="Text 14"/>
          <p:cNvSpPr txBox="1"/>
          <p:nvPr/>
        </p:nvSpPr>
        <p:spPr>
          <a:xfrm>
            <a:off x="8430768" y="5806440"/>
            <a:ext cx="1280160" cy="329184"/>
          </a:xfrm>
          <a:prstGeom prst="rect">
            <a:avLst/>
          </a:prstGeom>
          <a:noFill/>
          <a:ln/>
        </p:spPr>
        <p:txBody>
          <a:bodyPr wrap="square" lIns="0" tIns="0" rIns="0" bIns="0" rtlCol="0" anchor="ctr"/>
          <a:lstStyle/>
          <a:p>
            <a:pPr indent="0" marL="0">
              <a:buNone/>
            </a:pPr>
            <a:r>
              <a:rPr lang="en-US" sz="1100" dirty="0">
                <a:solidFill>
                  <a:srgbClr val="55516E"/>
                </a:solidFill>
                <a:latin typeface="Calibri" pitchFamily="34" charset="0"/>
                <a:ea typeface="Calibri" pitchFamily="34" charset="-122"/>
                <a:cs typeface="Calibri" pitchFamily="34" charset="-120"/>
              </a:rPr>
              <a:t>Majorité</a:t>
            </a:r>
            <a:endParaRPr lang="en-US" sz="1100" dirty="0"/>
          </a:p>
        </p:txBody>
      </p:sp>
      <p:sp>
        <p:nvSpPr>
          <p:cNvPr id="21" name="Shape 15"/>
          <p:cNvSpPr/>
          <p:nvPr/>
        </p:nvSpPr>
        <p:spPr>
          <a:xfrm>
            <a:off x="9875520" y="5861304"/>
            <a:ext cx="219456" cy="219456"/>
          </a:xfrm>
          <a:prstGeom prst="ellipse">
            <a:avLst/>
          </a:prstGeom>
          <a:solidFill>
            <a:srgbClr val="FFF9C7"/>
          </a:solidFill>
          <a:ln w="25400">
            <a:solidFill>
              <a:srgbClr val="0B032B"/>
            </a:solidFill>
            <a:prstDash val="solid"/>
          </a:ln>
        </p:spPr>
      </p:sp>
      <p:sp>
        <p:nvSpPr>
          <p:cNvPr id="22" name="Text 16"/>
          <p:cNvSpPr txBox="1"/>
          <p:nvPr/>
        </p:nvSpPr>
        <p:spPr>
          <a:xfrm>
            <a:off x="10168128" y="5806440"/>
            <a:ext cx="1280160" cy="329184"/>
          </a:xfrm>
          <a:prstGeom prst="rect">
            <a:avLst/>
          </a:prstGeom>
          <a:noFill/>
          <a:ln/>
        </p:spPr>
        <p:txBody>
          <a:bodyPr wrap="square" lIns="0" tIns="0" rIns="0" bIns="0" rtlCol="0" anchor="ctr"/>
          <a:lstStyle/>
          <a:p>
            <a:pPr indent="0" marL="0">
              <a:buNone/>
            </a:pPr>
            <a:r>
              <a:rPr lang="en-US" sz="1100" dirty="0">
                <a:solidFill>
                  <a:srgbClr val="55516E"/>
                </a:solidFill>
                <a:latin typeface="Calibri" pitchFamily="34" charset="0"/>
                <a:ea typeface="Calibri" pitchFamily="34" charset="-122"/>
                <a:cs typeface="Calibri" pitchFamily="34" charset="-120"/>
              </a:rPr>
              <a:t>Opposition</a:t>
            </a:r>
            <a:endParaRPr lang="en-US" sz="1100" dirty="0"/>
          </a:p>
        </p:txBody>
      </p:sp>
      <p:sp>
        <p:nvSpPr>
          <p:cNvPr id="23" name="Text 17"/>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spc="100" kern="0" dirty="0">
                <a:solidFill>
                  <a:srgbClr val="8A8699"/>
                </a:solidFill>
                <a:latin typeface="Calibri" pitchFamily="34" charset="0"/>
                <a:ea typeface="Calibri" pitchFamily="34" charset="-122"/>
                <a:cs typeface="Calibri" pitchFamily="34" charset="-120"/>
              </a:rPr>
              <a:t>ENMA FORMATION  ·  Formation des élus municipaux 2026</a:t>
            </a:r>
            <a:endParaRPr lang="en-US" sz="900" dirty="0"/>
          </a:p>
        </p:txBody>
      </p:sp>
      <p:sp>
        <p:nvSpPr>
          <p:cNvPr id="24" name="Text 18"/>
          <p:cNvSpPr txBox="1"/>
          <p:nvPr/>
        </p:nvSpPr>
        <p:spPr>
          <a:xfrm>
            <a:off x="9692640" y="6400800"/>
            <a:ext cx="548640" cy="274320"/>
          </a:xfrm>
          <a:prstGeom prst="rect">
            <a:avLst/>
          </a:prstGeom>
          <a:noFill/>
          <a:ln/>
        </p:spPr>
        <p:txBody>
          <a:bodyPr wrap="square" lIns="0" tIns="0" rIns="0" bIns="0" rtlCol="0" anchor="ctr"/>
          <a:lstStyle/>
          <a:p>
            <a:pPr algn="r" indent="0" marL="0">
              <a:buNone/>
            </a:pPr>
            <a:r>
              <a:rPr lang="en-US" sz="900" dirty="0">
                <a:solidFill>
                  <a:srgbClr val="8A8699"/>
                </a:solidFill>
                <a:latin typeface="Calibri" pitchFamily="34" charset="0"/>
                <a:ea typeface="Calibri" pitchFamily="34" charset="-122"/>
                <a:cs typeface="Calibri" pitchFamily="34" charset="-120"/>
              </a:rPr>
              <a:t>15</a:t>
            </a:r>
            <a:endParaRPr lang="en-US" sz="900" dirty="0"/>
          </a:p>
        </p:txBody>
      </p:sp>
      <p:pic>
        <p:nvPicPr>
          <p:cNvPr id="25" name="Image 4" descr="preencoded.png">    </p:cNvPr>
          <p:cNvPicPr>
            <a:picLocks noChangeAspect="1"/>
          </p:cNvPicPr>
          <p:nvPr/>
        </p:nvPicPr>
        <p:blipFill>
          <a:blip r:embed="rId5"/>
          <a:stretch>
            <a:fillRect/>
          </a:stretch>
        </p:blipFill>
        <p:spPr>
          <a:xfrm>
            <a:off x="10469880" y="6309360"/>
            <a:ext cx="1170432" cy="48463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420624" cy="310896"/>
          </a:xfrm>
          <a:prstGeom prst="roundRect">
            <a:avLst>
              <a:gd name="adj" fmla="val 23529"/>
            </a:avLst>
          </a:prstGeom>
          <a:solidFill>
            <a:srgbClr val="0B032B"/>
          </a:solidFill>
          <a:ln/>
        </p:spPr>
      </p:sp>
      <p:sp>
        <p:nvSpPr>
          <p:cNvPr id="3" name="Text 1"/>
          <p:cNvSpPr txBox="1"/>
          <p:nvPr/>
        </p:nvSpPr>
        <p:spPr>
          <a:xfrm>
            <a:off x="548640" y="438912"/>
            <a:ext cx="420624" cy="310896"/>
          </a:xfrm>
          <a:prstGeom prst="rect">
            <a:avLst/>
          </a:prstGeom>
          <a:noFill/>
          <a:ln/>
        </p:spPr>
        <p:txBody>
          <a:bodyPr wrap="square" lIns="0" tIns="0" rIns="0" bIns="0" rtlCol="0" anchor="ctr"/>
          <a:lstStyle/>
          <a:p>
            <a:pPr algn="ctr" indent="0" marL="0">
              <a:buNone/>
            </a:pPr>
            <a:r>
              <a:rPr lang="en-US" sz="1100" b="1" dirty="0">
                <a:solidFill>
                  <a:srgbClr val="FFF9C7"/>
                </a:solidFill>
                <a:latin typeface="Calibri" pitchFamily="34" charset="0"/>
                <a:ea typeface="Calibri" pitchFamily="34" charset="-122"/>
                <a:cs typeface="Calibri" pitchFamily="34" charset="-120"/>
              </a:rPr>
              <a:t>02</a:t>
            </a:r>
            <a:endParaRPr lang="en-US" sz="1100" dirty="0"/>
          </a:p>
        </p:txBody>
      </p:sp>
      <p:sp>
        <p:nvSpPr>
          <p:cNvPr id="4" name="Text 2"/>
          <p:cNvSpPr txBox="1"/>
          <p:nvPr/>
        </p:nvSpPr>
        <p:spPr>
          <a:xfrm>
            <a:off x="1115568" y="438912"/>
            <a:ext cx="8229600" cy="310896"/>
          </a:xfrm>
          <a:prstGeom prst="rect">
            <a:avLst/>
          </a:prstGeom>
          <a:noFill/>
          <a:ln/>
        </p:spPr>
        <p:txBody>
          <a:bodyPr wrap="square" lIns="0" tIns="0" rIns="0" bIns="0" rtlCol="0" anchor="ctr"/>
          <a:lstStyle/>
          <a:p>
            <a:pPr indent="0" marL="0">
              <a:buNone/>
            </a:pPr>
            <a:r>
              <a:rPr lang="en-US" sz="1100" b="1" spc="200" kern="0" dirty="0">
                <a:solidFill>
                  <a:srgbClr val="55516E"/>
                </a:solidFill>
                <a:latin typeface="Calibri" pitchFamily="34" charset="0"/>
                <a:ea typeface="Calibri" pitchFamily="34" charset="-122"/>
                <a:cs typeface="Calibri" pitchFamily="34" charset="-120"/>
              </a:rPr>
              <a:t>L’OPPOSITION</a:t>
            </a:r>
            <a:endParaRPr lang="en-US" sz="1100" dirty="0"/>
          </a:p>
        </p:txBody>
      </p:sp>
      <p:sp>
        <p:nvSpPr>
          <p:cNvPr id="5" name="Text 3"/>
          <p:cNvSpPr txBox="1"/>
          <p:nvPr/>
        </p:nvSpPr>
        <p:spPr>
          <a:xfrm>
            <a:off x="548640" y="841248"/>
            <a:ext cx="11064240" cy="685800"/>
          </a:xfrm>
          <a:prstGeom prst="rect">
            <a:avLst/>
          </a:prstGeom>
          <a:noFill/>
          <a:ln/>
        </p:spPr>
        <p:txBody>
          <a:bodyPr wrap="square" lIns="0" tIns="0" rIns="0" bIns="0" rtlCol="0" anchor="ctr">
            <a:normAutofit/>
          </a:bodyPr>
          <a:lstStyle/>
          <a:p>
            <a:pPr indent="0" marL="0">
              <a:buNone/>
            </a:pPr>
            <a:r>
              <a:rPr lang="en-US" sz="2800" b="1" dirty="0">
                <a:solidFill>
                  <a:srgbClr val="0B032B"/>
                </a:solidFill>
                <a:latin typeface="Calibri" pitchFamily="34" charset="0"/>
                <a:ea typeface="Calibri" pitchFamily="34" charset="-122"/>
                <a:cs typeface="Calibri" pitchFamily="34" charset="-120"/>
              </a:rPr>
              <a:t>Leurs droits, leurs devoirs</a:t>
            </a:r>
            <a:endParaRPr lang="en-US" sz="2800" dirty="0"/>
          </a:p>
        </p:txBody>
      </p:sp>
      <p:sp>
        <p:nvSpPr>
          <p:cNvPr id="6" name="Shape 4"/>
          <p:cNvSpPr/>
          <p:nvPr/>
        </p:nvSpPr>
        <p:spPr>
          <a:xfrm>
            <a:off x="548640" y="1783080"/>
            <a:ext cx="6583680" cy="4297680"/>
          </a:xfrm>
          <a:prstGeom prst="roundRect">
            <a:avLst>
              <a:gd name="adj" fmla="val 2553"/>
            </a:avLst>
          </a:prstGeom>
          <a:solidFill>
            <a:srgbClr val="F3F2F8"/>
          </a:solidFill>
          <a:ln/>
        </p:spPr>
      </p:sp>
      <p:sp>
        <p:nvSpPr>
          <p:cNvPr id="7" name="Text 5"/>
          <p:cNvSpPr txBox="1"/>
          <p:nvPr/>
        </p:nvSpPr>
        <p:spPr>
          <a:xfrm>
            <a:off x="868680" y="2011680"/>
            <a:ext cx="4572000" cy="320040"/>
          </a:xfrm>
          <a:prstGeom prst="rect">
            <a:avLst/>
          </a:prstGeom>
          <a:noFill/>
          <a:ln/>
        </p:spPr>
        <p:txBody>
          <a:bodyPr wrap="square" lIns="0" tIns="0" rIns="0" bIns="0" rtlCol="0" anchor="t"/>
          <a:lstStyle/>
          <a:p>
            <a:pPr indent="0" marL="0">
              <a:buNone/>
            </a:pPr>
            <a:r>
              <a:rPr lang="en-US" sz="1300" b="1" spc="300" kern="0" dirty="0">
                <a:solidFill>
                  <a:srgbClr val="0B032B"/>
                </a:solidFill>
                <a:latin typeface="Calibri" pitchFamily="34" charset="0"/>
                <a:ea typeface="Calibri" pitchFamily="34" charset="-122"/>
                <a:cs typeface="Calibri" pitchFamily="34" charset="-120"/>
              </a:rPr>
              <a:t>LEURS DROITS</a:t>
            </a:r>
            <a:endParaRPr lang="en-US" sz="1300" dirty="0"/>
          </a:p>
        </p:txBody>
      </p:sp>
      <p:sp>
        <p:nvSpPr>
          <p:cNvPr id="8" name="Text 6"/>
          <p:cNvSpPr txBox="1"/>
          <p:nvPr/>
        </p:nvSpPr>
        <p:spPr>
          <a:xfrm>
            <a:off x="868680" y="2468880"/>
            <a:ext cx="5943600" cy="347472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0B032B"/>
                </a:solidFill>
                <a:latin typeface="Calibri" pitchFamily="34" charset="0"/>
                <a:ea typeface="Calibri" pitchFamily="34" charset="-122"/>
                <a:cs typeface="Calibri" pitchFamily="34" charset="-120"/>
              </a:rPr>
              <a:t>Participer aux séances du conseil municipal.</a:t>
            </a:r>
            <a:endParaRPr lang="en-US" sz="1500" dirty="0"/>
          </a:p>
          <a:p>
            <a:pPr marL="203200" indent="-203200">
              <a:spcAft>
                <a:spcPts val="800"/>
              </a:spcAft>
              <a:buSzPct val="100000"/>
              <a:buChar char="●"/>
            </a:pPr>
            <a:r>
              <a:rPr lang="en-US" sz="1500" dirty="0">
                <a:solidFill>
                  <a:srgbClr val="0B032B"/>
                </a:solidFill>
                <a:latin typeface="Calibri" pitchFamily="34" charset="0"/>
                <a:ea typeface="Calibri" pitchFamily="34" charset="-122"/>
                <a:cs typeface="Calibri" pitchFamily="34" charset="-120"/>
              </a:rPr>
              <a:t>Être convoqués et recevoir les documents préparatoires dans les délais légaux.</a:t>
            </a:r>
            <a:endParaRPr lang="en-US" sz="1500" dirty="0"/>
          </a:p>
          <a:p>
            <a:pPr marL="203200" indent="-203200">
              <a:spcAft>
                <a:spcPts val="800"/>
              </a:spcAft>
              <a:buSzPct val="100000"/>
              <a:buChar char="●"/>
            </a:pPr>
            <a:r>
              <a:rPr lang="en-US" sz="1500" dirty="0">
                <a:solidFill>
                  <a:srgbClr val="0B032B"/>
                </a:solidFill>
                <a:latin typeface="Calibri" pitchFamily="34" charset="0"/>
                <a:ea typeface="Calibri" pitchFamily="34" charset="-122"/>
                <a:cs typeface="Calibri" pitchFamily="34" charset="-120"/>
              </a:rPr>
              <a:t>Poser des questions et participer aux débats.</a:t>
            </a:r>
            <a:endParaRPr lang="en-US" sz="1500" dirty="0"/>
          </a:p>
          <a:p>
            <a:pPr marL="203200" indent="-203200">
              <a:spcAft>
                <a:spcPts val="800"/>
              </a:spcAft>
              <a:buSzPct val="100000"/>
              <a:buChar char="●"/>
            </a:pPr>
            <a:r>
              <a:rPr lang="en-US" sz="1500" dirty="0">
                <a:solidFill>
                  <a:srgbClr val="0B032B"/>
                </a:solidFill>
                <a:latin typeface="Calibri" pitchFamily="34" charset="0"/>
                <a:ea typeface="Calibri" pitchFamily="34" charset="-122"/>
                <a:cs typeface="Calibri" pitchFamily="34" charset="-120"/>
              </a:rPr>
              <a:t>Voter les délibérations.</a:t>
            </a:r>
            <a:endParaRPr lang="en-US" sz="1500" dirty="0"/>
          </a:p>
          <a:p>
            <a:pPr marL="203200" indent="-203200">
              <a:spcAft>
                <a:spcPts val="800"/>
              </a:spcAft>
              <a:buSzPct val="100000"/>
              <a:buChar char="●"/>
            </a:pPr>
            <a:r>
              <a:rPr lang="en-US" sz="1500" dirty="0">
                <a:solidFill>
                  <a:srgbClr val="0B032B"/>
                </a:solidFill>
                <a:latin typeface="Calibri" pitchFamily="34" charset="0"/>
                <a:ea typeface="Calibri" pitchFamily="34" charset="-122"/>
                <a:cs typeface="Calibri" pitchFamily="34" charset="-120"/>
              </a:rPr>
              <a:t>S’exprimer dans le bulletin municipal ou sur les supports d’information de la commune, lorsque la loi le prévoit.</a:t>
            </a:r>
            <a:endParaRPr lang="en-US" sz="1500" dirty="0"/>
          </a:p>
          <a:p>
            <a:pPr marL="203200" indent="-203200">
              <a:spcAft>
                <a:spcPts val="800"/>
              </a:spcAft>
              <a:buSzPct val="100000"/>
              <a:buChar char="●"/>
            </a:pPr>
            <a:r>
              <a:rPr lang="en-US" sz="1500" dirty="0">
                <a:solidFill>
                  <a:srgbClr val="0B032B"/>
                </a:solidFill>
                <a:latin typeface="Calibri" pitchFamily="34" charset="0"/>
                <a:ea typeface="Calibri" pitchFamily="34" charset="-122"/>
                <a:cs typeface="Calibri" pitchFamily="34" charset="-120"/>
              </a:rPr>
              <a:t>Siéger dans les commissions municipales, selon les règles de représentation.</a:t>
            </a:r>
            <a:endParaRPr lang="en-US" sz="1500" dirty="0"/>
          </a:p>
        </p:txBody>
      </p:sp>
      <p:sp>
        <p:nvSpPr>
          <p:cNvPr id="9" name="Shape 7"/>
          <p:cNvSpPr/>
          <p:nvPr/>
        </p:nvSpPr>
        <p:spPr>
          <a:xfrm>
            <a:off x="7360920" y="1783080"/>
            <a:ext cx="4279392" cy="4297680"/>
          </a:xfrm>
          <a:prstGeom prst="roundRect">
            <a:avLst>
              <a:gd name="adj" fmla="val 2564"/>
            </a:avLst>
          </a:prstGeom>
          <a:solidFill>
            <a:srgbClr val="0B032B"/>
          </a:solidFill>
          <a:ln/>
        </p:spPr>
      </p:sp>
      <p:sp>
        <p:nvSpPr>
          <p:cNvPr id="10" name="Text 8"/>
          <p:cNvSpPr txBox="1"/>
          <p:nvPr/>
        </p:nvSpPr>
        <p:spPr>
          <a:xfrm>
            <a:off x="7680960" y="2011680"/>
            <a:ext cx="3657600" cy="320040"/>
          </a:xfrm>
          <a:prstGeom prst="rect">
            <a:avLst/>
          </a:prstGeom>
          <a:noFill/>
          <a:ln/>
        </p:spPr>
        <p:txBody>
          <a:bodyPr wrap="square" lIns="0" tIns="0" rIns="0" bIns="0" rtlCol="0" anchor="t"/>
          <a:lstStyle/>
          <a:p>
            <a:pPr indent="0" marL="0">
              <a:buNone/>
            </a:pPr>
            <a:r>
              <a:rPr lang="en-US" sz="1300" b="1" spc="300" kern="0" dirty="0">
                <a:solidFill>
                  <a:srgbClr val="FFF9C7"/>
                </a:solidFill>
                <a:latin typeface="Calibri" pitchFamily="34" charset="0"/>
                <a:ea typeface="Calibri" pitchFamily="34" charset="-122"/>
                <a:cs typeface="Calibri" pitchFamily="34" charset="-120"/>
              </a:rPr>
              <a:t>LEURS DEVOIRS</a:t>
            </a:r>
            <a:endParaRPr lang="en-US" sz="1300" dirty="0"/>
          </a:p>
        </p:txBody>
      </p:sp>
      <p:sp>
        <p:nvSpPr>
          <p:cNvPr id="11" name="Text 9"/>
          <p:cNvSpPr txBox="1"/>
          <p:nvPr/>
        </p:nvSpPr>
        <p:spPr>
          <a:xfrm>
            <a:off x="7680960" y="2468880"/>
            <a:ext cx="3703320" cy="3474720"/>
          </a:xfrm>
          <a:prstGeom prst="rect">
            <a:avLst/>
          </a:prstGeom>
          <a:noFill/>
          <a:ln/>
        </p:spPr>
        <p:txBody>
          <a:bodyPr wrap="square" lIns="0" tIns="0" rIns="0" bIns="0" rtlCol="0" anchor="t"/>
          <a:lstStyle/>
          <a:p>
            <a:pPr marL="203200" indent="-203200">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Respecter les règles de fonctionnement du conseil municipal.</a:t>
            </a:r>
            <a:endParaRPr lang="en-US" sz="1500" dirty="0"/>
          </a:p>
          <a:p>
            <a:pPr marL="203200" indent="-203200">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Observer le respect dû aux autres élus et aux agents.</a:t>
            </a:r>
            <a:endParaRPr lang="en-US" sz="1500" dirty="0"/>
          </a:p>
          <a:p>
            <a:pPr marL="203200" indent="-203200">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Respecter le secret des informations confidentielles.</a:t>
            </a:r>
            <a:endParaRPr lang="en-US" sz="1500" dirty="0"/>
          </a:p>
          <a:p>
            <a:pPr marL="203200" indent="-203200">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Agir dans l’intérêt général, même dans le cadre du débat politique.</a:t>
            </a:r>
            <a:endParaRPr lang="en-US" sz="1500" dirty="0"/>
          </a:p>
        </p:txBody>
      </p:sp>
      <p:sp>
        <p:nvSpPr>
          <p:cNvPr id="12" name="Text 10"/>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spc="100" kern="0" dirty="0">
                <a:solidFill>
                  <a:srgbClr val="8A8699"/>
                </a:solidFill>
                <a:latin typeface="Calibri" pitchFamily="34" charset="0"/>
                <a:ea typeface="Calibri" pitchFamily="34" charset="-122"/>
                <a:cs typeface="Calibri" pitchFamily="34" charset="-120"/>
              </a:rPr>
              <a:t>ENMA FORMATION  ·  Formation des élus municipaux 2026</a:t>
            </a:r>
            <a:endParaRPr lang="en-US" sz="900" dirty="0"/>
          </a:p>
        </p:txBody>
      </p:sp>
      <p:sp>
        <p:nvSpPr>
          <p:cNvPr id="13" name="Text 11"/>
          <p:cNvSpPr txBox="1"/>
          <p:nvPr/>
        </p:nvSpPr>
        <p:spPr>
          <a:xfrm>
            <a:off x="9692640" y="6400800"/>
            <a:ext cx="548640" cy="274320"/>
          </a:xfrm>
          <a:prstGeom prst="rect">
            <a:avLst/>
          </a:prstGeom>
          <a:noFill/>
          <a:ln/>
        </p:spPr>
        <p:txBody>
          <a:bodyPr wrap="square" lIns="0" tIns="0" rIns="0" bIns="0" rtlCol="0" anchor="ctr"/>
          <a:lstStyle/>
          <a:p>
            <a:pPr algn="r" indent="0" marL="0">
              <a:buNone/>
            </a:pPr>
            <a:r>
              <a:rPr lang="en-US" sz="900" dirty="0">
                <a:solidFill>
                  <a:srgbClr val="8A8699"/>
                </a:solidFill>
                <a:latin typeface="Calibri" pitchFamily="34" charset="0"/>
                <a:ea typeface="Calibri" pitchFamily="34" charset="-122"/>
                <a:cs typeface="Calibri" pitchFamily="34" charset="-120"/>
              </a:rPr>
              <a:t>16</a:t>
            </a:r>
            <a:endParaRPr lang="en-US" sz="900" dirty="0"/>
          </a:p>
        </p:txBody>
      </p:sp>
      <p:pic>
        <p:nvPicPr>
          <p:cNvPr id="14" name="Image 0" descr="preencoded.png">    </p:cNvPr>
          <p:cNvPicPr>
            <a:picLocks noChangeAspect="1"/>
          </p:cNvPicPr>
          <p:nvPr/>
        </p:nvPicPr>
        <p:blipFill>
          <a:blip r:embed="rId1"/>
          <a:stretch>
            <a:fillRect/>
          </a:stretch>
        </p:blipFill>
        <p:spPr>
          <a:xfrm>
            <a:off x="10469880" y="6309360"/>
            <a:ext cx="1170432" cy="484632"/>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420624" cy="310896"/>
          </a:xfrm>
          <a:prstGeom prst="roundRect">
            <a:avLst>
              <a:gd name="adj" fmla="val 23529"/>
            </a:avLst>
          </a:prstGeom>
          <a:solidFill>
            <a:srgbClr val="0B032B"/>
          </a:solidFill>
          <a:ln/>
        </p:spPr>
      </p:sp>
      <p:sp>
        <p:nvSpPr>
          <p:cNvPr id="3" name="Text 1"/>
          <p:cNvSpPr txBox="1"/>
          <p:nvPr/>
        </p:nvSpPr>
        <p:spPr>
          <a:xfrm>
            <a:off x="548640" y="438912"/>
            <a:ext cx="420624" cy="310896"/>
          </a:xfrm>
          <a:prstGeom prst="rect">
            <a:avLst/>
          </a:prstGeom>
          <a:noFill/>
          <a:ln/>
        </p:spPr>
        <p:txBody>
          <a:bodyPr wrap="square" lIns="0" tIns="0" rIns="0" bIns="0" rtlCol="0" anchor="ctr"/>
          <a:lstStyle/>
          <a:p>
            <a:pPr algn="ctr" indent="0" marL="0">
              <a:buNone/>
            </a:pPr>
            <a:r>
              <a:rPr lang="en-US" sz="1100" b="1" dirty="0">
                <a:solidFill>
                  <a:srgbClr val="FFF9C7"/>
                </a:solidFill>
                <a:latin typeface="Calibri" pitchFamily="34" charset="0"/>
                <a:ea typeface="Calibri" pitchFamily="34" charset="-122"/>
                <a:cs typeface="Calibri" pitchFamily="34" charset="-120"/>
              </a:rPr>
              <a:t>02</a:t>
            </a:r>
            <a:endParaRPr lang="en-US" sz="1100" dirty="0"/>
          </a:p>
        </p:txBody>
      </p:sp>
      <p:sp>
        <p:nvSpPr>
          <p:cNvPr id="4" name="Text 2"/>
          <p:cNvSpPr txBox="1"/>
          <p:nvPr/>
        </p:nvSpPr>
        <p:spPr>
          <a:xfrm>
            <a:off x="1115568" y="438912"/>
            <a:ext cx="8229600" cy="310896"/>
          </a:xfrm>
          <a:prstGeom prst="rect">
            <a:avLst/>
          </a:prstGeom>
          <a:noFill/>
          <a:ln/>
        </p:spPr>
        <p:txBody>
          <a:bodyPr wrap="square" lIns="0" tIns="0" rIns="0" bIns="0" rtlCol="0" anchor="ctr"/>
          <a:lstStyle/>
          <a:p>
            <a:pPr indent="0" marL="0">
              <a:buNone/>
            </a:pPr>
            <a:r>
              <a:rPr lang="en-US" sz="1100" b="1" spc="200" kern="0" dirty="0">
                <a:solidFill>
                  <a:srgbClr val="55516E"/>
                </a:solidFill>
                <a:latin typeface="Calibri" pitchFamily="34" charset="0"/>
                <a:ea typeface="Calibri" pitchFamily="34" charset="-122"/>
                <a:cs typeface="Calibri" pitchFamily="34" charset="-120"/>
              </a:rPr>
              <a:t>L’OPPOSITION</a:t>
            </a:r>
            <a:endParaRPr lang="en-US" sz="1100" dirty="0"/>
          </a:p>
        </p:txBody>
      </p:sp>
      <p:sp>
        <p:nvSpPr>
          <p:cNvPr id="5" name="Text 3"/>
          <p:cNvSpPr txBox="1"/>
          <p:nvPr/>
        </p:nvSpPr>
        <p:spPr>
          <a:xfrm>
            <a:off x="548640" y="841248"/>
            <a:ext cx="11064240" cy="685800"/>
          </a:xfrm>
          <a:prstGeom prst="rect">
            <a:avLst/>
          </a:prstGeom>
          <a:noFill/>
          <a:ln/>
        </p:spPr>
        <p:txBody>
          <a:bodyPr wrap="square" lIns="0" tIns="0" rIns="0" bIns="0" rtlCol="0" anchor="ctr">
            <a:normAutofit/>
          </a:bodyPr>
          <a:lstStyle/>
          <a:p>
            <a:pPr indent="0" marL="0">
              <a:buNone/>
            </a:pPr>
            <a:r>
              <a:rPr lang="en-US" sz="2800" b="1" dirty="0">
                <a:solidFill>
                  <a:srgbClr val="0B032B"/>
                </a:solidFill>
                <a:latin typeface="Calibri" pitchFamily="34" charset="0"/>
                <a:ea typeface="Calibri" pitchFamily="34" charset="-122"/>
                <a:cs typeface="Calibri" pitchFamily="34" charset="-120"/>
              </a:rPr>
              <a:t>Les prérogatives du maire en séance</a:t>
            </a:r>
            <a:endParaRPr lang="en-US" sz="2800" dirty="0"/>
          </a:p>
        </p:txBody>
      </p:sp>
      <p:sp>
        <p:nvSpPr>
          <p:cNvPr id="6" name="Text 4"/>
          <p:cNvSpPr txBox="1"/>
          <p:nvPr/>
        </p:nvSpPr>
        <p:spPr>
          <a:xfrm>
            <a:off x="548640" y="1737360"/>
            <a:ext cx="10972800" cy="640080"/>
          </a:xfrm>
          <a:prstGeom prst="rect">
            <a:avLst/>
          </a:prstGeom>
          <a:noFill/>
          <a:ln/>
        </p:spPr>
        <p:txBody>
          <a:bodyPr wrap="square" lIns="0" tIns="0" rIns="0" bIns="0" rtlCol="0" anchor="t"/>
          <a:lstStyle/>
          <a:p>
            <a:pPr indent="0" marL="0">
              <a:buNone/>
            </a:pPr>
            <a:r>
              <a:rPr lang="en-US" sz="1600" dirty="0">
                <a:solidFill>
                  <a:srgbClr val="55516E"/>
                </a:solidFill>
                <a:latin typeface="Calibri" pitchFamily="34" charset="0"/>
                <a:ea typeface="Calibri" pitchFamily="34" charset="-122"/>
                <a:cs typeface="Calibri" pitchFamily="34" charset="-120"/>
              </a:rPr>
              <a:t>En qualité de président du conseil municipal, le maire est responsable du bon déroulement des séances. Il peut notamment :</a:t>
            </a:r>
            <a:endParaRPr lang="en-US" sz="1600" dirty="0"/>
          </a:p>
        </p:txBody>
      </p:sp>
      <p:sp>
        <p:nvSpPr>
          <p:cNvPr id="7" name="Shape 5"/>
          <p:cNvSpPr/>
          <p:nvPr/>
        </p:nvSpPr>
        <p:spPr>
          <a:xfrm>
            <a:off x="548640" y="2514600"/>
            <a:ext cx="2084832" cy="1920240"/>
          </a:xfrm>
          <a:prstGeom prst="roundRect">
            <a:avLst>
              <a:gd name="adj" fmla="val 5714"/>
            </a:avLst>
          </a:prstGeom>
          <a:solidFill>
            <a:srgbClr val="F3F2F8"/>
          </a:solidFill>
          <a:ln/>
        </p:spPr>
      </p:sp>
      <p:sp>
        <p:nvSpPr>
          <p:cNvPr id="8" name="Shape 6"/>
          <p:cNvSpPr/>
          <p:nvPr/>
        </p:nvSpPr>
        <p:spPr>
          <a:xfrm>
            <a:off x="749808" y="2697480"/>
            <a:ext cx="548640" cy="548640"/>
          </a:xfrm>
          <a:prstGeom prst="ellipse">
            <a:avLst/>
          </a:prstGeom>
          <a:solidFill>
            <a:srgbClr val="0B032B"/>
          </a:solidFill>
          <a:ln/>
        </p:spPr>
      </p:sp>
      <p:pic>
        <p:nvPicPr>
          <p:cNvPr id="9" name="Image 0" descr="preencoded.png">    </p:cNvPr>
          <p:cNvPicPr>
            <a:picLocks noChangeAspect="1"/>
          </p:cNvPicPr>
          <p:nvPr/>
        </p:nvPicPr>
        <p:blipFill>
          <a:blip r:embed="rId1"/>
          <a:stretch>
            <a:fillRect/>
          </a:stretch>
        </p:blipFill>
        <p:spPr>
          <a:xfrm>
            <a:off x="870509" y="2818181"/>
            <a:ext cx="307238" cy="307238"/>
          </a:xfrm>
          <a:prstGeom prst="rect">
            <a:avLst/>
          </a:prstGeom>
        </p:spPr>
      </p:pic>
      <p:sp>
        <p:nvSpPr>
          <p:cNvPr id="10" name="Text 7"/>
          <p:cNvSpPr txBox="1"/>
          <p:nvPr/>
        </p:nvSpPr>
        <p:spPr>
          <a:xfrm>
            <a:off x="749808" y="3337560"/>
            <a:ext cx="1737360" cy="1005840"/>
          </a:xfrm>
          <a:prstGeom prst="rect">
            <a:avLst/>
          </a:prstGeom>
          <a:noFill/>
          <a:ln/>
        </p:spPr>
        <p:txBody>
          <a:bodyPr wrap="square" lIns="0" tIns="0" rIns="0" bIns="0" rtlCol="0" anchor="t">
            <a:normAutofit/>
          </a:bodyPr>
          <a:lstStyle/>
          <a:p>
            <a:pPr indent="0" marL="0">
              <a:buNone/>
            </a:pPr>
            <a:r>
              <a:rPr lang="en-US" sz="1250" b="1" dirty="0">
                <a:solidFill>
                  <a:srgbClr val="0B032B"/>
                </a:solidFill>
                <a:latin typeface="Calibri" pitchFamily="34" charset="0"/>
                <a:ea typeface="Calibri" pitchFamily="34" charset="-122"/>
                <a:cs typeface="Calibri" pitchFamily="34" charset="-120"/>
              </a:rPr>
              <a:t>Donner et retirer la parole selon le règlement intérieur.</a:t>
            </a:r>
            <a:endParaRPr lang="en-US" sz="1250" dirty="0"/>
          </a:p>
        </p:txBody>
      </p:sp>
      <p:sp>
        <p:nvSpPr>
          <p:cNvPr id="11" name="Shape 8"/>
          <p:cNvSpPr/>
          <p:nvPr/>
        </p:nvSpPr>
        <p:spPr>
          <a:xfrm>
            <a:off x="2798064" y="2514600"/>
            <a:ext cx="2084832" cy="1920240"/>
          </a:xfrm>
          <a:prstGeom prst="roundRect">
            <a:avLst>
              <a:gd name="adj" fmla="val 5714"/>
            </a:avLst>
          </a:prstGeom>
          <a:solidFill>
            <a:srgbClr val="F3F2F8"/>
          </a:solidFill>
          <a:ln/>
        </p:spPr>
      </p:sp>
      <p:sp>
        <p:nvSpPr>
          <p:cNvPr id="12" name="Shape 9"/>
          <p:cNvSpPr/>
          <p:nvPr/>
        </p:nvSpPr>
        <p:spPr>
          <a:xfrm>
            <a:off x="2999232" y="2697480"/>
            <a:ext cx="548640" cy="548640"/>
          </a:xfrm>
          <a:prstGeom prst="ellipse">
            <a:avLst/>
          </a:prstGeom>
          <a:solidFill>
            <a:srgbClr val="0B032B"/>
          </a:solidFill>
          <a:ln/>
        </p:spPr>
      </p:sp>
      <p:pic>
        <p:nvPicPr>
          <p:cNvPr id="13" name="Image 1" descr="preencoded.png">    </p:cNvPr>
          <p:cNvPicPr>
            <a:picLocks noChangeAspect="1"/>
          </p:cNvPicPr>
          <p:nvPr/>
        </p:nvPicPr>
        <p:blipFill>
          <a:blip r:embed="rId2"/>
          <a:stretch>
            <a:fillRect/>
          </a:stretch>
        </p:blipFill>
        <p:spPr>
          <a:xfrm>
            <a:off x="3119933" y="2818181"/>
            <a:ext cx="307238" cy="307238"/>
          </a:xfrm>
          <a:prstGeom prst="rect">
            <a:avLst/>
          </a:prstGeom>
        </p:spPr>
      </p:pic>
      <p:sp>
        <p:nvSpPr>
          <p:cNvPr id="14" name="Text 10"/>
          <p:cNvSpPr txBox="1"/>
          <p:nvPr/>
        </p:nvSpPr>
        <p:spPr>
          <a:xfrm>
            <a:off x="2999232" y="3337560"/>
            <a:ext cx="1737360" cy="1005840"/>
          </a:xfrm>
          <a:prstGeom prst="rect">
            <a:avLst/>
          </a:prstGeom>
          <a:noFill/>
          <a:ln/>
        </p:spPr>
        <p:txBody>
          <a:bodyPr wrap="square" lIns="0" tIns="0" rIns="0" bIns="0" rtlCol="0" anchor="t">
            <a:normAutofit/>
          </a:bodyPr>
          <a:lstStyle/>
          <a:p>
            <a:pPr indent="0" marL="0">
              <a:buNone/>
            </a:pPr>
            <a:r>
              <a:rPr lang="en-US" sz="1250" b="1" dirty="0">
                <a:solidFill>
                  <a:srgbClr val="0B032B"/>
                </a:solidFill>
                <a:latin typeface="Calibri" pitchFamily="34" charset="0"/>
                <a:ea typeface="Calibri" pitchFamily="34" charset="-122"/>
                <a:cs typeface="Calibri" pitchFamily="34" charset="-120"/>
              </a:rPr>
              <a:t>Fixer les modalités d’organisation des débats.</a:t>
            </a:r>
            <a:endParaRPr lang="en-US" sz="1250" dirty="0"/>
          </a:p>
        </p:txBody>
      </p:sp>
      <p:sp>
        <p:nvSpPr>
          <p:cNvPr id="15" name="Shape 11"/>
          <p:cNvSpPr/>
          <p:nvPr/>
        </p:nvSpPr>
        <p:spPr>
          <a:xfrm>
            <a:off x="5047488" y="2514600"/>
            <a:ext cx="2084832" cy="1920240"/>
          </a:xfrm>
          <a:prstGeom prst="roundRect">
            <a:avLst>
              <a:gd name="adj" fmla="val 5714"/>
            </a:avLst>
          </a:prstGeom>
          <a:solidFill>
            <a:srgbClr val="F3F2F8"/>
          </a:solidFill>
          <a:ln/>
        </p:spPr>
      </p:sp>
      <p:sp>
        <p:nvSpPr>
          <p:cNvPr id="16" name="Shape 12"/>
          <p:cNvSpPr/>
          <p:nvPr/>
        </p:nvSpPr>
        <p:spPr>
          <a:xfrm>
            <a:off x="5248656" y="2697480"/>
            <a:ext cx="548640" cy="548640"/>
          </a:xfrm>
          <a:prstGeom prst="ellipse">
            <a:avLst/>
          </a:prstGeom>
          <a:solidFill>
            <a:srgbClr val="0B032B"/>
          </a:solidFill>
          <a:ln/>
        </p:spPr>
      </p:sp>
      <p:pic>
        <p:nvPicPr>
          <p:cNvPr id="17" name="Image 2" descr="preencoded.png">    </p:cNvPr>
          <p:cNvPicPr>
            <a:picLocks noChangeAspect="1"/>
          </p:cNvPicPr>
          <p:nvPr/>
        </p:nvPicPr>
        <p:blipFill>
          <a:blip r:embed="rId3"/>
          <a:stretch>
            <a:fillRect/>
          </a:stretch>
        </p:blipFill>
        <p:spPr>
          <a:xfrm>
            <a:off x="5369357" y="2818181"/>
            <a:ext cx="307238" cy="307238"/>
          </a:xfrm>
          <a:prstGeom prst="rect">
            <a:avLst/>
          </a:prstGeom>
        </p:spPr>
      </p:pic>
      <p:sp>
        <p:nvSpPr>
          <p:cNvPr id="18" name="Text 13"/>
          <p:cNvSpPr txBox="1"/>
          <p:nvPr/>
        </p:nvSpPr>
        <p:spPr>
          <a:xfrm>
            <a:off x="5248656" y="3337560"/>
            <a:ext cx="1737360" cy="1005840"/>
          </a:xfrm>
          <a:prstGeom prst="rect">
            <a:avLst/>
          </a:prstGeom>
          <a:noFill/>
          <a:ln/>
        </p:spPr>
        <p:txBody>
          <a:bodyPr wrap="square" lIns="0" tIns="0" rIns="0" bIns="0" rtlCol="0" anchor="t">
            <a:normAutofit/>
          </a:bodyPr>
          <a:lstStyle/>
          <a:p>
            <a:pPr indent="0" marL="0">
              <a:buNone/>
            </a:pPr>
            <a:r>
              <a:rPr lang="en-US" sz="1250" b="1" dirty="0">
                <a:solidFill>
                  <a:srgbClr val="0B032B"/>
                </a:solidFill>
                <a:latin typeface="Calibri" pitchFamily="34" charset="0"/>
                <a:ea typeface="Calibri" pitchFamily="34" charset="-122"/>
                <a:cs typeface="Calibri" pitchFamily="34" charset="-120"/>
              </a:rPr>
              <a:t>Faire respecter le temps de parole lorsqu’il est prévu.</a:t>
            </a:r>
            <a:endParaRPr lang="en-US" sz="1250" dirty="0"/>
          </a:p>
        </p:txBody>
      </p:sp>
      <p:sp>
        <p:nvSpPr>
          <p:cNvPr id="19" name="Shape 14"/>
          <p:cNvSpPr/>
          <p:nvPr/>
        </p:nvSpPr>
        <p:spPr>
          <a:xfrm>
            <a:off x="7296912" y="2514600"/>
            <a:ext cx="2084832" cy="1920240"/>
          </a:xfrm>
          <a:prstGeom prst="roundRect">
            <a:avLst>
              <a:gd name="adj" fmla="val 5714"/>
            </a:avLst>
          </a:prstGeom>
          <a:solidFill>
            <a:srgbClr val="F3F2F8"/>
          </a:solidFill>
          <a:ln/>
        </p:spPr>
      </p:sp>
      <p:sp>
        <p:nvSpPr>
          <p:cNvPr id="20" name="Shape 15"/>
          <p:cNvSpPr/>
          <p:nvPr/>
        </p:nvSpPr>
        <p:spPr>
          <a:xfrm>
            <a:off x="7498080" y="2697480"/>
            <a:ext cx="548640" cy="548640"/>
          </a:xfrm>
          <a:prstGeom prst="ellipse">
            <a:avLst/>
          </a:prstGeom>
          <a:solidFill>
            <a:srgbClr val="0B032B"/>
          </a:solidFill>
          <a:ln/>
        </p:spPr>
      </p:sp>
      <p:pic>
        <p:nvPicPr>
          <p:cNvPr id="21" name="Image 3" descr="preencoded.png">    </p:cNvPr>
          <p:cNvPicPr>
            <a:picLocks noChangeAspect="1"/>
          </p:cNvPicPr>
          <p:nvPr/>
        </p:nvPicPr>
        <p:blipFill>
          <a:blip r:embed="rId4"/>
          <a:stretch>
            <a:fillRect/>
          </a:stretch>
        </p:blipFill>
        <p:spPr>
          <a:xfrm>
            <a:off x="7618781" y="2818181"/>
            <a:ext cx="307238" cy="307238"/>
          </a:xfrm>
          <a:prstGeom prst="rect">
            <a:avLst/>
          </a:prstGeom>
        </p:spPr>
      </p:pic>
      <p:sp>
        <p:nvSpPr>
          <p:cNvPr id="22" name="Text 16"/>
          <p:cNvSpPr txBox="1"/>
          <p:nvPr/>
        </p:nvSpPr>
        <p:spPr>
          <a:xfrm>
            <a:off x="7498080" y="3337560"/>
            <a:ext cx="1737360" cy="1005840"/>
          </a:xfrm>
          <a:prstGeom prst="rect">
            <a:avLst/>
          </a:prstGeom>
          <a:noFill/>
          <a:ln/>
        </p:spPr>
        <p:txBody>
          <a:bodyPr wrap="square" lIns="0" tIns="0" rIns="0" bIns="0" rtlCol="0" anchor="t">
            <a:normAutofit/>
          </a:bodyPr>
          <a:lstStyle/>
          <a:p>
            <a:pPr indent="0" marL="0">
              <a:buNone/>
            </a:pPr>
            <a:r>
              <a:rPr lang="en-US" sz="1250" b="1" dirty="0">
                <a:solidFill>
                  <a:srgbClr val="0B032B"/>
                </a:solidFill>
                <a:latin typeface="Calibri" pitchFamily="34" charset="0"/>
                <a:ea typeface="Calibri" pitchFamily="34" charset="-122"/>
                <a:cs typeface="Calibri" pitchFamily="34" charset="-120"/>
              </a:rPr>
              <a:t>Rappeler un élu à l’ordre en cas de propos injurieux, diffamatoires ou de troubles à la séance.</a:t>
            </a:r>
            <a:endParaRPr lang="en-US" sz="1250" dirty="0"/>
          </a:p>
        </p:txBody>
      </p:sp>
      <p:sp>
        <p:nvSpPr>
          <p:cNvPr id="23" name="Shape 17"/>
          <p:cNvSpPr/>
          <p:nvPr/>
        </p:nvSpPr>
        <p:spPr>
          <a:xfrm>
            <a:off x="9546336" y="2514600"/>
            <a:ext cx="2084832" cy="1920240"/>
          </a:xfrm>
          <a:prstGeom prst="roundRect">
            <a:avLst>
              <a:gd name="adj" fmla="val 5714"/>
            </a:avLst>
          </a:prstGeom>
          <a:solidFill>
            <a:srgbClr val="F3F2F8"/>
          </a:solidFill>
          <a:ln/>
        </p:spPr>
      </p:sp>
      <p:sp>
        <p:nvSpPr>
          <p:cNvPr id="24" name="Shape 18"/>
          <p:cNvSpPr/>
          <p:nvPr/>
        </p:nvSpPr>
        <p:spPr>
          <a:xfrm>
            <a:off x="9747504" y="2697480"/>
            <a:ext cx="548640" cy="548640"/>
          </a:xfrm>
          <a:prstGeom prst="ellipse">
            <a:avLst/>
          </a:prstGeom>
          <a:solidFill>
            <a:srgbClr val="0B032B"/>
          </a:solidFill>
          <a:ln/>
        </p:spPr>
      </p:sp>
      <p:pic>
        <p:nvPicPr>
          <p:cNvPr id="25" name="Image 4" descr="preencoded.png">    </p:cNvPr>
          <p:cNvPicPr>
            <a:picLocks noChangeAspect="1"/>
          </p:cNvPicPr>
          <p:nvPr/>
        </p:nvPicPr>
        <p:blipFill>
          <a:blip r:embed="rId5"/>
          <a:stretch>
            <a:fillRect/>
          </a:stretch>
        </p:blipFill>
        <p:spPr>
          <a:xfrm>
            <a:off x="9868205" y="2818181"/>
            <a:ext cx="307238" cy="307238"/>
          </a:xfrm>
          <a:prstGeom prst="rect">
            <a:avLst/>
          </a:prstGeom>
        </p:spPr>
      </p:pic>
      <p:sp>
        <p:nvSpPr>
          <p:cNvPr id="26" name="Text 19"/>
          <p:cNvSpPr txBox="1"/>
          <p:nvPr/>
        </p:nvSpPr>
        <p:spPr>
          <a:xfrm>
            <a:off x="9747504" y="3337560"/>
            <a:ext cx="1737360" cy="1005840"/>
          </a:xfrm>
          <a:prstGeom prst="rect">
            <a:avLst/>
          </a:prstGeom>
          <a:noFill/>
          <a:ln/>
        </p:spPr>
        <p:txBody>
          <a:bodyPr wrap="square" lIns="0" tIns="0" rIns="0" bIns="0" rtlCol="0" anchor="t">
            <a:normAutofit/>
          </a:bodyPr>
          <a:lstStyle/>
          <a:p>
            <a:pPr indent="0" marL="0">
              <a:buNone/>
            </a:pPr>
            <a:r>
              <a:rPr lang="en-US" sz="1250" b="1" dirty="0">
                <a:solidFill>
                  <a:srgbClr val="0B032B"/>
                </a:solidFill>
                <a:latin typeface="Calibri" pitchFamily="34" charset="0"/>
                <a:ea typeface="Calibri" pitchFamily="34" charset="-122"/>
                <a:cs typeface="Calibri" pitchFamily="34" charset="-120"/>
              </a:rPr>
              <a:t>Suspendre temporairement la séance si nécessaire pour rétablir le calme.</a:t>
            </a:r>
            <a:endParaRPr lang="en-US" sz="1250" dirty="0"/>
          </a:p>
        </p:txBody>
      </p:sp>
      <p:sp>
        <p:nvSpPr>
          <p:cNvPr id="27" name="Shape 20"/>
          <p:cNvSpPr/>
          <p:nvPr/>
        </p:nvSpPr>
        <p:spPr>
          <a:xfrm>
            <a:off x="548640" y="4663440"/>
            <a:ext cx="11064240" cy="1463040"/>
          </a:xfrm>
          <a:prstGeom prst="roundRect">
            <a:avLst>
              <a:gd name="adj" fmla="val 8750"/>
            </a:avLst>
          </a:prstGeom>
          <a:solidFill>
            <a:srgbClr val="0B032B"/>
          </a:solidFill>
          <a:ln/>
        </p:spPr>
      </p:sp>
      <p:sp>
        <p:nvSpPr>
          <p:cNvPr id="28" name="Shape 21"/>
          <p:cNvSpPr/>
          <p:nvPr/>
        </p:nvSpPr>
        <p:spPr>
          <a:xfrm>
            <a:off x="804672" y="4919472"/>
            <a:ext cx="566928" cy="566928"/>
          </a:xfrm>
          <a:prstGeom prst="ellipse">
            <a:avLst/>
          </a:prstGeom>
          <a:solidFill>
            <a:srgbClr val="FFF9C7"/>
          </a:solidFill>
          <a:ln/>
        </p:spPr>
      </p:sp>
      <p:pic>
        <p:nvPicPr>
          <p:cNvPr id="29" name="Image 5" descr="preencoded.png">    </p:cNvPr>
          <p:cNvPicPr>
            <a:picLocks noChangeAspect="1"/>
          </p:cNvPicPr>
          <p:nvPr/>
        </p:nvPicPr>
        <p:blipFill>
          <a:blip r:embed="rId6"/>
          <a:stretch>
            <a:fillRect/>
          </a:stretch>
        </p:blipFill>
        <p:spPr>
          <a:xfrm>
            <a:off x="929396" y="5044196"/>
            <a:ext cx="317480" cy="317480"/>
          </a:xfrm>
          <a:prstGeom prst="rect">
            <a:avLst/>
          </a:prstGeom>
        </p:spPr>
      </p:pic>
      <p:sp>
        <p:nvSpPr>
          <p:cNvPr id="30" name="Text 22"/>
          <p:cNvSpPr txBox="1"/>
          <p:nvPr/>
        </p:nvSpPr>
        <p:spPr>
          <a:xfrm>
            <a:off x="1554480" y="4937760"/>
            <a:ext cx="9784080" cy="274320"/>
          </a:xfrm>
          <a:prstGeom prst="rect">
            <a:avLst/>
          </a:prstGeom>
          <a:noFill/>
          <a:ln/>
        </p:spPr>
        <p:txBody>
          <a:bodyPr wrap="square" lIns="0" tIns="0" rIns="0" bIns="0" rtlCol="0" anchor="t"/>
          <a:lstStyle/>
          <a:p>
            <a:pPr indent="0" marL="0">
              <a:buNone/>
            </a:pPr>
            <a:r>
              <a:rPr lang="en-US" sz="1100" b="1" spc="300" kern="0" dirty="0">
                <a:solidFill>
                  <a:srgbClr val="FFF9C7"/>
                </a:solidFill>
                <a:latin typeface="Calibri" pitchFamily="34" charset="0"/>
                <a:ea typeface="Calibri" pitchFamily="34" charset="-122"/>
                <a:cs typeface="Calibri" pitchFamily="34" charset="-120"/>
              </a:rPr>
              <a:t>À RETENIR</a:t>
            </a:r>
            <a:endParaRPr lang="en-US" sz="1100" dirty="0"/>
          </a:p>
        </p:txBody>
      </p:sp>
      <p:sp>
        <p:nvSpPr>
          <p:cNvPr id="31" name="Text 23"/>
          <p:cNvSpPr txBox="1"/>
          <p:nvPr/>
        </p:nvSpPr>
        <p:spPr>
          <a:xfrm>
            <a:off x="1554480" y="5248656"/>
            <a:ext cx="9784080" cy="676656"/>
          </a:xfrm>
          <a:prstGeom prst="rect">
            <a:avLst/>
          </a:prstGeom>
          <a:noFill/>
          <a:ln/>
        </p:spPr>
        <p:txBody>
          <a:bodyPr wrap="square" lIns="0" tIns="0" rIns="0" bIns="0" rtlCol="0" anchor="t">
            <a:normAutofit/>
          </a:bodyPr>
          <a:lstStyle/>
          <a:p>
            <a:pPr indent="0" marL="0">
              <a:lnSpc>
                <a:spcPct val="105000"/>
              </a:lnSpc>
              <a:buNone/>
            </a:pPr>
            <a:r>
              <a:rPr lang="en-US" sz="1400" dirty="0">
                <a:solidFill>
                  <a:srgbClr val="FFFFFF"/>
                </a:solidFill>
                <a:latin typeface="Calibri" pitchFamily="34" charset="0"/>
                <a:ea typeface="Calibri" pitchFamily="34" charset="-122"/>
                <a:cs typeface="Calibri" pitchFamily="34" charset="-120"/>
              </a:rPr>
              <a:t>L’opposition dispose de droits protégés par la loi, mais ces droits s’exercent dans le respect des règles de fonctionnement du conseil municipal. Le maire, garant du bon ordre des débats, veille à concilier liberté d’expression, respect des personnes et efficacité des travaux du conseil.</a:t>
            </a:r>
            <a:endParaRPr lang="en-US" sz="1400" dirty="0"/>
          </a:p>
        </p:txBody>
      </p:sp>
      <p:sp>
        <p:nvSpPr>
          <p:cNvPr id="32" name="Text 24"/>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spc="100" kern="0" dirty="0">
                <a:solidFill>
                  <a:srgbClr val="8A8699"/>
                </a:solidFill>
                <a:latin typeface="Calibri" pitchFamily="34" charset="0"/>
                <a:ea typeface="Calibri" pitchFamily="34" charset="-122"/>
                <a:cs typeface="Calibri" pitchFamily="34" charset="-120"/>
              </a:rPr>
              <a:t>ENMA FORMATION  ·  Formation des élus municipaux 2026</a:t>
            </a:r>
            <a:endParaRPr lang="en-US" sz="900" dirty="0"/>
          </a:p>
        </p:txBody>
      </p:sp>
      <p:sp>
        <p:nvSpPr>
          <p:cNvPr id="33" name="Text 25"/>
          <p:cNvSpPr txBox="1"/>
          <p:nvPr/>
        </p:nvSpPr>
        <p:spPr>
          <a:xfrm>
            <a:off x="9692640" y="6400800"/>
            <a:ext cx="548640" cy="274320"/>
          </a:xfrm>
          <a:prstGeom prst="rect">
            <a:avLst/>
          </a:prstGeom>
          <a:noFill/>
          <a:ln/>
        </p:spPr>
        <p:txBody>
          <a:bodyPr wrap="square" lIns="0" tIns="0" rIns="0" bIns="0" rtlCol="0" anchor="ctr"/>
          <a:lstStyle/>
          <a:p>
            <a:pPr algn="r" indent="0" marL="0">
              <a:buNone/>
            </a:pPr>
            <a:r>
              <a:rPr lang="en-US" sz="900" dirty="0">
                <a:solidFill>
                  <a:srgbClr val="8A8699"/>
                </a:solidFill>
                <a:latin typeface="Calibri" pitchFamily="34" charset="0"/>
                <a:ea typeface="Calibri" pitchFamily="34" charset="-122"/>
                <a:cs typeface="Calibri" pitchFamily="34" charset="-120"/>
              </a:rPr>
              <a:t>17</a:t>
            </a:r>
            <a:endParaRPr lang="en-US" sz="900" dirty="0"/>
          </a:p>
        </p:txBody>
      </p:sp>
      <p:pic>
        <p:nvPicPr>
          <p:cNvPr id="34" name="Image 6" descr="preencoded.png">    </p:cNvPr>
          <p:cNvPicPr>
            <a:picLocks noChangeAspect="1"/>
          </p:cNvPicPr>
          <p:nvPr/>
        </p:nvPicPr>
        <p:blipFill>
          <a:blip r:embed="rId7"/>
          <a:stretch>
            <a:fillRect/>
          </a:stretch>
        </p:blipFill>
        <p:spPr>
          <a:xfrm>
            <a:off x="10469880" y="6309360"/>
            <a:ext cx="1170432" cy="484632"/>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032B"/>
        </a:solidFill>
      </p:bgPr>
    </p:bg>
    <p:spTree>
      <p:nvGrpSpPr>
        <p:cNvPr id="1" name=""/>
        <p:cNvGrpSpPr/>
        <p:nvPr/>
      </p:nvGrpSpPr>
      <p:grpSpPr>
        <a:xfrm>
          <a:off x="0" y="0"/>
          <a:ext cx="0" cy="0"/>
          <a:chOff x="0" y="0"/>
          <a:chExt cx="0" cy="0"/>
        </a:xfrm>
      </p:grpSpPr>
      <p:sp>
        <p:nvSpPr>
          <p:cNvPr id="2" name="Text 0"/>
          <p:cNvSpPr txBox="1"/>
          <p:nvPr/>
        </p:nvSpPr>
        <p:spPr>
          <a:xfrm>
            <a:off x="548640" y="640080"/>
            <a:ext cx="4114800" cy="2286000"/>
          </a:xfrm>
          <a:prstGeom prst="rect">
            <a:avLst/>
          </a:prstGeom>
          <a:noFill/>
          <a:ln/>
        </p:spPr>
        <p:txBody>
          <a:bodyPr wrap="square" lIns="0" tIns="0" rIns="0" bIns="0" rtlCol="0" anchor="b"/>
          <a:lstStyle/>
          <a:p>
            <a:pPr indent="0" marL="0">
              <a:buNone/>
            </a:pPr>
            <a:r>
              <a:rPr lang="en-US" sz="15000" dirty="0">
                <a:solidFill>
                  <a:srgbClr val="FFF9C7"/>
                </a:solidFill>
                <a:latin typeface="Impact" pitchFamily="34" charset="0"/>
                <a:ea typeface="Impact" pitchFamily="34" charset="-122"/>
                <a:cs typeface="Impact" pitchFamily="34" charset="-120"/>
              </a:rPr>
              <a:t>03</a:t>
            </a:r>
            <a:endParaRPr lang="en-US" sz="15000" dirty="0"/>
          </a:p>
        </p:txBody>
      </p:sp>
      <p:sp>
        <p:nvSpPr>
          <p:cNvPr id="3" name="Text 1"/>
          <p:cNvSpPr txBox="1"/>
          <p:nvPr/>
        </p:nvSpPr>
        <p:spPr>
          <a:xfrm>
            <a:off x="594360" y="3017520"/>
            <a:ext cx="5486400" cy="320040"/>
          </a:xfrm>
          <a:prstGeom prst="rect">
            <a:avLst/>
          </a:prstGeom>
          <a:noFill/>
          <a:ln/>
        </p:spPr>
        <p:txBody>
          <a:bodyPr wrap="square" lIns="0" tIns="0" rIns="0" bIns="0" rtlCol="0" anchor="t"/>
          <a:lstStyle/>
          <a:p>
            <a:pPr indent="0" marL="0">
              <a:buNone/>
            </a:pPr>
            <a:r>
              <a:rPr lang="en-US" sz="1300" b="1" spc="400" kern="0" dirty="0">
                <a:solidFill>
                  <a:srgbClr val="FFF9C7"/>
                </a:solidFill>
                <a:latin typeface="Calibri" pitchFamily="34" charset="0"/>
                <a:ea typeface="Calibri" pitchFamily="34" charset="-122"/>
                <a:cs typeface="Calibri" pitchFamily="34" charset="-120"/>
              </a:rPr>
              <a:t>SÉQUENCE 03</a:t>
            </a:r>
            <a:endParaRPr lang="en-US" sz="1300" dirty="0"/>
          </a:p>
        </p:txBody>
      </p:sp>
      <p:sp>
        <p:nvSpPr>
          <p:cNvPr id="4" name="Text 2"/>
          <p:cNvSpPr txBox="1"/>
          <p:nvPr/>
        </p:nvSpPr>
        <p:spPr>
          <a:xfrm>
            <a:off x="548640" y="3401568"/>
            <a:ext cx="5486400" cy="1463040"/>
          </a:xfrm>
          <a:prstGeom prst="rect">
            <a:avLst/>
          </a:prstGeom>
          <a:noFill/>
          <a:ln/>
        </p:spPr>
        <p:txBody>
          <a:bodyPr wrap="square" lIns="0" tIns="0" rIns="0" bIns="0"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La gestion des agents municipaux : une compétence du Maire</a:t>
            </a:r>
            <a:endParaRPr lang="en-US" sz="3000" dirty="0"/>
          </a:p>
        </p:txBody>
      </p:sp>
      <p:sp>
        <p:nvSpPr>
          <p:cNvPr id="5" name="Text 3"/>
          <p:cNvSpPr txBox="1"/>
          <p:nvPr/>
        </p:nvSpPr>
        <p:spPr>
          <a:xfrm>
            <a:off x="548640" y="4937760"/>
            <a:ext cx="5486400" cy="640080"/>
          </a:xfrm>
          <a:prstGeom prst="rect">
            <a:avLst/>
          </a:prstGeom>
          <a:noFill/>
          <a:ln/>
        </p:spPr>
        <p:txBody>
          <a:bodyPr wrap="square" lIns="0" tIns="0" rIns="0" bIns="0" rtlCol="0" anchor="t">
            <a:normAutofit/>
          </a:bodyPr>
          <a:lstStyle/>
          <a:p>
            <a:pPr indent="0" marL="0">
              <a:buNone/>
            </a:pPr>
            <a:r>
              <a:rPr lang="en-US" sz="1600" dirty="0">
                <a:solidFill>
                  <a:srgbClr val="B3B3BA"/>
                </a:solidFill>
                <a:latin typeface="Calibri" pitchFamily="34" charset="0"/>
                <a:ea typeface="Calibri" pitchFamily="34" charset="-122"/>
                <a:cs typeface="Calibri" pitchFamily="34" charset="-120"/>
              </a:rPr>
              <a:t>Le Maire est l’autorité territoriale de la commune.</a:t>
            </a:r>
            <a:endParaRPr lang="en-US" sz="1600" dirty="0"/>
          </a:p>
        </p:txBody>
      </p:sp>
      <p:sp>
        <p:nvSpPr>
          <p:cNvPr id="6" name="Shape 4"/>
          <p:cNvSpPr/>
          <p:nvPr/>
        </p:nvSpPr>
        <p:spPr>
          <a:xfrm>
            <a:off x="548640" y="5623560"/>
            <a:ext cx="3017520" cy="384048"/>
          </a:xfrm>
          <a:prstGeom prst="roundRect">
            <a:avLst>
              <a:gd name="adj" fmla="val 50000"/>
            </a:avLst>
          </a:prstGeom>
          <a:solidFill>
            <a:srgbClr val="0B032B"/>
          </a:solidFill>
          <a:ln w="12700">
            <a:solidFill>
              <a:srgbClr val="FFF9C7"/>
            </a:solidFill>
            <a:prstDash val="solid"/>
          </a:ln>
        </p:spPr>
      </p:sp>
      <p:sp>
        <p:nvSpPr>
          <p:cNvPr id="7" name="Text 5"/>
          <p:cNvSpPr txBox="1"/>
          <p:nvPr/>
        </p:nvSpPr>
        <p:spPr>
          <a:xfrm>
            <a:off x="548640" y="5623560"/>
            <a:ext cx="3017520" cy="384048"/>
          </a:xfrm>
          <a:prstGeom prst="rect">
            <a:avLst/>
          </a:prstGeom>
          <a:noFill/>
          <a:ln/>
        </p:spPr>
        <p:txBody>
          <a:bodyPr wrap="square" lIns="0" tIns="0" rIns="0" bIns="0" rtlCol="0" anchor="ctr"/>
          <a:lstStyle/>
          <a:p>
            <a:pPr algn="ctr" indent="0" marL="0">
              <a:buNone/>
            </a:pPr>
            <a:r>
              <a:rPr lang="en-US" sz="1200" b="1" dirty="0">
                <a:solidFill>
                  <a:srgbClr val="FFF9C7"/>
                </a:solidFill>
                <a:latin typeface="Calibri" pitchFamily="34" charset="0"/>
                <a:ea typeface="Calibri" pitchFamily="34" charset="-122"/>
                <a:cs typeface="Calibri" pitchFamily="34" charset="-120"/>
              </a:rPr>
              <a:t>11h45 – 12h30  ·  45 min</a:t>
            </a:r>
            <a:endParaRPr lang="en-US" sz="1200" dirty="0"/>
          </a:p>
        </p:txBody>
      </p:sp>
      <p:sp>
        <p:nvSpPr>
          <p:cNvPr id="8" name="Shape 6"/>
          <p:cNvSpPr/>
          <p:nvPr/>
        </p:nvSpPr>
        <p:spPr>
          <a:xfrm>
            <a:off x="6263640" y="411480"/>
            <a:ext cx="5486400" cy="5486400"/>
          </a:xfrm>
          <a:prstGeom prst="ellipse">
            <a:avLst/>
          </a:prstGeom>
          <a:solidFill>
            <a:srgbClr val="0B032B"/>
          </a:solidFill>
          <a:ln w="12700">
            <a:solidFill>
              <a:srgbClr val="FFF9C7"/>
            </a:solidFill>
            <a:prstDash val="dash"/>
          </a:ln>
        </p:spPr>
      </p:sp>
      <p:sp>
        <p:nvSpPr>
          <p:cNvPr id="9" name="Shape 7"/>
          <p:cNvSpPr/>
          <p:nvPr/>
        </p:nvSpPr>
        <p:spPr>
          <a:xfrm>
            <a:off x="6583680" y="731520"/>
            <a:ext cx="4846320" cy="4846320"/>
          </a:xfrm>
          <a:prstGeom prst="ellipse">
            <a:avLst/>
          </a:prstGeom>
          <a:solidFill>
            <a:srgbClr val="FFF9C7"/>
          </a:solidFill>
          <a:ln/>
        </p:spPr>
      </p:sp>
      <p:pic>
        <p:nvPicPr>
          <p:cNvPr id="10" name="Image 0" descr="preencoded.png">    </p:cNvPr>
          <p:cNvPicPr>
            <a:picLocks noChangeAspect="1"/>
          </p:cNvPicPr>
          <p:nvPr/>
        </p:nvPicPr>
        <p:blipFill>
          <a:blip r:embed="rId1"/>
          <a:stretch>
            <a:fillRect/>
          </a:stretch>
        </p:blipFill>
        <p:spPr>
          <a:xfrm>
            <a:off x="7406640" y="1810512"/>
            <a:ext cx="3200400" cy="2688336"/>
          </a:xfrm>
          <a:prstGeom prst="rect">
            <a:avLst/>
          </a:prstGeom>
        </p:spPr>
      </p:pic>
      <p:sp>
        <p:nvSpPr>
          <p:cNvPr id="11" name="Text 8"/>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spc="100" kern="0" dirty="0">
                <a:solidFill>
                  <a:srgbClr val="B3B3BA"/>
                </a:solidFill>
                <a:latin typeface="Calibri" pitchFamily="34" charset="0"/>
                <a:ea typeface="Calibri" pitchFamily="34" charset="-122"/>
                <a:cs typeface="Calibri" pitchFamily="34" charset="-120"/>
              </a:rPr>
              <a:t>ENMA FORMATION  ·  Formation des élus municipaux 2026</a:t>
            </a:r>
            <a:endParaRPr lang="en-US" sz="900" dirty="0"/>
          </a:p>
        </p:txBody>
      </p:sp>
      <p:sp>
        <p:nvSpPr>
          <p:cNvPr id="12" name="Text 9"/>
          <p:cNvSpPr txBox="1"/>
          <p:nvPr/>
        </p:nvSpPr>
        <p:spPr>
          <a:xfrm>
            <a:off x="9692640" y="6400800"/>
            <a:ext cx="548640" cy="274320"/>
          </a:xfrm>
          <a:prstGeom prst="rect">
            <a:avLst/>
          </a:prstGeom>
          <a:noFill/>
          <a:ln/>
        </p:spPr>
        <p:txBody>
          <a:bodyPr wrap="square" lIns="0" tIns="0" rIns="0" bIns="0" rtlCol="0" anchor="ctr"/>
          <a:lstStyle/>
          <a:p>
            <a:pPr algn="r" indent="0" marL="0">
              <a:buNone/>
            </a:pPr>
            <a:r>
              <a:rPr lang="en-US" sz="900" dirty="0">
                <a:solidFill>
                  <a:srgbClr val="B3B3BA"/>
                </a:solidFill>
                <a:latin typeface="Calibri" pitchFamily="34" charset="0"/>
                <a:ea typeface="Calibri" pitchFamily="34" charset="-122"/>
                <a:cs typeface="Calibri" pitchFamily="34" charset="-120"/>
              </a:rPr>
              <a:t>18</a:t>
            </a:r>
            <a:endParaRPr lang="en-US" sz="900" dirty="0"/>
          </a:p>
        </p:txBody>
      </p:sp>
      <p:pic>
        <p:nvPicPr>
          <p:cNvPr id="13" name="Image 1" descr="preencoded.png">    </p:cNvPr>
          <p:cNvPicPr>
            <a:picLocks noChangeAspect="1"/>
          </p:cNvPicPr>
          <p:nvPr/>
        </p:nvPicPr>
        <p:blipFill>
          <a:blip r:embed="rId2"/>
          <a:stretch>
            <a:fillRect/>
          </a:stretch>
        </p:blipFill>
        <p:spPr>
          <a:xfrm>
            <a:off x="10469880" y="6309360"/>
            <a:ext cx="1170432" cy="48463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420624" cy="310896"/>
          </a:xfrm>
          <a:prstGeom prst="roundRect">
            <a:avLst>
              <a:gd name="adj" fmla="val 23529"/>
            </a:avLst>
          </a:prstGeom>
          <a:solidFill>
            <a:srgbClr val="0B032B"/>
          </a:solidFill>
          <a:ln/>
        </p:spPr>
      </p:sp>
      <p:sp>
        <p:nvSpPr>
          <p:cNvPr id="3" name="Text 1"/>
          <p:cNvSpPr txBox="1"/>
          <p:nvPr/>
        </p:nvSpPr>
        <p:spPr>
          <a:xfrm>
            <a:off x="548640" y="438912"/>
            <a:ext cx="420624" cy="310896"/>
          </a:xfrm>
          <a:prstGeom prst="rect">
            <a:avLst/>
          </a:prstGeom>
          <a:noFill/>
          <a:ln/>
        </p:spPr>
        <p:txBody>
          <a:bodyPr wrap="square" lIns="0" tIns="0" rIns="0" bIns="0" rtlCol="0" anchor="ctr"/>
          <a:lstStyle/>
          <a:p>
            <a:pPr algn="ctr" indent="0" marL="0">
              <a:buNone/>
            </a:pPr>
            <a:r>
              <a:rPr lang="en-US" sz="1100" b="1" dirty="0">
                <a:solidFill>
                  <a:srgbClr val="FFF9C7"/>
                </a:solidFill>
                <a:latin typeface="Calibri" pitchFamily="34" charset="0"/>
                <a:ea typeface="Calibri" pitchFamily="34" charset="-122"/>
                <a:cs typeface="Calibri" pitchFamily="34" charset="-120"/>
              </a:rPr>
              <a:t>03</a:t>
            </a:r>
            <a:endParaRPr lang="en-US" sz="1100" dirty="0"/>
          </a:p>
        </p:txBody>
      </p:sp>
      <p:sp>
        <p:nvSpPr>
          <p:cNvPr id="4" name="Text 2"/>
          <p:cNvSpPr txBox="1"/>
          <p:nvPr/>
        </p:nvSpPr>
        <p:spPr>
          <a:xfrm>
            <a:off x="1115568" y="438912"/>
            <a:ext cx="8229600" cy="310896"/>
          </a:xfrm>
          <a:prstGeom prst="rect">
            <a:avLst/>
          </a:prstGeom>
          <a:noFill/>
          <a:ln/>
        </p:spPr>
        <p:txBody>
          <a:bodyPr wrap="square" lIns="0" tIns="0" rIns="0" bIns="0" rtlCol="0" anchor="ctr"/>
          <a:lstStyle/>
          <a:p>
            <a:pPr indent="0" marL="0">
              <a:buNone/>
            </a:pPr>
            <a:r>
              <a:rPr lang="en-US" sz="1100" b="1" spc="200" kern="0" dirty="0">
                <a:solidFill>
                  <a:srgbClr val="55516E"/>
                </a:solidFill>
                <a:latin typeface="Calibri" pitchFamily="34" charset="0"/>
                <a:ea typeface="Calibri" pitchFamily="34" charset="-122"/>
                <a:cs typeface="Calibri" pitchFamily="34" charset="-120"/>
              </a:rPr>
              <a:t>LA GESTION DES AGENTS</a:t>
            </a:r>
            <a:endParaRPr lang="en-US" sz="1100" dirty="0"/>
          </a:p>
        </p:txBody>
      </p:sp>
      <p:sp>
        <p:nvSpPr>
          <p:cNvPr id="5" name="Text 3"/>
          <p:cNvSpPr txBox="1"/>
          <p:nvPr/>
        </p:nvSpPr>
        <p:spPr>
          <a:xfrm>
            <a:off x="548640" y="841248"/>
            <a:ext cx="11064240" cy="685800"/>
          </a:xfrm>
          <a:prstGeom prst="rect">
            <a:avLst/>
          </a:prstGeom>
          <a:noFill/>
          <a:ln/>
        </p:spPr>
        <p:txBody>
          <a:bodyPr wrap="square" lIns="0" tIns="0" rIns="0" bIns="0" rtlCol="0" anchor="ctr">
            <a:normAutofit/>
          </a:bodyPr>
          <a:lstStyle/>
          <a:p>
            <a:pPr indent="0" marL="0">
              <a:buNone/>
            </a:pPr>
            <a:r>
              <a:rPr lang="en-US" sz="2800" b="1" dirty="0">
                <a:solidFill>
                  <a:srgbClr val="0B032B"/>
                </a:solidFill>
                <a:latin typeface="Calibri" pitchFamily="34" charset="0"/>
                <a:ea typeface="Calibri" pitchFamily="34" charset="-122"/>
                <a:cs typeface="Calibri" pitchFamily="34" charset="-120"/>
              </a:rPr>
              <a:t>Le Maire est l’autorité territoriale de la commune</a:t>
            </a:r>
            <a:endParaRPr lang="en-US" sz="2800" dirty="0"/>
          </a:p>
        </p:txBody>
      </p:sp>
      <p:sp>
        <p:nvSpPr>
          <p:cNvPr id="6" name="Shape 4"/>
          <p:cNvSpPr/>
          <p:nvPr/>
        </p:nvSpPr>
        <p:spPr>
          <a:xfrm>
            <a:off x="548640" y="1783080"/>
            <a:ext cx="11064240" cy="1097280"/>
          </a:xfrm>
          <a:prstGeom prst="roundRect">
            <a:avLst>
              <a:gd name="adj" fmla="val 10000"/>
            </a:avLst>
          </a:prstGeom>
          <a:solidFill>
            <a:srgbClr val="FFF9C7"/>
          </a:solidFill>
          <a:ln/>
        </p:spPr>
      </p:sp>
      <p:pic>
        <p:nvPicPr>
          <p:cNvPr id="7" name="Image 0" descr="preencoded.png">    </p:cNvPr>
          <p:cNvPicPr>
            <a:picLocks noChangeAspect="1"/>
          </p:cNvPicPr>
          <p:nvPr/>
        </p:nvPicPr>
        <p:blipFill>
          <a:blip r:embed="rId1"/>
          <a:stretch>
            <a:fillRect/>
          </a:stretch>
        </p:blipFill>
        <p:spPr>
          <a:xfrm>
            <a:off x="822960" y="2057400"/>
            <a:ext cx="548640" cy="548640"/>
          </a:xfrm>
          <a:prstGeom prst="rect">
            <a:avLst/>
          </a:prstGeom>
        </p:spPr>
      </p:pic>
      <p:sp>
        <p:nvSpPr>
          <p:cNvPr id="8" name="Text 5"/>
          <p:cNvSpPr txBox="1"/>
          <p:nvPr/>
        </p:nvSpPr>
        <p:spPr>
          <a:xfrm>
            <a:off x="1600200" y="1874520"/>
            <a:ext cx="9829800" cy="914400"/>
          </a:xfrm>
          <a:prstGeom prst="rect">
            <a:avLst/>
          </a:prstGeom>
          <a:noFill/>
          <a:ln/>
        </p:spPr>
        <p:txBody>
          <a:bodyPr wrap="square" lIns="0" tIns="0" rIns="0" bIns="0" rtlCol="0" anchor="ctr"/>
          <a:lstStyle/>
          <a:p>
            <a:pPr indent="0" marL="0">
              <a:buNone/>
            </a:pPr>
            <a:r>
              <a:rPr lang="en-US" sz="1500" dirty="0">
                <a:solidFill>
                  <a:srgbClr val="0B032B"/>
                </a:solidFill>
                <a:latin typeface="Calibri" pitchFamily="34" charset="0"/>
                <a:ea typeface="Calibri" pitchFamily="34" charset="-122"/>
                <a:cs typeface="Calibri" pitchFamily="34" charset="-120"/>
              </a:rPr>
              <a:t>En application du Code général de la fonction publique et du Code général des collectivités territoriales, les agents municipaux sont placés sous l’autorité du maire, qui exerce le pouvoir hiérarchique sur l’ensemble des services municipaux.</a:t>
            </a:r>
            <a:endParaRPr lang="en-US" sz="1500" dirty="0"/>
          </a:p>
        </p:txBody>
      </p:sp>
      <p:sp>
        <p:nvSpPr>
          <p:cNvPr id="9" name="Text 6"/>
          <p:cNvSpPr txBox="1"/>
          <p:nvPr/>
        </p:nvSpPr>
        <p:spPr>
          <a:xfrm>
            <a:off x="548640" y="3154680"/>
            <a:ext cx="4572000" cy="274320"/>
          </a:xfrm>
          <a:prstGeom prst="rect">
            <a:avLst/>
          </a:prstGeom>
          <a:noFill/>
          <a:ln/>
        </p:spPr>
        <p:txBody>
          <a:bodyPr wrap="square" lIns="0" tIns="0" rIns="0" bIns="0" rtlCol="0" anchor="t"/>
          <a:lstStyle/>
          <a:p>
            <a:pPr indent="0" marL="0">
              <a:buNone/>
            </a:pPr>
            <a:r>
              <a:rPr lang="en-US" sz="1200" b="1" spc="300" kern="0" dirty="0">
                <a:solidFill>
                  <a:srgbClr val="55516E"/>
                </a:solidFill>
                <a:latin typeface="Calibri" pitchFamily="34" charset="0"/>
                <a:ea typeface="Calibri" pitchFamily="34" charset="-122"/>
                <a:cs typeface="Calibri" pitchFamily="34" charset="-120"/>
              </a:rPr>
              <a:t>LES MISSIONS DU MAIRE</a:t>
            </a:r>
            <a:endParaRPr lang="en-US" sz="1200" dirty="0"/>
          </a:p>
        </p:txBody>
      </p:sp>
      <p:sp>
        <p:nvSpPr>
          <p:cNvPr id="10" name="Shape 7"/>
          <p:cNvSpPr/>
          <p:nvPr/>
        </p:nvSpPr>
        <p:spPr>
          <a:xfrm>
            <a:off x="548640" y="3639312"/>
            <a:ext cx="548640" cy="548640"/>
          </a:xfrm>
          <a:prstGeom prst="ellipse">
            <a:avLst/>
          </a:prstGeom>
          <a:solidFill>
            <a:srgbClr val="0B032B"/>
          </a:solidFill>
          <a:ln/>
        </p:spPr>
      </p:sp>
      <p:pic>
        <p:nvPicPr>
          <p:cNvPr id="11" name="Image 1" descr="preencoded.png">    </p:cNvPr>
          <p:cNvPicPr>
            <a:picLocks noChangeAspect="1"/>
          </p:cNvPicPr>
          <p:nvPr/>
        </p:nvPicPr>
        <p:blipFill>
          <a:blip r:embed="rId2"/>
          <a:stretch>
            <a:fillRect/>
          </a:stretch>
        </p:blipFill>
        <p:spPr>
          <a:xfrm>
            <a:off x="669341" y="3760013"/>
            <a:ext cx="307238" cy="307238"/>
          </a:xfrm>
          <a:prstGeom prst="rect">
            <a:avLst/>
          </a:prstGeom>
        </p:spPr>
      </p:pic>
      <p:sp>
        <p:nvSpPr>
          <p:cNvPr id="12" name="Text 8"/>
          <p:cNvSpPr txBox="1"/>
          <p:nvPr/>
        </p:nvSpPr>
        <p:spPr>
          <a:xfrm>
            <a:off x="1280160" y="3566160"/>
            <a:ext cx="4663440" cy="694944"/>
          </a:xfrm>
          <a:prstGeom prst="rect">
            <a:avLst/>
          </a:prstGeom>
          <a:noFill/>
          <a:ln/>
        </p:spPr>
        <p:txBody>
          <a:bodyPr wrap="square" lIns="0" tIns="0" rIns="0" bIns="0" rtlCol="0" anchor="ctr"/>
          <a:lstStyle/>
          <a:p>
            <a:pPr indent="0" marL="0">
              <a:buNone/>
            </a:pPr>
            <a:r>
              <a:rPr lang="en-US" sz="1450" dirty="0">
                <a:solidFill>
                  <a:srgbClr val="0B032B"/>
                </a:solidFill>
                <a:latin typeface="Calibri" pitchFamily="34" charset="0"/>
                <a:ea typeface="Calibri" pitchFamily="34" charset="-122"/>
                <a:cs typeface="Calibri" pitchFamily="34" charset="-120"/>
              </a:rPr>
              <a:t>Organiser et diriger les services municipaux.</a:t>
            </a:r>
            <a:endParaRPr lang="en-US" sz="1450" dirty="0"/>
          </a:p>
        </p:txBody>
      </p:sp>
      <p:sp>
        <p:nvSpPr>
          <p:cNvPr id="13" name="Shape 9"/>
          <p:cNvSpPr/>
          <p:nvPr/>
        </p:nvSpPr>
        <p:spPr>
          <a:xfrm>
            <a:off x="6126480" y="3639312"/>
            <a:ext cx="548640" cy="548640"/>
          </a:xfrm>
          <a:prstGeom prst="ellipse">
            <a:avLst/>
          </a:prstGeom>
          <a:solidFill>
            <a:srgbClr val="0B032B"/>
          </a:solidFill>
          <a:ln/>
        </p:spPr>
      </p:sp>
      <p:pic>
        <p:nvPicPr>
          <p:cNvPr id="14" name="Image 2" descr="preencoded.png">    </p:cNvPr>
          <p:cNvPicPr>
            <a:picLocks noChangeAspect="1"/>
          </p:cNvPicPr>
          <p:nvPr/>
        </p:nvPicPr>
        <p:blipFill>
          <a:blip r:embed="rId3"/>
          <a:stretch>
            <a:fillRect/>
          </a:stretch>
        </p:blipFill>
        <p:spPr>
          <a:xfrm>
            <a:off x="6247181" y="3760013"/>
            <a:ext cx="307238" cy="307238"/>
          </a:xfrm>
          <a:prstGeom prst="rect">
            <a:avLst/>
          </a:prstGeom>
        </p:spPr>
      </p:pic>
      <p:sp>
        <p:nvSpPr>
          <p:cNvPr id="15" name="Text 10"/>
          <p:cNvSpPr txBox="1"/>
          <p:nvPr/>
        </p:nvSpPr>
        <p:spPr>
          <a:xfrm>
            <a:off x="6858000" y="3566160"/>
            <a:ext cx="4663440" cy="694944"/>
          </a:xfrm>
          <a:prstGeom prst="rect">
            <a:avLst/>
          </a:prstGeom>
          <a:noFill/>
          <a:ln/>
        </p:spPr>
        <p:txBody>
          <a:bodyPr wrap="square" lIns="0" tIns="0" rIns="0" bIns="0" rtlCol="0" anchor="ctr"/>
          <a:lstStyle/>
          <a:p>
            <a:pPr indent="0" marL="0">
              <a:buNone/>
            </a:pPr>
            <a:r>
              <a:rPr lang="en-US" sz="1450" dirty="0">
                <a:solidFill>
                  <a:srgbClr val="0B032B"/>
                </a:solidFill>
                <a:latin typeface="Calibri" pitchFamily="34" charset="0"/>
                <a:ea typeface="Calibri" pitchFamily="34" charset="-122"/>
                <a:cs typeface="Calibri" pitchFamily="34" charset="-120"/>
              </a:rPr>
              <a:t>Donner les instructions et fixer les priorités.</a:t>
            </a:r>
            <a:endParaRPr lang="en-US" sz="1450" dirty="0"/>
          </a:p>
        </p:txBody>
      </p:sp>
      <p:sp>
        <p:nvSpPr>
          <p:cNvPr id="16" name="Shape 11"/>
          <p:cNvSpPr/>
          <p:nvPr/>
        </p:nvSpPr>
        <p:spPr>
          <a:xfrm>
            <a:off x="548640" y="4507992"/>
            <a:ext cx="548640" cy="548640"/>
          </a:xfrm>
          <a:prstGeom prst="ellipse">
            <a:avLst/>
          </a:prstGeom>
          <a:solidFill>
            <a:srgbClr val="0B032B"/>
          </a:solidFill>
          <a:ln/>
        </p:spPr>
      </p:sp>
      <p:pic>
        <p:nvPicPr>
          <p:cNvPr id="17" name="Image 3" descr="preencoded.png">    </p:cNvPr>
          <p:cNvPicPr>
            <a:picLocks noChangeAspect="1"/>
          </p:cNvPicPr>
          <p:nvPr/>
        </p:nvPicPr>
        <p:blipFill>
          <a:blip r:embed="rId4"/>
          <a:stretch>
            <a:fillRect/>
          </a:stretch>
        </p:blipFill>
        <p:spPr>
          <a:xfrm>
            <a:off x="669341" y="4628693"/>
            <a:ext cx="307238" cy="307238"/>
          </a:xfrm>
          <a:prstGeom prst="rect">
            <a:avLst/>
          </a:prstGeom>
        </p:spPr>
      </p:pic>
      <p:sp>
        <p:nvSpPr>
          <p:cNvPr id="18" name="Text 12"/>
          <p:cNvSpPr txBox="1"/>
          <p:nvPr/>
        </p:nvSpPr>
        <p:spPr>
          <a:xfrm>
            <a:off x="1280160" y="4434840"/>
            <a:ext cx="4663440" cy="694944"/>
          </a:xfrm>
          <a:prstGeom prst="rect">
            <a:avLst/>
          </a:prstGeom>
          <a:noFill/>
          <a:ln/>
        </p:spPr>
        <p:txBody>
          <a:bodyPr wrap="square" lIns="0" tIns="0" rIns="0" bIns="0" rtlCol="0" anchor="ctr"/>
          <a:lstStyle/>
          <a:p>
            <a:pPr indent="0" marL="0">
              <a:buNone/>
            </a:pPr>
            <a:r>
              <a:rPr lang="en-US" sz="1450" dirty="0">
                <a:solidFill>
                  <a:srgbClr val="0B032B"/>
                </a:solidFill>
                <a:latin typeface="Calibri" pitchFamily="34" charset="0"/>
                <a:ea typeface="Calibri" pitchFamily="34" charset="-122"/>
                <a:cs typeface="Calibri" pitchFamily="34" charset="-120"/>
              </a:rPr>
              <a:t>Recruter, nommer et gérer la carrière des agents.</a:t>
            </a:r>
            <a:endParaRPr lang="en-US" sz="1450" dirty="0"/>
          </a:p>
        </p:txBody>
      </p:sp>
      <p:sp>
        <p:nvSpPr>
          <p:cNvPr id="19" name="Shape 13"/>
          <p:cNvSpPr/>
          <p:nvPr/>
        </p:nvSpPr>
        <p:spPr>
          <a:xfrm>
            <a:off x="6126480" y="4507992"/>
            <a:ext cx="548640" cy="548640"/>
          </a:xfrm>
          <a:prstGeom prst="ellipse">
            <a:avLst/>
          </a:prstGeom>
          <a:solidFill>
            <a:srgbClr val="0B032B"/>
          </a:solidFill>
          <a:ln/>
        </p:spPr>
      </p:sp>
      <p:pic>
        <p:nvPicPr>
          <p:cNvPr id="20" name="Image 4" descr="preencoded.png">    </p:cNvPr>
          <p:cNvPicPr>
            <a:picLocks noChangeAspect="1"/>
          </p:cNvPicPr>
          <p:nvPr/>
        </p:nvPicPr>
        <p:blipFill>
          <a:blip r:embed="rId5"/>
          <a:stretch>
            <a:fillRect/>
          </a:stretch>
        </p:blipFill>
        <p:spPr>
          <a:xfrm>
            <a:off x="6247181" y="4628693"/>
            <a:ext cx="307238" cy="307238"/>
          </a:xfrm>
          <a:prstGeom prst="rect">
            <a:avLst/>
          </a:prstGeom>
        </p:spPr>
      </p:pic>
      <p:sp>
        <p:nvSpPr>
          <p:cNvPr id="21" name="Text 14"/>
          <p:cNvSpPr txBox="1"/>
          <p:nvPr/>
        </p:nvSpPr>
        <p:spPr>
          <a:xfrm>
            <a:off x="6858000" y="4434840"/>
            <a:ext cx="4663440" cy="694944"/>
          </a:xfrm>
          <a:prstGeom prst="rect">
            <a:avLst/>
          </a:prstGeom>
          <a:noFill/>
          <a:ln/>
        </p:spPr>
        <p:txBody>
          <a:bodyPr wrap="square" lIns="0" tIns="0" rIns="0" bIns="0" rtlCol="0" anchor="ctr"/>
          <a:lstStyle/>
          <a:p>
            <a:pPr indent="0" marL="0">
              <a:buNone/>
            </a:pPr>
            <a:r>
              <a:rPr lang="en-US" sz="1450" dirty="0">
                <a:solidFill>
                  <a:srgbClr val="0B032B"/>
                </a:solidFill>
                <a:latin typeface="Calibri" pitchFamily="34" charset="0"/>
                <a:ea typeface="Calibri" pitchFamily="34" charset="-122"/>
                <a:cs typeface="Calibri" pitchFamily="34" charset="-120"/>
              </a:rPr>
              <a:t>Évaluer les agents et assurer leur développement professionnel.</a:t>
            </a:r>
            <a:endParaRPr lang="en-US" sz="1450" dirty="0"/>
          </a:p>
        </p:txBody>
      </p:sp>
      <p:sp>
        <p:nvSpPr>
          <p:cNvPr id="22" name="Shape 15"/>
          <p:cNvSpPr/>
          <p:nvPr/>
        </p:nvSpPr>
        <p:spPr>
          <a:xfrm>
            <a:off x="548640" y="5376672"/>
            <a:ext cx="548640" cy="548640"/>
          </a:xfrm>
          <a:prstGeom prst="ellipse">
            <a:avLst/>
          </a:prstGeom>
          <a:solidFill>
            <a:srgbClr val="0B032B"/>
          </a:solidFill>
          <a:ln/>
        </p:spPr>
      </p:sp>
      <p:pic>
        <p:nvPicPr>
          <p:cNvPr id="23" name="Image 5" descr="preencoded.png">    </p:cNvPr>
          <p:cNvPicPr>
            <a:picLocks noChangeAspect="1"/>
          </p:cNvPicPr>
          <p:nvPr/>
        </p:nvPicPr>
        <p:blipFill>
          <a:blip r:embed="rId6"/>
          <a:stretch>
            <a:fillRect/>
          </a:stretch>
        </p:blipFill>
        <p:spPr>
          <a:xfrm>
            <a:off x="669341" y="5497373"/>
            <a:ext cx="307238" cy="307238"/>
          </a:xfrm>
          <a:prstGeom prst="rect">
            <a:avLst/>
          </a:prstGeom>
        </p:spPr>
      </p:pic>
      <p:sp>
        <p:nvSpPr>
          <p:cNvPr id="24" name="Text 16"/>
          <p:cNvSpPr txBox="1"/>
          <p:nvPr/>
        </p:nvSpPr>
        <p:spPr>
          <a:xfrm>
            <a:off x="1280160" y="5303520"/>
            <a:ext cx="4663440" cy="694944"/>
          </a:xfrm>
          <a:prstGeom prst="rect">
            <a:avLst/>
          </a:prstGeom>
          <a:noFill/>
          <a:ln/>
        </p:spPr>
        <p:txBody>
          <a:bodyPr wrap="square" lIns="0" tIns="0" rIns="0" bIns="0" rtlCol="0" anchor="ctr"/>
          <a:lstStyle/>
          <a:p>
            <a:pPr indent="0" marL="0">
              <a:buNone/>
            </a:pPr>
            <a:r>
              <a:rPr lang="en-US" sz="1450" dirty="0">
                <a:solidFill>
                  <a:srgbClr val="0B032B"/>
                </a:solidFill>
                <a:latin typeface="Calibri" pitchFamily="34" charset="0"/>
                <a:ea typeface="Calibri" pitchFamily="34" charset="-122"/>
                <a:cs typeface="Calibri" pitchFamily="34" charset="-120"/>
              </a:rPr>
              <a:t>Veiller au respect des obligations professionnelles et, le cas échéant, exercer le pouvoir disciplinaire.</a:t>
            </a:r>
            <a:endParaRPr lang="en-US" sz="1450" dirty="0"/>
          </a:p>
        </p:txBody>
      </p:sp>
      <p:sp>
        <p:nvSpPr>
          <p:cNvPr id="25" name="Shape 17"/>
          <p:cNvSpPr/>
          <p:nvPr/>
        </p:nvSpPr>
        <p:spPr>
          <a:xfrm>
            <a:off x="6126480" y="5376672"/>
            <a:ext cx="548640" cy="548640"/>
          </a:xfrm>
          <a:prstGeom prst="ellipse">
            <a:avLst/>
          </a:prstGeom>
          <a:solidFill>
            <a:srgbClr val="0B032B"/>
          </a:solidFill>
          <a:ln/>
        </p:spPr>
      </p:sp>
      <p:pic>
        <p:nvPicPr>
          <p:cNvPr id="26" name="Image 6" descr="preencoded.png">    </p:cNvPr>
          <p:cNvPicPr>
            <a:picLocks noChangeAspect="1"/>
          </p:cNvPicPr>
          <p:nvPr/>
        </p:nvPicPr>
        <p:blipFill>
          <a:blip r:embed="rId7"/>
          <a:stretch>
            <a:fillRect/>
          </a:stretch>
        </p:blipFill>
        <p:spPr>
          <a:xfrm>
            <a:off x="6247181" y="5497373"/>
            <a:ext cx="307238" cy="307238"/>
          </a:xfrm>
          <a:prstGeom prst="rect">
            <a:avLst/>
          </a:prstGeom>
        </p:spPr>
      </p:pic>
      <p:sp>
        <p:nvSpPr>
          <p:cNvPr id="27" name="Text 18"/>
          <p:cNvSpPr txBox="1"/>
          <p:nvPr/>
        </p:nvSpPr>
        <p:spPr>
          <a:xfrm>
            <a:off x="6858000" y="5303520"/>
            <a:ext cx="4663440" cy="694944"/>
          </a:xfrm>
          <a:prstGeom prst="rect">
            <a:avLst/>
          </a:prstGeom>
          <a:noFill/>
          <a:ln/>
        </p:spPr>
        <p:txBody>
          <a:bodyPr wrap="square" lIns="0" tIns="0" rIns="0" bIns="0" rtlCol="0" anchor="ctr"/>
          <a:lstStyle/>
          <a:p>
            <a:pPr indent="0" marL="0">
              <a:buNone/>
            </a:pPr>
            <a:r>
              <a:rPr lang="en-US" sz="1450" dirty="0">
                <a:solidFill>
                  <a:srgbClr val="0B032B"/>
                </a:solidFill>
                <a:latin typeface="Calibri" pitchFamily="34" charset="0"/>
                <a:ea typeface="Calibri" pitchFamily="34" charset="-122"/>
                <a:cs typeface="Calibri" pitchFamily="34" charset="-120"/>
              </a:rPr>
              <a:t>Garantir la qualité et la continuité du service public.</a:t>
            </a:r>
            <a:endParaRPr lang="en-US" sz="1450" dirty="0"/>
          </a:p>
        </p:txBody>
      </p:sp>
      <p:sp>
        <p:nvSpPr>
          <p:cNvPr id="28" name="Text 19"/>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spc="100" kern="0" dirty="0">
                <a:solidFill>
                  <a:srgbClr val="8A8699"/>
                </a:solidFill>
                <a:latin typeface="Calibri" pitchFamily="34" charset="0"/>
                <a:ea typeface="Calibri" pitchFamily="34" charset="-122"/>
                <a:cs typeface="Calibri" pitchFamily="34" charset="-120"/>
              </a:rPr>
              <a:t>ENMA FORMATION  ·  Formation des élus municipaux 2026</a:t>
            </a:r>
            <a:endParaRPr lang="en-US" sz="900" dirty="0"/>
          </a:p>
        </p:txBody>
      </p:sp>
      <p:sp>
        <p:nvSpPr>
          <p:cNvPr id="29" name="Text 20"/>
          <p:cNvSpPr txBox="1"/>
          <p:nvPr/>
        </p:nvSpPr>
        <p:spPr>
          <a:xfrm>
            <a:off x="9692640" y="6400800"/>
            <a:ext cx="548640" cy="274320"/>
          </a:xfrm>
          <a:prstGeom prst="rect">
            <a:avLst/>
          </a:prstGeom>
          <a:noFill/>
          <a:ln/>
        </p:spPr>
        <p:txBody>
          <a:bodyPr wrap="square" lIns="0" tIns="0" rIns="0" bIns="0" rtlCol="0" anchor="ctr"/>
          <a:lstStyle/>
          <a:p>
            <a:pPr algn="r" indent="0" marL="0">
              <a:buNone/>
            </a:pPr>
            <a:r>
              <a:rPr lang="en-US" sz="900" dirty="0">
                <a:solidFill>
                  <a:srgbClr val="8A8699"/>
                </a:solidFill>
                <a:latin typeface="Calibri" pitchFamily="34" charset="0"/>
                <a:ea typeface="Calibri" pitchFamily="34" charset="-122"/>
                <a:cs typeface="Calibri" pitchFamily="34" charset="-120"/>
              </a:rPr>
              <a:t>19</a:t>
            </a:r>
            <a:endParaRPr lang="en-US" sz="900" dirty="0"/>
          </a:p>
        </p:txBody>
      </p:sp>
      <p:pic>
        <p:nvPicPr>
          <p:cNvPr id="30" name="Image 7" descr="preencoded.png">    </p:cNvPr>
          <p:cNvPicPr>
            <a:picLocks noChangeAspect="1"/>
          </p:cNvPicPr>
          <p:nvPr/>
        </p:nvPicPr>
        <p:blipFill>
          <a:blip r:embed="rId8"/>
          <a:stretch>
            <a:fillRect/>
          </a:stretch>
        </p:blipFill>
        <p:spPr>
          <a:xfrm>
            <a:off x="10469880" y="6309360"/>
            <a:ext cx="1170432" cy="48463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420624" cy="310896"/>
          </a:xfrm>
          <a:prstGeom prst="roundRect">
            <a:avLst>
              <a:gd name="adj" fmla="val 23529"/>
            </a:avLst>
          </a:prstGeom>
          <a:solidFill>
            <a:srgbClr val="0B032B"/>
          </a:solidFill>
          <a:ln/>
        </p:spPr>
      </p:sp>
      <p:sp>
        <p:nvSpPr>
          <p:cNvPr id="3" name="Text 1"/>
          <p:cNvSpPr txBox="1"/>
          <p:nvPr/>
        </p:nvSpPr>
        <p:spPr>
          <a:xfrm>
            <a:off x="548640" y="438912"/>
            <a:ext cx="420624" cy="310896"/>
          </a:xfrm>
          <a:prstGeom prst="rect">
            <a:avLst/>
          </a:prstGeom>
          <a:noFill/>
          <a:ln/>
        </p:spPr>
        <p:txBody>
          <a:bodyPr wrap="square" lIns="0" tIns="0" rIns="0" bIns="0" rtlCol="0" anchor="ctr"/>
          <a:lstStyle/>
          <a:p>
            <a:pPr algn="ctr" indent="0" marL="0">
              <a:buNone/>
            </a:pPr>
            <a:r>
              <a:rPr lang="en-US" sz="1100" b="1" dirty="0">
                <a:solidFill>
                  <a:srgbClr val="FFF9C7"/>
                </a:solidFill>
                <a:latin typeface="Calibri" pitchFamily="34" charset="0"/>
                <a:ea typeface="Calibri" pitchFamily="34" charset="-122"/>
                <a:cs typeface="Calibri" pitchFamily="34" charset="-120"/>
              </a:rPr>
              <a:t>03</a:t>
            </a:r>
            <a:endParaRPr lang="en-US" sz="1100" dirty="0"/>
          </a:p>
        </p:txBody>
      </p:sp>
      <p:sp>
        <p:nvSpPr>
          <p:cNvPr id="4" name="Text 2"/>
          <p:cNvSpPr txBox="1"/>
          <p:nvPr/>
        </p:nvSpPr>
        <p:spPr>
          <a:xfrm>
            <a:off x="1115568" y="438912"/>
            <a:ext cx="8229600" cy="310896"/>
          </a:xfrm>
          <a:prstGeom prst="rect">
            <a:avLst/>
          </a:prstGeom>
          <a:noFill/>
          <a:ln/>
        </p:spPr>
        <p:txBody>
          <a:bodyPr wrap="square" lIns="0" tIns="0" rIns="0" bIns="0" rtlCol="0" anchor="ctr"/>
          <a:lstStyle/>
          <a:p>
            <a:pPr indent="0" marL="0">
              <a:buNone/>
            </a:pPr>
            <a:r>
              <a:rPr lang="en-US" sz="1100" b="1" spc="200" kern="0" dirty="0">
                <a:solidFill>
                  <a:srgbClr val="55516E"/>
                </a:solidFill>
                <a:latin typeface="Calibri" pitchFamily="34" charset="0"/>
                <a:ea typeface="Calibri" pitchFamily="34" charset="-122"/>
                <a:cs typeface="Calibri" pitchFamily="34" charset="-120"/>
              </a:rPr>
              <a:t>LA GESTION DES AGENTS</a:t>
            </a:r>
            <a:endParaRPr lang="en-US" sz="1100" dirty="0"/>
          </a:p>
        </p:txBody>
      </p:sp>
      <p:sp>
        <p:nvSpPr>
          <p:cNvPr id="5" name="Text 3"/>
          <p:cNvSpPr txBox="1"/>
          <p:nvPr/>
        </p:nvSpPr>
        <p:spPr>
          <a:xfrm>
            <a:off x="548640" y="841248"/>
            <a:ext cx="11064240" cy="685800"/>
          </a:xfrm>
          <a:prstGeom prst="rect">
            <a:avLst/>
          </a:prstGeom>
          <a:noFill/>
          <a:ln/>
        </p:spPr>
        <p:txBody>
          <a:bodyPr wrap="square" lIns="0" tIns="0" rIns="0" bIns="0" rtlCol="0" anchor="ctr">
            <a:normAutofit/>
          </a:bodyPr>
          <a:lstStyle/>
          <a:p>
            <a:pPr indent="0" marL="0">
              <a:buNone/>
            </a:pPr>
            <a:r>
              <a:rPr lang="en-US" sz="2800" b="1" dirty="0">
                <a:solidFill>
                  <a:srgbClr val="0B032B"/>
                </a:solidFill>
                <a:latin typeface="Calibri" pitchFamily="34" charset="0"/>
                <a:ea typeface="Calibri" pitchFamily="34" charset="-122"/>
                <a:cs typeface="Calibri" pitchFamily="34" charset="-120"/>
              </a:rPr>
              <a:t>Le rôle des adjoints et des conseillers</a:t>
            </a:r>
            <a:endParaRPr lang="en-US" sz="2800" dirty="0"/>
          </a:p>
        </p:txBody>
      </p:sp>
      <p:sp>
        <p:nvSpPr>
          <p:cNvPr id="6" name="Shape 4"/>
          <p:cNvSpPr/>
          <p:nvPr/>
        </p:nvSpPr>
        <p:spPr>
          <a:xfrm>
            <a:off x="548640" y="1874520"/>
            <a:ext cx="4023360" cy="685800"/>
          </a:xfrm>
          <a:prstGeom prst="roundRect">
            <a:avLst>
              <a:gd name="adj" fmla="val 16000"/>
            </a:avLst>
          </a:prstGeom>
          <a:solidFill>
            <a:srgbClr val="0B032B"/>
          </a:solidFill>
          <a:ln/>
        </p:spPr>
      </p:sp>
      <p:sp>
        <p:nvSpPr>
          <p:cNvPr id="7" name="Text 5"/>
          <p:cNvSpPr txBox="1"/>
          <p:nvPr/>
        </p:nvSpPr>
        <p:spPr>
          <a:xfrm>
            <a:off x="731520" y="1874520"/>
            <a:ext cx="3657600" cy="685800"/>
          </a:xfrm>
          <a:prstGeom prst="rect">
            <a:avLst/>
          </a:prstGeom>
          <a:noFill/>
          <a:ln/>
        </p:spPr>
        <p:txBody>
          <a:bodyPr wrap="square" lIns="0" tIns="0" rIns="0" bIns="0" rtlCol="0" anchor="ctr"/>
          <a:lstStyle/>
          <a:p>
            <a:pPr algn="ctr" indent="0" marL="0">
              <a:buNone/>
            </a:pPr>
            <a:r>
              <a:rPr lang="en-US" sz="1350" b="1" dirty="0">
                <a:solidFill>
                  <a:srgbClr val="FFF9C7"/>
                </a:solidFill>
                <a:latin typeface="Calibri" pitchFamily="34" charset="0"/>
                <a:ea typeface="Calibri" pitchFamily="34" charset="-122"/>
                <a:cs typeface="Calibri" pitchFamily="34" charset="-120"/>
              </a:rPr>
              <a:t>Maire — autorité territoriale</a:t>
            </a:r>
            <a:endParaRPr lang="en-US" sz="1350" dirty="0"/>
          </a:p>
        </p:txBody>
      </p:sp>
      <p:sp>
        <p:nvSpPr>
          <p:cNvPr id="8" name="Shape 6"/>
          <p:cNvSpPr/>
          <p:nvPr/>
        </p:nvSpPr>
        <p:spPr>
          <a:xfrm>
            <a:off x="2560320" y="2560320"/>
            <a:ext cx="0" cy="365760"/>
          </a:xfrm>
          <a:prstGeom prst="line">
            <a:avLst/>
          </a:prstGeom>
          <a:noFill/>
          <a:ln w="25400">
            <a:solidFill>
              <a:srgbClr val="0B032B"/>
            </a:solidFill>
            <a:prstDash val="solid"/>
            <a:tailEnd type="triangle"/>
          </a:ln>
        </p:spPr>
      </p:sp>
      <p:sp>
        <p:nvSpPr>
          <p:cNvPr id="9" name="Shape 7"/>
          <p:cNvSpPr/>
          <p:nvPr/>
        </p:nvSpPr>
        <p:spPr>
          <a:xfrm>
            <a:off x="548640" y="2926080"/>
            <a:ext cx="4023360" cy="685800"/>
          </a:xfrm>
          <a:prstGeom prst="roundRect">
            <a:avLst>
              <a:gd name="adj" fmla="val 16000"/>
            </a:avLst>
          </a:prstGeom>
          <a:solidFill>
            <a:srgbClr val="FFF9C7"/>
          </a:solidFill>
          <a:ln w="15875">
            <a:solidFill>
              <a:srgbClr val="0B032B"/>
            </a:solidFill>
            <a:prstDash val="dash"/>
          </a:ln>
        </p:spPr>
      </p:sp>
      <p:sp>
        <p:nvSpPr>
          <p:cNvPr id="10" name="Text 8"/>
          <p:cNvSpPr txBox="1"/>
          <p:nvPr/>
        </p:nvSpPr>
        <p:spPr>
          <a:xfrm>
            <a:off x="731520" y="2926080"/>
            <a:ext cx="3657600" cy="685800"/>
          </a:xfrm>
          <a:prstGeom prst="rect">
            <a:avLst/>
          </a:prstGeom>
          <a:noFill/>
          <a:ln/>
        </p:spPr>
        <p:txBody>
          <a:bodyPr wrap="square" lIns="0" tIns="0" rIns="0" bIns="0" rtlCol="0" anchor="ctr"/>
          <a:lstStyle/>
          <a:p>
            <a:pPr algn="ctr" indent="0" marL="0">
              <a:buNone/>
            </a:pPr>
            <a:r>
              <a:rPr lang="en-US" sz="1350" b="1" dirty="0">
                <a:solidFill>
                  <a:srgbClr val="0B032B"/>
                </a:solidFill>
                <a:latin typeface="Calibri" pitchFamily="34" charset="0"/>
                <a:ea typeface="Calibri" pitchFamily="34" charset="-122"/>
                <a:cs typeface="Calibri" pitchFamily="34" charset="-120"/>
              </a:rPr>
              <a:t>Élu délégataire (si délégation de fonctions)</a:t>
            </a:r>
            <a:endParaRPr lang="en-US" sz="1350" dirty="0"/>
          </a:p>
        </p:txBody>
      </p:sp>
      <p:sp>
        <p:nvSpPr>
          <p:cNvPr id="11" name="Shape 9"/>
          <p:cNvSpPr/>
          <p:nvPr/>
        </p:nvSpPr>
        <p:spPr>
          <a:xfrm>
            <a:off x="2560320" y="3611880"/>
            <a:ext cx="0" cy="365760"/>
          </a:xfrm>
          <a:prstGeom prst="line">
            <a:avLst/>
          </a:prstGeom>
          <a:noFill/>
          <a:ln w="25400">
            <a:solidFill>
              <a:srgbClr val="0B032B"/>
            </a:solidFill>
            <a:prstDash val="solid"/>
            <a:tailEnd type="triangle"/>
          </a:ln>
        </p:spPr>
      </p:sp>
      <p:sp>
        <p:nvSpPr>
          <p:cNvPr id="12" name="Shape 10"/>
          <p:cNvSpPr/>
          <p:nvPr/>
        </p:nvSpPr>
        <p:spPr>
          <a:xfrm>
            <a:off x="548640" y="3977640"/>
            <a:ext cx="4023360" cy="685800"/>
          </a:xfrm>
          <a:prstGeom prst="roundRect">
            <a:avLst>
              <a:gd name="adj" fmla="val 16000"/>
            </a:avLst>
          </a:prstGeom>
          <a:solidFill>
            <a:srgbClr val="F3F2F8"/>
          </a:solidFill>
          <a:ln/>
        </p:spPr>
      </p:sp>
      <p:sp>
        <p:nvSpPr>
          <p:cNvPr id="13" name="Text 11"/>
          <p:cNvSpPr txBox="1"/>
          <p:nvPr/>
        </p:nvSpPr>
        <p:spPr>
          <a:xfrm>
            <a:off x="731520" y="3977640"/>
            <a:ext cx="3657600" cy="685800"/>
          </a:xfrm>
          <a:prstGeom prst="rect">
            <a:avLst/>
          </a:prstGeom>
          <a:noFill/>
          <a:ln/>
        </p:spPr>
        <p:txBody>
          <a:bodyPr wrap="square" lIns="0" tIns="0" rIns="0" bIns="0" rtlCol="0" anchor="ctr"/>
          <a:lstStyle/>
          <a:p>
            <a:pPr algn="ctr" indent="0" marL="0">
              <a:buNone/>
            </a:pPr>
            <a:r>
              <a:rPr lang="en-US" sz="1350" b="1" dirty="0">
                <a:solidFill>
                  <a:srgbClr val="0B032B"/>
                </a:solidFill>
                <a:latin typeface="Calibri" pitchFamily="34" charset="0"/>
                <a:ea typeface="Calibri" pitchFamily="34" charset="-122"/>
                <a:cs typeface="Calibri" pitchFamily="34" charset="-120"/>
              </a:rPr>
              <a:t>Direction générale / responsables de service</a:t>
            </a:r>
            <a:endParaRPr lang="en-US" sz="1350" dirty="0"/>
          </a:p>
        </p:txBody>
      </p:sp>
      <p:sp>
        <p:nvSpPr>
          <p:cNvPr id="14" name="Shape 12"/>
          <p:cNvSpPr/>
          <p:nvPr/>
        </p:nvSpPr>
        <p:spPr>
          <a:xfrm>
            <a:off x="2560320" y="4663440"/>
            <a:ext cx="0" cy="365760"/>
          </a:xfrm>
          <a:prstGeom prst="line">
            <a:avLst/>
          </a:prstGeom>
          <a:noFill/>
          <a:ln w="25400">
            <a:solidFill>
              <a:srgbClr val="0B032B"/>
            </a:solidFill>
            <a:prstDash val="solid"/>
            <a:tailEnd type="triangle"/>
          </a:ln>
        </p:spPr>
      </p:sp>
      <p:sp>
        <p:nvSpPr>
          <p:cNvPr id="15" name="Shape 13"/>
          <p:cNvSpPr/>
          <p:nvPr/>
        </p:nvSpPr>
        <p:spPr>
          <a:xfrm>
            <a:off x="548640" y="5029200"/>
            <a:ext cx="4023360" cy="685800"/>
          </a:xfrm>
          <a:prstGeom prst="roundRect">
            <a:avLst>
              <a:gd name="adj" fmla="val 16000"/>
            </a:avLst>
          </a:prstGeom>
          <a:solidFill>
            <a:srgbClr val="F3F2F8"/>
          </a:solidFill>
          <a:ln/>
        </p:spPr>
      </p:sp>
      <p:sp>
        <p:nvSpPr>
          <p:cNvPr id="16" name="Text 14"/>
          <p:cNvSpPr txBox="1"/>
          <p:nvPr/>
        </p:nvSpPr>
        <p:spPr>
          <a:xfrm>
            <a:off x="731520" y="5029200"/>
            <a:ext cx="3657600" cy="685800"/>
          </a:xfrm>
          <a:prstGeom prst="rect">
            <a:avLst/>
          </a:prstGeom>
          <a:noFill/>
          <a:ln/>
        </p:spPr>
        <p:txBody>
          <a:bodyPr wrap="square" lIns="0" tIns="0" rIns="0" bIns="0" rtlCol="0" anchor="ctr"/>
          <a:lstStyle/>
          <a:p>
            <a:pPr algn="ctr" indent="0" marL="0">
              <a:buNone/>
            </a:pPr>
            <a:r>
              <a:rPr lang="en-US" sz="1350" b="1" dirty="0">
                <a:solidFill>
                  <a:srgbClr val="0B032B"/>
                </a:solidFill>
                <a:latin typeface="Calibri" pitchFamily="34" charset="0"/>
                <a:ea typeface="Calibri" pitchFamily="34" charset="-122"/>
                <a:cs typeface="Calibri" pitchFamily="34" charset="-120"/>
              </a:rPr>
              <a:t>Agents municipaux</a:t>
            </a:r>
            <a:endParaRPr lang="en-US" sz="1350" dirty="0"/>
          </a:p>
        </p:txBody>
      </p:sp>
      <p:sp>
        <p:nvSpPr>
          <p:cNvPr id="17" name="Shape 15"/>
          <p:cNvSpPr/>
          <p:nvPr/>
        </p:nvSpPr>
        <p:spPr>
          <a:xfrm>
            <a:off x="4892040" y="1874520"/>
            <a:ext cx="1737360" cy="685800"/>
          </a:xfrm>
          <a:prstGeom prst="roundRect">
            <a:avLst>
              <a:gd name="adj" fmla="val 16000"/>
            </a:avLst>
          </a:prstGeom>
          <a:solidFill>
            <a:srgbClr val="FFFFFF"/>
          </a:solidFill>
          <a:ln w="19050">
            <a:solidFill>
              <a:srgbClr val="E4572E"/>
            </a:solidFill>
            <a:prstDash val="solid"/>
          </a:ln>
        </p:spPr>
      </p:sp>
      <p:sp>
        <p:nvSpPr>
          <p:cNvPr id="18" name="Text 16"/>
          <p:cNvSpPr txBox="1"/>
          <p:nvPr/>
        </p:nvSpPr>
        <p:spPr>
          <a:xfrm>
            <a:off x="4892040" y="1874520"/>
            <a:ext cx="1737360" cy="685800"/>
          </a:xfrm>
          <a:prstGeom prst="rect">
            <a:avLst/>
          </a:prstGeom>
          <a:noFill/>
          <a:ln/>
        </p:spPr>
        <p:txBody>
          <a:bodyPr wrap="square" lIns="0" tIns="0" rIns="0" bIns="0" rtlCol="0" anchor="ctr"/>
          <a:lstStyle/>
          <a:p>
            <a:pPr algn="ctr" indent="0" marL="0">
              <a:buNone/>
            </a:pPr>
            <a:r>
              <a:rPr lang="en-US" sz="1200" b="1" dirty="0">
                <a:solidFill>
                  <a:srgbClr val="0B032B"/>
                </a:solidFill>
                <a:latin typeface="Calibri" pitchFamily="34" charset="0"/>
                <a:ea typeface="Calibri" pitchFamily="34" charset="-122"/>
                <a:cs typeface="Calibri" pitchFamily="34" charset="-120"/>
              </a:rPr>
              <a:t>Élu sans délégation</a:t>
            </a:r>
            <a:endParaRPr lang="en-US" sz="1200" dirty="0"/>
          </a:p>
        </p:txBody>
      </p:sp>
      <p:sp>
        <p:nvSpPr>
          <p:cNvPr id="19" name="Shape 17"/>
          <p:cNvSpPr/>
          <p:nvPr/>
        </p:nvSpPr>
        <p:spPr>
          <a:xfrm flipH="1">
            <a:off x="4663440" y="2560320"/>
            <a:ext cx="1097280" cy="2743200"/>
          </a:xfrm>
          <a:prstGeom prst="line">
            <a:avLst/>
          </a:prstGeom>
          <a:noFill/>
          <a:ln w="22225">
            <a:solidFill>
              <a:srgbClr val="E4572E"/>
            </a:solidFill>
            <a:prstDash val="dash"/>
            <a:tailEnd type="triangle"/>
          </a:ln>
        </p:spPr>
      </p:sp>
      <p:sp>
        <p:nvSpPr>
          <p:cNvPr id="20" name="Shape 18"/>
          <p:cNvSpPr/>
          <p:nvPr/>
        </p:nvSpPr>
        <p:spPr>
          <a:xfrm>
            <a:off x="4983480" y="3703320"/>
            <a:ext cx="502920" cy="502920"/>
          </a:xfrm>
          <a:prstGeom prst="ellipse">
            <a:avLst/>
          </a:prstGeom>
          <a:solidFill>
            <a:srgbClr val="FFFFFF"/>
          </a:solidFill>
          <a:ln w="25400">
            <a:solidFill>
              <a:srgbClr val="E4572E"/>
            </a:solidFill>
            <a:prstDash val="solid"/>
          </a:ln>
        </p:spPr>
      </p:sp>
      <p:pic>
        <p:nvPicPr>
          <p:cNvPr id="21" name="Image 0" descr="preencoded.png">    </p:cNvPr>
          <p:cNvPicPr>
            <a:picLocks noChangeAspect="1"/>
          </p:cNvPicPr>
          <p:nvPr/>
        </p:nvPicPr>
        <p:blipFill>
          <a:blip r:embed="rId1"/>
          <a:stretch>
            <a:fillRect/>
          </a:stretch>
        </p:blipFill>
        <p:spPr>
          <a:xfrm>
            <a:off x="5056632" y="3776472"/>
            <a:ext cx="356616" cy="356616"/>
          </a:xfrm>
          <a:prstGeom prst="rect">
            <a:avLst/>
          </a:prstGeom>
        </p:spPr>
      </p:pic>
      <p:sp>
        <p:nvSpPr>
          <p:cNvPr id="22" name="Text 19"/>
          <p:cNvSpPr txBox="1"/>
          <p:nvPr/>
        </p:nvSpPr>
        <p:spPr>
          <a:xfrm>
            <a:off x="6995160" y="1874520"/>
            <a:ext cx="4617720" cy="3931920"/>
          </a:xfrm>
          <a:prstGeom prst="rect">
            <a:avLst/>
          </a:prstGeom>
          <a:noFill/>
          <a:ln/>
        </p:spPr>
        <p:txBody>
          <a:bodyPr wrap="square" lIns="0" tIns="0" rIns="0" bIns="0" rtlCol="0" anchor="t"/>
          <a:lstStyle/>
          <a:p>
            <a:pPr marL="203200" indent="-203200">
              <a:spcAft>
                <a:spcPts val="1400"/>
              </a:spcAft>
              <a:buSzPct val="100000"/>
              <a:buChar char="●"/>
            </a:pPr>
            <a:r>
              <a:rPr lang="en-US" sz="1550" dirty="0">
                <a:solidFill>
                  <a:srgbClr val="0B032B"/>
                </a:solidFill>
                <a:latin typeface="Calibri" pitchFamily="34" charset="0"/>
                <a:ea typeface="Calibri" pitchFamily="34" charset="-122"/>
                <a:cs typeface="Calibri" pitchFamily="34" charset="-120"/>
              </a:rPr>
              <a:t>Les adjoints et les conseillers municipaux ne disposent d’aucune autorité hiérarchique sur les agents, sauf si le maire leur a confié une délégation de fonctions comprenant cette compétence.</a:t>
            </a:r>
            <a:endParaRPr lang="en-US" sz="1550" dirty="0"/>
          </a:p>
          <a:p>
            <a:pPr marL="203200" indent="-203200">
              <a:spcAft>
                <a:spcPts val="1400"/>
              </a:spcAft>
              <a:buSzPct val="100000"/>
              <a:buChar char="●"/>
            </a:pPr>
            <a:r>
              <a:rPr lang="en-US" sz="1550" dirty="0">
                <a:solidFill>
                  <a:srgbClr val="0B032B"/>
                </a:solidFill>
                <a:latin typeface="Calibri" pitchFamily="34" charset="0"/>
                <a:ea typeface="Calibri" pitchFamily="34" charset="-122"/>
                <a:cs typeface="Calibri" pitchFamily="34" charset="-120"/>
              </a:rPr>
              <a:t>Toute demande adressée aux agents doit s’inscrire dans l’organisation définie par le maire ou, le cas échéant, par l’élu délégataire.</a:t>
            </a:r>
            <a:endParaRPr lang="en-US" sz="1550" dirty="0"/>
          </a:p>
          <a:p>
            <a:pPr marL="203200" indent="-203200">
              <a:spcAft>
                <a:spcPts val="1400"/>
              </a:spcAft>
              <a:buSzPct val="100000"/>
              <a:buChar char="●"/>
            </a:pPr>
            <a:r>
              <a:rPr lang="en-US" sz="1550" dirty="0">
                <a:solidFill>
                  <a:srgbClr val="0B032B"/>
                </a:solidFill>
                <a:latin typeface="Calibri" pitchFamily="34" charset="0"/>
                <a:ea typeface="Calibri" pitchFamily="34" charset="-122"/>
                <a:cs typeface="Calibri" pitchFamily="34" charset="-120"/>
              </a:rPr>
              <a:t>Les élus doivent respecter la chaîne hiérarchique afin d’éviter des consignes contradictoires.</a:t>
            </a:r>
            <a:endParaRPr lang="en-US" sz="1550" dirty="0"/>
          </a:p>
        </p:txBody>
      </p:sp>
      <p:sp>
        <p:nvSpPr>
          <p:cNvPr id="23" name="Text 20"/>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spc="100" kern="0" dirty="0">
                <a:solidFill>
                  <a:srgbClr val="8A8699"/>
                </a:solidFill>
                <a:latin typeface="Calibri" pitchFamily="34" charset="0"/>
                <a:ea typeface="Calibri" pitchFamily="34" charset="-122"/>
                <a:cs typeface="Calibri" pitchFamily="34" charset="-120"/>
              </a:rPr>
              <a:t>ENMA FORMATION  ·  Formation des élus municipaux 2026</a:t>
            </a:r>
            <a:endParaRPr lang="en-US" sz="900" dirty="0"/>
          </a:p>
        </p:txBody>
      </p:sp>
      <p:sp>
        <p:nvSpPr>
          <p:cNvPr id="24" name="Text 21"/>
          <p:cNvSpPr txBox="1"/>
          <p:nvPr/>
        </p:nvSpPr>
        <p:spPr>
          <a:xfrm>
            <a:off x="9692640" y="6400800"/>
            <a:ext cx="548640" cy="274320"/>
          </a:xfrm>
          <a:prstGeom prst="rect">
            <a:avLst/>
          </a:prstGeom>
          <a:noFill/>
          <a:ln/>
        </p:spPr>
        <p:txBody>
          <a:bodyPr wrap="square" lIns="0" tIns="0" rIns="0" bIns="0" rtlCol="0" anchor="ctr"/>
          <a:lstStyle/>
          <a:p>
            <a:pPr algn="r" indent="0" marL="0">
              <a:buNone/>
            </a:pPr>
            <a:r>
              <a:rPr lang="en-US" sz="900" dirty="0">
                <a:solidFill>
                  <a:srgbClr val="8A8699"/>
                </a:solidFill>
                <a:latin typeface="Calibri" pitchFamily="34" charset="0"/>
                <a:ea typeface="Calibri" pitchFamily="34" charset="-122"/>
                <a:cs typeface="Calibri" pitchFamily="34" charset="-120"/>
              </a:rPr>
              <a:t>20</a:t>
            </a:r>
            <a:endParaRPr lang="en-US" sz="900" dirty="0"/>
          </a:p>
        </p:txBody>
      </p:sp>
      <p:pic>
        <p:nvPicPr>
          <p:cNvPr id="25" name="Image 1" descr="preencoded.png">    </p:cNvPr>
          <p:cNvPicPr>
            <a:picLocks noChangeAspect="1"/>
          </p:cNvPicPr>
          <p:nvPr/>
        </p:nvPicPr>
        <p:blipFill>
          <a:blip r:embed="rId2"/>
          <a:stretch>
            <a:fillRect/>
          </a:stretch>
        </p:blipFill>
        <p:spPr>
          <a:xfrm>
            <a:off x="10469880" y="6309360"/>
            <a:ext cx="1170432" cy="484632"/>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420624" cy="310896"/>
          </a:xfrm>
          <a:prstGeom prst="roundRect">
            <a:avLst>
              <a:gd name="adj" fmla="val 23529"/>
            </a:avLst>
          </a:prstGeom>
          <a:solidFill>
            <a:srgbClr val="0B032B"/>
          </a:solidFill>
          <a:ln/>
        </p:spPr>
      </p:sp>
      <p:sp>
        <p:nvSpPr>
          <p:cNvPr id="3" name="Text 1"/>
          <p:cNvSpPr txBox="1"/>
          <p:nvPr/>
        </p:nvSpPr>
        <p:spPr>
          <a:xfrm>
            <a:off x="548640" y="438912"/>
            <a:ext cx="420624" cy="310896"/>
          </a:xfrm>
          <a:prstGeom prst="rect">
            <a:avLst/>
          </a:prstGeom>
          <a:noFill/>
          <a:ln/>
        </p:spPr>
        <p:txBody>
          <a:bodyPr wrap="square" lIns="0" tIns="0" rIns="0" bIns="0" rtlCol="0" anchor="ctr"/>
          <a:lstStyle/>
          <a:p>
            <a:pPr algn="ctr" indent="0" marL="0">
              <a:buNone/>
            </a:pPr>
            <a:r>
              <a:rPr lang="en-US" sz="1100" b="1" dirty="0">
                <a:solidFill>
                  <a:srgbClr val="FFF9C7"/>
                </a:solidFill>
                <a:latin typeface="Calibri" pitchFamily="34" charset="0"/>
                <a:ea typeface="Calibri" pitchFamily="34" charset="-122"/>
                <a:cs typeface="Calibri" pitchFamily="34" charset="-120"/>
              </a:rPr>
              <a:t>03</a:t>
            </a:r>
            <a:endParaRPr lang="en-US" sz="1100" dirty="0"/>
          </a:p>
        </p:txBody>
      </p:sp>
      <p:sp>
        <p:nvSpPr>
          <p:cNvPr id="4" name="Text 2"/>
          <p:cNvSpPr txBox="1"/>
          <p:nvPr/>
        </p:nvSpPr>
        <p:spPr>
          <a:xfrm>
            <a:off x="1115568" y="438912"/>
            <a:ext cx="8229600" cy="310896"/>
          </a:xfrm>
          <a:prstGeom prst="rect">
            <a:avLst/>
          </a:prstGeom>
          <a:noFill/>
          <a:ln/>
        </p:spPr>
        <p:txBody>
          <a:bodyPr wrap="square" lIns="0" tIns="0" rIns="0" bIns="0" rtlCol="0" anchor="ctr"/>
          <a:lstStyle/>
          <a:p>
            <a:pPr indent="0" marL="0">
              <a:buNone/>
            </a:pPr>
            <a:r>
              <a:rPr lang="en-US" sz="1100" b="1" spc="200" kern="0" dirty="0">
                <a:solidFill>
                  <a:srgbClr val="55516E"/>
                </a:solidFill>
                <a:latin typeface="Calibri" pitchFamily="34" charset="0"/>
                <a:ea typeface="Calibri" pitchFamily="34" charset="-122"/>
                <a:cs typeface="Calibri" pitchFamily="34" charset="-120"/>
              </a:rPr>
              <a:t>LA GESTION DES AGENTS</a:t>
            </a:r>
            <a:endParaRPr lang="en-US" sz="1100" dirty="0"/>
          </a:p>
        </p:txBody>
      </p:sp>
      <p:sp>
        <p:nvSpPr>
          <p:cNvPr id="5" name="Text 3"/>
          <p:cNvSpPr txBox="1"/>
          <p:nvPr/>
        </p:nvSpPr>
        <p:spPr>
          <a:xfrm>
            <a:off x="548640" y="841248"/>
            <a:ext cx="11064240" cy="685800"/>
          </a:xfrm>
          <a:prstGeom prst="rect">
            <a:avLst/>
          </a:prstGeom>
          <a:noFill/>
          <a:ln/>
        </p:spPr>
        <p:txBody>
          <a:bodyPr wrap="square" lIns="0" tIns="0" rIns="0" bIns="0" rtlCol="0" anchor="ctr">
            <a:normAutofit/>
          </a:bodyPr>
          <a:lstStyle/>
          <a:p>
            <a:pPr indent="0" marL="0">
              <a:buNone/>
            </a:pPr>
            <a:r>
              <a:rPr lang="en-US" sz="2800" b="1" dirty="0">
                <a:solidFill>
                  <a:srgbClr val="0B032B"/>
                </a:solidFill>
                <a:latin typeface="Calibri" pitchFamily="34" charset="0"/>
                <a:ea typeface="Calibri" pitchFamily="34" charset="-122"/>
                <a:cs typeface="Calibri" pitchFamily="34" charset="-120"/>
              </a:rPr>
              <a:t>Bonnes pratiques</a:t>
            </a:r>
            <a:endParaRPr lang="en-US" sz="2800" dirty="0"/>
          </a:p>
        </p:txBody>
      </p:sp>
      <p:sp>
        <p:nvSpPr>
          <p:cNvPr id="6" name="Shape 4"/>
          <p:cNvSpPr/>
          <p:nvPr/>
        </p:nvSpPr>
        <p:spPr>
          <a:xfrm>
            <a:off x="548640" y="1828800"/>
            <a:ext cx="3520440" cy="2423160"/>
          </a:xfrm>
          <a:prstGeom prst="roundRect">
            <a:avLst>
              <a:gd name="adj" fmla="val 4528"/>
            </a:avLst>
          </a:prstGeom>
          <a:solidFill>
            <a:srgbClr val="F3F2F8"/>
          </a:solidFill>
          <a:ln/>
        </p:spPr>
      </p:sp>
      <p:sp>
        <p:nvSpPr>
          <p:cNvPr id="7" name="Shape 5"/>
          <p:cNvSpPr/>
          <p:nvPr/>
        </p:nvSpPr>
        <p:spPr>
          <a:xfrm>
            <a:off x="822960" y="2103120"/>
            <a:ext cx="731520" cy="731520"/>
          </a:xfrm>
          <a:prstGeom prst="ellipse">
            <a:avLst/>
          </a:prstGeom>
          <a:solidFill>
            <a:srgbClr val="0B032B"/>
          </a:solidFill>
          <a:ln/>
        </p:spPr>
      </p:sp>
      <p:pic>
        <p:nvPicPr>
          <p:cNvPr id="8" name="Image 0" descr="preencoded.png">    </p:cNvPr>
          <p:cNvPicPr>
            <a:picLocks noChangeAspect="1"/>
          </p:cNvPicPr>
          <p:nvPr/>
        </p:nvPicPr>
        <p:blipFill>
          <a:blip r:embed="rId1"/>
          <a:stretch>
            <a:fillRect/>
          </a:stretch>
        </p:blipFill>
        <p:spPr>
          <a:xfrm>
            <a:off x="983894" y="2264054"/>
            <a:ext cx="409651" cy="409651"/>
          </a:xfrm>
          <a:prstGeom prst="rect">
            <a:avLst/>
          </a:prstGeom>
        </p:spPr>
      </p:pic>
      <p:sp>
        <p:nvSpPr>
          <p:cNvPr id="9" name="Shape 6"/>
          <p:cNvSpPr/>
          <p:nvPr/>
        </p:nvSpPr>
        <p:spPr>
          <a:xfrm>
            <a:off x="1335024" y="2578608"/>
            <a:ext cx="329184" cy="329184"/>
          </a:xfrm>
          <a:prstGeom prst="ellipse">
            <a:avLst/>
          </a:prstGeom>
          <a:solidFill>
            <a:srgbClr val="FFF9C7"/>
          </a:solidFill>
          <a:ln w="19050">
            <a:solidFill>
              <a:srgbClr val="0B032B"/>
            </a:solidFill>
            <a:prstDash val="solid"/>
          </a:ln>
        </p:spPr>
      </p:sp>
      <p:pic>
        <p:nvPicPr>
          <p:cNvPr id="10" name="Image 1" descr="preencoded.png">    </p:cNvPr>
          <p:cNvPicPr>
            <a:picLocks noChangeAspect="1"/>
          </p:cNvPicPr>
          <p:nvPr/>
        </p:nvPicPr>
        <p:blipFill>
          <a:blip r:embed="rId2"/>
          <a:stretch>
            <a:fillRect/>
          </a:stretch>
        </p:blipFill>
        <p:spPr>
          <a:xfrm>
            <a:off x="1389888" y="2633472"/>
            <a:ext cx="219456" cy="219456"/>
          </a:xfrm>
          <a:prstGeom prst="rect">
            <a:avLst/>
          </a:prstGeom>
        </p:spPr>
      </p:pic>
      <p:sp>
        <p:nvSpPr>
          <p:cNvPr id="11" name="Text 7"/>
          <p:cNvSpPr txBox="1"/>
          <p:nvPr/>
        </p:nvSpPr>
        <p:spPr>
          <a:xfrm>
            <a:off x="822960" y="3017520"/>
            <a:ext cx="3017520" cy="1143000"/>
          </a:xfrm>
          <a:prstGeom prst="rect">
            <a:avLst/>
          </a:prstGeom>
          <a:noFill/>
          <a:ln/>
        </p:spPr>
        <p:txBody>
          <a:bodyPr wrap="square" lIns="0" tIns="0" rIns="0" bIns="0" rtlCol="0" anchor="t"/>
          <a:lstStyle/>
          <a:p>
            <a:pPr indent="0" marL="0">
              <a:buNone/>
            </a:pPr>
            <a:r>
              <a:rPr lang="en-US" sz="1500" b="1" dirty="0">
                <a:solidFill>
                  <a:srgbClr val="0B032B"/>
                </a:solidFill>
                <a:latin typeface="Calibri" pitchFamily="34" charset="0"/>
                <a:ea typeface="Calibri" pitchFamily="34" charset="-122"/>
                <a:cs typeface="Calibri" pitchFamily="34" charset="-120"/>
              </a:rPr>
              <a:t>Respecter le rôle de chacun.</a:t>
            </a:r>
            <a:endParaRPr lang="en-US" sz="1500" dirty="0"/>
          </a:p>
        </p:txBody>
      </p:sp>
      <p:sp>
        <p:nvSpPr>
          <p:cNvPr id="12" name="Shape 8"/>
          <p:cNvSpPr/>
          <p:nvPr/>
        </p:nvSpPr>
        <p:spPr>
          <a:xfrm>
            <a:off x="4297680" y="1828800"/>
            <a:ext cx="3520440" cy="2423160"/>
          </a:xfrm>
          <a:prstGeom prst="roundRect">
            <a:avLst>
              <a:gd name="adj" fmla="val 4528"/>
            </a:avLst>
          </a:prstGeom>
          <a:solidFill>
            <a:srgbClr val="F3F2F8"/>
          </a:solidFill>
          <a:ln/>
        </p:spPr>
      </p:sp>
      <p:sp>
        <p:nvSpPr>
          <p:cNvPr id="13" name="Shape 9"/>
          <p:cNvSpPr/>
          <p:nvPr/>
        </p:nvSpPr>
        <p:spPr>
          <a:xfrm>
            <a:off x="4572000" y="2103120"/>
            <a:ext cx="731520" cy="731520"/>
          </a:xfrm>
          <a:prstGeom prst="ellipse">
            <a:avLst/>
          </a:prstGeom>
          <a:solidFill>
            <a:srgbClr val="0B032B"/>
          </a:solidFill>
          <a:ln/>
        </p:spPr>
      </p:sp>
      <p:pic>
        <p:nvPicPr>
          <p:cNvPr id="14" name="Image 2" descr="preencoded.png">    </p:cNvPr>
          <p:cNvPicPr>
            <a:picLocks noChangeAspect="1"/>
          </p:cNvPicPr>
          <p:nvPr/>
        </p:nvPicPr>
        <p:blipFill>
          <a:blip r:embed="rId3"/>
          <a:stretch>
            <a:fillRect/>
          </a:stretch>
        </p:blipFill>
        <p:spPr>
          <a:xfrm>
            <a:off x="4732934" y="2264054"/>
            <a:ext cx="409651" cy="409651"/>
          </a:xfrm>
          <a:prstGeom prst="rect">
            <a:avLst/>
          </a:prstGeom>
        </p:spPr>
      </p:pic>
      <p:sp>
        <p:nvSpPr>
          <p:cNvPr id="15" name="Shape 10"/>
          <p:cNvSpPr/>
          <p:nvPr/>
        </p:nvSpPr>
        <p:spPr>
          <a:xfrm>
            <a:off x="5084064" y="2578608"/>
            <a:ext cx="329184" cy="329184"/>
          </a:xfrm>
          <a:prstGeom prst="ellipse">
            <a:avLst/>
          </a:prstGeom>
          <a:solidFill>
            <a:srgbClr val="FFF9C7"/>
          </a:solidFill>
          <a:ln w="19050">
            <a:solidFill>
              <a:srgbClr val="0B032B"/>
            </a:solidFill>
            <a:prstDash val="solid"/>
          </a:ln>
        </p:spPr>
      </p:sp>
      <p:pic>
        <p:nvPicPr>
          <p:cNvPr id="16" name="Image 3" descr="preencoded.png">    </p:cNvPr>
          <p:cNvPicPr>
            <a:picLocks noChangeAspect="1"/>
          </p:cNvPicPr>
          <p:nvPr/>
        </p:nvPicPr>
        <p:blipFill>
          <a:blip r:embed="rId4"/>
          <a:stretch>
            <a:fillRect/>
          </a:stretch>
        </p:blipFill>
        <p:spPr>
          <a:xfrm>
            <a:off x="5138928" y="2633472"/>
            <a:ext cx="219456" cy="219456"/>
          </a:xfrm>
          <a:prstGeom prst="rect">
            <a:avLst/>
          </a:prstGeom>
        </p:spPr>
      </p:pic>
      <p:sp>
        <p:nvSpPr>
          <p:cNvPr id="17" name="Text 11"/>
          <p:cNvSpPr txBox="1"/>
          <p:nvPr/>
        </p:nvSpPr>
        <p:spPr>
          <a:xfrm>
            <a:off x="4572000" y="3017520"/>
            <a:ext cx="3017520" cy="1143000"/>
          </a:xfrm>
          <a:prstGeom prst="rect">
            <a:avLst/>
          </a:prstGeom>
          <a:noFill/>
          <a:ln/>
        </p:spPr>
        <p:txBody>
          <a:bodyPr wrap="square" lIns="0" tIns="0" rIns="0" bIns="0" rtlCol="0" anchor="t"/>
          <a:lstStyle/>
          <a:p>
            <a:pPr indent="0" marL="0">
              <a:buNone/>
            </a:pPr>
            <a:r>
              <a:rPr lang="en-US" sz="1500" b="1" dirty="0">
                <a:solidFill>
                  <a:srgbClr val="0B032B"/>
                </a:solidFill>
                <a:latin typeface="Calibri" pitchFamily="34" charset="0"/>
                <a:ea typeface="Calibri" pitchFamily="34" charset="-122"/>
                <a:cs typeface="Calibri" pitchFamily="34" charset="-120"/>
              </a:rPr>
              <a:t>Éviter les instructions directes aux agents sans information du maire ou du responsable de service.</a:t>
            </a:r>
            <a:endParaRPr lang="en-US" sz="1500" dirty="0"/>
          </a:p>
        </p:txBody>
      </p:sp>
      <p:sp>
        <p:nvSpPr>
          <p:cNvPr id="18" name="Shape 12"/>
          <p:cNvSpPr/>
          <p:nvPr/>
        </p:nvSpPr>
        <p:spPr>
          <a:xfrm>
            <a:off x="8046720" y="1828800"/>
            <a:ext cx="3520440" cy="2423160"/>
          </a:xfrm>
          <a:prstGeom prst="roundRect">
            <a:avLst>
              <a:gd name="adj" fmla="val 4528"/>
            </a:avLst>
          </a:prstGeom>
          <a:solidFill>
            <a:srgbClr val="F3F2F8"/>
          </a:solidFill>
          <a:ln/>
        </p:spPr>
      </p:sp>
      <p:sp>
        <p:nvSpPr>
          <p:cNvPr id="19" name="Shape 13"/>
          <p:cNvSpPr/>
          <p:nvPr/>
        </p:nvSpPr>
        <p:spPr>
          <a:xfrm>
            <a:off x="8321040" y="2103120"/>
            <a:ext cx="731520" cy="731520"/>
          </a:xfrm>
          <a:prstGeom prst="ellipse">
            <a:avLst/>
          </a:prstGeom>
          <a:solidFill>
            <a:srgbClr val="0B032B"/>
          </a:solidFill>
          <a:ln/>
        </p:spPr>
      </p:sp>
      <p:pic>
        <p:nvPicPr>
          <p:cNvPr id="20" name="Image 4" descr="preencoded.png">    </p:cNvPr>
          <p:cNvPicPr>
            <a:picLocks noChangeAspect="1"/>
          </p:cNvPicPr>
          <p:nvPr/>
        </p:nvPicPr>
        <p:blipFill>
          <a:blip r:embed="rId5"/>
          <a:stretch>
            <a:fillRect/>
          </a:stretch>
        </p:blipFill>
        <p:spPr>
          <a:xfrm>
            <a:off x="8481974" y="2264054"/>
            <a:ext cx="409651" cy="409651"/>
          </a:xfrm>
          <a:prstGeom prst="rect">
            <a:avLst/>
          </a:prstGeom>
        </p:spPr>
      </p:pic>
      <p:sp>
        <p:nvSpPr>
          <p:cNvPr id="21" name="Shape 14"/>
          <p:cNvSpPr/>
          <p:nvPr/>
        </p:nvSpPr>
        <p:spPr>
          <a:xfrm>
            <a:off x="8833104" y="2578608"/>
            <a:ext cx="329184" cy="329184"/>
          </a:xfrm>
          <a:prstGeom prst="ellipse">
            <a:avLst/>
          </a:prstGeom>
          <a:solidFill>
            <a:srgbClr val="FFF9C7"/>
          </a:solidFill>
          <a:ln w="19050">
            <a:solidFill>
              <a:srgbClr val="0B032B"/>
            </a:solidFill>
            <a:prstDash val="solid"/>
          </a:ln>
        </p:spPr>
      </p:sp>
      <p:pic>
        <p:nvPicPr>
          <p:cNvPr id="22" name="Image 5" descr="preencoded.png">    </p:cNvPr>
          <p:cNvPicPr>
            <a:picLocks noChangeAspect="1"/>
          </p:cNvPicPr>
          <p:nvPr/>
        </p:nvPicPr>
        <p:blipFill>
          <a:blip r:embed="rId6"/>
          <a:stretch>
            <a:fillRect/>
          </a:stretch>
        </p:blipFill>
        <p:spPr>
          <a:xfrm>
            <a:off x="8887968" y="2633472"/>
            <a:ext cx="219456" cy="219456"/>
          </a:xfrm>
          <a:prstGeom prst="rect">
            <a:avLst/>
          </a:prstGeom>
        </p:spPr>
      </p:pic>
      <p:sp>
        <p:nvSpPr>
          <p:cNvPr id="23" name="Text 15"/>
          <p:cNvSpPr txBox="1"/>
          <p:nvPr/>
        </p:nvSpPr>
        <p:spPr>
          <a:xfrm>
            <a:off x="8321040" y="3017520"/>
            <a:ext cx="3017520" cy="1143000"/>
          </a:xfrm>
          <a:prstGeom prst="rect">
            <a:avLst/>
          </a:prstGeom>
          <a:noFill/>
          <a:ln/>
        </p:spPr>
        <p:txBody>
          <a:bodyPr wrap="square" lIns="0" tIns="0" rIns="0" bIns="0" rtlCol="0" anchor="t"/>
          <a:lstStyle/>
          <a:p>
            <a:pPr indent="0" marL="0">
              <a:buNone/>
            </a:pPr>
            <a:r>
              <a:rPr lang="en-US" sz="1500" b="1" dirty="0">
                <a:solidFill>
                  <a:srgbClr val="0B032B"/>
                </a:solidFill>
                <a:latin typeface="Calibri" pitchFamily="34" charset="0"/>
                <a:ea typeface="Calibri" pitchFamily="34" charset="-122"/>
                <a:cs typeface="Calibri" pitchFamily="34" charset="-120"/>
              </a:rPr>
              <a:t>Favoriser un dialogue permanent entre élus, direction générale et services municipaux.</a:t>
            </a:r>
            <a:endParaRPr lang="en-US" sz="1500" dirty="0"/>
          </a:p>
        </p:txBody>
      </p:sp>
      <p:sp>
        <p:nvSpPr>
          <p:cNvPr id="24" name="Shape 16"/>
          <p:cNvSpPr/>
          <p:nvPr/>
        </p:nvSpPr>
        <p:spPr>
          <a:xfrm>
            <a:off x="548640" y="4526280"/>
            <a:ext cx="11064240" cy="1600200"/>
          </a:xfrm>
          <a:prstGeom prst="roundRect">
            <a:avLst>
              <a:gd name="adj" fmla="val 8000"/>
            </a:avLst>
          </a:prstGeom>
          <a:solidFill>
            <a:srgbClr val="0B032B"/>
          </a:solidFill>
          <a:ln/>
        </p:spPr>
      </p:sp>
      <p:sp>
        <p:nvSpPr>
          <p:cNvPr id="25" name="Shape 17"/>
          <p:cNvSpPr/>
          <p:nvPr/>
        </p:nvSpPr>
        <p:spPr>
          <a:xfrm>
            <a:off x="804672" y="4782312"/>
            <a:ext cx="566928" cy="566928"/>
          </a:xfrm>
          <a:prstGeom prst="ellipse">
            <a:avLst/>
          </a:prstGeom>
          <a:solidFill>
            <a:srgbClr val="FFF9C7"/>
          </a:solidFill>
          <a:ln/>
        </p:spPr>
      </p:sp>
      <p:pic>
        <p:nvPicPr>
          <p:cNvPr id="26" name="Image 6" descr="preencoded.png">    </p:cNvPr>
          <p:cNvPicPr>
            <a:picLocks noChangeAspect="1"/>
          </p:cNvPicPr>
          <p:nvPr/>
        </p:nvPicPr>
        <p:blipFill>
          <a:blip r:embed="rId7"/>
          <a:stretch>
            <a:fillRect/>
          </a:stretch>
        </p:blipFill>
        <p:spPr>
          <a:xfrm>
            <a:off x="929396" y="4907036"/>
            <a:ext cx="317480" cy="317480"/>
          </a:xfrm>
          <a:prstGeom prst="rect">
            <a:avLst/>
          </a:prstGeom>
        </p:spPr>
      </p:pic>
      <p:sp>
        <p:nvSpPr>
          <p:cNvPr id="27" name="Text 18"/>
          <p:cNvSpPr txBox="1"/>
          <p:nvPr/>
        </p:nvSpPr>
        <p:spPr>
          <a:xfrm>
            <a:off x="1554480" y="4800600"/>
            <a:ext cx="9784080" cy="274320"/>
          </a:xfrm>
          <a:prstGeom prst="rect">
            <a:avLst/>
          </a:prstGeom>
          <a:noFill/>
          <a:ln/>
        </p:spPr>
        <p:txBody>
          <a:bodyPr wrap="square" lIns="0" tIns="0" rIns="0" bIns="0" rtlCol="0" anchor="t"/>
          <a:lstStyle/>
          <a:p>
            <a:pPr indent="0" marL="0">
              <a:buNone/>
            </a:pPr>
            <a:r>
              <a:rPr lang="en-US" sz="1100" b="1" spc="300" kern="0" dirty="0">
                <a:solidFill>
                  <a:srgbClr val="FFF9C7"/>
                </a:solidFill>
                <a:latin typeface="Calibri" pitchFamily="34" charset="0"/>
                <a:ea typeface="Calibri" pitchFamily="34" charset="-122"/>
                <a:cs typeface="Calibri" pitchFamily="34" charset="-120"/>
              </a:rPr>
              <a:t>À RETENIR</a:t>
            </a:r>
            <a:endParaRPr lang="en-US" sz="1100" dirty="0"/>
          </a:p>
        </p:txBody>
      </p:sp>
      <p:sp>
        <p:nvSpPr>
          <p:cNvPr id="28" name="Text 19"/>
          <p:cNvSpPr txBox="1"/>
          <p:nvPr/>
        </p:nvSpPr>
        <p:spPr>
          <a:xfrm>
            <a:off x="1554480" y="5111496"/>
            <a:ext cx="9784080" cy="813816"/>
          </a:xfrm>
          <a:prstGeom prst="rect">
            <a:avLst/>
          </a:prstGeom>
          <a:noFill/>
          <a:ln/>
        </p:spPr>
        <p:txBody>
          <a:bodyPr wrap="square" lIns="0" tIns="0" rIns="0" bIns="0" rtlCol="0" anchor="t">
            <a:normAutofit/>
          </a:bodyPr>
          <a:lstStyle/>
          <a:p>
            <a:pPr indent="0" marL="0">
              <a:lnSpc>
                <a:spcPct val="105000"/>
              </a:lnSpc>
              <a:buNone/>
            </a:pPr>
            <a:r>
              <a:rPr lang="en-US" sz="1450" dirty="0">
                <a:solidFill>
                  <a:srgbClr val="FFFFFF"/>
                </a:solidFill>
                <a:latin typeface="Calibri" pitchFamily="34" charset="0"/>
                <a:ea typeface="Calibri" pitchFamily="34" charset="-122"/>
                <a:cs typeface="Calibri" pitchFamily="34" charset="-120"/>
              </a:rPr>
              <a:t>Les agents municipaux travaillent au service de la commune, mais ils sont placés sous l’autorité hiérarchique du maire. Une organisation claire des relations entre élus et agents est indispensable pour garantir un fonctionnement efficace, serein et juridiquement sécurisé de la collectivité.</a:t>
            </a:r>
            <a:endParaRPr lang="en-US" sz="1450" dirty="0"/>
          </a:p>
        </p:txBody>
      </p:sp>
      <p:sp>
        <p:nvSpPr>
          <p:cNvPr id="29" name="Text 20"/>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spc="100" kern="0" dirty="0">
                <a:solidFill>
                  <a:srgbClr val="8A8699"/>
                </a:solidFill>
                <a:latin typeface="Calibri" pitchFamily="34" charset="0"/>
                <a:ea typeface="Calibri" pitchFamily="34" charset="-122"/>
                <a:cs typeface="Calibri" pitchFamily="34" charset="-120"/>
              </a:rPr>
              <a:t>ENMA FORMATION  ·  Formation des élus municipaux 2026</a:t>
            </a:r>
            <a:endParaRPr lang="en-US" sz="900" dirty="0"/>
          </a:p>
        </p:txBody>
      </p:sp>
      <p:sp>
        <p:nvSpPr>
          <p:cNvPr id="30" name="Text 21"/>
          <p:cNvSpPr txBox="1"/>
          <p:nvPr/>
        </p:nvSpPr>
        <p:spPr>
          <a:xfrm>
            <a:off x="9692640" y="6400800"/>
            <a:ext cx="548640" cy="274320"/>
          </a:xfrm>
          <a:prstGeom prst="rect">
            <a:avLst/>
          </a:prstGeom>
          <a:noFill/>
          <a:ln/>
        </p:spPr>
        <p:txBody>
          <a:bodyPr wrap="square" lIns="0" tIns="0" rIns="0" bIns="0" rtlCol="0" anchor="ctr"/>
          <a:lstStyle/>
          <a:p>
            <a:pPr algn="r" indent="0" marL="0">
              <a:buNone/>
            </a:pPr>
            <a:r>
              <a:rPr lang="en-US" sz="900" dirty="0">
                <a:solidFill>
                  <a:srgbClr val="8A8699"/>
                </a:solidFill>
                <a:latin typeface="Calibri" pitchFamily="34" charset="0"/>
                <a:ea typeface="Calibri" pitchFamily="34" charset="-122"/>
                <a:cs typeface="Calibri" pitchFamily="34" charset="-120"/>
              </a:rPr>
              <a:t>21</a:t>
            </a:r>
            <a:endParaRPr lang="en-US" sz="900" dirty="0"/>
          </a:p>
        </p:txBody>
      </p:sp>
      <p:pic>
        <p:nvPicPr>
          <p:cNvPr id="31" name="Image 7" descr="preencoded.png">    </p:cNvPr>
          <p:cNvPicPr>
            <a:picLocks noChangeAspect="1"/>
          </p:cNvPicPr>
          <p:nvPr/>
        </p:nvPicPr>
        <p:blipFill>
          <a:blip r:embed="rId8"/>
          <a:stretch>
            <a:fillRect/>
          </a:stretch>
        </p:blipFill>
        <p:spPr>
          <a:xfrm>
            <a:off x="10469880" y="6309360"/>
            <a:ext cx="1170432" cy="484632"/>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032B"/>
        </a:solidFill>
      </p:bgPr>
    </p:bg>
    <p:spTree>
      <p:nvGrpSpPr>
        <p:cNvPr id="1" name=""/>
        <p:cNvGrpSpPr/>
        <p:nvPr/>
      </p:nvGrpSpPr>
      <p:grpSpPr>
        <a:xfrm>
          <a:off x="0" y="0"/>
          <a:ext cx="0" cy="0"/>
          <a:chOff x="0" y="0"/>
          <a:chExt cx="0" cy="0"/>
        </a:xfrm>
      </p:grpSpPr>
      <p:sp>
        <p:nvSpPr>
          <p:cNvPr id="2" name="Text 0"/>
          <p:cNvSpPr txBox="1"/>
          <p:nvPr/>
        </p:nvSpPr>
        <p:spPr>
          <a:xfrm>
            <a:off x="548640" y="640080"/>
            <a:ext cx="4114800" cy="2286000"/>
          </a:xfrm>
          <a:prstGeom prst="rect">
            <a:avLst/>
          </a:prstGeom>
          <a:noFill/>
          <a:ln/>
        </p:spPr>
        <p:txBody>
          <a:bodyPr wrap="square" lIns="0" tIns="0" rIns="0" bIns="0" rtlCol="0" anchor="b"/>
          <a:lstStyle/>
          <a:p>
            <a:pPr indent="0" marL="0">
              <a:buNone/>
            </a:pPr>
            <a:r>
              <a:rPr lang="en-US" sz="15000" dirty="0">
                <a:solidFill>
                  <a:srgbClr val="FFF9C7"/>
                </a:solidFill>
                <a:latin typeface="Impact" pitchFamily="34" charset="0"/>
                <a:ea typeface="Impact" pitchFamily="34" charset="-122"/>
                <a:cs typeface="Impact" pitchFamily="34" charset="-120"/>
              </a:rPr>
              <a:t>04</a:t>
            </a:r>
            <a:endParaRPr lang="en-US" sz="15000" dirty="0"/>
          </a:p>
        </p:txBody>
      </p:sp>
      <p:sp>
        <p:nvSpPr>
          <p:cNvPr id="3" name="Text 1"/>
          <p:cNvSpPr txBox="1"/>
          <p:nvPr/>
        </p:nvSpPr>
        <p:spPr>
          <a:xfrm>
            <a:off x="594360" y="3017520"/>
            <a:ext cx="5486400" cy="320040"/>
          </a:xfrm>
          <a:prstGeom prst="rect">
            <a:avLst/>
          </a:prstGeom>
          <a:noFill/>
          <a:ln/>
        </p:spPr>
        <p:txBody>
          <a:bodyPr wrap="square" lIns="0" tIns="0" rIns="0" bIns="0" rtlCol="0" anchor="t"/>
          <a:lstStyle/>
          <a:p>
            <a:pPr indent="0" marL="0">
              <a:buNone/>
            </a:pPr>
            <a:r>
              <a:rPr lang="en-US" sz="1300" b="1" spc="400" kern="0" dirty="0">
                <a:solidFill>
                  <a:srgbClr val="FFF9C7"/>
                </a:solidFill>
                <a:latin typeface="Calibri" pitchFamily="34" charset="0"/>
                <a:ea typeface="Calibri" pitchFamily="34" charset="-122"/>
                <a:cs typeface="Calibri" pitchFamily="34" charset="-120"/>
              </a:rPr>
              <a:t>SÉQUENCE 04</a:t>
            </a:r>
            <a:endParaRPr lang="en-US" sz="1300" dirty="0"/>
          </a:p>
        </p:txBody>
      </p:sp>
      <p:sp>
        <p:nvSpPr>
          <p:cNvPr id="4" name="Text 2"/>
          <p:cNvSpPr txBox="1"/>
          <p:nvPr/>
        </p:nvSpPr>
        <p:spPr>
          <a:xfrm>
            <a:off x="548640" y="3401568"/>
            <a:ext cx="5486400" cy="1463040"/>
          </a:xfrm>
          <a:prstGeom prst="rect">
            <a:avLst/>
          </a:prstGeom>
          <a:noFill/>
          <a:ln/>
        </p:spPr>
        <p:txBody>
          <a:bodyPr wrap="square" lIns="0" tIns="0" rIns="0" bIns="0"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Les droits, les devoirs et les responsabilités des élus</a:t>
            </a:r>
            <a:endParaRPr lang="en-US" sz="3000" dirty="0"/>
          </a:p>
        </p:txBody>
      </p:sp>
      <p:sp>
        <p:nvSpPr>
          <p:cNvPr id="5" name="Text 3"/>
          <p:cNvSpPr txBox="1"/>
          <p:nvPr/>
        </p:nvSpPr>
        <p:spPr>
          <a:xfrm>
            <a:off x="548640" y="4937760"/>
            <a:ext cx="5486400" cy="640080"/>
          </a:xfrm>
          <a:prstGeom prst="rect">
            <a:avLst/>
          </a:prstGeom>
          <a:noFill/>
          <a:ln/>
        </p:spPr>
        <p:txBody>
          <a:bodyPr wrap="square" lIns="0" tIns="0" rIns="0" bIns="0" rtlCol="0" anchor="t">
            <a:normAutofit/>
          </a:bodyPr>
          <a:lstStyle/>
          <a:p>
            <a:pPr indent="0" marL="0">
              <a:buNone/>
            </a:pPr>
            <a:r>
              <a:rPr lang="en-US" sz="1600" dirty="0">
                <a:solidFill>
                  <a:srgbClr val="B3B3BA"/>
                </a:solidFill>
                <a:latin typeface="Calibri" pitchFamily="34" charset="0"/>
                <a:ea typeface="Calibri" pitchFamily="34" charset="-122"/>
                <a:cs typeface="Calibri" pitchFamily="34" charset="-120"/>
              </a:rPr>
              <a:t>Les droits et les devoirs des élus municipaux · Les responsabilités des élus locaux : responsabilité pénale, civile et politique.</a:t>
            </a:r>
            <a:endParaRPr lang="en-US" sz="1600" dirty="0"/>
          </a:p>
        </p:txBody>
      </p:sp>
      <p:sp>
        <p:nvSpPr>
          <p:cNvPr id="6" name="Shape 4"/>
          <p:cNvSpPr/>
          <p:nvPr/>
        </p:nvSpPr>
        <p:spPr>
          <a:xfrm>
            <a:off x="548640" y="5623560"/>
            <a:ext cx="3017520" cy="384048"/>
          </a:xfrm>
          <a:prstGeom prst="roundRect">
            <a:avLst>
              <a:gd name="adj" fmla="val 50000"/>
            </a:avLst>
          </a:prstGeom>
          <a:solidFill>
            <a:srgbClr val="0B032B"/>
          </a:solidFill>
          <a:ln w="12700">
            <a:solidFill>
              <a:srgbClr val="FFF9C7"/>
            </a:solidFill>
            <a:prstDash val="solid"/>
          </a:ln>
        </p:spPr>
      </p:sp>
      <p:sp>
        <p:nvSpPr>
          <p:cNvPr id="7" name="Text 5"/>
          <p:cNvSpPr txBox="1"/>
          <p:nvPr/>
        </p:nvSpPr>
        <p:spPr>
          <a:xfrm>
            <a:off x="548640" y="5623560"/>
            <a:ext cx="3017520" cy="384048"/>
          </a:xfrm>
          <a:prstGeom prst="rect">
            <a:avLst/>
          </a:prstGeom>
          <a:noFill/>
          <a:ln/>
        </p:spPr>
        <p:txBody>
          <a:bodyPr wrap="square" lIns="0" tIns="0" rIns="0" bIns="0" rtlCol="0" anchor="ctr"/>
          <a:lstStyle/>
          <a:p>
            <a:pPr algn="ctr" indent="0" marL="0">
              <a:buNone/>
            </a:pPr>
            <a:r>
              <a:rPr lang="en-US" sz="1200" b="1" dirty="0">
                <a:solidFill>
                  <a:srgbClr val="FFF9C7"/>
                </a:solidFill>
                <a:latin typeface="Calibri" pitchFamily="34" charset="0"/>
                <a:ea typeface="Calibri" pitchFamily="34" charset="-122"/>
                <a:cs typeface="Calibri" pitchFamily="34" charset="-120"/>
              </a:rPr>
              <a:t>13h45 – 14h45  ·  60 min</a:t>
            </a:r>
            <a:endParaRPr lang="en-US" sz="1200" dirty="0"/>
          </a:p>
        </p:txBody>
      </p:sp>
      <p:sp>
        <p:nvSpPr>
          <p:cNvPr id="8" name="Shape 6"/>
          <p:cNvSpPr/>
          <p:nvPr/>
        </p:nvSpPr>
        <p:spPr>
          <a:xfrm>
            <a:off x="6263640" y="411480"/>
            <a:ext cx="5486400" cy="5486400"/>
          </a:xfrm>
          <a:prstGeom prst="ellipse">
            <a:avLst/>
          </a:prstGeom>
          <a:solidFill>
            <a:srgbClr val="0B032B"/>
          </a:solidFill>
          <a:ln w="12700">
            <a:solidFill>
              <a:srgbClr val="FFF9C7"/>
            </a:solidFill>
            <a:prstDash val="dash"/>
          </a:ln>
        </p:spPr>
      </p:sp>
      <p:sp>
        <p:nvSpPr>
          <p:cNvPr id="9" name="Shape 7"/>
          <p:cNvSpPr/>
          <p:nvPr/>
        </p:nvSpPr>
        <p:spPr>
          <a:xfrm>
            <a:off x="6583680" y="731520"/>
            <a:ext cx="4846320" cy="4846320"/>
          </a:xfrm>
          <a:prstGeom prst="ellipse">
            <a:avLst/>
          </a:prstGeom>
          <a:solidFill>
            <a:srgbClr val="FFF9C7"/>
          </a:solidFill>
          <a:ln/>
        </p:spPr>
      </p:sp>
      <p:pic>
        <p:nvPicPr>
          <p:cNvPr id="10" name="Image 0" descr="preencoded.png">    </p:cNvPr>
          <p:cNvPicPr>
            <a:picLocks noChangeAspect="1"/>
          </p:cNvPicPr>
          <p:nvPr/>
        </p:nvPicPr>
        <p:blipFill>
          <a:blip r:embed="rId1"/>
          <a:stretch>
            <a:fillRect/>
          </a:stretch>
        </p:blipFill>
        <p:spPr>
          <a:xfrm>
            <a:off x="7452360" y="1697355"/>
            <a:ext cx="3108960" cy="2914650"/>
          </a:xfrm>
          <a:prstGeom prst="rect">
            <a:avLst/>
          </a:prstGeom>
        </p:spPr>
      </p:pic>
      <p:sp>
        <p:nvSpPr>
          <p:cNvPr id="11" name="Text 8"/>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spc="100" kern="0" dirty="0">
                <a:solidFill>
                  <a:srgbClr val="B3B3BA"/>
                </a:solidFill>
                <a:latin typeface="Calibri" pitchFamily="34" charset="0"/>
                <a:ea typeface="Calibri" pitchFamily="34" charset="-122"/>
                <a:cs typeface="Calibri" pitchFamily="34" charset="-120"/>
              </a:rPr>
              <a:t>ENMA FORMATION  ·  Formation des élus municipaux 2026</a:t>
            </a:r>
            <a:endParaRPr lang="en-US" sz="900" dirty="0"/>
          </a:p>
        </p:txBody>
      </p:sp>
      <p:sp>
        <p:nvSpPr>
          <p:cNvPr id="12" name="Text 9"/>
          <p:cNvSpPr txBox="1"/>
          <p:nvPr/>
        </p:nvSpPr>
        <p:spPr>
          <a:xfrm>
            <a:off x="9692640" y="6400800"/>
            <a:ext cx="548640" cy="274320"/>
          </a:xfrm>
          <a:prstGeom prst="rect">
            <a:avLst/>
          </a:prstGeom>
          <a:noFill/>
          <a:ln/>
        </p:spPr>
        <p:txBody>
          <a:bodyPr wrap="square" lIns="0" tIns="0" rIns="0" bIns="0" rtlCol="0" anchor="ctr"/>
          <a:lstStyle/>
          <a:p>
            <a:pPr algn="r" indent="0" marL="0">
              <a:buNone/>
            </a:pPr>
            <a:r>
              <a:rPr lang="en-US" sz="900" dirty="0">
                <a:solidFill>
                  <a:srgbClr val="B3B3BA"/>
                </a:solidFill>
                <a:latin typeface="Calibri" pitchFamily="34" charset="0"/>
                <a:ea typeface="Calibri" pitchFamily="34" charset="-122"/>
                <a:cs typeface="Calibri" pitchFamily="34" charset="-120"/>
              </a:rPr>
              <a:t>22</a:t>
            </a:r>
            <a:endParaRPr lang="en-US" sz="900" dirty="0"/>
          </a:p>
        </p:txBody>
      </p:sp>
      <p:pic>
        <p:nvPicPr>
          <p:cNvPr id="13" name="Image 1" descr="preencoded.png">    </p:cNvPr>
          <p:cNvPicPr>
            <a:picLocks noChangeAspect="1"/>
          </p:cNvPicPr>
          <p:nvPr/>
        </p:nvPicPr>
        <p:blipFill>
          <a:blip r:embed="rId2"/>
          <a:stretch>
            <a:fillRect/>
          </a:stretch>
        </p:blipFill>
        <p:spPr>
          <a:xfrm>
            <a:off x="10469880" y="6309360"/>
            <a:ext cx="1170432" cy="484632"/>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420624" cy="310896"/>
          </a:xfrm>
          <a:prstGeom prst="roundRect">
            <a:avLst>
              <a:gd name="adj" fmla="val 23529"/>
            </a:avLst>
          </a:prstGeom>
          <a:solidFill>
            <a:srgbClr val="0B032B"/>
          </a:solidFill>
          <a:ln/>
        </p:spPr>
      </p:sp>
      <p:sp>
        <p:nvSpPr>
          <p:cNvPr id="3" name="Text 1"/>
          <p:cNvSpPr txBox="1"/>
          <p:nvPr/>
        </p:nvSpPr>
        <p:spPr>
          <a:xfrm>
            <a:off x="548640" y="438912"/>
            <a:ext cx="420624" cy="310896"/>
          </a:xfrm>
          <a:prstGeom prst="rect">
            <a:avLst/>
          </a:prstGeom>
          <a:noFill/>
          <a:ln/>
        </p:spPr>
        <p:txBody>
          <a:bodyPr wrap="square" lIns="0" tIns="0" rIns="0" bIns="0" rtlCol="0" anchor="ctr"/>
          <a:lstStyle/>
          <a:p>
            <a:pPr algn="ctr" indent="0" marL="0">
              <a:buNone/>
            </a:pPr>
            <a:r>
              <a:rPr lang="en-US" sz="1100" b="1" dirty="0">
                <a:solidFill>
                  <a:srgbClr val="FFF9C7"/>
                </a:solidFill>
                <a:latin typeface="Calibri" pitchFamily="34" charset="0"/>
                <a:ea typeface="Calibri" pitchFamily="34" charset="-122"/>
                <a:cs typeface="Calibri" pitchFamily="34" charset="-120"/>
              </a:rPr>
              <a:t>04</a:t>
            </a:r>
            <a:endParaRPr lang="en-US" sz="1100" dirty="0"/>
          </a:p>
        </p:txBody>
      </p:sp>
      <p:sp>
        <p:nvSpPr>
          <p:cNvPr id="4" name="Text 2"/>
          <p:cNvSpPr txBox="1"/>
          <p:nvPr/>
        </p:nvSpPr>
        <p:spPr>
          <a:xfrm>
            <a:off x="1115568" y="438912"/>
            <a:ext cx="8229600" cy="310896"/>
          </a:xfrm>
          <a:prstGeom prst="rect">
            <a:avLst/>
          </a:prstGeom>
          <a:noFill/>
          <a:ln/>
        </p:spPr>
        <p:txBody>
          <a:bodyPr wrap="square" lIns="0" tIns="0" rIns="0" bIns="0" rtlCol="0" anchor="ctr"/>
          <a:lstStyle/>
          <a:p>
            <a:pPr indent="0" marL="0">
              <a:buNone/>
            </a:pPr>
            <a:r>
              <a:rPr lang="en-US" sz="1100" b="1" spc="200" kern="0" dirty="0">
                <a:solidFill>
                  <a:srgbClr val="55516E"/>
                </a:solidFill>
                <a:latin typeface="Calibri" pitchFamily="34" charset="0"/>
                <a:ea typeface="Calibri" pitchFamily="34" charset="-122"/>
                <a:cs typeface="Calibri" pitchFamily="34" charset="-120"/>
              </a:rPr>
              <a:t>DROITS ET DEVOIRS</a:t>
            </a:r>
            <a:endParaRPr lang="en-US" sz="1100" dirty="0"/>
          </a:p>
        </p:txBody>
      </p:sp>
      <p:sp>
        <p:nvSpPr>
          <p:cNvPr id="5" name="Text 3"/>
          <p:cNvSpPr txBox="1"/>
          <p:nvPr/>
        </p:nvSpPr>
        <p:spPr>
          <a:xfrm>
            <a:off x="548640" y="841248"/>
            <a:ext cx="11064240" cy="685800"/>
          </a:xfrm>
          <a:prstGeom prst="rect">
            <a:avLst/>
          </a:prstGeom>
          <a:noFill/>
          <a:ln/>
        </p:spPr>
        <p:txBody>
          <a:bodyPr wrap="square" lIns="0" tIns="0" rIns="0" bIns="0" rtlCol="0" anchor="ctr">
            <a:normAutofit/>
          </a:bodyPr>
          <a:lstStyle/>
          <a:p>
            <a:pPr indent="0" marL="0">
              <a:buNone/>
            </a:pPr>
            <a:r>
              <a:rPr lang="en-US" sz="2800" b="1" dirty="0">
                <a:solidFill>
                  <a:srgbClr val="0B032B"/>
                </a:solidFill>
                <a:latin typeface="Calibri" pitchFamily="34" charset="0"/>
                <a:ea typeface="Calibri" pitchFamily="34" charset="-122"/>
                <a:cs typeface="Calibri" pitchFamily="34" charset="-120"/>
              </a:rPr>
              <a:t>Les droits des élus</a:t>
            </a:r>
            <a:endParaRPr lang="en-US" sz="2800" dirty="0"/>
          </a:p>
        </p:txBody>
      </p:sp>
      <p:sp>
        <p:nvSpPr>
          <p:cNvPr id="6" name="Text 4"/>
          <p:cNvSpPr txBox="1"/>
          <p:nvPr/>
        </p:nvSpPr>
        <p:spPr>
          <a:xfrm>
            <a:off x="548640" y="1691640"/>
            <a:ext cx="10972800" cy="411480"/>
          </a:xfrm>
          <a:prstGeom prst="rect">
            <a:avLst/>
          </a:prstGeom>
          <a:noFill/>
          <a:ln/>
        </p:spPr>
        <p:txBody>
          <a:bodyPr wrap="square" lIns="0" tIns="0" rIns="0" bIns="0" rtlCol="0" anchor="t"/>
          <a:lstStyle/>
          <a:p>
            <a:pPr indent="0" marL="0">
              <a:buNone/>
            </a:pPr>
            <a:r>
              <a:rPr lang="en-US" sz="1600" dirty="0">
                <a:solidFill>
                  <a:srgbClr val="55516E"/>
                </a:solidFill>
                <a:latin typeface="Calibri" pitchFamily="34" charset="0"/>
                <a:ea typeface="Calibri" pitchFamily="34" charset="-122"/>
                <a:cs typeface="Calibri" pitchFamily="34" charset="-120"/>
              </a:rPr>
              <a:t>Les élus municipaux disposent de droits garantis par la loi afin d’exercer leur mandat dans de bonnes conditions :</a:t>
            </a:r>
            <a:endParaRPr lang="en-US" sz="1600" dirty="0"/>
          </a:p>
        </p:txBody>
      </p:sp>
      <p:sp>
        <p:nvSpPr>
          <p:cNvPr id="7" name="Shape 5"/>
          <p:cNvSpPr/>
          <p:nvPr/>
        </p:nvSpPr>
        <p:spPr>
          <a:xfrm>
            <a:off x="548640" y="2240280"/>
            <a:ext cx="3520440" cy="1828800"/>
          </a:xfrm>
          <a:prstGeom prst="roundRect">
            <a:avLst>
              <a:gd name="adj" fmla="val 6000"/>
            </a:avLst>
          </a:prstGeom>
          <a:solidFill>
            <a:srgbClr val="F3F2F8"/>
          </a:solidFill>
          <a:ln/>
        </p:spPr>
      </p:sp>
      <p:sp>
        <p:nvSpPr>
          <p:cNvPr id="8" name="Shape 6"/>
          <p:cNvSpPr/>
          <p:nvPr/>
        </p:nvSpPr>
        <p:spPr>
          <a:xfrm>
            <a:off x="777240" y="2468880"/>
            <a:ext cx="566928" cy="566928"/>
          </a:xfrm>
          <a:prstGeom prst="ellipse">
            <a:avLst/>
          </a:prstGeom>
          <a:solidFill>
            <a:srgbClr val="0B032B"/>
          </a:solidFill>
          <a:ln/>
        </p:spPr>
      </p:sp>
      <p:pic>
        <p:nvPicPr>
          <p:cNvPr id="9" name="Image 0" descr="preencoded.png">    </p:cNvPr>
          <p:cNvPicPr>
            <a:picLocks noChangeAspect="1"/>
          </p:cNvPicPr>
          <p:nvPr/>
        </p:nvPicPr>
        <p:blipFill>
          <a:blip r:embed="rId1"/>
          <a:stretch>
            <a:fillRect/>
          </a:stretch>
        </p:blipFill>
        <p:spPr>
          <a:xfrm>
            <a:off x="901964" y="2593604"/>
            <a:ext cx="317480" cy="317480"/>
          </a:xfrm>
          <a:prstGeom prst="rect">
            <a:avLst/>
          </a:prstGeom>
        </p:spPr>
      </p:pic>
      <p:sp>
        <p:nvSpPr>
          <p:cNvPr id="10" name="Text 7"/>
          <p:cNvSpPr txBox="1"/>
          <p:nvPr/>
        </p:nvSpPr>
        <p:spPr>
          <a:xfrm>
            <a:off x="1508760" y="2441448"/>
            <a:ext cx="2423160" cy="621792"/>
          </a:xfrm>
          <a:prstGeom prst="rect">
            <a:avLst/>
          </a:prstGeom>
          <a:noFill/>
          <a:ln/>
        </p:spPr>
        <p:txBody>
          <a:bodyPr wrap="square" lIns="0" tIns="0" rIns="0" bIns="0" rtlCol="0" anchor="ctr">
            <a:normAutofit/>
          </a:bodyPr>
          <a:lstStyle/>
          <a:p>
            <a:pPr indent="0" marL="0">
              <a:buNone/>
            </a:pPr>
            <a:r>
              <a:rPr lang="en-US" sz="1450" b="1" dirty="0">
                <a:solidFill>
                  <a:srgbClr val="0B032B"/>
                </a:solidFill>
                <a:latin typeface="Calibri" pitchFamily="34" charset="0"/>
                <a:ea typeface="Calibri" pitchFamily="34" charset="-122"/>
                <a:cs typeface="Calibri" pitchFamily="34" charset="-120"/>
              </a:rPr>
              <a:t>Droit à l’information</a:t>
            </a:r>
            <a:endParaRPr lang="en-US" sz="1450" dirty="0"/>
          </a:p>
        </p:txBody>
      </p:sp>
      <p:sp>
        <p:nvSpPr>
          <p:cNvPr id="11" name="Text 8"/>
          <p:cNvSpPr txBox="1"/>
          <p:nvPr/>
        </p:nvSpPr>
        <p:spPr>
          <a:xfrm>
            <a:off x="777240" y="3154680"/>
            <a:ext cx="3108960" cy="841248"/>
          </a:xfrm>
          <a:prstGeom prst="rect">
            <a:avLst/>
          </a:prstGeom>
          <a:noFill/>
          <a:ln/>
        </p:spPr>
        <p:txBody>
          <a:bodyPr wrap="square" lIns="0" tIns="0" rIns="0" bIns="0" rtlCol="0" anchor="t">
            <a:normAutofit/>
          </a:bodyPr>
          <a:lstStyle/>
          <a:p>
            <a:pPr indent="0" marL="0">
              <a:buNone/>
            </a:pPr>
            <a:r>
              <a:rPr lang="en-US" sz="1250" dirty="0">
                <a:solidFill>
                  <a:srgbClr val="55516E"/>
                </a:solidFill>
                <a:latin typeface="Calibri" pitchFamily="34" charset="0"/>
                <a:ea typeface="Calibri" pitchFamily="34" charset="-122"/>
                <a:cs typeface="Calibri" pitchFamily="34" charset="-120"/>
              </a:rPr>
              <a:t>Recevoir les convocations, notes explicatives et documents nécessaires aux délibérations.</a:t>
            </a:r>
            <a:endParaRPr lang="en-US" sz="1250" dirty="0"/>
          </a:p>
        </p:txBody>
      </p:sp>
      <p:sp>
        <p:nvSpPr>
          <p:cNvPr id="12" name="Shape 9"/>
          <p:cNvSpPr/>
          <p:nvPr/>
        </p:nvSpPr>
        <p:spPr>
          <a:xfrm>
            <a:off x="4297680" y="2240280"/>
            <a:ext cx="3520440" cy="1828800"/>
          </a:xfrm>
          <a:prstGeom prst="roundRect">
            <a:avLst>
              <a:gd name="adj" fmla="val 6000"/>
            </a:avLst>
          </a:prstGeom>
          <a:solidFill>
            <a:srgbClr val="F3F2F8"/>
          </a:solidFill>
          <a:ln/>
        </p:spPr>
      </p:sp>
      <p:sp>
        <p:nvSpPr>
          <p:cNvPr id="13" name="Shape 10"/>
          <p:cNvSpPr/>
          <p:nvPr/>
        </p:nvSpPr>
        <p:spPr>
          <a:xfrm>
            <a:off x="4526280" y="2468880"/>
            <a:ext cx="566928" cy="566928"/>
          </a:xfrm>
          <a:prstGeom prst="ellipse">
            <a:avLst/>
          </a:prstGeom>
          <a:solidFill>
            <a:srgbClr val="0B032B"/>
          </a:solidFill>
          <a:ln/>
        </p:spPr>
      </p:sp>
      <p:pic>
        <p:nvPicPr>
          <p:cNvPr id="14" name="Image 1" descr="preencoded.png">    </p:cNvPr>
          <p:cNvPicPr>
            <a:picLocks noChangeAspect="1"/>
          </p:cNvPicPr>
          <p:nvPr/>
        </p:nvPicPr>
        <p:blipFill>
          <a:blip r:embed="rId2"/>
          <a:stretch>
            <a:fillRect/>
          </a:stretch>
        </p:blipFill>
        <p:spPr>
          <a:xfrm>
            <a:off x="4651004" y="2593604"/>
            <a:ext cx="317480" cy="317480"/>
          </a:xfrm>
          <a:prstGeom prst="rect">
            <a:avLst/>
          </a:prstGeom>
        </p:spPr>
      </p:pic>
      <p:sp>
        <p:nvSpPr>
          <p:cNvPr id="15" name="Text 11"/>
          <p:cNvSpPr txBox="1"/>
          <p:nvPr/>
        </p:nvSpPr>
        <p:spPr>
          <a:xfrm>
            <a:off x="5257800" y="2441448"/>
            <a:ext cx="2423160" cy="621792"/>
          </a:xfrm>
          <a:prstGeom prst="rect">
            <a:avLst/>
          </a:prstGeom>
          <a:noFill/>
          <a:ln/>
        </p:spPr>
        <p:txBody>
          <a:bodyPr wrap="square" lIns="0" tIns="0" rIns="0" bIns="0" rtlCol="0" anchor="ctr">
            <a:normAutofit/>
          </a:bodyPr>
          <a:lstStyle/>
          <a:p>
            <a:pPr indent="0" marL="0">
              <a:buNone/>
            </a:pPr>
            <a:r>
              <a:rPr lang="en-US" sz="1450" b="1" dirty="0">
                <a:solidFill>
                  <a:srgbClr val="0B032B"/>
                </a:solidFill>
                <a:latin typeface="Calibri" pitchFamily="34" charset="0"/>
                <a:ea typeface="Calibri" pitchFamily="34" charset="-122"/>
                <a:cs typeface="Calibri" pitchFamily="34" charset="-120"/>
              </a:rPr>
              <a:t>Droit à la formation</a:t>
            </a:r>
            <a:endParaRPr lang="en-US" sz="1450" dirty="0"/>
          </a:p>
        </p:txBody>
      </p:sp>
      <p:sp>
        <p:nvSpPr>
          <p:cNvPr id="16" name="Text 12"/>
          <p:cNvSpPr txBox="1"/>
          <p:nvPr/>
        </p:nvSpPr>
        <p:spPr>
          <a:xfrm>
            <a:off x="4526280" y="3154680"/>
            <a:ext cx="3108960" cy="841248"/>
          </a:xfrm>
          <a:prstGeom prst="rect">
            <a:avLst/>
          </a:prstGeom>
          <a:noFill/>
          <a:ln/>
        </p:spPr>
        <p:txBody>
          <a:bodyPr wrap="square" lIns="0" tIns="0" rIns="0" bIns="0" rtlCol="0" anchor="t">
            <a:normAutofit/>
          </a:bodyPr>
          <a:lstStyle/>
          <a:p>
            <a:pPr indent="0" marL="0">
              <a:buNone/>
            </a:pPr>
            <a:r>
              <a:rPr lang="en-US" sz="1250" dirty="0">
                <a:solidFill>
                  <a:srgbClr val="55516E"/>
                </a:solidFill>
                <a:latin typeface="Calibri" pitchFamily="34" charset="0"/>
                <a:ea typeface="Calibri" pitchFamily="34" charset="-122"/>
                <a:cs typeface="Calibri" pitchFamily="34" charset="-120"/>
              </a:rPr>
              <a:t>Bénéficier de formations adaptées tout au long du mandat.</a:t>
            </a:r>
            <a:endParaRPr lang="en-US" sz="1250" dirty="0"/>
          </a:p>
        </p:txBody>
      </p:sp>
      <p:sp>
        <p:nvSpPr>
          <p:cNvPr id="17" name="Shape 13"/>
          <p:cNvSpPr/>
          <p:nvPr/>
        </p:nvSpPr>
        <p:spPr>
          <a:xfrm>
            <a:off x="8046720" y="2240280"/>
            <a:ext cx="3520440" cy="1828800"/>
          </a:xfrm>
          <a:prstGeom prst="roundRect">
            <a:avLst>
              <a:gd name="adj" fmla="val 6000"/>
            </a:avLst>
          </a:prstGeom>
          <a:solidFill>
            <a:srgbClr val="F3F2F8"/>
          </a:solidFill>
          <a:ln/>
        </p:spPr>
      </p:sp>
      <p:sp>
        <p:nvSpPr>
          <p:cNvPr id="18" name="Shape 14"/>
          <p:cNvSpPr/>
          <p:nvPr/>
        </p:nvSpPr>
        <p:spPr>
          <a:xfrm>
            <a:off x="8275320" y="2468880"/>
            <a:ext cx="566928" cy="566928"/>
          </a:xfrm>
          <a:prstGeom prst="ellipse">
            <a:avLst/>
          </a:prstGeom>
          <a:solidFill>
            <a:srgbClr val="0B032B"/>
          </a:solidFill>
          <a:ln/>
        </p:spPr>
      </p:sp>
      <p:pic>
        <p:nvPicPr>
          <p:cNvPr id="19" name="Image 2" descr="preencoded.png">    </p:cNvPr>
          <p:cNvPicPr>
            <a:picLocks noChangeAspect="1"/>
          </p:cNvPicPr>
          <p:nvPr/>
        </p:nvPicPr>
        <p:blipFill>
          <a:blip r:embed="rId3"/>
          <a:stretch>
            <a:fillRect/>
          </a:stretch>
        </p:blipFill>
        <p:spPr>
          <a:xfrm>
            <a:off x="8400044" y="2593604"/>
            <a:ext cx="317480" cy="317480"/>
          </a:xfrm>
          <a:prstGeom prst="rect">
            <a:avLst/>
          </a:prstGeom>
        </p:spPr>
      </p:pic>
      <p:sp>
        <p:nvSpPr>
          <p:cNvPr id="20" name="Text 15"/>
          <p:cNvSpPr txBox="1"/>
          <p:nvPr/>
        </p:nvSpPr>
        <p:spPr>
          <a:xfrm>
            <a:off x="9006840" y="2441448"/>
            <a:ext cx="2423160" cy="621792"/>
          </a:xfrm>
          <a:prstGeom prst="rect">
            <a:avLst/>
          </a:prstGeom>
          <a:noFill/>
          <a:ln/>
        </p:spPr>
        <p:txBody>
          <a:bodyPr wrap="square" lIns="0" tIns="0" rIns="0" bIns="0" rtlCol="0" anchor="ctr">
            <a:normAutofit/>
          </a:bodyPr>
          <a:lstStyle/>
          <a:p>
            <a:pPr indent="0" marL="0">
              <a:buNone/>
            </a:pPr>
            <a:r>
              <a:rPr lang="en-US" sz="1450" b="1" dirty="0">
                <a:solidFill>
                  <a:srgbClr val="0B032B"/>
                </a:solidFill>
                <a:latin typeface="Calibri" pitchFamily="34" charset="0"/>
                <a:ea typeface="Calibri" pitchFamily="34" charset="-122"/>
                <a:cs typeface="Calibri" pitchFamily="34" charset="-120"/>
              </a:rPr>
              <a:t>Liberté d’expression</a:t>
            </a:r>
            <a:endParaRPr lang="en-US" sz="1450" dirty="0"/>
          </a:p>
        </p:txBody>
      </p:sp>
      <p:sp>
        <p:nvSpPr>
          <p:cNvPr id="21" name="Text 16"/>
          <p:cNvSpPr txBox="1"/>
          <p:nvPr/>
        </p:nvSpPr>
        <p:spPr>
          <a:xfrm>
            <a:off x="8275320" y="3154680"/>
            <a:ext cx="3108960" cy="841248"/>
          </a:xfrm>
          <a:prstGeom prst="rect">
            <a:avLst/>
          </a:prstGeom>
          <a:noFill/>
          <a:ln/>
        </p:spPr>
        <p:txBody>
          <a:bodyPr wrap="square" lIns="0" tIns="0" rIns="0" bIns="0" rtlCol="0" anchor="t">
            <a:normAutofit/>
          </a:bodyPr>
          <a:lstStyle/>
          <a:p>
            <a:pPr indent="0" marL="0">
              <a:buNone/>
            </a:pPr>
            <a:r>
              <a:rPr lang="en-US" sz="1250" dirty="0">
                <a:solidFill>
                  <a:srgbClr val="55516E"/>
                </a:solidFill>
                <a:latin typeface="Calibri" pitchFamily="34" charset="0"/>
                <a:ea typeface="Calibri" pitchFamily="34" charset="-122"/>
                <a:cs typeface="Calibri" pitchFamily="34" charset="-120"/>
              </a:rPr>
              <a:t>Participer aux débats et exprimer librement leurs positions dans le respect des règles du conseil.</a:t>
            </a:r>
            <a:endParaRPr lang="en-US" sz="1250" dirty="0"/>
          </a:p>
        </p:txBody>
      </p:sp>
      <p:sp>
        <p:nvSpPr>
          <p:cNvPr id="22" name="Shape 17"/>
          <p:cNvSpPr/>
          <p:nvPr/>
        </p:nvSpPr>
        <p:spPr>
          <a:xfrm>
            <a:off x="548640" y="4251960"/>
            <a:ext cx="3520440" cy="1828800"/>
          </a:xfrm>
          <a:prstGeom prst="roundRect">
            <a:avLst>
              <a:gd name="adj" fmla="val 6000"/>
            </a:avLst>
          </a:prstGeom>
          <a:solidFill>
            <a:srgbClr val="F3F2F8"/>
          </a:solidFill>
          <a:ln/>
        </p:spPr>
      </p:sp>
      <p:sp>
        <p:nvSpPr>
          <p:cNvPr id="23" name="Shape 18"/>
          <p:cNvSpPr/>
          <p:nvPr/>
        </p:nvSpPr>
        <p:spPr>
          <a:xfrm>
            <a:off x="777240" y="4480560"/>
            <a:ext cx="566928" cy="566928"/>
          </a:xfrm>
          <a:prstGeom prst="ellipse">
            <a:avLst/>
          </a:prstGeom>
          <a:solidFill>
            <a:srgbClr val="0B032B"/>
          </a:solidFill>
          <a:ln/>
        </p:spPr>
      </p:sp>
      <p:pic>
        <p:nvPicPr>
          <p:cNvPr id="24" name="Image 3" descr="preencoded.png">    </p:cNvPr>
          <p:cNvPicPr>
            <a:picLocks noChangeAspect="1"/>
          </p:cNvPicPr>
          <p:nvPr/>
        </p:nvPicPr>
        <p:blipFill>
          <a:blip r:embed="rId4"/>
          <a:stretch>
            <a:fillRect/>
          </a:stretch>
        </p:blipFill>
        <p:spPr>
          <a:xfrm>
            <a:off x="901964" y="4605284"/>
            <a:ext cx="317480" cy="317480"/>
          </a:xfrm>
          <a:prstGeom prst="rect">
            <a:avLst/>
          </a:prstGeom>
        </p:spPr>
      </p:pic>
      <p:sp>
        <p:nvSpPr>
          <p:cNvPr id="25" name="Text 19"/>
          <p:cNvSpPr txBox="1"/>
          <p:nvPr/>
        </p:nvSpPr>
        <p:spPr>
          <a:xfrm>
            <a:off x="1508760" y="4453128"/>
            <a:ext cx="2423160" cy="621792"/>
          </a:xfrm>
          <a:prstGeom prst="rect">
            <a:avLst/>
          </a:prstGeom>
          <a:noFill/>
          <a:ln/>
        </p:spPr>
        <p:txBody>
          <a:bodyPr wrap="square" lIns="0" tIns="0" rIns="0" bIns="0" rtlCol="0" anchor="ctr">
            <a:normAutofit/>
          </a:bodyPr>
          <a:lstStyle/>
          <a:p>
            <a:pPr indent="0" marL="0">
              <a:buNone/>
            </a:pPr>
            <a:r>
              <a:rPr lang="en-US" sz="1450" b="1" dirty="0">
                <a:solidFill>
                  <a:srgbClr val="0B032B"/>
                </a:solidFill>
                <a:latin typeface="Calibri" pitchFamily="34" charset="0"/>
                <a:ea typeface="Calibri" pitchFamily="34" charset="-122"/>
                <a:cs typeface="Calibri" pitchFamily="34" charset="-120"/>
              </a:rPr>
              <a:t>Protection fonctionnelle</a:t>
            </a:r>
            <a:endParaRPr lang="en-US" sz="1450" dirty="0"/>
          </a:p>
        </p:txBody>
      </p:sp>
      <p:sp>
        <p:nvSpPr>
          <p:cNvPr id="26" name="Text 20"/>
          <p:cNvSpPr txBox="1"/>
          <p:nvPr/>
        </p:nvSpPr>
        <p:spPr>
          <a:xfrm>
            <a:off x="777240" y="5166360"/>
            <a:ext cx="3108960" cy="841248"/>
          </a:xfrm>
          <a:prstGeom prst="rect">
            <a:avLst/>
          </a:prstGeom>
          <a:noFill/>
          <a:ln/>
        </p:spPr>
        <p:txBody>
          <a:bodyPr wrap="square" lIns="0" tIns="0" rIns="0" bIns="0" rtlCol="0" anchor="t">
            <a:normAutofit/>
          </a:bodyPr>
          <a:lstStyle/>
          <a:p>
            <a:pPr indent="0" marL="0">
              <a:buNone/>
            </a:pPr>
            <a:r>
              <a:rPr lang="en-US" sz="1250" dirty="0">
                <a:solidFill>
                  <a:srgbClr val="55516E"/>
                </a:solidFill>
                <a:latin typeface="Calibri" pitchFamily="34" charset="0"/>
                <a:ea typeface="Calibri" pitchFamily="34" charset="-122"/>
                <a:cs typeface="Calibri" pitchFamily="34" charset="-120"/>
              </a:rPr>
              <a:t>Être protégés par la commune lorsqu’ils sont victimes de menaces, violences, injures, diffamations ou outrages en lien avec leurs fonctions.</a:t>
            </a:r>
            <a:endParaRPr lang="en-US" sz="1250" dirty="0"/>
          </a:p>
        </p:txBody>
      </p:sp>
      <p:sp>
        <p:nvSpPr>
          <p:cNvPr id="27" name="Shape 21"/>
          <p:cNvSpPr/>
          <p:nvPr/>
        </p:nvSpPr>
        <p:spPr>
          <a:xfrm>
            <a:off x="4297680" y="4251960"/>
            <a:ext cx="3520440" cy="1828800"/>
          </a:xfrm>
          <a:prstGeom prst="roundRect">
            <a:avLst>
              <a:gd name="adj" fmla="val 6000"/>
            </a:avLst>
          </a:prstGeom>
          <a:solidFill>
            <a:srgbClr val="F3F2F8"/>
          </a:solidFill>
          <a:ln/>
        </p:spPr>
      </p:sp>
      <p:sp>
        <p:nvSpPr>
          <p:cNvPr id="28" name="Shape 22"/>
          <p:cNvSpPr/>
          <p:nvPr/>
        </p:nvSpPr>
        <p:spPr>
          <a:xfrm>
            <a:off x="4526280" y="4480560"/>
            <a:ext cx="566928" cy="566928"/>
          </a:xfrm>
          <a:prstGeom prst="ellipse">
            <a:avLst/>
          </a:prstGeom>
          <a:solidFill>
            <a:srgbClr val="0B032B"/>
          </a:solidFill>
          <a:ln/>
        </p:spPr>
      </p:sp>
      <p:pic>
        <p:nvPicPr>
          <p:cNvPr id="29" name="Image 4" descr="preencoded.png">    </p:cNvPr>
          <p:cNvPicPr>
            <a:picLocks noChangeAspect="1"/>
          </p:cNvPicPr>
          <p:nvPr/>
        </p:nvPicPr>
        <p:blipFill>
          <a:blip r:embed="rId5"/>
          <a:stretch>
            <a:fillRect/>
          </a:stretch>
        </p:blipFill>
        <p:spPr>
          <a:xfrm>
            <a:off x="4651004" y="4605284"/>
            <a:ext cx="317480" cy="317480"/>
          </a:xfrm>
          <a:prstGeom prst="rect">
            <a:avLst/>
          </a:prstGeom>
        </p:spPr>
      </p:pic>
      <p:sp>
        <p:nvSpPr>
          <p:cNvPr id="30" name="Text 23"/>
          <p:cNvSpPr txBox="1"/>
          <p:nvPr/>
        </p:nvSpPr>
        <p:spPr>
          <a:xfrm>
            <a:off x="5257800" y="4453128"/>
            <a:ext cx="2423160" cy="621792"/>
          </a:xfrm>
          <a:prstGeom prst="rect">
            <a:avLst/>
          </a:prstGeom>
          <a:noFill/>
          <a:ln/>
        </p:spPr>
        <p:txBody>
          <a:bodyPr wrap="square" lIns="0" tIns="0" rIns="0" bIns="0" rtlCol="0" anchor="ctr">
            <a:normAutofit/>
          </a:bodyPr>
          <a:lstStyle/>
          <a:p>
            <a:pPr indent="0" marL="0">
              <a:buNone/>
            </a:pPr>
            <a:r>
              <a:rPr lang="en-US" sz="1450" b="1" dirty="0">
                <a:solidFill>
                  <a:srgbClr val="0B032B"/>
                </a:solidFill>
                <a:latin typeface="Calibri" pitchFamily="34" charset="0"/>
                <a:ea typeface="Calibri" pitchFamily="34" charset="-122"/>
                <a:cs typeface="Calibri" pitchFamily="34" charset="-120"/>
              </a:rPr>
              <a:t>Indemnités de fonction</a:t>
            </a:r>
            <a:endParaRPr lang="en-US" sz="1450" dirty="0"/>
          </a:p>
        </p:txBody>
      </p:sp>
      <p:sp>
        <p:nvSpPr>
          <p:cNvPr id="31" name="Text 24"/>
          <p:cNvSpPr txBox="1"/>
          <p:nvPr/>
        </p:nvSpPr>
        <p:spPr>
          <a:xfrm>
            <a:off x="4526280" y="5166360"/>
            <a:ext cx="3108960" cy="841248"/>
          </a:xfrm>
          <a:prstGeom prst="rect">
            <a:avLst/>
          </a:prstGeom>
          <a:noFill/>
          <a:ln/>
        </p:spPr>
        <p:txBody>
          <a:bodyPr wrap="square" lIns="0" tIns="0" rIns="0" bIns="0" rtlCol="0" anchor="t">
            <a:normAutofit/>
          </a:bodyPr>
          <a:lstStyle/>
          <a:p>
            <a:pPr indent="0" marL="0">
              <a:buNone/>
            </a:pPr>
            <a:r>
              <a:rPr lang="en-US" sz="1250" dirty="0">
                <a:solidFill>
                  <a:srgbClr val="55516E"/>
                </a:solidFill>
                <a:latin typeface="Calibri" pitchFamily="34" charset="0"/>
                <a:ea typeface="Calibri" pitchFamily="34" charset="-122"/>
                <a:cs typeface="Calibri" pitchFamily="34" charset="-120"/>
              </a:rPr>
              <a:t>Percevoir une indemnité lorsque la loi le prévoit.</a:t>
            </a:r>
            <a:endParaRPr lang="en-US" sz="1250" dirty="0"/>
          </a:p>
        </p:txBody>
      </p:sp>
      <p:sp>
        <p:nvSpPr>
          <p:cNvPr id="32" name="Shape 25"/>
          <p:cNvSpPr/>
          <p:nvPr/>
        </p:nvSpPr>
        <p:spPr>
          <a:xfrm>
            <a:off x="8046720" y="4251960"/>
            <a:ext cx="3520440" cy="1828800"/>
          </a:xfrm>
          <a:prstGeom prst="roundRect">
            <a:avLst>
              <a:gd name="adj" fmla="val 6000"/>
            </a:avLst>
          </a:prstGeom>
          <a:solidFill>
            <a:srgbClr val="F3F2F8"/>
          </a:solidFill>
          <a:ln/>
        </p:spPr>
      </p:sp>
      <p:sp>
        <p:nvSpPr>
          <p:cNvPr id="33" name="Shape 26"/>
          <p:cNvSpPr/>
          <p:nvPr/>
        </p:nvSpPr>
        <p:spPr>
          <a:xfrm>
            <a:off x="8275320" y="4480560"/>
            <a:ext cx="566928" cy="566928"/>
          </a:xfrm>
          <a:prstGeom prst="ellipse">
            <a:avLst/>
          </a:prstGeom>
          <a:solidFill>
            <a:srgbClr val="0B032B"/>
          </a:solidFill>
          <a:ln/>
        </p:spPr>
      </p:sp>
      <p:pic>
        <p:nvPicPr>
          <p:cNvPr id="34" name="Image 5" descr="preencoded.png">    </p:cNvPr>
          <p:cNvPicPr>
            <a:picLocks noChangeAspect="1"/>
          </p:cNvPicPr>
          <p:nvPr/>
        </p:nvPicPr>
        <p:blipFill>
          <a:blip r:embed="rId6"/>
          <a:stretch>
            <a:fillRect/>
          </a:stretch>
        </p:blipFill>
        <p:spPr>
          <a:xfrm>
            <a:off x="8400044" y="4605284"/>
            <a:ext cx="317480" cy="317480"/>
          </a:xfrm>
          <a:prstGeom prst="rect">
            <a:avLst/>
          </a:prstGeom>
        </p:spPr>
      </p:pic>
      <p:sp>
        <p:nvSpPr>
          <p:cNvPr id="35" name="Text 27"/>
          <p:cNvSpPr txBox="1"/>
          <p:nvPr/>
        </p:nvSpPr>
        <p:spPr>
          <a:xfrm>
            <a:off x="9006840" y="4453128"/>
            <a:ext cx="2423160" cy="621792"/>
          </a:xfrm>
          <a:prstGeom prst="rect">
            <a:avLst/>
          </a:prstGeom>
          <a:noFill/>
          <a:ln/>
        </p:spPr>
        <p:txBody>
          <a:bodyPr wrap="square" lIns="0" tIns="0" rIns="0" bIns="0" rtlCol="0" anchor="ctr">
            <a:normAutofit/>
          </a:bodyPr>
          <a:lstStyle/>
          <a:p>
            <a:pPr indent="0" marL="0">
              <a:buNone/>
            </a:pPr>
            <a:r>
              <a:rPr lang="en-US" sz="1450" b="1" dirty="0">
                <a:solidFill>
                  <a:srgbClr val="0B032B"/>
                </a:solidFill>
                <a:latin typeface="Calibri" pitchFamily="34" charset="0"/>
                <a:ea typeface="Calibri" pitchFamily="34" charset="-122"/>
                <a:cs typeface="Calibri" pitchFamily="34" charset="-120"/>
              </a:rPr>
              <a:t>Crédits d’heures et autorisations d’absence</a:t>
            </a:r>
            <a:endParaRPr lang="en-US" sz="1450" dirty="0"/>
          </a:p>
        </p:txBody>
      </p:sp>
      <p:sp>
        <p:nvSpPr>
          <p:cNvPr id="36" name="Text 28"/>
          <p:cNvSpPr txBox="1"/>
          <p:nvPr/>
        </p:nvSpPr>
        <p:spPr>
          <a:xfrm>
            <a:off x="8275320" y="5166360"/>
            <a:ext cx="3108960" cy="841248"/>
          </a:xfrm>
          <a:prstGeom prst="rect">
            <a:avLst/>
          </a:prstGeom>
          <a:noFill/>
          <a:ln/>
        </p:spPr>
        <p:txBody>
          <a:bodyPr wrap="square" lIns="0" tIns="0" rIns="0" bIns="0" rtlCol="0" anchor="t">
            <a:normAutofit/>
          </a:bodyPr>
          <a:lstStyle/>
          <a:p>
            <a:pPr indent="0" marL="0">
              <a:buNone/>
            </a:pPr>
            <a:r>
              <a:rPr lang="en-US" sz="1250" dirty="0">
                <a:solidFill>
                  <a:srgbClr val="55516E"/>
                </a:solidFill>
                <a:latin typeface="Calibri" pitchFamily="34" charset="0"/>
                <a:ea typeface="Calibri" pitchFamily="34" charset="-122"/>
                <a:cs typeface="Calibri" pitchFamily="34" charset="-120"/>
              </a:rPr>
              <a:t>Bénéficier des dispositifs permettant de concilier mandat électif et activité professionnelle.</a:t>
            </a:r>
            <a:endParaRPr lang="en-US" sz="1250" dirty="0"/>
          </a:p>
        </p:txBody>
      </p:sp>
      <p:sp>
        <p:nvSpPr>
          <p:cNvPr id="37" name="Text 29"/>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spc="100" kern="0" dirty="0">
                <a:solidFill>
                  <a:srgbClr val="8A8699"/>
                </a:solidFill>
                <a:latin typeface="Calibri" pitchFamily="34" charset="0"/>
                <a:ea typeface="Calibri" pitchFamily="34" charset="-122"/>
                <a:cs typeface="Calibri" pitchFamily="34" charset="-120"/>
              </a:rPr>
              <a:t>ENMA FORMATION  ·  Formation des élus municipaux 2026</a:t>
            </a:r>
            <a:endParaRPr lang="en-US" sz="900" dirty="0"/>
          </a:p>
        </p:txBody>
      </p:sp>
      <p:sp>
        <p:nvSpPr>
          <p:cNvPr id="38" name="Text 30"/>
          <p:cNvSpPr txBox="1"/>
          <p:nvPr/>
        </p:nvSpPr>
        <p:spPr>
          <a:xfrm>
            <a:off x="9692640" y="6400800"/>
            <a:ext cx="548640" cy="274320"/>
          </a:xfrm>
          <a:prstGeom prst="rect">
            <a:avLst/>
          </a:prstGeom>
          <a:noFill/>
          <a:ln/>
        </p:spPr>
        <p:txBody>
          <a:bodyPr wrap="square" lIns="0" tIns="0" rIns="0" bIns="0" rtlCol="0" anchor="ctr"/>
          <a:lstStyle/>
          <a:p>
            <a:pPr algn="r" indent="0" marL="0">
              <a:buNone/>
            </a:pPr>
            <a:r>
              <a:rPr lang="en-US" sz="900" dirty="0">
                <a:solidFill>
                  <a:srgbClr val="8A8699"/>
                </a:solidFill>
                <a:latin typeface="Calibri" pitchFamily="34" charset="0"/>
                <a:ea typeface="Calibri" pitchFamily="34" charset="-122"/>
                <a:cs typeface="Calibri" pitchFamily="34" charset="-120"/>
              </a:rPr>
              <a:t>23</a:t>
            </a:r>
            <a:endParaRPr lang="en-US" sz="900" dirty="0"/>
          </a:p>
        </p:txBody>
      </p:sp>
      <p:pic>
        <p:nvPicPr>
          <p:cNvPr id="39" name="Image 6" descr="preencoded.png">    </p:cNvPr>
          <p:cNvPicPr>
            <a:picLocks noChangeAspect="1"/>
          </p:cNvPicPr>
          <p:nvPr/>
        </p:nvPicPr>
        <p:blipFill>
          <a:blip r:embed="rId7"/>
          <a:stretch>
            <a:fillRect/>
          </a:stretch>
        </p:blipFill>
        <p:spPr>
          <a:xfrm>
            <a:off x="10469880" y="6309360"/>
            <a:ext cx="1170432" cy="484632"/>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420624" cy="310896"/>
          </a:xfrm>
          <a:prstGeom prst="roundRect">
            <a:avLst>
              <a:gd name="adj" fmla="val 23529"/>
            </a:avLst>
          </a:prstGeom>
          <a:solidFill>
            <a:srgbClr val="0B032B"/>
          </a:solidFill>
          <a:ln/>
        </p:spPr>
      </p:sp>
      <p:sp>
        <p:nvSpPr>
          <p:cNvPr id="3" name="Text 1"/>
          <p:cNvSpPr txBox="1"/>
          <p:nvPr/>
        </p:nvSpPr>
        <p:spPr>
          <a:xfrm>
            <a:off x="548640" y="438912"/>
            <a:ext cx="420624" cy="310896"/>
          </a:xfrm>
          <a:prstGeom prst="rect">
            <a:avLst/>
          </a:prstGeom>
          <a:noFill/>
          <a:ln/>
        </p:spPr>
        <p:txBody>
          <a:bodyPr wrap="square" lIns="0" tIns="0" rIns="0" bIns="0" rtlCol="0" anchor="ctr"/>
          <a:lstStyle/>
          <a:p>
            <a:pPr algn="ctr" indent="0" marL="0">
              <a:buNone/>
            </a:pPr>
            <a:r>
              <a:rPr lang="en-US" sz="1100" b="1" dirty="0">
                <a:solidFill>
                  <a:srgbClr val="FFF9C7"/>
                </a:solidFill>
                <a:latin typeface="Calibri" pitchFamily="34" charset="0"/>
                <a:ea typeface="Calibri" pitchFamily="34" charset="-122"/>
                <a:cs typeface="Calibri" pitchFamily="34" charset="-120"/>
              </a:rPr>
              <a:t>04</a:t>
            </a:r>
            <a:endParaRPr lang="en-US" sz="1100" dirty="0"/>
          </a:p>
        </p:txBody>
      </p:sp>
      <p:sp>
        <p:nvSpPr>
          <p:cNvPr id="4" name="Text 2"/>
          <p:cNvSpPr txBox="1"/>
          <p:nvPr/>
        </p:nvSpPr>
        <p:spPr>
          <a:xfrm>
            <a:off x="1115568" y="438912"/>
            <a:ext cx="8229600" cy="310896"/>
          </a:xfrm>
          <a:prstGeom prst="rect">
            <a:avLst/>
          </a:prstGeom>
          <a:noFill/>
          <a:ln/>
        </p:spPr>
        <p:txBody>
          <a:bodyPr wrap="square" lIns="0" tIns="0" rIns="0" bIns="0" rtlCol="0" anchor="ctr"/>
          <a:lstStyle/>
          <a:p>
            <a:pPr indent="0" marL="0">
              <a:buNone/>
            </a:pPr>
            <a:r>
              <a:rPr lang="en-US" sz="1100" b="1" spc="200" kern="0" dirty="0">
                <a:solidFill>
                  <a:srgbClr val="55516E"/>
                </a:solidFill>
                <a:latin typeface="Calibri" pitchFamily="34" charset="0"/>
                <a:ea typeface="Calibri" pitchFamily="34" charset="-122"/>
                <a:cs typeface="Calibri" pitchFamily="34" charset="-120"/>
              </a:rPr>
              <a:t>DROITS ET DEVOIRS</a:t>
            </a:r>
            <a:endParaRPr lang="en-US" sz="1100" dirty="0"/>
          </a:p>
        </p:txBody>
      </p:sp>
      <p:sp>
        <p:nvSpPr>
          <p:cNvPr id="5" name="Text 3"/>
          <p:cNvSpPr txBox="1"/>
          <p:nvPr/>
        </p:nvSpPr>
        <p:spPr>
          <a:xfrm>
            <a:off x="548640" y="841248"/>
            <a:ext cx="11064240" cy="685800"/>
          </a:xfrm>
          <a:prstGeom prst="rect">
            <a:avLst/>
          </a:prstGeom>
          <a:noFill/>
          <a:ln/>
        </p:spPr>
        <p:txBody>
          <a:bodyPr wrap="square" lIns="0" tIns="0" rIns="0" bIns="0" rtlCol="0" anchor="ctr">
            <a:normAutofit/>
          </a:bodyPr>
          <a:lstStyle/>
          <a:p>
            <a:pPr indent="0" marL="0">
              <a:buNone/>
            </a:pPr>
            <a:r>
              <a:rPr lang="en-US" sz="2800" b="1" dirty="0">
                <a:solidFill>
                  <a:srgbClr val="0B032B"/>
                </a:solidFill>
                <a:latin typeface="Calibri" pitchFamily="34" charset="0"/>
                <a:ea typeface="Calibri" pitchFamily="34" charset="-122"/>
                <a:cs typeface="Calibri" pitchFamily="34" charset="-120"/>
              </a:rPr>
              <a:t>Les devoirs des élus</a:t>
            </a:r>
            <a:endParaRPr lang="en-US" sz="2800" dirty="0"/>
          </a:p>
        </p:txBody>
      </p:sp>
      <p:sp>
        <p:nvSpPr>
          <p:cNvPr id="6" name="Text 4"/>
          <p:cNvSpPr txBox="1"/>
          <p:nvPr/>
        </p:nvSpPr>
        <p:spPr>
          <a:xfrm>
            <a:off x="548640" y="1691640"/>
            <a:ext cx="10972800" cy="411480"/>
          </a:xfrm>
          <a:prstGeom prst="rect">
            <a:avLst/>
          </a:prstGeom>
          <a:noFill/>
          <a:ln/>
        </p:spPr>
        <p:txBody>
          <a:bodyPr wrap="square" lIns="0" tIns="0" rIns="0" bIns="0" rtlCol="0" anchor="t"/>
          <a:lstStyle/>
          <a:p>
            <a:pPr indent="0" marL="0">
              <a:buNone/>
            </a:pPr>
            <a:r>
              <a:rPr lang="en-US" sz="1600" dirty="0">
                <a:solidFill>
                  <a:srgbClr val="55516E"/>
                </a:solidFill>
                <a:latin typeface="Calibri" pitchFamily="34" charset="0"/>
                <a:ea typeface="Calibri" pitchFamily="34" charset="-122"/>
                <a:cs typeface="Calibri" pitchFamily="34" charset="-120"/>
              </a:rPr>
              <a:t>En contrepartie, les élus sont soumis à des obligations essentielles :</a:t>
            </a:r>
            <a:endParaRPr lang="en-US" sz="1600" dirty="0"/>
          </a:p>
        </p:txBody>
      </p:sp>
      <p:sp>
        <p:nvSpPr>
          <p:cNvPr id="7" name="Shape 5"/>
          <p:cNvSpPr/>
          <p:nvPr/>
        </p:nvSpPr>
        <p:spPr>
          <a:xfrm>
            <a:off x="548640" y="2267712"/>
            <a:ext cx="548640" cy="548640"/>
          </a:xfrm>
          <a:prstGeom prst="ellipse">
            <a:avLst/>
          </a:prstGeom>
          <a:solidFill>
            <a:srgbClr val="FFF9C7"/>
          </a:solidFill>
          <a:ln/>
        </p:spPr>
      </p:sp>
      <p:pic>
        <p:nvPicPr>
          <p:cNvPr id="8" name="Image 0" descr="preencoded.png">    </p:cNvPr>
          <p:cNvPicPr>
            <a:picLocks noChangeAspect="1"/>
          </p:cNvPicPr>
          <p:nvPr/>
        </p:nvPicPr>
        <p:blipFill>
          <a:blip r:embed="rId1"/>
          <a:stretch>
            <a:fillRect/>
          </a:stretch>
        </p:blipFill>
        <p:spPr>
          <a:xfrm>
            <a:off x="669341" y="2388413"/>
            <a:ext cx="307238" cy="307238"/>
          </a:xfrm>
          <a:prstGeom prst="rect">
            <a:avLst/>
          </a:prstGeom>
        </p:spPr>
      </p:pic>
      <p:sp>
        <p:nvSpPr>
          <p:cNvPr id="9" name="Text 6"/>
          <p:cNvSpPr txBox="1"/>
          <p:nvPr/>
        </p:nvSpPr>
        <p:spPr>
          <a:xfrm>
            <a:off x="1280160" y="2194560"/>
            <a:ext cx="4709160" cy="731520"/>
          </a:xfrm>
          <a:prstGeom prst="rect">
            <a:avLst/>
          </a:prstGeom>
          <a:noFill/>
          <a:ln/>
        </p:spPr>
        <p:txBody>
          <a:bodyPr wrap="square" lIns="0" tIns="0" rIns="0" bIns="0" rtlCol="0" anchor="ctr"/>
          <a:lstStyle/>
          <a:p>
            <a:pPr indent="0" marL="0">
              <a:buNone/>
            </a:pPr>
            <a:r>
              <a:rPr lang="en-US" sz="1350" dirty="0">
                <a:solidFill>
                  <a:srgbClr val="0B032B"/>
                </a:solidFill>
                <a:latin typeface="Calibri" pitchFamily="34" charset="0"/>
                <a:ea typeface="Calibri" pitchFamily="34" charset="-122"/>
                <a:cs typeface="Calibri" pitchFamily="34" charset="-120"/>
              </a:rPr>
              <a:t>Agir dans l’intérêt général, sans privilégier des intérêts personnels ou particuliers.</a:t>
            </a:r>
            <a:endParaRPr lang="en-US" sz="1350" dirty="0"/>
          </a:p>
        </p:txBody>
      </p:sp>
      <p:sp>
        <p:nvSpPr>
          <p:cNvPr id="10" name="Shape 7"/>
          <p:cNvSpPr/>
          <p:nvPr/>
        </p:nvSpPr>
        <p:spPr>
          <a:xfrm>
            <a:off x="6126480" y="2267712"/>
            <a:ext cx="548640" cy="548640"/>
          </a:xfrm>
          <a:prstGeom prst="ellipse">
            <a:avLst/>
          </a:prstGeom>
          <a:solidFill>
            <a:srgbClr val="FFF9C7"/>
          </a:solidFill>
          <a:ln/>
        </p:spPr>
      </p:sp>
      <p:pic>
        <p:nvPicPr>
          <p:cNvPr id="11" name="Image 1" descr="preencoded.png">    </p:cNvPr>
          <p:cNvPicPr>
            <a:picLocks noChangeAspect="1"/>
          </p:cNvPicPr>
          <p:nvPr/>
        </p:nvPicPr>
        <p:blipFill>
          <a:blip r:embed="rId2"/>
          <a:stretch>
            <a:fillRect/>
          </a:stretch>
        </p:blipFill>
        <p:spPr>
          <a:xfrm>
            <a:off x="6247181" y="2388413"/>
            <a:ext cx="307238" cy="307238"/>
          </a:xfrm>
          <a:prstGeom prst="rect">
            <a:avLst/>
          </a:prstGeom>
        </p:spPr>
      </p:pic>
      <p:sp>
        <p:nvSpPr>
          <p:cNvPr id="12" name="Text 8"/>
          <p:cNvSpPr txBox="1"/>
          <p:nvPr/>
        </p:nvSpPr>
        <p:spPr>
          <a:xfrm>
            <a:off x="6858000" y="2194560"/>
            <a:ext cx="4709160" cy="731520"/>
          </a:xfrm>
          <a:prstGeom prst="rect">
            <a:avLst/>
          </a:prstGeom>
          <a:noFill/>
          <a:ln/>
        </p:spPr>
        <p:txBody>
          <a:bodyPr wrap="square" lIns="0" tIns="0" rIns="0" bIns="0" rtlCol="0" anchor="ctr"/>
          <a:lstStyle/>
          <a:p>
            <a:pPr indent="0" marL="0">
              <a:buNone/>
            </a:pPr>
            <a:r>
              <a:rPr lang="en-US" sz="1350" dirty="0">
                <a:solidFill>
                  <a:srgbClr val="0B032B"/>
                </a:solidFill>
                <a:latin typeface="Calibri" pitchFamily="34" charset="0"/>
                <a:ea typeface="Calibri" pitchFamily="34" charset="-122"/>
                <a:cs typeface="Calibri" pitchFamily="34" charset="-120"/>
              </a:rPr>
              <a:t>Respecter les principes de probité, d’intégrité et d’impartialité.</a:t>
            </a:r>
            <a:endParaRPr lang="en-US" sz="1350" dirty="0"/>
          </a:p>
        </p:txBody>
      </p:sp>
      <p:sp>
        <p:nvSpPr>
          <p:cNvPr id="13" name="Shape 9"/>
          <p:cNvSpPr/>
          <p:nvPr/>
        </p:nvSpPr>
        <p:spPr>
          <a:xfrm>
            <a:off x="548640" y="3108960"/>
            <a:ext cx="548640" cy="548640"/>
          </a:xfrm>
          <a:prstGeom prst="ellipse">
            <a:avLst/>
          </a:prstGeom>
          <a:solidFill>
            <a:srgbClr val="FFF9C7"/>
          </a:solidFill>
          <a:ln/>
        </p:spPr>
      </p:sp>
      <p:pic>
        <p:nvPicPr>
          <p:cNvPr id="14" name="Image 2" descr="preencoded.png">    </p:cNvPr>
          <p:cNvPicPr>
            <a:picLocks noChangeAspect="1"/>
          </p:cNvPicPr>
          <p:nvPr/>
        </p:nvPicPr>
        <p:blipFill>
          <a:blip r:embed="rId3"/>
          <a:stretch>
            <a:fillRect/>
          </a:stretch>
        </p:blipFill>
        <p:spPr>
          <a:xfrm>
            <a:off x="669341" y="3229661"/>
            <a:ext cx="307238" cy="307238"/>
          </a:xfrm>
          <a:prstGeom prst="rect">
            <a:avLst/>
          </a:prstGeom>
        </p:spPr>
      </p:pic>
      <p:sp>
        <p:nvSpPr>
          <p:cNvPr id="15" name="Text 10"/>
          <p:cNvSpPr txBox="1"/>
          <p:nvPr/>
        </p:nvSpPr>
        <p:spPr>
          <a:xfrm>
            <a:off x="1280160" y="3035808"/>
            <a:ext cx="4709160" cy="731520"/>
          </a:xfrm>
          <a:prstGeom prst="rect">
            <a:avLst/>
          </a:prstGeom>
          <a:noFill/>
          <a:ln/>
        </p:spPr>
        <p:txBody>
          <a:bodyPr wrap="square" lIns="0" tIns="0" rIns="0" bIns="0" rtlCol="0" anchor="ctr"/>
          <a:lstStyle/>
          <a:p>
            <a:pPr indent="0" marL="0">
              <a:buNone/>
            </a:pPr>
            <a:r>
              <a:rPr lang="en-US" sz="1350" dirty="0">
                <a:solidFill>
                  <a:srgbClr val="0B032B"/>
                </a:solidFill>
                <a:latin typeface="Calibri" pitchFamily="34" charset="0"/>
                <a:ea typeface="Calibri" pitchFamily="34" charset="-122"/>
                <a:cs typeface="Calibri" pitchFamily="34" charset="-120"/>
              </a:rPr>
              <a:t>Respecter le secret professionnel et la confidentialité des informations dont ils ont connaissance dans l’exercice de leur mandat.</a:t>
            </a:r>
            <a:endParaRPr lang="en-US" sz="1350" dirty="0"/>
          </a:p>
        </p:txBody>
      </p:sp>
      <p:sp>
        <p:nvSpPr>
          <p:cNvPr id="16" name="Shape 11"/>
          <p:cNvSpPr/>
          <p:nvPr/>
        </p:nvSpPr>
        <p:spPr>
          <a:xfrm>
            <a:off x="6126480" y="3108960"/>
            <a:ext cx="548640" cy="548640"/>
          </a:xfrm>
          <a:prstGeom prst="ellipse">
            <a:avLst/>
          </a:prstGeom>
          <a:solidFill>
            <a:srgbClr val="FFF9C7"/>
          </a:solidFill>
          <a:ln/>
        </p:spPr>
      </p:sp>
      <p:pic>
        <p:nvPicPr>
          <p:cNvPr id="17" name="Image 3" descr="preencoded.png">    </p:cNvPr>
          <p:cNvPicPr>
            <a:picLocks noChangeAspect="1"/>
          </p:cNvPicPr>
          <p:nvPr/>
        </p:nvPicPr>
        <p:blipFill>
          <a:blip r:embed="rId4"/>
          <a:stretch>
            <a:fillRect/>
          </a:stretch>
        </p:blipFill>
        <p:spPr>
          <a:xfrm>
            <a:off x="6247181" y="3229661"/>
            <a:ext cx="307238" cy="307238"/>
          </a:xfrm>
          <a:prstGeom prst="rect">
            <a:avLst/>
          </a:prstGeom>
        </p:spPr>
      </p:pic>
      <p:sp>
        <p:nvSpPr>
          <p:cNvPr id="18" name="Text 12"/>
          <p:cNvSpPr txBox="1"/>
          <p:nvPr/>
        </p:nvSpPr>
        <p:spPr>
          <a:xfrm>
            <a:off x="6858000" y="3035808"/>
            <a:ext cx="4709160" cy="731520"/>
          </a:xfrm>
          <a:prstGeom prst="rect">
            <a:avLst/>
          </a:prstGeom>
          <a:noFill/>
          <a:ln/>
        </p:spPr>
        <p:txBody>
          <a:bodyPr wrap="square" lIns="0" tIns="0" rIns="0" bIns="0" rtlCol="0" anchor="ctr"/>
          <a:lstStyle/>
          <a:p>
            <a:pPr indent="0" marL="0">
              <a:buNone/>
            </a:pPr>
            <a:r>
              <a:rPr lang="en-US" sz="1350" dirty="0">
                <a:solidFill>
                  <a:srgbClr val="0B032B"/>
                </a:solidFill>
                <a:latin typeface="Calibri" pitchFamily="34" charset="0"/>
                <a:ea typeface="Calibri" pitchFamily="34" charset="-122"/>
                <a:cs typeface="Calibri" pitchFamily="34" charset="-120"/>
              </a:rPr>
              <a:t>Prévenir les conflits d’intérêts et s’abstenir de participer aux décisions lorsqu’ils sont personnellement concernés.</a:t>
            </a:r>
            <a:endParaRPr lang="en-US" sz="1350" dirty="0"/>
          </a:p>
        </p:txBody>
      </p:sp>
      <p:sp>
        <p:nvSpPr>
          <p:cNvPr id="19" name="Shape 13"/>
          <p:cNvSpPr/>
          <p:nvPr/>
        </p:nvSpPr>
        <p:spPr>
          <a:xfrm>
            <a:off x="548640" y="3950208"/>
            <a:ext cx="548640" cy="548640"/>
          </a:xfrm>
          <a:prstGeom prst="ellipse">
            <a:avLst/>
          </a:prstGeom>
          <a:solidFill>
            <a:srgbClr val="FFF9C7"/>
          </a:solidFill>
          <a:ln/>
        </p:spPr>
      </p:sp>
      <p:pic>
        <p:nvPicPr>
          <p:cNvPr id="20" name="Image 4" descr="preencoded.png">    </p:cNvPr>
          <p:cNvPicPr>
            <a:picLocks noChangeAspect="1"/>
          </p:cNvPicPr>
          <p:nvPr/>
        </p:nvPicPr>
        <p:blipFill>
          <a:blip r:embed="rId5"/>
          <a:stretch>
            <a:fillRect/>
          </a:stretch>
        </p:blipFill>
        <p:spPr>
          <a:xfrm>
            <a:off x="669341" y="4070909"/>
            <a:ext cx="307238" cy="307238"/>
          </a:xfrm>
          <a:prstGeom prst="rect">
            <a:avLst/>
          </a:prstGeom>
        </p:spPr>
      </p:pic>
      <p:sp>
        <p:nvSpPr>
          <p:cNvPr id="21" name="Text 14"/>
          <p:cNvSpPr txBox="1"/>
          <p:nvPr/>
        </p:nvSpPr>
        <p:spPr>
          <a:xfrm>
            <a:off x="1280160" y="3877056"/>
            <a:ext cx="4709160" cy="731520"/>
          </a:xfrm>
          <a:prstGeom prst="rect">
            <a:avLst/>
          </a:prstGeom>
          <a:noFill/>
          <a:ln/>
        </p:spPr>
        <p:txBody>
          <a:bodyPr wrap="square" lIns="0" tIns="0" rIns="0" bIns="0" rtlCol="0" anchor="ctr"/>
          <a:lstStyle/>
          <a:p>
            <a:pPr indent="0" marL="0">
              <a:buNone/>
            </a:pPr>
            <a:r>
              <a:rPr lang="en-US" sz="1350" dirty="0">
                <a:solidFill>
                  <a:srgbClr val="0B032B"/>
                </a:solidFill>
                <a:latin typeface="Calibri" pitchFamily="34" charset="0"/>
                <a:ea typeface="Calibri" pitchFamily="34" charset="-122"/>
                <a:cs typeface="Calibri" pitchFamily="34" charset="-120"/>
              </a:rPr>
              <a:t>Respecter les lois, le règlement intérieur et les institutions républicaines.</a:t>
            </a:r>
            <a:endParaRPr lang="en-US" sz="1350" dirty="0"/>
          </a:p>
        </p:txBody>
      </p:sp>
      <p:sp>
        <p:nvSpPr>
          <p:cNvPr id="22" name="Shape 15"/>
          <p:cNvSpPr/>
          <p:nvPr/>
        </p:nvSpPr>
        <p:spPr>
          <a:xfrm>
            <a:off x="6126480" y="3950208"/>
            <a:ext cx="548640" cy="548640"/>
          </a:xfrm>
          <a:prstGeom prst="ellipse">
            <a:avLst/>
          </a:prstGeom>
          <a:solidFill>
            <a:srgbClr val="FFF9C7"/>
          </a:solidFill>
          <a:ln/>
        </p:spPr>
      </p:sp>
      <p:pic>
        <p:nvPicPr>
          <p:cNvPr id="23" name="Image 5" descr="preencoded.png">    </p:cNvPr>
          <p:cNvPicPr>
            <a:picLocks noChangeAspect="1"/>
          </p:cNvPicPr>
          <p:nvPr/>
        </p:nvPicPr>
        <p:blipFill>
          <a:blip r:embed="rId6"/>
          <a:stretch>
            <a:fillRect/>
          </a:stretch>
        </p:blipFill>
        <p:spPr>
          <a:xfrm>
            <a:off x="6247181" y="4070909"/>
            <a:ext cx="307238" cy="307238"/>
          </a:xfrm>
          <a:prstGeom prst="rect">
            <a:avLst/>
          </a:prstGeom>
        </p:spPr>
      </p:pic>
      <p:sp>
        <p:nvSpPr>
          <p:cNvPr id="24" name="Text 16"/>
          <p:cNvSpPr txBox="1"/>
          <p:nvPr/>
        </p:nvSpPr>
        <p:spPr>
          <a:xfrm>
            <a:off x="6858000" y="3877056"/>
            <a:ext cx="4709160" cy="731520"/>
          </a:xfrm>
          <a:prstGeom prst="rect">
            <a:avLst/>
          </a:prstGeom>
          <a:noFill/>
          <a:ln/>
        </p:spPr>
        <p:txBody>
          <a:bodyPr wrap="square" lIns="0" tIns="0" rIns="0" bIns="0" rtlCol="0" anchor="ctr"/>
          <a:lstStyle/>
          <a:p>
            <a:pPr indent="0" marL="0">
              <a:buNone/>
            </a:pPr>
            <a:r>
              <a:rPr lang="en-US" sz="1350" dirty="0">
                <a:solidFill>
                  <a:srgbClr val="0B032B"/>
                </a:solidFill>
                <a:latin typeface="Calibri" pitchFamily="34" charset="0"/>
                <a:ea typeface="Calibri" pitchFamily="34" charset="-122"/>
                <a:cs typeface="Calibri" pitchFamily="34" charset="-120"/>
              </a:rPr>
              <a:t>Adopter un comportement respectueux envers les citoyens, les agents territoriaux et les autres élus.</a:t>
            </a:r>
            <a:endParaRPr lang="en-US" sz="1350" dirty="0"/>
          </a:p>
        </p:txBody>
      </p:sp>
      <p:sp>
        <p:nvSpPr>
          <p:cNvPr id="25" name="Shape 17"/>
          <p:cNvSpPr/>
          <p:nvPr/>
        </p:nvSpPr>
        <p:spPr>
          <a:xfrm>
            <a:off x="548640" y="4846320"/>
            <a:ext cx="11064240" cy="1325880"/>
          </a:xfrm>
          <a:prstGeom prst="roundRect">
            <a:avLst>
              <a:gd name="adj" fmla="val 9655"/>
            </a:avLst>
          </a:prstGeom>
          <a:solidFill>
            <a:srgbClr val="0B032B"/>
          </a:solidFill>
          <a:ln/>
        </p:spPr>
      </p:sp>
      <p:sp>
        <p:nvSpPr>
          <p:cNvPr id="26" name="Shape 18"/>
          <p:cNvSpPr/>
          <p:nvPr/>
        </p:nvSpPr>
        <p:spPr>
          <a:xfrm>
            <a:off x="804672" y="5102352"/>
            <a:ext cx="566928" cy="566928"/>
          </a:xfrm>
          <a:prstGeom prst="ellipse">
            <a:avLst/>
          </a:prstGeom>
          <a:solidFill>
            <a:srgbClr val="FFF9C7"/>
          </a:solidFill>
          <a:ln/>
        </p:spPr>
      </p:sp>
      <p:pic>
        <p:nvPicPr>
          <p:cNvPr id="27" name="Image 6" descr="preencoded.png">    </p:cNvPr>
          <p:cNvPicPr>
            <a:picLocks noChangeAspect="1"/>
          </p:cNvPicPr>
          <p:nvPr/>
        </p:nvPicPr>
        <p:blipFill>
          <a:blip r:embed="rId7"/>
          <a:stretch>
            <a:fillRect/>
          </a:stretch>
        </p:blipFill>
        <p:spPr>
          <a:xfrm>
            <a:off x="929396" y="5227076"/>
            <a:ext cx="317480" cy="317480"/>
          </a:xfrm>
          <a:prstGeom prst="rect">
            <a:avLst/>
          </a:prstGeom>
        </p:spPr>
      </p:pic>
      <p:sp>
        <p:nvSpPr>
          <p:cNvPr id="28" name="Text 19"/>
          <p:cNvSpPr txBox="1"/>
          <p:nvPr/>
        </p:nvSpPr>
        <p:spPr>
          <a:xfrm>
            <a:off x="1554480" y="5120640"/>
            <a:ext cx="9784080" cy="274320"/>
          </a:xfrm>
          <a:prstGeom prst="rect">
            <a:avLst/>
          </a:prstGeom>
          <a:noFill/>
          <a:ln/>
        </p:spPr>
        <p:txBody>
          <a:bodyPr wrap="square" lIns="0" tIns="0" rIns="0" bIns="0" rtlCol="0" anchor="t"/>
          <a:lstStyle/>
          <a:p>
            <a:pPr indent="0" marL="0">
              <a:buNone/>
            </a:pPr>
            <a:r>
              <a:rPr lang="en-US" sz="1100" b="1" spc="300" kern="0" dirty="0">
                <a:solidFill>
                  <a:srgbClr val="FFF9C7"/>
                </a:solidFill>
                <a:latin typeface="Calibri" pitchFamily="34" charset="0"/>
                <a:ea typeface="Calibri" pitchFamily="34" charset="-122"/>
                <a:cs typeface="Calibri" pitchFamily="34" charset="-120"/>
              </a:rPr>
              <a:t>À RETENIR</a:t>
            </a:r>
            <a:endParaRPr lang="en-US" sz="1100" dirty="0"/>
          </a:p>
        </p:txBody>
      </p:sp>
      <p:sp>
        <p:nvSpPr>
          <p:cNvPr id="29" name="Text 20"/>
          <p:cNvSpPr txBox="1"/>
          <p:nvPr/>
        </p:nvSpPr>
        <p:spPr>
          <a:xfrm>
            <a:off x="1554480" y="5431536"/>
            <a:ext cx="9784080" cy="539496"/>
          </a:xfrm>
          <a:prstGeom prst="rect">
            <a:avLst/>
          </a:prstGeom>
          <a:noFill/>
          <a:ln/>
        </p:spPr>
        <p:txBody>
          <a:bodyPr wrap="square" lIns="0" tIns="0" rIns="0" bIns="0" rtlCol="0" anchor="t">
            <a:normAutofit/>
          </a:bodyPr>
          <a:lstStyle/>
          <a:p>
            <a:pPr indent="0" marL="0">
              <a:lnSpc>
                <a:spcPct val="105000"/>
              </a:lnSpc>
              <a:buNone/>
            </a:pPr>
            <a:r>
              <a:rPr lang="en-US" sz="1400" dirty="0">
                <a:solidFill>
                  <a:srgbClr val="FFFFFF"/>
                </a:solidFill>
                <a:latin typeface="Calibri" pitchFamily="34" charset="0"/>
                <a:ea typeface="Calibri" pitchFamily="34" charset="-122"/>
                <a:cs typeface="Calibri" pitchFamily="34" charset="-120"/>
              </a:rPr>
              <a:t>Le mandat d’élu municipal est un engagement au service de la République et des citoyens. Il confère des droits indispensables à son exercice, mais impose également des devoirs exigeants fondés sur l’éthique, la transparence et l’intérêt général.</a:t>
            </a:r>
            <a:endParaRPr lang="en-US" sz="1400" dirty="0"/>
          </a:p>
        </p:txBody>
      </p:sp>
      <p:sp>
        <p:nvSpPr>
          <p:cNvPr id="30" name="Text 21"/>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spc="100" kern="0" dirty="0">
                <a:solidFill>
                  <a:srgbClr val="8A8699"/>
                </a:solidFill>
                <a:latin typeface="Calibri" pitchFamily="34" charset="0"/>
                <a:ea typeface="Calibri" pitchFamily="34" charset="-122"/>
                <a:cs typeface="Calibri" pitchFamily="34" charset="-120"/>
              </a:rPr>
              <a:t>ENMA FORMATION  ·  Formation des élus municipaux 2026</a:t>
            </a:r>
            <a:endParaRPr lang="en-US" sz="900" dirty="0"/>
          </a:p>
        </p:txBody>
      </p:sp>
      <p:sp>
        <p:nvSpPr>
          <p:cNvPr id="31" name="Text 22"/>
          <p:cNvSpPr txBox="1"/>
          <p:nvPr/>
        </p:nvSpPr>
        <p:spPr>
          <a:xfrm>
            <a:off x="9692640" y="6400800"/>
            <a:ext cx="548640" cy="274320"/>
          </a:xfrm>
          <a:prstGeom prst="rect">
            <a:avLst/>
          </a:prstGeom>
          <a:noFill/>
          <a:ln/>
        </p:spPr>
        <p:txBody>
          <a:bodyPr wrap="square" lIns="0" tIns="0" rIns="0" bIns="0" rtlCol="0" anchor="ctr"/>
          <a:lstStyle/>
          <a:p>
            <a:pPr algn="r" indent="0" marL="0">
              <a:buNone/>
            </a:pPr>
            <a:r>
              <a:rPr lang="en-US" sz="900" dirty="0">
                <a:solidFill>
                  <a:srgbClr val="8A8699"/>
                </a:solidFill>
                <a:latin typeface="Calibri" pitchFamily="34" charset="0"/>
                <a:ea typeface="Calibri" pitchFamily="34" charset="-122"/>
                <a:cs typeface="Calibri" pitchFamily="34" charset="-120"/>
              </a:rPr>
              <a:t>24</a:t>
            </a:r>
            <a:endParaRPr lang="en-US" sz="900" dirty="0"/>
          </a:p>
        </p:txBody>
      </p:sp>
      <p:pic>
        <p:nvPicPr>
          <p:cNvPr id="32" name="Image 7" descr="preencoded.png">    </p:cNvPr>
          <p:cNvPicPr>
            <a:picLocks noChangeAspect="1"/>
          </p:cNvPicPr>
          <p:nvPr/>
        </p:nvPicPr>
        <p:blipFill>
          <a:blip r:embed="rId8"/>
          <a:stretch>
            <a:fillRect/>
          </a:stretch>
        </p:blipFill>
        <p:spPr>
          <a:xfrm>
            <a:off x="10469880" y="6309360"/>
            <a:ext cx="1170432" cy="484632"/>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420624" cy="310896"/>
          </a:xfrm>
          <a:prstGeom prst="roundRect">
            <a:avLst>
              <a:gd name="adj" fmla="val 23529"/>
            </a:avLst>
          </a:prstGeom>
          <a:solidFill>
            <a:srgbClr val="0B032B"/>
          </a:solidFill>
          <a:ln/>
        </p:spPr>
      </p:sp>
      <p:sp>
        <p:nvSpPr>
          <p:cNvPr id="3" name="Text 1"/>
          <p:cNvSpPr txBox="1"/>
          <p:nvPr/>
        </p:nvSpPr>
        <p:spPr>
          <a:xfrm>
            <a:off x="548640" y="438912"/>
            <a:ext cx="420624" cy="310896"/>
          </a:xfrm>
          <a:prstGeom prst="rect">
            <a:avLst/>
          </a:prstGeom>
          <a:noFill/>
          <a:ln/>
        </p:spPr>
        <p:txBody>
          <a:bodyPr wrap="square" lIns="0" tIns="0" rIns="0" bIns="0" rtlCol="0" anchor="ctr"/>
          <a:lstStyle/>
          <a:p>
            <a:pPr algn="ctr" indent="0" marL="0">
              <a:buNone/>
            </a:pPr>
            <a:r>
              <a:rPr lang="en-US" sz="1100" b="1" dirty="0">
                <a:solidFill>
                  <a:srgbClr val="FFF9C7"/>
                </a:solidFill>
                <a:latin typeface="Calibri" pitchFamily="34" charset="0"/>
                <a:ea typeface="Calibri" pitchFamily="34" charset="-122"/>
                <a:cs typeface="Calibri" pitchFamily="34" charset="-120"/>
              </a:rPr>
              <a:t>04</a:t>
            </a:r>
            <a:endParaRPr lang="en-US" sz="1100" dirty="0"/>
          </a:p>
        </p:txBody>
      </p:sp>
      <p:sp>
        <p:nvSpPr>
          <p:cNvPr id="4" name="Text 2"/>
          <p:cNvSpPr txBox="1"/>
          <p:nvPr/>
        </p:nvSpPr>
        <p:spPr>
          <a:xfrm>
            <a:off x="1115568" y="438912"/>
            <a:ext cx="8229600" cy="310896"/>
          </a:xfrm>
          <a:prstGeom prst="rect">
            <a:avLst/>
          </a:prstGeom>
          <a:noFill/>
          <a:ln/>
        </p:spPr>
        <p:txBody>
          <a:bodyPr wrap="square" lIns="0" tIns="0" rIns="0" bIns="0" rtlCol="0" anchor="ctr"/>
          <a:lstStyle/>
          <a:p>
            <a:pPr indent="0" marL="0">
              <a:buNone/>
            </a:pPr>
            <a:r>
              <a:rPr lang="en-US" sz="1100" b="1" spc="200" kern="0" dirty="0">
                <a:solidFill>
                  <a:srgbClr val="55516E"/>
                </a:solidFill>
                <a:latin typeface="Calibri" pitchFamily="34" charset="0"/>
                <a:ea typeface="Calibri" pitchFamily="34" charset="-122"/>
                <a:cs typeface="Calibri" pitchFamily="34" charset="-120"/>
              </a:rPr>
              <a:t>LES RESPONSABILITÉS DES ÉLUS LOCAUX</a:t>
            </a:r>
            <a:endParaRPr lang="en-US" sz="1100" dirty="0"/>
          </a:p>
        </p:txBody>
      </p:sp>
      <p:sp>
        <p:nvSpPr>
          <p:cNvPr id="5" name="Text 3"/>
          <p:cNvSpPr txBox="1"/>
          <p:nvPr/>
        </p:nvSpPr>
        <p:spPr>
          <a:xfrm>
            <a:off x="548640" y="841248"/>
            <a:ext cx="11064240" cy="685800"/>
          </a:xfrm>
          <a:prstGeom prst="rect">
            <a:avLst/>
          </a:prstGeom>
          <a:noFill/>
          <a:ln/>
        </p:spPr>
        <p:txBody>
          <a:bodyPr wrap="square" lIns="0" tIns="0" rIns="0" bIns="0" rtlCol="0" anchor="ctr">
            <a:normAutofit/>
          </a:bodyPr>
          <a:lstStyle/>
          <a:p>
            <a:pPr indent="0" marL="0">
              <a:buNone/>
            </a:pPr>
            <a:r>
              <a:rPr lang="en-US" sz="2800" b="1" dirty="0">
                <a:solidFill>
                  <a:srgbClr val="0B032B"/>
                </a:solidFill>
                <a:latin typeface="Calibri" pitchFamily="34" charset="0"/>
                <a:ea typeface="Calibri" pitchFamily="34" charset="-122"/>
                <a:cs typeface="Calibri" pitchFamily="34" charset="-120"/>
              </a:rPr>
              <a:t>La responsabilité pénale</a:t>
            </a:r>
            <a:endParaRPr lang="en-US" sz="2800" dirty="0"/>
          </a:p>
        </p:txBody>
      </p:sp>
      <p:sp>
        <p:nvSpPr>
          <p:cNvPr id="6" name="Shape 4"/>
          <p:cNvSpPr/>
          <p:nvPr/>
        </p:nvSpPr>
        <p:spPr>
          <a:xfrm>
            <a:off x="548640" y="1783080"/>
            <a:ext cx="3383280" cy="3383280"/>
          </a:xfrm>
          <a:prstGeom prst="ellipse">
            <a:avLst/>
          </a:prstGeom>
          <a:solidFill>
            <a:srgbClr val="F3F2F8"/>
          </a:solidFill>
          <a:ln/>
        </p:spPr>
      </p:sp>
      <p:pic>
        <p:nvPicPr>
          <p:cNvPr id="7" name="Image 0" descr="preencoded.png">    </p:cNvPr>
          <p:cNvPicPr>
            <a:picLocks noChangeAspect="1"/>
          </p:cNvPicPr>
          <p:nvPr/>
        </p:nvPicPr>
        <p:blipFill>
          <a:blip r:embed="rId1"/>
          <a:stretch>
            <a:fillRect/>
          </a:stretch>
        </p:blipFill>
        <p:spPr>
          <a:xfrm>
            <a:off x="960120" y="2240280"/>
            <a:ext cx="2560320" cy="2389632"/>
          </a:xfrm>
          <a:prstGeom prst="rect">
            <a:avLst/>
          </a:prstGeom>
        </p:spPr>
      </p:pic>
      <p:sp>
        <p:nvSpPr>
          <p:cNvPr id="8" name="Text 5"/>
          <p:cNvSpPr txBox="1"/>
          <p:nvPr/>
        </p:nvSpPr>
        <p:spPr>
          <a:xfrm>
            <a:off x="548640" y="5349240"/>
            <a:ext cx="3383280" cy="365760"/>
          </a:xfrm>
          <a:prstGeom prst="rect">
            <a:avLst/>
          </a:prstGeom>
          <a:noFill/>
          <a:ln/>
        </p:spPr>
        <p:txBody>
          <a:bodyPr wrap="square" lIns="0" tIns="0" rIns="0" bIns="0" rtlCol="0" anchor="t"/>
          <a:lstStyle/>
          <a:p>
            <a:pPr algn="ctr" indent="0" marL="0">
              <a:buNone/>
            </a:pPr>
            <a:r>
              <a:rPr lang="en-US" sz="1300" b="1" spc="200" kern="0" dirty="0">
                <a:solidFill>
                  <a:srgbClr val="55516E"/>
                </a:solidFill>
                <a:latin typeface="Calibri" pitchFamily="34" charset="0"/>
                <a:ea typeface="Calibri" pitchFamily="34" charset="-122"/>
                <a:cs typeface="Calibri" pitchFamily="34" charset="-120"/>
              </a:rPr>
              <a:t>RESPONSABILITÉ PÉNALE</a:t>
            </a:r>
            <a:endParaRPr lang="en-US" sz="1300" dirty="0"/>
          </a:p>
        </p:txBody>
      </p:sp>
      <p:sp>
        <p:nvSpPr>
          <p:cNvPr id="9" name="Text 6"/>
          <p:cNvSpPr txBox="1"/>
          <p:nvPr/>
        </p:nvSpPr>
        <p:spPr>
          <a:xfrm>
            <a:off x="4343400" y="1783080"/>
            <a:ext cx="7269480" cy="777240"/>
          </a:xfrm>
          <a:prstGeom prst="rect">
            <a:avLst/>
          </a:prstGeom>
          <a:noFill/>
          <a:ln/>
        </p:spPr>
        <p:txBody>
          <a:bodyPr wrap="square" lIns="0" tIns="0" rIns="0" bIns="0" rtlCol="0" anchor="t"/>
          <a:lstStyle/>
          <a:p>
            <a:pPr indent="0" marL="0">
              <a:buNone/>
            </a:pPr>
            <a:r>
              <a:rPr lang="en-US" sz="1800" b="1" dirty="0">
                <a:solidFill>
                  <a:srgbClr val="0B032B"/>
                </a:solidFill>
                <a:latin typeface="Calibri" pitchFamily="34" charset="0"/>
                <a:ea typeface="Calibri" pitchFamily="34" charset="-122"/>
                <a:cs typeface="Calibri" pitchFamily="34" charset="-120"/>
              </a:rPr>
              <a:t>L’élu est personnellement responsable des infractions qu’il commet dans l’exercice de ses fonctions ou à titre personnel.</a:t>
            </a:r>
            <a:endParaRPr lang="en-US" sz="1800" dirty="0"/>
          </a:p>
        </p:txBody>
      </p:sp>
      <p:sp>
        <p:nvSpPr>
          <p:cNvPr id="10" name="Text 7"/>
          <p:cNvSpPr txBox="1"/>
          <p:nvPr/>
        </p:nvSpPr>
        <p:spPr>
          <a:xfrm>
            <a:off x="4343400" y="2633472"/>
            <a:ext cx="3657600" cy="274320"/>
          </a:xfrm>
          <a:prstGeom prst="rect">
            <a:avLst/>
          </a:prstGeom>
          <a:noFill/>
          <a:ln/>
        </p:spPr>
        <p:txBody>
          <a:bodyPr wrap="square" lIns="0" tIns="0" rIns="0" bIns="0" rtlCol="0" anchor="t"/>
          <a:lstStyle/>
          <a:p>
            <a:pPr indent="0" marL="0">
              <a:buNone/>
            </a:pPr>
            <a:r>
              <a:rPr lang="en-US" sz="1200" b="1" spc="300" kern="0" dirty="0">
                <a:solidFill>
                  <a:srgbClr val="55516E"/>
                </a:solidFill>
                <a:latin typeface="Calibri" pitchFamily="34" charset="0"/>
                <a:ea typeface="Calibri" pitchFamily="34" charset="-122"/>
                <a:cs typeface="Calibri" pitchFamily="34" charset="-120"/>
              </a:rPr>
              <a:t>EXEMPLES</a:t>
            </a:r>
            <a:endParaRPr lang="en-US" sz="1200" dirty="0"/>
          </a:p>
        </p:txBody>
      </p:sp>
      <p:sp>
        <p:nvSpPr>
          <p:cNvPr id="11" name="Shape 8"/>
          <p:cNvSpPr/>
          <p:nvPr/>
        </p:nvSpPr>
        <p:spPr>
          <a:xfrm>
            <a:off x="4343400" y="2999232"/>
            <a:ext cx="2478024" cy="402336"/>
          </a:xfrm>
          <a:prstGeom prst="roundRect">
            <a:avLst>
              <a:gd name="adj" fmla="val 50000"/>
            </a:avLst>
          </a:prstGeom>
          <a:solidFill>
            <a:srgbClr val="FFF9C7"/>
          </a:solidFill>
          <a:ln/>
        </p:spPr>
      </p:sp>
      <p:sp>
        <p:nvSpPr>
          <p:cNvPr id="12" name="Text 9"/>
          <p:cNvSpPr txBox="1"/>
          <p:nvPr/>
        </p:nvSpPr>
        <p:spPr>
          <a:xfrm>
            <a:off x="4434840" y="2999232"/>
            <a:ext cx="2295144" cy="402336"/>
          </a:xfrm>
          <a:prstGeom prst="rect">
            <a:avLst/>
          </a:prstGeom>
          <a:noFill/>
          <a:ln/>
        </p:spPr>
        <p:txBody>
          <a:bodyPr wrap="square" lIns="0" tIns="0" rIns="0" bIns="0" rtlCol="0" anchor="ctr"/>
          <a:lstStyle/>
          <a:p>
            <a:pPr algn="ctr" indent="0" marL="0">
              <a:buNone/>
            </a:pPr>
            <a:r>
              <a:rPr lang="en-US" sz="1250" b="1" dirty="0">
                <a:solidFill>
                  <a:srgbClr val="0B032B"/>
                </a:solidFill>
                <a:latin typeface="Calibri" pitchFamily="34" charset="0"/>
                <a:ea typeface="Calibri" pitchFamily="34" charset="-122"/>
                <a:cs typeface="Calibri" pitchFamily="34" charset="-120"/>
              </a:rPr>
              <a:t>Prise illégale d’intérêts.</a:t>
            </a:r>
            <a:endParaRPr lang="en-US" sz="1250" dirty="0"/>
          </a:p>
        </p:txBody>
      </p:sp>
      <p:sp>
        <p:nvSpPr>
          <p:cNvPr id="13" name="Shape 10"/>
          <p:cNvSpPr/>
          <p:nvPr/>
        </p:nvSpPr>
        <p:spPr>
          <a:xfrm>
            <a:off x="6949440" y="2999232"/>
            <a:ext cx="3099816" cy="402336"/>
          </a:xfrm>
          <a:prstGeom prst="roundRect">
            <a:avLst>
              <a:gd name="adj" fmla="val 50000"/>
            </a:avLst>
          </a:prstGeom>
          <a:solidFill>
            <a:srgbClr val="FFF9C7"/>
          </a:solidFill>
          <a:ln/>
        </p:spPr>
      </p:sp>
      <p:sp>
        <p:nvSpPr>
          <p:cNvPr id="14" name="Text 11"/>
          <p:cNvSpPr txBox="1"/>
          <p:nvPr/>
        </p:nvSpPr>
        <p:spPr>
          <a:xfrm>
            <a:off x="7040880" y="2999232"/>
            <a:ext cx="2916936" cy="402336"/>
          </a:xfrm>
          <a:prstGeom prst="rect">
            <a:avLst/>
          </a:prstGeom>
          <a:noFill/>
          <a:ln/>
        </p:spPr>
        <p:txBody>
          <a:bodyPr wrap="square" lIns="0" tIns="0" rIns="0" bIns="0" rtlCol="0" anchor="ctr"/>
          <a:lstStyle/>
          <a:p>
            <a:pPr algn="ctr" indent="0" marL="0">
              <a:buNone/>
            </a:pPr>
            <a:r>
              <a:rPr lang="en-US" sz="1250" b="1" dirty="0">
                <a:solidFill>
                  <a:srgbClr val="0B032B"/>
                </a:solidFill>
                <a:latin typeface="Calibri" pitchFamily="34" charset="0"/>
                <a:ea typeface="Calibri" pitchFamily="34" charset="-122"/>
                <a:cs typeface="Calibri" pitchFamily="34" charset="-120"/>
              </a:rPr>
              <a:t>Favoritisme dans un marché public.</a:t>
            </a:r>
            <a:endParaRPr lang="en-US" sz="1250" dirty="0"/>
          </a:p>
        </p:txBody>
      </p:sp>
      <p:sp>
        <p:nvSpPr>
          <p:cNvPr id="15" name="Shape 12"/>
          <p:cNvSpPr/>
          <p:nvPr/>
        </p:nvSpPr>
        <p:spPr>
          <a:xfrm>
            <a:off x="4343400" y="3456432"/>
            <a:ext cx="2788920" cy="402336"/>
          </a:xfrm>
          <a:prstGeom prst="roundRect">
            <a:avLst>
              <a:gd name="adj" fmla="val 50000"/>
            </a:avLst>
          </a:prstGeom>
          <a:solidFill>
            <a:srgbClr val="FFF9C7"/>
          </a:solidFill>
          <a:ln/>
        </p:spPr>
      </p:sp>
      <p:sp>
        <p:nvSpPr>
          <p:cNvPr id="16" name="Text 13"/>
          <p:cNvSpPr txBox="1"/>
          <p:nvPr/>
        </p:nvSpPr>
        <p:spPr>
          <a:xfrm>
            <a:off x="4434840" y="3456432"/>
            <a:ext cx="2606040" cy="402336"/>
          </a:xfrm>
          <a:prstGeom prst="rect">
            <a:avLst/>
          </a:prstGeom>
          <a:noFill/>
          <a:ln/>
        </p:spPr>
        <p:txBody>
          <a:bodyPr wrap="square" lIns="0" tIns="0" rIns="0" bIns="0" rtlCol="0" anchor="ctr"/>
          <a:lstStyle/>
          <a:p>
            <a:pPr algn="ctr" indent="0" marL="0">
              <a:buNone/>
            </a:pPr>
            <a:r>
              <a:rPr lang="en-US" sz="1250" b="1" dirty="0">
                <a:solidFill>
                  <a:srgbClr val="0B032B"/>
                </a:solidFill>
                <a:latin typeface="Calibri" pitchFamily="34" charset="0"/>
                <a:ea typeface="Calibri" pitchFamily="34" charset="-122"/>
                <a:cs typeface="Calibri" pitchFamily="34" charset="-120"/>
              </a:rPr>
              <a:t>Détournement de fonds publics.</a:t>
            </a:r>
            <a:endParaRPr lang="en-US" sz="1250" dirty="0"/>
          </a:p>
        </p:txBody>
      </p:sp>
      <p:sp>
        <p:nvSpPr>
          <p:cNvPr id="17" name="Shape 14"/>
          <p:cNvSpPr/>
          <p:nvPr/>
        </p:nvSpPr>
        <p:spPr>
          <a:xfrm>
            <a:off x="7260336" y="3456432"/>
            <a:ext cx="2633472" cy="402336"/>
          </a:xfrm>
          <a:prstGeom prst="roundRect">
            <a:avLst>
              <a:gd name="adj" fmla="val 50000"/>
            </a:avLst>
          </a:prstGeom>
          <a:solidFill>
            <a:srgbClr val="FFF9C7"/>
          </a:solidFill>
          <a:ln/>
        </p:spPr>
      </p:sp>
      <p:sp>
        <p:nvSpPr>
          <p:cNvPr id="18" name="Text 15"/>
          <p:cNvSpPr txBox="1"/>
          <p:nvPr/>
        </p:nvSpPr>
        <p:spPr>
          <a:xfrm>
            <a:off x="7351776" y="3456432"/>
            <a:ext cx="2450592" cy="402336"/>
          </a:xfrm>
          <a:prstGeom prst="rect">
            <a:avLst/>
          </a:prstGeom>
          <a:noFill/>
          <a:ln/>
        </p:spPr>
        <p:txBody>
          <a:bodyPr wrap="square" lIns="0" tIns="0" rIns="0" bIns="0" rtlCol="0" anchor="ctr"/>
          <a:lstStyle/>
          <a:p>
            <a:pPr algn="ctr" indent="0" marL="0">
              <a:buNone/>
            </a:pPr>
            <a:r>
              <a:rPr lang="en-US" sz="1250" b="1" dirty="0">
                <a:solidFill>
                  <a:srgbClr val="0B032B"/>
                </a:solidFill>
                <a:latin typeface="Calibri" pitchFamily="34" charset="0"/>
                <a:ea typeface="Calibri" pitchFamily="34" charset="-122"/>
                <a:cs typeface="Calibri" pitchFamily="34" charset="-120"/>
              </a:rPr>
              <a:t>Harcèlement moral ou sexuel.</a:t>
            </a:r>
            <a:endParaRPr lang="en-US" sz="1250" dirty="0"/>
          </a:p>
        </p:txBody>
      </p:sp>
      <p:sp>
        <p:nvSpPr>
          <p:cNvPr id="19" name="Shape 16"/>
          <p:cNvSpPr/>
          <p:nvPr/>
        </p:nvSpPr>
        <p:spPr>
          <a:xfrm>
            <a:off x="4343400" y="3913632"/>
            <a:ext cx="4576572" cy="402336"/>
          </a:xfrm>
          <a:prstGeom prst="roundRect">
            <a:avLst>
              <a:gd name="adj" fmla="val 50000"/>
            </a:avLst>
          </a:prstGeom>
          <a:solidFill>
            <a:srgbClr val="FFF9C7"/>
          </a:solidFill>
          <a:ln/>
        </p:spPr>
      </p:sp>
      <p:sp>
        <p:nvSpPr>
          <p:cNvPr id="20" name="Text 17"/>
          <p:cNvSpPr txBox="1"/>
          <p:nvPr/>
        </p:nvSpPr>
        <p:spPr>
          <a:xfrm>
            <a:off x="4434840" y="3913632"/>
            <a:ext cx="4393692" cy="402336"/>
          </a:xfrm>
          <a:prstGeom prst="rect">
            <a:avLst/>
          </a:prstGeom>
          <a:noFill/>
          <a:ln/>
        </p:spPr>
        <p:txBody>
          <a:bodyPr wrap="square" lIns="0" tIns="0" rIns="0" bIns="0" rtlCol="0" anchor="ctr"/>
          <a:lstStyle/>
          <a:p>
            <a:pPr algn="ctr" indent="0" marL="0">
              <a:buNone/>
            </a:pPr>
            <a:r>
              <a:rPr lang="en-US" sz="1250" b="1" dirty="0">
                <a:solidFill>
                  <a:srgbClr val="0B032B"/>
                </a:solidFill>
                <a:latin typeface="Calibri" pitchFamily="34" charset="0"/>
                <a:ea typeface="Calibri" pitchFamily="34" charset="-122"/>
                <a:cs typeface="Calibri" pitchFamily="34" charset="-120"/>
              </a:rPr>
              <a:t>Mise en danger d’autrui par négligence ou imprudence.</a:t>
            </a:r>
            <a:endParaRPr lang="en-US" sz="1250" dirty="0"/>
          </a:p>
        </p:txBody>
      </p:sp>
      <p:sp>
        <p:nvSpPr>
          <p:cNvPr id="21" name="Shape 18"/>
          <p:cNvSpPr/>
          <p:nvPr/>
        </p:nvSpPr>
        <p:spPr>
          <a:xfrm>
            <a:off x="4343400" y="5074920"/>
            <a:ext cx="7269480" cy="960120"/>
          </a:xfrm>
          <a:prstGeom prst="roundRect">
            <a:avLst>
              <a:gd name="adj" fmla="val 11429"/>
            </a:avLst>
          </a:prstGeom>
          <a:solidFill>
            <a:srgbClr val="0B032B"/>
          </a:solidFill>
          <a:ln/>
        </p:spPr>
      </p:sp>
      <p:pic>
        <p:nvPicPr>
          <p:cNvPr id="22" name="Image 1" descr="preencoded.png">    </p:cNvPr>
          <p:cNvPicPr>
            <a:picLocks noChangeAspect="1"/>
          </p:cNvPicPr>
          <p:nvPr/>
        </p:nvPicPr>
        <p:blipFill>
          <a:blip r:embed="rId2"/>
          <a:stretch>
            <a:fillRect/>
          </a:stretch>
        </p:blipFill>
        <p:spPr>
          <a:xfrm>
            <a:off x="4572000" y="5376672"/>
            <a:ext cx="365760" cy="365760"/>
          </a:xfrm>
          <a:prstGeom prst="rect">
            <a:avLst/>
          </a:prstGeom>
        </p:spPr>
      </p:pic>
      <p:sp>
        <p:nvSpPr>
          <p:cNvPr id="23" name="Text 19"/>
          <p:cNvSpPr txBox="1"/>
          <p:nvPr/>
        </p:nvSpPr>
        <p:spPr>
          <a:xfrm>
            <a:off x="5120640" y="5074920"/>
            <a:ext cx="6309360" cy="9601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Sanctions possibles : amende, peine d’emprisonnement, inéligibilité, interdiction d’exercer certaines fonctions.</a:t>
            </a:r>
            <a:endParaRPr lang="en-US" sz="1500" dirty="0"/>
          </a:p>
        </p:txBody>
      </p:sp>
      <p:sp>
        <p:nvSpPr>
          <p:cNvPr id="24" name="Text 20"/>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spc="100" kern="0" dirty="0">
                <a:solidFill>
                  <a:srgbClr val="8A8699"/>
                </a:solidFill>
                <a:latin typeface="Calibri" pitchFamily="34" charset="0"/>
                <a:ea typeface="Calibri" pitchFamily="34" charset="-122"/>
                <a:cs typeface="Calibri" pitchFamily="34" charset="-120"/>
              </a:rPr>
              <a:t>ENMA FORMATION  ·  Formation des élus municipaux 2026</a:t>
            </a:r>
            <a:endParaRPr lang="en-US" sz="900" dirty="0"/>
          </a:p>
        </p:txBody>
      </p:sp>
      <p:sp>
        <p:nvSpPr>
          <p:cNvPr id="25" name="Text 21"/>
          <p:cNvSpPr txBox="1"/>
          <p:nvPr/>
        </p:nvSpPr>
        <p:spPr>
          <a:xfrm>
            <a:off x="9692640" y="6400800"/>
            <a:ext cx="548640" cy="274320"/>
          </a:xfrm>
          <a:prstGeom prst="rect">
            <a:avLst/>
          </a:prstGeom>
          <a:noFill/>
          <a:ln/>
        </p:spPr>
        <p:txBody>
          <a:bodyPr wrap="square" lIns="0" tIns="0" rIns="0" bIns="0" rtlCol="0" anchor="ctr"/>
          <a:lstStyle/>
          <a:p>
            <a:pPr algn="r" indent="0" marL="0">
              <a:buNone/>
            </a:pPr>
            <a:r>
              <a:rPr lang="en-US" sz="900" dirty="0">
                <a:solidFill>
                  <a:srgbClr val="8A8699"/>
                </a:solidFill>
                <a:latin typeface="Calibri" pitchFamily="34" charset="0"/>
                <a:ea typeface="Calibri" pitchFamily="34" charset="-122"/>
                <a:cs typeface="Calibri" pitchFamily="34" charset="-120"/>
              </a:rPr>
              <a:t>25</a:t>
            </a:r>
            <a:endParaRPr lang="en-US" sz="900" dirty="0"/>
          </a:p>
        </p:txBody>
      </p:sp>
      <p:pic>
        <p:nvPicPr>
          <p:cNvPr id="26" name="Image 2" descr="preencoded.png">    </p:cNvPr>
          <p:cNvPicPr>
            <a:picLocks noChangeAspect="1"/>
          </p:cNvPicPr>
          <p:nvPr/>
        </p:nvPicPr>
        <p:blipFill>
          <a:blip r:embed="rId3"/>
          <a:stretch>
            <a:fillRect/>
          </a:stretch>
        </p:blipFill>
        <p:spPr>
          <a:xfrm>
            <a:off x="10469880" y="6309360"/>
            <a:ext cx="1170432" cy="484632"/>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420624" cy="310896"/>
          </a:xfrm>
          <a:prstGeom prst="roundRect">
            <a:avLst>
              <a:gd name="adj" fmla="val 23529"/>
            </a:avLst>
          </a:prstGeom>
          <a:solidFill>
            <a:srgbClr val="0B032B"/>
          </a:solidFill>
          <a:ln/>
        </p:spPr>
      </p:sp>
      <p:sp>
        <p:nvSpPr>
          <p:cNvPr id="3" name="Text 1"/>
          <p:cNvSpPr txBox="1"/>
          <p:nvPr/>
        </p:nvSpPr>
        <p:spPr>
          <a:xfrm>
            <a:off x="548640" y="438912"/>
            <a:ext cx="420624" cy="310896"/>
          </a:xfrm>
          <a:prstGeom prst="rect">
            <a:avLst/>
          </a:prstGeom>
          <a:noFill/>
          <a:ln/>
        </p:spPr>
        <p:txBody>
          <a:bodyPr wrap="square" lIns="0" tIns="0" rIns="0" bIns="0" rtlCol="0" anchor="ctr"/>
          <a:lstStyle/>
          <a:p>
            <a:pPr algn="ctr" indent="0" marL="0">
              <a:buNone/>
            </a:pPr>
            <a:r>
              <a:rPr lang="en-US" sz="1100" b="1" dirty="0">
                <a:solidFill>
                  <a:srgbClr val="FFF9C7"/>
                </a:solidFill>
                <a:latin typeface="Calibri" pitchFamily="34" charset="0"/>
                <a:ea typeface="Calibri" pitchFamily="34" charset="-122"/>
                <a:cs typeface="Calibri" pitchFamily="34" charset="-120"/>
              </a:rPr>
              <a:t>04</a:t>
            </a:r>
            <a:endParaRPr lang="en-US" sz="1100" dirty="0"/>
          </a:p>
        </p:txBody>
      </p:sp>
      <p:sp>
        <p:nvSpPr>
          <p:cNvPr id="4" name="Text 2"/>
          <p:cNvSpPr txBox="1"/>
          <p:nvPr/>
        </p:nvSpPr>
        <p:spPr>
          <a:xfrm>
            <a:off x="1115568" y="438912"/>
            <a:ext cx="8229600" cy="310896"/>
          </a:xfrm>
          <a:prstGeom prst="rect">
            <a:avLst/>
          </a:prstGeom>
          <a:noFill/>
          <a:ln/>
        </p:spPr>
        <p:txBody>
          <a:bodyPr wrap="square" lIns="0" tIns="0" rIns="0" bIns="0" rtlCol="0" anchor="ctr"/>
          <a:lstStyle/>
          <a:p>
            <a:pPr indent="0" marL="0">
              <a:buNone/>
            </a:pPr>
            <a:r>
              <a:rPr lang="en-US" sz="1100" b="1" spc="200" kern="0" dirty="0">
                <a:solidFill>
                  <a:srgbClr val="55516E"/>
                </a:solidFill>
                <a:latin typeface="Calibri" pitchFamily="34" charset="0"/>
                <a:ea typeface="Calibri" pitchFamily="34" charset="-122"/>
                <a:cs typeface="Calibri" pitchFamily="34" charset="-120"/>
              </a:rPr>
              <a:t>LES RESPONSABILITÉS DES ÉLUS LOCAUX</a:t>
            </a:r>
            <a:endParaRPr lang="en-US" sz="1100" dirty="0"/>
          </a:p>
        </p:txBody>
      </p:sp>
      <p:sp>
        <p:nvSpPr>
          <p:cNvPr id="5" name="Text 3"/>
          <p:cNvSpPr txBox="1"/>
          <p:nvPr/>
        </p:nvSpPr>
        <p:spPr>
          <a:xfrm>
            <a:off x="548640" y="841248"/>
            <a:ext cx="11064240" cy="685800"/>
          </a:xfrm>
          <a:prstGeom prst="rect">
            <a:avLst/>
          </a:prstGeom>
          <a:noFill/>
          <a:ln/>
        </p:spPr>
        <p:txBody>
          <a:bodyPr wrap="square" lIns="0" tIns="0" rIns="0" bIns="0" rtlCol="0" anchor="ctr">
            <a:normAutofit/>
          </a:bodyPr>
          <a:lstStyle/>
          <a:p>
            <a:pPr indent="0" marL="0">
              <a:buNone/>
            </a:pPr>
            <a:r>
              <a:rPr lang="en-US" sz="2800" b="1" dirty="0">
                <a:solidFill>
                  <a:srgbClr val="0B032B"/>
                </a:solidFill>
                <a:latin typeface="Calibri" pitchFamily="34" charset="0"/>
                <a:ea typeface="Calibri" pitchFamily="34" charset="-122"/>
                <a:cs typeface="Calibri" pitchFamily="34" charset="-120"/>
              </a:rPr>
              <a:t>La responsabilité civile</a:t>
            </a:r>
            <a:endParaRPr lang="en-US" sz="2800" dirty="0"/>
          </a:p>
        </p:txBody>
      </p:sp>
      <p:sp>
        <p:nvSpPr>
          <p:cNvPr id="6" name="Shape 4"/>
          <p:cNvSpPr/>
          <p:nvPr/>
        </p:nvSpPr>
        <p:spPr>
          <a:xfrm>
            <a:off x="548640" y="1783080"/>
            <a:ext cx="3383280" cy="3383280"/>
          </a:xfrm>
          <a:prstGeom prst="ellipse">
            <a:avLst/>
          </a:prstGeom>
          <a:solidFill>
            <a:srgbClr val="F3F2F8"/>
          </a:solidFill>
          <a:ln/>
        </p:spPr>
      </p:sp>
      <p:pic>
        <p:nvPicPr>
          <p:cNvPr id="7" name="Image 0" descr="preencoded.png">    </p:cNvPr>
          <p:cNvPicPr>
            <a:picLocks noChangeAspect="1"/>
          </p:cNvPicPr>
          <p:nvPr/>
        </p:nvPicPr>
        <p:blipFill>
          <a:blip r:embed="rId1"/>
          <a:stretch>
            <a:fillRect/>
          </a:stretch>
        </p:blipFill>
        <p:spPr>
          <a:xfrm>
            <a:off x="960120" y="2240280"/>
            <a:ext cx="2560320" cy="2389632"/>
          </a:xfrm>
          <a:prstGeom prst="rect">
            <a:avLst/>
          </a:prstGeom>
        </p:spPr>
      </p:pic>
      <p:sp>
        <p:nvSpPr>
          <p:cNvPr id="8" name="Text 5"/>
          <p:cNvSpPr txBox="1"/>
          <p:nvPr/>
        </p:nvSpPr>
        <p:spPr>
          <a:xfrm>
            <a:off x="548640" y="5349240"/>
            <a:ext cx="3383280" cy="365760"/>
          </a:xfrm>
          <a:prstGeom prst="rect">
            <a:avLst/>
          </a:prstGeom>
          <a:noFill/>
          <a:ln/>
        </p:spPr>
        <p:txBody>
          <a:bodyPr wrap="square" lIns="0" tIns="0" rIns="0" bIns="0" rtlCol="0" anchor="t"/>
          <a:lstStyle/>
          <a:p>
            <a:pPr algn="ctr" indent="0" marL="0">
              <a:buNone/>
            </a:pPr>
            <a:r>
              <a:rPr lang="en-US" sz="1300" b="1" spc="200" kern="0" dirty="0">
                <a:solidFill>
                  <a:srgbClr val="55516E"/>
                </a:solidFill>
                <a:latin typeface="Calibri" pitchFamily="34" charset="0"/>
                <a:ea typeface="Calibri" pitchFamily="34" charset="-122"/>
                <a:cs typeface="Calibri" pitchFamily="34" charset="-120"/>
              </a:rPr>
              <a:t>RESPONSABILITÉ CIVILE</a:t>
            </a:r>
            <a:endParaRPr lang="en-US" sz="1300" dirty="0"/>
          </a:p>
        </p:txBody>
      </p:sp>
      <p:sp>
        <p:nvSpPr>
          <p:cNvPr id="9" name="Text 6"/>
          <p:cNvSpPr txBox="1"/>
          <p:nvPr/>
        </p:nvSpPr>
        <p:spPr>
          <a:xfrm>
            <a:off x="4343400" y="1783080"/>
            <a:ext cx="7269480" cy="411480"/>
          </a:xfrm>
          <a:prstGeom prst="rect">
            <a:avLst/>
          </a:prstGeom>
          <a:noFill/>
          <a:ln/>
        </p:spPr>
        <p:txBody>
          <a:bodyPr wrap="square" lIns="0" tIns="0" rIns="0" bIns="0" rtlCol="0" anchor="t"/>
          <a:lstStyle/>
          <a:p>
            <a:pPr indent="0" marL="0">
              <a:buNone/>
            </a:pPr>
            <a:r>
              <a:rPr lang="en-US" sz="1800" b="1" dirty="0">
                <a:solidFill>
                  <a:srgbClr val="0B032B"/>
                </a:solidFill>
                <a:latin typeface="Calibri" pitchFamily="34" charset="0"/>
                <a:ea typeface="Calibri" pitchFamily="34" charset="-122"/>
                <a:cs typeface="Calibri" pitchFamily="34" charset="-120"/>
              </a:rPr>
              <a:t>Elle vise à réparer un préjudice causé à un tiers.</a:t>
            </a:r>
            <a:endParaRPr lang="en-US" sz="1800" dirty="0"/>
          </a:p>
        </p:txBody>
      </p:sp>
      <p:sp>
        <p:nvSpPr>
          <p:cNvPr id="10" name="Text 7"/>
          <p:cNvSpPr txBox="1"/>
          <p:nvPr/>
        </p:nvSpPr>
        <p:spPr>
          <a:xfrm>
            <a:off x="4343400" y="2267712"/>
            <a:ext cx="7269480" cy="914400"/>
          </a:xfrm>
          <a:prstGeom prst="rect">
            <a:avLst/>
          </a:prstGeom>
          <a:noFill/>
          <a:ln/>
        </p:spPr>
        <p:txBody>
          <a:bodyPr wrap="square" lIns="0" tIns="0" rIns="0" bIns="0" rtlCol="0" anchor="t"/>
          <a:lstStyle/>
          <a:p>
            <a:pPr indent="0" marL="0">
              <a:buNone/>
            </a:pPr>
            <a:r>
              <a:rPr lang="en-US" sz="1400" dirty="0">
                <a:solidFill>
                  <a:srgbClr val="55516E"/>
                </a:solidFill>
                <a:latin typeface="Calibri" pitchFamily="34" charset="0"/>
                <a:ea typeface="Calibri" pitchFamily="34" charset="-122"/>
                <a:cs typeface="Calibri" pitchFamily="34" charset="-120"/>
              </a:rPr>
              <a:t>Dans la plupart des situations, c’est la commune qui répond des fautes de service. En revanche, l’élu peut être tenu personnellement responsable lorsqu’il commet une faute personnelle détachable de l’exercice de ses fonctions.</a:t>
            </a:r>
            <a:endParaRPr lang="en-US" sz="1400" dirty="0"/>
          </a:p>
        </p:txBody>
      </p:sp>
      <p:sp>
        <p:nvSpPr>
          <p:cNvPr id="11" name="Text 8"/>
          <p:cNvSpPr txBox="1"/>
          <p:nvPr/>
        </p:nvSpPr>
        <p:spPr>
          <a:xfrm>
            <a:off x="4343400" y="3255264"/>
            <a:ext cx="3657600" cy="274320"/>
          </a:xfrm>
          <a:prstGeom prst="rect">
            <a:avLst/>
          </a:prstGeom>
          <a:noFill/>
          <a:ln/>
        </p:spPr>
        <p:txBody>
          <a:bodyPr wrap="square" lIns="0" tIns="0" rIns="0" bIns="0" rtlCol="0" anchor="t"/>
          <a:lstStyle/>
          <a:p>
            <a:pPr indent="0" marL="0">
              <a:buNone/>
            </a:pPr>
            <a:r>
              <a:rPr lang="en-US" sz="1200" b="1" spc="300" kern="0" dirty="0">
                <a:solidFill>
                  <a:srgbClr val="55516E"/>
                </a:solidFill>
                <a:latin typeface="Calibri" pitchFamily="34" charset="0"/>
                <a:ea typeface="Calibri" pitchFamily="34" charset="-122"/>
                <a:cs typeface="Calibri" pitchFamily="34" charset="-120"/>
              </a:rPr>
              <a:t>EXEMPLES</a:t>
            </a:r>
            <a:endParaRPr lang="en-US" sz="1200" dirty="0"/>
          </a:p>
        </p:txBody>
      </p:sp>
      <p:sp>
        <p:nvSpPr>
          <p:cNvPr id="12" name="Shape 9"/>
          <p:cNvSpPr/>
          <p:nvPr/>
        </p:nvSpPr>
        <p:spPr>
          <a:xfrm>
            <a:off x="4343400" y="3621024"/>
            <a:ext cx="3410712" cy="402336"/>
          </a:xfrm>
          <a:prstGeom prst="roundRect">
            <a:avLst>
              <a:gd name="adj" fmla="val 50000"/>
            </a:avLst>
          </a:prstGeom>
          <a:solidFill>
            <a:srgbClr val="FFF9C7"/>
          </a:solidFill>
          <a:ln/>
        </p:spPr>
      </p:sp>
      <p:sp>
        <p:nvSpPr>
          <p:cNvPr id="13" name="Text 10"/>
          <p:cNvSpPr txBox="1"/>
          <p:nvPr/>
        </p:nvSpPr>
        <p:spPr>
          <a:xfrm>
            <a:off x="4434840" y="3621024"/>
            <a:ext cx="3227832" cy="402336"/>
          </a:xfrm>
          <a:prstGeom prst="rect">
            <a:avLst/>
          </a:prstGeom>
          <a:noFill/>
          <a:ln/>
        </p:spPr>
        <p:txBody>
          <a:bodyPr wrap="square" lIns="0" tIns="0" rIns="0" bIns="0" rtlCol="0" anchor="ctr"/>
          <a:lstStyle/>
          <a:p>
            <a:pPr algn="ctr" indent="0" marL="0">
              <a:buNone/>
            </a:pPr>
            <a:r>
              <a:rPr lang="en-US" sz="1250" b="1" dirty="0">
                <a:solidFill>
                  <a:srgbClr val="0B032B"/>
                </a:solidFill>
                <a:latin typeface="Calibri" pitchFamily="34" charset="0"/>
                <a:ea typeface="Calibri" pitchFamily="34" charset="-122"/>
                <a:cs typeface="Calibri" pitchFamily="34" charset="-120"/>
              </a:rPr>
              <a:t>Violence ou injure commise par un élu.</a:t>
            </a:r>
            <a:endParaRPr lang="en-US" sz="1250" dirty="0"/>
          </a:p>
        </p:txBody>
      </p:sp>
      <p:sp>
        <p:nvSpPr>
          <p:cNvPr id="14" name="Shape 11"/>
          <p:cNvSpPr/>
          <p:nvPr/>
        </p:nvSpPr>
        <p:spPr>
          <a:xfrm>
            <a:off x="4343400" y="4078224"/>
            <a:ext cx="5353812" cy="402336"/>
          </a:xfrm>
          <a:prstGeom prst="roundRect">
            <a:avLst>
              <a:gd name="adj" fmla="val 50000"/>
            </a:avLst>
          </a:prstGeom>
          <a:solidFill>
            <a:srgbClr val="FFF9C7"/>
          </a:solidFill>
          <a:ln/>
        </p:spPr>
      </p:sp>
      <p:sp>
        <p:nvSpPr>
          <p:cNvPr id="15" name="Text 12"/>
          <p:cNvSpPr txBox="1"/>
          <p:nvPr/>
        </p:nvSpPr>
        <p:spPr>
          <a:xfrm>
            <a:off x="4434840" y="4078224"/>
            <a:ext cx="5170932" cy="402336"/>
          </a:xfrm>
          <a:prstGeom prst="rect">
            <a:avLst/>
          </a:prstGeom>
          <a:noFill/>
          <a:ln/>
        </p:spPr>
        <p:txBody>
          <a:bodyPr wrap="square" lIns="0" tIns="0" rIns="0" bIns="0" rtlCol="0" anchor="ctr"/>
          <a:lstStyle/>
          <a:p>
            <a:pPr algn="ctr" indent="0" marL="0">
              <a:buNone/>
            </a:pPr>
            <a:r>
              <a:rPr lang="en-US" sz="1250" b="1" dirty="0">
                <a:solidFill>
                  <a:srgbClr val="0B032B"/>
                </a:solidFill>
                <a:latin typeface="Calibri" pitchFamily="34" charset="0"/>
                <a:ea typeface="Calibri" pitchFamily="34" charset="-122"/>
                <a:cs typeface="Calibri" pitchFamily="34" charset="-120"/>
              </a:rPr>
              <a:t>Faute grave sans lien avec le fonctionnement normal du service.</a:t>
            </a:r>
            <a:endParaRPr lang="en-US" sz="1250" dirty="0"/>
          </a:p>
        </p:txBody>
      </p:sp>
      <p:sp>
        <p:nvSpPr>
          <p:cNvPr id="16" name="Shape 13"/>
          <p:cNvSpPr/>
          <p:nvPr/>
        </p:nvSpPr>
        <p:spPr>
          <a:xfrm>
            <a:off x="4343400" y="4535424"/>
            <a:ext cx="5742432" cy="402336"/>
          </a:xfrm>
          <a:prstGeom prst="roundRect">
            <a:avLst>
              <a:gd name="adj" fmla="val 50000"/>
            </a:avLst>
          </a:prstGeom>
          <a:solidFill>
            <a:srgbClr val="FFF9C7"/>
          </a:solidFill>
          <a:ln/>
        </p:spPr>
      </p:sp>
      <p:sp>
        <p:nvSpPr>
          <p:cNvPr id="17" name="Text 14"/>
          <p:cNvSpPr txBox="1"/>
          <p:nvPr/>
        </p:nvSpPr>
        <p:spPr>
          <a:xfrm>
            <a:off x="4434840" y="4535424"/>
            <a:ext cx="5559552" cy="402336"/>
          </a:xfrm>
          <a:prstGeom prst="rect">
            <a:avLst/>
          </a:prstGeom>
          <a:noFill/>
          <a:ln/>
        </p:spPr>
        <p:txBody>
          <a:bodyPr wrap="square" lIns="0" tIns="0" rIns="0" bIns="0" rtlCol="0" anchor="ctr"/>
          <a:lstStyle/>
          <a:p>
            <a:pPr algn="ctr" indent="0" marL="0">
              <a:buNone/>
            </a:pPr>
            <a:r>
              <a:rPr lang="en-US" sz="1250" b="1" dirty="0">
                <a:solidFill>
                  <a:srgbClr val="0B032B"/>
                </a:solidFill>
                <a:latin typeface="Calibri" pitchFamily="34" charset="0"/>
                <a:ea typeface="Calibri" pitchFamily="34" charset="-122"/>
                <a:cs typeface="Calibri" pitchFamily="34" charset="-120"/>
              </a:rPr>
              <a:t>Comportement manifestement incompatible avec les fonctions exercées.</a:t>
            </a:r>
            <a:endParaRPr lang="en-US" sz="1250" dirty="0"/>
          </a:p>
        </p:txBody>
      </p:sp>
      <p:sp>
        <p:nvSpPr>
          <p:cNvPr id="18" name="Shape 15"/>
          <p:cNvSpPr/>
          <p:nvPr/>
        </p:nvSpPr>
        <p:spPr>
          <a:xfrm>
            <a:off x="4343400" y="5074920"/>
            <a:ext cx="7269480" cy="960120"/>
          </a:xfrm>
          <a:prstGeom prst="roundRect">
            <a:avLst>
              <a:gd name="adj" fmla="val 11429"/>
            </a:avLst>
          </a:prstGeom>
          <a:solidFill>
            <a:srgbClr val="0B032B"/>
          </a:solidFill>
          <a:ln/>
        </p:spPr>
      </p:sp>
      <p:pic>
        <p:nvPicPr>
          <p:cNvPr id="19" name="Image 1" descr="preencoded.png">    </p:cNvPr>
          <p:cNvPicPr>
            <a:picLocks noChangeAspect="1"/>
          </p:cNvPicPr>
          <p:nvPr/>
        </p:nvPicPr>
        <p:blipFill>
          <a:blip r:embed="rId2"/>
          <a:stretch>
            <a:fillRect/>
          </a:stretch>
        </p:blipFill>
        <p:spPr>
          <a:xfrm>
            <a:off x="4572000" y="5376672"/>
            <a:ext cx="365760" cy="365760"/>
          </a:xfrm>
          <a:prstGeom prst="rect">
            <a:avLst/>
          </a:prstGeom>
        </p:spPr>
      </p:pic>
      <p:sp>
        <p:nvSpPr>
          <p:cNvPr id="20" name="Text 16"/>
          <p:cNvSpPr txBox="1"/>
          <p:nvPr/>
        </p:nvSpPr>
        <p:spPr>
          <a:xfrm>
            <a:off x="5120640" y="5074920"/>
            <a:ext cx="6309360" cy="9601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Conséquence : indemnisation de la victime.</a:t>
            </a:r>
            <a:endParaRPr lang="en-US" sz="1500" dirty="0"/>
          </a:p>
        </p:txBody>
      </p:sp>
      <p:sp>
        <p:nvSpPr>
          <p:cNvPr id="21" name="Text 17"/>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spc="100" kern="0" dirty="0">
                <a:solidFill>
                  <a:srgbClr val="8A8699"/>
                </a:solidFill>
                <a:latin typeface="Calibri" pitchFamily="34" charset="0"/>
                <a:ea typeface="Calibri" pitchFamily="34" charset="-122"/>
                <a:cs typeface="Calibri" pitchFamily="34" charset="-120"/>
              </a:rPr>
              <a:t>ENMA FORMATION  ·  Formation des élus municipaux 2026</a:t>
            </a:r>
            <a:endParaRPr lang="en-US" sz="900" dirty="0"/>
          </a:p>
        </p:txBody>
      </p:sp>
      <p:sp>
        <p:nvSpPr>
          <p:cNvPr id="22" name="Text 18"/>
          <p:cNvSpPr txBox="1"/>
          <p:nvPr/>
        </p:nvSpPr>
        <p:spPr>
          <a:xfrm>
            <a:off x="9692640" y="6400800"/>
            <a:ext cx="548640" cy="274320"/>
          </a:xfrm>
          <a:prstGeom prst="rect">
            <a:avLst/>
          </a:prstGeom>
          <a:noFill/>
          <a:ln/>
        </p:spPr>
        <p:txBody>
          <a:bodyPr wrap="square" lIns="0" tIns="0" rIns="0" bIns="0" rtlCol="0" anchor="ctr"/>
          <a:lstStyle/>
          <a:p>
            <a:pPr algn="r" indent="0" marL="0">
              <a:buNone/>
            </a:pPr>
            <a:r>
              <a:rPr lang="en-US" sz="900" dirty="0">
                <a:solidFill>
                  <a:srgbClr val="8A8699"/>
                </a:solidFill>
                <a:latin typeface="Calibri" pitchFamily="34" charset="0"/>
                <a:ea typeface="Calibri" pitchFamily="34" charset="-122"/>
                <a:cs typeface="Calibri" pitchFamily="34" charset="-120"/>
              </a:rPr>
              <a:t>26</a:t>
            </a:r>
            <a:endParaRPr lang="en-US" sz="900" dirty="0"/>
          </a:p>
        </p:txBody>
      </p:sp>
      <p:pic>
        <p:nvPicPr>
          <p:cNvPr id="23" name="Image 2" descr="preencoded.png">    </p:cNvPr>
          <p:cNvPicPr>
            <a:picLocks noChangeAspect="1"/>
          </p:cNvPicPr>
          <p:nvPr/>
        </p:nvPicPr>
        <p:blipFill>
          <a:blip r:embed="rId3"/>
          <a:stretch>
            <a:fillRect/>
          </a:stretch>
        </p:blipFill>
        <p:spPr>
          <a:xfrm>
            <a:off x="10469880" y="6309360"/>
            <a:ext cx="1170432" cy="484632"/>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420624" cy="310896"/>
          </a:xfrm>
          <a:prstGeom prst="roundRect">
            <a:avLst>
              <a:gd name="adj" fmla="val 23529"/>
            </a:avLst>
          </a:prstGeom>
          <a:solidFill>
            <a:srgbClr val="0B032B"/>
          </a:solidFill>
          <a:ln/>
        </p:spPr>
      </p:sp>
      <p:sp>
        <p:nvSpPr>
          <p:cNvPr id="3" name="Text 1"/>
          <p:cNvSpPr txBox="1"/>
          <p:nvPr/>
        </p:nvSpPr>
        <p:spPr>
          <a:xfrm>
            <a:off x="548640" y="438912"/>
            <a:ext cx="420624" cy="310896"/>
          </a:xfrm>
          <a:prstGeom prst="rect">
            <a:avLst/>
          </a:prstGeom>
          <a:noFill/>
          <a:ln/>
        </p:spPr>
        <p:txBody>
          <a:bodyPr wrap="square" lIns="0" tIns="0" rIns="0" bIns="0" rtlCol="0" anchor="ctr"/>
          <a:lstStyle/>
          <a:p>
            <a:pPr algn="ctr" indent="0" marL="0">
              <a:buNone/>
            </a:pPr>
            <a:r>
              <a:rPr lang="en-US" sz="1100" b="1" dirty="0">
                <a:solidFill>
                  <a:srgbClr val="FFF9C7"/>
                </a:solidFill>
                <a:latin typeface="Calibri" pitchFamily="34" charset="0"/>
                <a:ea typeface="Calibri" pitchFamily="34" charset="-122"/>
                <a:cs typeface="Calibri" pitchFamily="34" charset="-120"/>
              </a:rPr>
              <a:t>04</a:t>
            </a:r>
            <a:endParaRPr lang="en-US" sz="1100" dirty="0"/>
          </a:p>
        </p:txBody>
      </p:sp>
      <p:sp>
        <p:nvSpPr>
          <p:cNvPr id="4" name="Text 2"/>
          <p:cNvSpPr txBox="1"/>
          <p:nvPr/>
        </p:nvSpPr>
        <p:spPr>
          <a:xfrm>
            <a:off x="1115568" y="438912"/>
            <a:ext cx="8229600" cy="310896"/>
          </a:xfrm>
          <a:prstGeom prst="rect">
            <a:avLst/>
          </a:prstGeom>
          <a:noFill/>
          <a:ln/>
        </p:spPr>
        <p:txBody>
          <a:bodyPr wrap="square" lIns="0" tIns="0" rIns="0" bIns="0" rtlCol="0" anchor="ctr"/>
          <a:lstStyle/>
          <a:p>
            <a:pPr indent="0" marL="0">
              <a:buNone/>
            </a:pPr>
            <a:r>
              <a:rPr lang="en-US" sz="1100" b="1" spc="200" kern="0" dirty="0">
                <a:solidFill>
                  <a:srgbClr val="55516E"/>
                </a:solidFill>
                <a:latin typeface="Calibri" pitchFamily="34" charset="0"/>
                <a:ea typeface="Calibri" pitchFamily="34" charset="-122"/>
                <a:cs typeface="Calibri" pitchFamily="34" charset="-120"/>
              </a:rPr>
              <a:t>LES RESPONSABILITÉS DES ÉLUS LOCAUX</a:t>
            </a:r>
            <a:endParaRPr lang="en-US" sz="1100" dirty="0"/>
          </a:p>
        </p:txBody>
      </p:sp>
      <p:sp>
        <p:nvSpPr>
          <p:cNvPr id="5" name="Text 3"/>
          <p:cNvSpPr txBox="1"/>
          <p:nvPr/>
        </p:nvSpPr>
        <p:spPr>
          <a:xfrm>
            <a:off x="548640" y="841248"/>
            <a:ext cx="11064240" cy="685800"/>
          </a:xfrm>
          <a:prstGeom prst="rect">
            <a:avLst/>
          </a:prstGeom>
          <a:noFill/>
          <a:ln/>
        </p:spPr>
        <p:txBody>
          <a:bodyPr wrap="square" lIns="0" tIns="0" rIns="0" bIns="0" rtlCol="0" anchor="ctr">
            <a:normAutofit/>
          </a:bodyPr>
          <a:lstStyle/>
          <a:p>
            <a:pPr indent="0" marL="0">
              <a:buNone/>
            </a:pPr>
            <a:r>
              <a:rPr lang="en-US" sz="2800" b="1" dirty="0">
                <a:solidFill>
                  <a:srgbClr val="0B032B"/>
                </a:solidFill>
                <a:latin typeface="Calibri" pitchFamily="34" charset="0"/>
                <a:ea typeface="Calibri" pitchFamily="34" charset="-122"/>
                <a:cs typeface="Calibri" pitchFamily="34" charset="-120"/>
              </a:rPr>
              <a:t>La responsabilité politique</a:t>
            </a:r>
            <a:endParaRPr lang="en-US" sz="2800" dirty="0"/>
          </a:p>
        </p:txBody>
      </p:sp>
      <p:sp>
        <p:nvSpPr>
          <p:cNvPr id="6" name="Shape 4"/>
          <p:cNvSpPr/>
          <p:nvPr/>
        </p:nvSpPr>
        <p:spPr>
          <a:xfrm>
            <a:off x="548640" y="1783080"/>
            <a:ext cx="3383280" cy="3383280"/>
          </a:xfrm>
          <a:prstGeom prst="ellipse">
            <a:avLst/>
          </a:prstGeom>
          <a:solidFill>
            <a:srgbClr val="F3F2F8"/>
          </a:solidFill>
          <a:ln/>
        </p:spPr>
      </p:sp>
      <p:pic>
        <p:nvPicPr>
          <p:cNvPr id="7" name="Image 0" descr="preencoded.png">    </p:cNvPr>
          <p:cNvPicPr>
            <a:picLocks noChangeAspect="1"/>
          </p:cNvPicPr>
          <p:nvPr/>
        </p:nvPicPr>
        <p:blipFill>
          <a:blip r:embed="rId1"/>
          <a:stretch>
            <a:fillRect/>
          </a:stretch>
        </p:blipFill>
        <p:spPr>
          <a:xfrm>
            <a:off x="960120" y="2240280"/>
            <a:ext cx="2560320" cy="2389632"/>
          </a:xfrm>
          <a:prstGeom prst="rect">
            <a:avLst/>
          </a:prstGeom>
        </p:spPr>
      </p:pic>
      <p:sp>
        <p:nvSpPr>
          <p:cNvPr id="8" name="Text 5"/>
          <p:cNvSpPr txBox="1"/>
          <p:nvPr/>
        </p:nvSpPr>
        <p:spPr>
          <a:xfrm>
            <a:off x="548640" y="5349240"/>
            <a:ext cx="3383280" cy="365760"/>
          </a:xfrm>
          <a:prstGeom prst="rect">
            <a:avLst/>
          </a:prstGeom>
          <a:noFill/>
          <a:ln/>
        </p:spPr>
        <p:txBody>
          <a:bodyPr wrap="square" lIns="0" tIns="0" rIns="0" bIns="0" rtlCol="0" anchor="t"/>
          <a:lstStyle/>
          <a:p>
            <a:pPr algn="ctr" indent="0" marL="0">
              <a:buNone/>
            </a:pPr>
            <a:r>
              <a:rPr lang="en-US" sz="1300" b="1" spc="200" kern="0" dirty="0">
                <a:solidFill>
                  <a:srgbClr val="55516E"/>
                </a:solidFill>
                <a:latin typeface="Calibri" pitchFamily="34" charset="0"/>
                <a:ea typeface="Calibri" pitchFamily="34" charset="-122"/>
                <a:cs typeface="Calibri" pitchFamily="34" charset="-120"/>
              </a:rPr>
              <a:t>RESPONSABILITÉ POLITIQUE</a:t>
            </a:r>
            <a:endParaRPr lang="en-US" sz="1300" dirty="0"/>
          </a:p>
        </p:txBody>
      </p:sp>
      <p:sp>
        <p:nvSpPr>
          <p:cNvPr id="9" name="Text 6"/>
          <p:cNvSpPr txBox="1"/>
          <p:nvPr/>
        </p:nvSpPr>
        <p:spPr>
          <a:xfrm>
            <a:off x="4343400" y="1783080"/>
            <a:ext cx="7269480" cy="411480"/>
          </a:xfrm>
          <a:prstGeom prst="rect">
            <a:avLst/>
          </a:prstGeom>
          <a:noFill/>
          <a:ln/>
        </p:spPr>
        <p:txBody>
          <a:bodyPr wrap="square" lIns="0" tIns="0" rIns="0" bIns="0" rtlCol="0" anchor="t"/>
          <a:lstStyle/>
          <a:p>
            <a:pPr indent="0" marL="0">
              <a:buNone/>
            </a:pPr>
            <a:r>
              <a:rPr lang="en-US" sz="1800" b="1" dirty="0">
                <a:solidFill>
                  <a:srgbClr val="0B032B"/>
                </a:solidFill>
                <a:latin typeface="Calibri" pitchFamily="34" charset="0"/>
                <a:ea typeface="Calibri" pitchFamily="34" charset="-122"/>
                <a:cs typeface="Calibri" pitchFamily="34" charset="-120"/>
              </a:rPr>
              <a:t>Les élus rendent compte de leur action devant :</a:t>
            </a:r>
            <a:endParaRPr lang="en-US" sz="1800" dirty="0"/>
          </a:p>
        </p:txBody>
      </p:sp>
      <p:sp>
        <p:nvSpPr>
          <p:cNvPr id="10" name="Shape 7"/>
          <p:cNvSpPr/>
          <p:nvPr/>
        </p:nvSpPr>
        <p:spPr>
          <a:xfrm>
            <a:off x="4343400" y="2267712"/>
            <a:ext cx="2331720" cy="731520"/>
          </a:xfrm>
          <a:prstGeom prst="roundRect">
            <a:avLst>
              <a:gd name="adj" fmla="val 15000"/>
            </a:avLst>
          </a:prstGeom>
          <a:solidFill>
            <a:srgbClr val="F3F2F8"/>
          </a:solidFill>
          <a:ln/>
        </p:spPr>
      </p:sp>
      <p:sp>
        <p:nvSpPr>
          <p:cNvPr id="11" name="Shape 8"/>
          <p:cNvSpPr/>
          <p:nvPr/>
        </p:nvSpPr>
        <p:spPr>
          <a:xfrm>
            <a:off x="4453128" y="2395728"/>
            <a:ext cx="475488" cy="475488"/>
          </a:xfrm>
          <a:prstGeom prst="ellipse">
            <a:avLst/>
          </a:prstGeom>
          <a:solidFill>
            <a:srgbClr val="0B032B"/>
          </a:solidFill>
          <a:ln/>
        </p:spPr>
      </p:sp>
      <p:pic>
        <p:nvPicPr>
          <p:cNvPr id="12" name="Image 1" descr="preencoded.png">    </p:cNvPr>
          <p:cNvPicPr>
            <a:picLocks noChangeAspect="1"/>
          </p:cNvPicPr>
          <p:nvPr/>
        </p:nvPicPr>
        <p:blipFill>
          <a:blip r:embed="rId2"/>
          <a:stretch>
            <a:fillRect/>
          </a:stretch>
        </p:blipFill>
        <p:spPr>
          <a:xfrm>
            <a:off x="4557735" y="2500335"/>
            <a:ext cx="266273" cy="266273"/>
          </a:xfrm>
          <a:prstGeom prst="rect">
            <a:avLst/>
          </a:prstGeom>
        </p:spPr>
      </p:pic>
      <p:sp>
        <p:nvSpPr>
          <p:cNvPr id="13" name="Text 9"/>
          <p:cNvSpPr txBox="1"/>
          <p:nvPr/>
        </p:nvSpPr>
        <p:spPr>
          <a:xfrm>
            <a:off x="5029200" y="2267712"/>
            <a:ext cx="1600200" cy="731520"/>
          </a:xfrm>
          <a:prstGeom prst="rect">
            <a:avLst/>
          </a:prstGeom>
          <a:noFill/>
          <a:ln/>
        </p:spPr>
        <p:txBody>
          <a:bodyPr wrap="square" lIns="0" tIns="0" rIns="0" bIns="0" rtlCol="0" anchor="ctr"/>
          <a:lstStyle/>
          <a:p>
            <a:pPr indent="0" marL="0">
              <a:buNone/>
            </a:pPr>
            <a:r>
              <a:rPr lang="en-US" sz="1300" b="1" dirty="0">
                <a:solidFill>
                  <a:srgbClr val="0B032B"/>
                </a:solidFill>
                <a:latin typeface="Calibri" pitchFamily="34" charset="0"/>
                <a:ea typeface="Calibri" pitchFamily="34" charset="-122"/>
                <a:cs typeface="Calibri" pitchFamily="34" charset="-120"/>
              </a:rPr>
              <a:t>Les citoyens.</a:t>
            </a:r>
            <a:endParaRPr lang="en-US" sz="1300" dirty="0"/>
          </a:p>
        </p:txBody>
      </p:sp>
      <p:sp>
        <p:nvSpPr>
          <p:cNvPr id="14" name="Shape 10"/>
          <p:cNvSpPr/>
          <p:nvPr/>
        </p:nvSpPr>
        <p:spPr>
          <a:xfrm>
            <a:off x="6812280" y="2267712"/>
            <a:ext cx="2331720" cy="731520"/>
          </a:xfrm>
          <a:prstGeom prst="roundRect">
            <a:avLst>
              <a:gd name="adj" fmla="val 15000"/>
            </a:avLst>
          </a:prstGeom>
          <a:solidFill>
            <a:srgbClr val="F3F2F8"/>
          </a:solidFill>
          <a:ln/>
        </p:spPr>
      </p:sp>
      <p:sp>
        <p:nvSpPr>
          <p:cNvPr id="15" name="Shape 11"/>
          <p:cNvSpPr/>
          <p:nvPr/>
        </p:nvSpPr>
        <p:spPr>
          <a:xfrm>
            <a:off x="6922008" y="2395728"/>
            <a:ext cx="475488" cy="475488"/>
          </a:xfrm>
          <a:prstGeom prst="ellipse">
            <a:avLst/>
          </a:prstGeom>
          <a:solidFill>
            <a:srgbClr val="0B032B"/>
          </a:solidFill>
          <a:ln/>
        </p:spPr>
      </p:sp>
      <p:pic>
        <p:nvPicPr>
          <p:cNvPr id="16" name="Image 2" descr="preencoded.png">    </p:cNvPr>
          <p:cNvPicPr>
            <a:picLocks noChangeAspect="1"/>
          </p:cNvPicPr>
          <p:nvPr/>
        </p:nvPicPr>
        <p:blipFill>
          <a:blip r:embed="rId3"/>
          <a:stretch>
            <a:fillRect/>
          </a:stretch>
        </p:blipFill>
        <p:spPr>
          <a:xfrm>
            <a:off x="7026615" y="2500335"/>
            <a:ext cx="266273" cy="266273"/>
          </a:xfrm>
          <a:prstGeom prst="rect">
            <a:avLst/>
          </a:prstGeom>
        </p:spPr>
      </p:pic>
      <p:sp>
        <p:nvSpPr>
          <p:cNvPr id="17" name="Text 12"/>
          <p:cNvSpPr txBox="1"/>
          <p:nvPr/>
        </p:nvSpPr>
        <p:spPr>
          <a:xfrm>
            <a:off x="7498080" y="2267712"/>
            <a:ext cx="1600200" cy="731520"/>
          </a:xfrm>
          <a:prstGeom prst="rect">
            <a:avLst/>
          </a:prstGeom>
          <a:noFill/>
          <a:ln/>
        </p:spPr>
        <p:txBody>
          <a:bodyPr wrap="square" lIns="0" tIns="0" rIns="0" bIns="0" rtlCol="0" anchor="ctr"/>
          <a:lstStyle/>
          <a:p>
            <a:pPr indent="0" marL="0">
              <a:buNone/>
            </a:pPr>
            <a:r>
              <a:rPr lang="en-US" sz="1300" b="1" dirty="0">
                <a:solidFill>
                  <a:srgbClr val="0B032B"/>
                </a:solidFill>
                <a:latin typeface="Calibri" pitchFamily="34" charset="0"/>
                <a:ea typeface="Calibri" pitchFamily="34" charset="-122"/>
                <a:cs typeface="Calibri" pitchFamily="34" charset="-120"/>
              </a:rPr>
              <a:t>Le conseil municipal.</a:t>
            </a:r>
            <a:endParaRPr lang="en-US" sz="1300" dirty="0"/>
          </a:p>
        </p:txBody>
      </p:sp>
      <p:sp>
        <p:nvSpPr>
          <p:cNvPr id="18" name="Shape 13"/>
          <p:cNvSpPr/>
          <p:nvPr/>
        </p:nvSpPr>
        <p:spPr>
          <a:xfrm>
            <a:off x="9281160" y="2267712"/>
            <a:ext cx="2331720" cy="731520"/>
          </a:xfrm>
          <a:prstGeom prst="roundRect">
            <a:avLst>
              <a:gd name="adj" fmla="val 15000"/>
            </a:avLst>
          </a:prstGeom>
          <a:solidFill>
            <a:srgbClr val="F3F2F8"/>
          </a:solidFill>
          <a:ln/>
        </p:spPr>
      </p:sp>
      <p:sp>
        <p:nvSpPr>
          <p:cNvPr id="19" name="Shape 14"/>
          <p:cNvSpPr/>
          <p:nvPr/>
        </p:nvSpPr>
        <p:spPr>
          <a:xfrm>
            <a:off x="9390888" y="2395728"/>
            <a:ext cx="475488" cy="475488"/>
          </a:xfrm>
          <a:prstGeom prst="ellipse">
            <a:avLst/>
          </a:prstGeom>
          <a:solidFill>
            <a:srgbClr val="0B032B"/>
          </a:solidFill>
          <a:ln/>
        </p:spPr>
      </p:sp>
      <p:pic>
        <p:nvPicPr>
          <p:cNvPr id="20" name="Image 3" descr="preencoded.png">    </p:cNvPr>
          <p:cNvPicPr>
            <a:picLocks noChangeAspect="1"/>
          </p:cNvPicPr>
          <p:nvPr/>
        </p:nvPicPr>
        <p:blipFill>
          <a:blip r:embed="rId4"/>
          <a:stretch>
            <a:fillRect/>
          </a:stretch>
        </p:blipFill>
        <p:spPr>
          <a:xfrm>
            <a:off x="9495495" y="2500335"/>
            <a:ext cx="266273" cy="266273"/>
          </a:xfrm>
          <a:prstGeom prst="rect">
            <a:avLst/>
          </a:prstGeom>
        </p:spPr>
      </p:pic>
      <p:sp>
        <p:nvSpPr>
          <p:cNvPr id="21" name="Text 15"/>
          <p:cNvSpPr txBox="1"/>
          <p:nvPr/>
        </p:nvSpPr>
        <p:spPr>
          <a:xfrm>
            <a:off x="9966960" y="2267712"/>
            <a:ext cx="1600200" cy="731520"/>
          </a:xfrm>
          <a:prstGeom prst="rect">
            <a:avLst/>
          </a:prstGeom>
          <a:noFill/>
          <a:ln/>
        </p:spPr>
        <p:txBody>
          <a:bodyPr wrap="square" lIns="0" tIns="0" rIns="0" bIns="0" rtlCol="0" anchor="ctr"/>
          <a:lstStyle/>
          <a:p>
            <a:pPr indent="0" marL="0">
              <a:buNone/>
            </a:pPr>
            <a:r>
              <a:rPr lang="en-US" sz="1300" b="1" dirty="0">
                <a:solidFill>
                  <a:srgbClr val="0B032B"/>
                </a:solidFill>
                <a:latin typeface="Calibri" pitchFamily="34" charset="0"/>
                <a:ea typeface="Calibri" pitchFamily="34" charset="-122"/>
                <a:cs typeface="Calibri" pitchFamily="34" charset="-120"/>
              </a:rPr>
              <a:t>Les électeurs lors des élections.</a:t>
            </a:r>
            <a:endParaRPr lang="en-US" sz="1300" dirty="0"/>
          </a:p>
        </p:txBody>
      </p:sp>
      <p:sp>
        <p:nvSpPr>
          <p:cNvPr id="22" name="Text 16"/>
          <p:cNvSpPr txBox="1"/>
          <p:nvPr/>
        </p:nvSpPr>
        <p:spPr>
          <a:xfrm>
            <a:off x="4343400" y="3227832"/>
            <a:ext cx="3657600" cy="274320"/>
          </a:xfrm>
          <a:prstGeom prst="rect">
            <a:avLst/>
          </a:prstGeom>
          <a:noFill/>
          <a:ln/>
        </p:spPr>
        <p:txBody>
          <a:bodyPr wrap="square" lIns="0" tIns="0" rIns="0" bIns="0" rtlCol="0" anchor="t"/>
          <a:lstStyle/>
          <a:p>
            <a:pPr indent="0" marL="0">
              <a:buNone/>
            </a:pPr>
            <a:r>
              <a:rPr lang="en-US" sz="1200" b="1" spc="300" kern="0" dirty="0">
                <a:solidFill>
                  <a:srgbClr val="55516E"/>
                </a:solidFill>
                <a:latin typeface="Calibri" pitchFamily="34" charset="0"/>
                <a:ea typeface="Calibri" pitchFamily="34" charset="-122"/>
                <a:cs typeface="Calibri" pitchFamily="34" charset="-120"/>
              </a:rPr>
              <a:t>EXEMPLES</a:t>
            </a:r>
            <a:endParaRPr lang="en-US" sz="1200" dirty="0"/>
          </a:p>
        </p:txBody>
      </p:sp>
      <p:sp>
        <p:nvSpPr>
          <p:cNvPr id="23" name="Shape 17"/>
          <p:cNvSpPr/>
          <p:nvPr/>
        </p:nvSpPr>
        <p:spPr>
          <a:xfrm>
            <a:off x="4343400" y="3593592"/>
            <a:ext cx="3099816" cy="402336"/>
          </a:xfrm>
          <a:prstGeom prst="roundRect">
            <a:avLst>
              <a:gd name="adj" fmla="val 50000"/>
            </a:avLst>
          </a:prstGeom>
          <a:solidFill>
            <a:srgbClr val="FFF9C7"/>
          </a:solidFill>
          <a:ln/>
        </p:spPr>
      </p:sp>
      <p:sp>
        <p:nvSpPr>
          <p:cNvPr id="24" name="Text 18"/>
          <p:cNvSpPr txBox="1"/>
          <p:nvPr/>
        </p:nvSpPr>
        <p:spPr>
          <a:xfrm>
            <a:off x="4434840" y="3593592"/>
            <a:ext cx="2916936" cy="402336"/>
          </a:xfrm>
          <a:prstGeom prst="rect">
            <a:avLst/>
          </a:prstGeom>
          <a:noFill/>
          <a:ln/>
        </p:spPr>
        <p:txBody>
          <a:bodyPr wrap="square" lIns="0" tIns="0" rIns="0" bIns="0" rtlCol="0" anchor="ctr"/>
          <a:lstStyle/>
          <a:p>
            <a:pPr algn="ctr" indent="0" marL="0">
              <a:buNone/>
            </a:pPr>
            <a:r>
              <a:rPr lang="en-US" sz="1250" b="1" dirty="0">
                <a:solidFill>
                  <a:srgbClr val="0B032B"/>
                </a:solidFill>
                <a:latin typeface="Calibri" pitchFamily="34" charset="0"/>
                <a:ea typeface="Calibri" pitchFamily="34" charset="-122"/>
                <a:cs typeface="Calibri" pitchFamily="34" charset="-120"/>
              </a:rPr>
              <a:t>Perte de confiance de la majorité.</a:t>
            </a:r>
            <a:endParaRPr lang="en-US" sz="1250" dirty="0"/>
          </a:p>
        </p:txBody>
      </p:sp>
      <p:sp>
        <p:nvSpPr>
          <p:cNvPr id="25" name="Shape 19"/>
          <p:cNvSpPr/>
          <p:nvPr/>
        </p:nvSpPr>
        <p:spPr>
          <a:xfrm>
            <a:off x="7571232" y="3593592"/>
            <a:ext cx="3255264" cy="402336"/>
          </a:xfrm>
          <a:prstGeom prst="roundRect">
            <a:avLst>
              <a:gd name="adj" fmla="val 50000"/>
            </a:avLst>
          </a:prstGeom>
          <a:solidFill>
            <a:srgbClr val="FFF9C7"/>
          </a:solidFill>
          <a:ln/>
        </p:spPr>
      </p:sp>
      <p:sp>
        <p:nvSpPr>
          <p:cNvPr id="26" name="Text 20"/>
          <p:cNvSpPr txBox="1"/>
          <p:nvPr/>
        </p:nvSpPr>
        <p:spPr>
          <a:xfrm>
            <a:off x="7662672" y="3593592"/>
            <a:ext cx="3072384" cy="402336"/>
          </a:xfrm>
          <a:prstGeom prst="rect">
            <a:avLst/>
          </a:prstGeom>
          <a:noFill/>
          <a:ln/>
        </p:spPr>
        <p:txBody>
          <a:bodyPr wrap="square" lIns="0" tIns="0" rIns="0" bIns="0" rtlCol="0" anchor="ctr"/>
          <a:lstStyle/>
          <a:p>
            <a:pPr algn="ctr" indent="0" marL="0">
              <a:buNone/>
            </a:pPr>
            <a:r>
              <a:rPr lang="en-US" sz="1250" b="1" dirty="0">
                <a:solidFill>
                  <a:srgbClr val="0B032B"/>
                </a:solidFill>
                <a:latin typeface="Calibri" pitchFamily="34" charset="0"/>
                <a:ea typeface="Calibri" pitchFamily="34" charset="-122"/>
                <a:cs typeface="Calibri" pitchFamily="34" charset="-120"/>
              </a:rPr>
              <a:t>Critiques sur la gestion municipale.</a:t>
            </a:r>
            <a:endParaRPr lang="en-US" sz="1250" dirty="0"/>
          </a:p>
        </p:txBody>
      </p:sp>
      <p:sp>
        <p:nvSpPr>
          <p:cNvPr id="27" name="Shape 21"/>
          <p:cNvSpPr/>
          <p:nvPr/>
        </p:nvSpPr>
        <p:spPr>
          <a:xfrm>
            <a:off x="4343400" y="4050792"/>
            <a:ext cx="5975604" cy="402336"/>
          </a:xfrm>
          <a:prstGeom prst="roundRect">
            <a:avLst>
              <a:gd name="adj" fmla="val 50000"/>
            </a:avLst>
          </a:prstGeom>
          <a:solidFill>
            <a:srgbClr val="FFF9C7"/>
          </a:solidFill>
          <a:ln/>
        </p:spPr>
      </p:sp>
      <p:sp>
        <p:nvSpPr>
          <p:cNvPr id="28" name="Text 22"/>
          <p:cNvSpPr txBox="1"/>
          <p:nvPr/>
        </p:nvSpPr>
        <p:spPr>
          <a:xfrm>
            <a:off x="4434840" y="4050792"/>
            <a:ext cx="5792724" cy="402336"/>
          </a:xfrm>
          <a:prstGeom prst="rect">
            <a:avLst/>
          </a:prstGeom>
          <a:noFill/>
          <a:ln/>
        </p:spPr>
        <p:txBody>
          <a:bodyPr wrap="square" lIns="0" tIns="0" rIns="0" bIns="0" rtlCol="0" anchor="ctr"/>
          <a:lstStyle/>
          <a:p>
            <a:pPr algn="ctr" indent="0" marL="0">
              <a:buNone/>
            </a:pPr>
            <a:r>
              <a:rPr lang="en-US" sz="1250" b="1" dirty="0">
                <a:solidFill>
                  <a:srgbClr val="0B032B"/>
                </a:solidFill>
                <a:latin typeface="Calibri" pitchFamily="34" charset="0"/>
                <a:ea typeface="Calibri" pitchFamily="34" charset="-122"/>
                <a:cs typeface="Calibri" pitchFamily="34" charset="-120"/>
              </a:rPr>
              <a:t>Sanction par les électeurs lors du renouvellement du conseil municipal.</a:t>
            </a:r>
            <a:endParaRPr lang="en-US" sz="1250" dirty="0"/>
          </a:p>
        </p:txBody>
      </p:sp>
      <p:sp>
        <p:nvSpPr>
          <p:cNvPr id="29" name="Shape 23"/>
          <p:cNvSpPr/>
          <p:nvPr/>
        </p:nvSpPr>
        <p:spPr>
          <a:xfrm>
            <a:off x="4343400" y="5074920"/>
            <a:ext cx="7269480" cy="960120"/>
          </a:xfrm>
          <a:prstGeom prst="roundRect">
            <a:avLst>
              <a:gd name="adj" fmla="val 11429"/>
            </a:avLst>
          </a:prstGeom>
          <a:solidFill>
            <a:srgbClr val="0B032B"/>
          </a:solidFill>
          <a:ln/>
        </p:spPr>
      </p:sp>
      <p:pic>
        <p:nvPicPr>
          <p:cNvPr id="30" name="Image 4" descr="preencoded.png">    </p:cNvPr>
          <p:cNvPicPr>
            <a:picLocks noChangeAspect="1"/>
          </p:cNvPicPr>
          <p:nvPr/>
        </p:nvPicPr>
        <p:blipFill>
          <a:blip r:embed="rId5"/>
          <a:stretch>
            <a:fillRect/>
          </a:stretch>
        </p:blipFill>
        <p:spPr>
          <a:xfrm>
            <a:off x="4572000" y="5376672"/>
            <a:ext cx="365760" cy="365760"/>
          </a:xfrm>
          <a:prstGeom prst="rect">
            <a:avLst/>
          </a:prstGeom>
        </p:spPr>
      </p:pic>
      <p:sp>
        <p:nvSpPr>
          <p:cNvPr id="31" name="Text 24"/>
          <p:cNvSpPr txBox="1"/>
          <p:nvPr/>
        </p:nvSpPr>
        <p:spPr>
          <a:xfrm>
            <a:off x="5120640" y="5074920"/>
            <a:ext cx="6309360" cy="9601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Conséquence : perte de responsabilités, retrait de délégations ou non-réélection.</a:t>
            </a:r>
            <a:endParaRPr lang="en-US" sz="1500" dirty="0"/>
          </a:p>
        </p:txBody>
      </p:sp>
      <p:sp>
        <p:nvSpPr>
          <p:cNvPr id="32" name="Text 25"/>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spc="100" kern="0" dirty="0">
                <a:solidFill>
                  <a:srgbClr val="8A8699"/>
                </a:solidFill>
                <a:latin typeface="Calibri" pitchFamily="34" charset="0"/>
                <a:ea typeface="Calibri" pitchFamily="34" charset="-122"/>
                <a:cs typeface="Calibri" pitchFamily="34" charset="-120"/>
              </a:rPr>
              <a:t>ENMA FORMATION  ·  Formation des élus municipaux 2026</a:t>
            </a:r>
            <a:endParaRPr lang="en-US" sz="900" dirty="0"/>
          </a:p>
        </p:txBody>
      </p:sp>
      <p:sp>
        <p:nvSpPr>
          <p:cNvPr id="33" name="Text 26"/>
          <p:cNvSpPr txBox="1"/>
          <p:nvPr/>
        </p:nvSpPr>
        <p:spPr>
          <a:xfrm>
            <a:off x="9692640" y="6400800"/>
            <a:ext cx="548640" cy="274320"/>
          </a:xfrm>
          <a:prstGeom prst="rect">
            <a:avLst/>
          </a:prstGeom>
          <a:noFill/>
          <a:ln/>
        </p:spPr>
        <p:txBody>
          <a:bodyPr wrap="square" lIns="0" tIns="0" rIns="0" bIns="0" rtlCol="0" anchor="ctr"/>
          <a:lstStyle/>
          <a:p>
            <a:pPr algn="r" indent="0" marL="0">
              <a:buNone/>
            </a:pPr>
            <a:r>
              <a:rPr lang="en-US" sz="900" dirty="0">
                <a:solidFill>
                  <a:srgbClr val="8A8699"/>
                </a:solidFill>
                <a:latin typeface="Calibri" pitchFamily="34" charset="0"/>
                <a:ea typeface="Calibri" pitchFamily="34" charset="-122"/>
                <a:cs typeface="Calibri" pitchFamily="34" charset="-120"/>
              </a:rPr>
              <a:t>27</a:t>
            </a:r>
            <a:endParaRPr lang="en-US" sz="900" dirty="0"/>
          </a:p>
        </p:txBody>
      </p:sp>
      <p:pic>
        <p:nvPicPr>
          <p:cNvPr id="34" name="Image 5" descr="preencoded.png">    </p:cNvPr>
          <p:cNvPicPr>
            <a:picLocks noChangeAspect="1"/>
          </p:cNvPicPr>
          <p:nvPr/>
        </p:nvPicPr>
        <p:blipFill>
          <a:blip r:embed="rId6"/>
          <a:stretch>
            <a:fillRect/>
          </a:stretch>
        </p:blipFill>
        <p:spPr>
          <a:xfrm>
            <a:off x="10469880" y="6309360"/>
            <a:ext cx="1170432" cy="484632"/>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B032B"/>
        </a:solidFill>
      </p:bgPr>
    </p:bg>
    <p:spTree>
      <p:nvGrpSpPr>
        <p:cNvPr id="1" name=""/>
        <p:cNvGrpSpPr/>
        <p:nvPr/>
      </p:nvGrpSpPr>
      <p:grpSpPr>
        <a:xfrm>
          <a:off x="0" y="0"/>
          <a:ext cx="0" cy="0"/>
          <a:chOff x="0" y="0"/>
          <a:chExt cx="0" cy="0"/>
        </a:xfrm>
      </p:grpSpPr>
      <p:sp>
        <p:nvSpPr>
          <p:cNvPr id="2" name="Shape 0"/>
          <p:cNvSpPr/>
          <p:nvPr/>
        </p:nvSpPr>
        <p:spPr>
          <a:xfrm>
            <a:off x="548640" y="438912"/>
            <a:ext cx="420624" cy="310896"/>
          </a:xfrm>
          <a:prstGeom prst="roundRect">
            <a:avLst>
              <a:gd name="adj" fmla="val 23529"/>
            </a:avLst>
          </a:prstGeom>
          <a:solidFill>
            <a:srgbClr val="FFF9C7"/>
          </a:solidFill>
          <a:ln/>
        </p:spPr>
      </p:sp>
      <p:sp>
        <p:nvSpPr>
          <p:cNvPr id="3" name="Text 1"/>
          <p:cNvSpPr txBox="1"/>
          <p:nvPr/>
        </p:nvSpPr>
        <p:spPr>
          <a:xfrm>
            <a:off x="548640" y="438912"/>
            <a:ext cx="420624" cy="310896"/>
          </a:xfrm>
          <a:prstGeom prst="rect">
            <a:avLst/>
          </a:prstGeom>
          <a:noFill/>
          <a:ln/>
        </p:spPr>
        <p:txBody>
          <a:bodyPr wrap="square" lIns="0" tIns="0" rIns="0" bIns="0" rtlCol="0" anchor="ctr"/>
          <a:lstStyle/>
          <a:p>
            <a:pPr algn="ctr" indent="0" marL="0">
              <a:buNone/>
            </a:pPr>
            <a:r>
              <a:rPr lang="en-US" sz="1100" b="1" dirty="0">
                <a:solidFill>
                  <a:srgbClr val="0B032B"/>
                </a:solidFill>
                <a:latin typeface="Calibri" pitchFamily="34" charset="0"/>
                <a:ea typeface="Calibri" pitchFamily="34" charset="-122"/>
                <a:cs typeface="Calibri" pitchFamily="34" charset="-120"/>
              </a:rPr>
              <a:t>04</a:t>
            </a:r>
            <a:endParaRPr lang="en-US" sz="1100" dirty="0"/>
          </a:p>
        </p:txBody>
      </p:sp>
      <p:sp>
        <p:nvSpPr>
          <p:cNvPr id="4" name="Text 2"/>
          <p:cNvSpPr txBox="1"/>
          <p:nvPr/>
        </p:nvSpPr>
        <p:spPr>
          <a:xfrm>
            <a:off x="1115568" y="438912"/>
            <a:ext cx="8229600" cy="310896"/>
          </a:xfrm>
          <a:prstGeom prst="rect">
            <a:avLst/>
          </a:prstGeom>
          <a:noFill/>
          <a:ln/>
        </p:spPr>
        <p:txBody>
          <a:bodyPr wrap="square" lIns="0" tIns="0" rIns="0" bIns="0" rtlCol="0" anchor="ctr"/>
          <a:lstStyle/>
          <a:p>
            <a:pPr indent="0" marL="0">
              <a:buNone/>
            </a:pPr>
            <a:r>
              <a:rPr lang="en-US" sz="1100" b="1" spc="200" kern="0" dirty="0">
                <a:solidFill>
                  <a:srgbClr val="FFF9C7"/>
                </a:solidFill>
                <a:latin typeface="Calibri" pitchFamily="34" charset="0"/>
                <a:ea typeface="Calibri" pitchFamily="34" charset="-122"/>
                <a:cs typeface="Calibri" pitchFamily="34" charset="-120"/>
              </a:rPr>
              <a:t>LES RESPONSABILITÉS DES ÉLUS LOCAUX</a:t>
            </a:r>
            <a:endParaRPr lang="en-US" sz="1100" dirty="0"/>
          </a:p>
        </p:txBody>
      </p:sp>
      <p:sp>
        <p:nvSpPr>
          <p:cNvPr id="5" name="Text 3"/>
          <p:cNvSpPr txBox="1"/>
          <p:nvPr/>
        </p:nvSpPr>
        <p:spPr>
          <a:xfrm>
            <a:off x="548640" y="841248"/>
            <a:ext cx="11064240" cy="685800"/>
          </a:xfrm>
          <a:prstGeom prst="rect">
            <a:avLst/>
          </a:prstGeom>
          <a:noFill/>
          <a:ln/>
        </p:spPr>
        <p:txBody>
          <a:bodyPr wrap="square" lIns="0" tIns="0" rIns="0" bIns="0" rtlCol="0" anchor="ctr">
            <a:normAutofit/>
          </a:bodyPr>
          <a:lstStyle/>
          <a:p>
            <a:pPr indent="0" marL="0">
              <a:buNone/>
            </a:pPr>
            <a:r>
              <a:rPr lang="en-US" sz="2800" b="1" dirty="0">
                <a:solidFill>
                  <a:srgbClr val="FFFFFF"/>
                </a:solidFill>
                <a:latin typeface="Calibri" pitchFamily="34" charset="0"/>
                <a:ea typeface="Calibri" pitchFamily="34" charset="-122"/>
                <a:cs typeface="Calibri" pitchFamily="34" charset="-120"/>
              </a:rPr>
              <a:t>À retenir</a:t>
            </a:r>
            <a:endParaRPr lang="en-US" sz="2800" dirty="0"/>
          </a:p>
        </p:txBody>
      </p:sp>
      <p:sp>
        <p:nvSpPr>
          <p:cNvPr id="6" name="Shape 4"/>
          <p:cNvSpPr/>
          <p:nvPr/>
        </p:nvSpPr>
        <p:spPr>
          <a:xfrm>
            <a:off x="548640" y="1828800"/>
            <a:ext cx="3520440" cy="1234440"/>
          </a:xfrm>
          <a:prstGeom prst="roundRect">
            <a:avLst>
              <a:gd name="adj" fmla="val 8889"/>
            </a:avLst>
          </a:prstGeom>
          <a:solidFill>
            <a:srgbClr val="1F1A4D"/>
          </a:solidFill>
          <a:ln/>
        </p:spPr>
      </p:sp>
      <p:sp>
        <p:nvSpPr>
          <p:cNvPr id="7" name="Shape 5"/>
          <p:cNvSpPr/>
          <p:nvPr/>
        </p:nvSpPr>
        <p:spPr>
          <a:xfrm>
            <a:off x="822960" y="2103120"/>
            <a:ext cx="685800" cy="685800"/>
          </a:xfrm>
          <a:prstGeom prst="ellipse">
            <a:avLst/>
          </a:prstGeom>
          <a:solidFill>
            <a:srgbClr val="FFF9C7"/>
          </a:solidFill>
          <a:ln/>
        </p:spPr>
      </p:sp>
      <p:pic>
        <p:nvPicPr>
          <p:cNvPr id="8" name="Image 0" descr="preencoded.png">    </p:cNvPr>
          <p:cNvPicPr>
            <a:picLocks noChangeAspect="1"/>
          </p:cNvPicPr>
          <p:nvPr/>
        </p:nvPicPr>
        <p:blipFill>
          <a:blip r:embed="rId1"/>
          <a:stretch>
            <a:fillRect/>
          </a:stretch>
        </p:blipFill>
        <p:spPr>
          <a:xfrm>
            <a:off x="973836" y="2253996"/>
            <a:ext cx="384048" cy="384048"/>
          </a:xfrm>
          <a:prstGeom prst="rect">
            <a:avLst/>
          </a:prstGeom>
        </p:spPr>
      </p:pic>
      <p:sp>
        <p:nvSpPr>
          <p:cNvPr id="9" name="Text 6"/>
          <p:cNvSpPr txBox="1"/>
          <p:nvPr/>
        </p:nvSpPr>
        <p:spPr>
          <a:xfrm>
            <a:off x="1691640" y="2084832"/>
            <a:ext cx="2194560" cy="41148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Pénale</a:t>
            </a:r>
            <a:endParaRPr lang="en-US" sz="2000" dirty="0"/>
          </a:p>
        </p:txBody>
      </p:sp>
      <p:sp>
        <p:nvSpPr>
          <p:cNvPr id="10" name="Text 7"/>
          <p:cNvSpPr txBox="1"/>
          <p:nvPr/>
        </p:nvSpPr>
        <p:spPr>
          <a:xfrm>
            <a:off x="1691640" y="2487168"/>
            <a:ext cx="2194560" cy="320040"/>
          </a:xfrm>
          <a:prstGeom prst="rect">
            <a:avLst/>
          </a:prstGeom>
          <a:noFill/>
          <a:ln/>
        </p:spPr>
        <p:txBody>
          <a:bodyPr wrap="square" lIns="0" tIns="0" rIns="0" bIns="0" rtlCol="0" anchor="t"/>
          <a:lstStyle/>
          <a:p>
            <a:pPr indent="0" marL="0">
              <a:buNone/>
            </a:pPr>
            <a:r>
              <a:rPr lang="en-US" sz="1300" dirty="0">
                <a:solidFill>
                  <a:srgbClr val="FFF9C7"/>
                </a:solidFill>
                <a:latin typeface="Calibri" pitchFamily="34" charset="0"/>
                <a:ea typeface="Calibri" pitchFamily="34" charset="-122"/>
                <a:cs typeface="Calibri" pitchFamily="34" charset="-120"/>
              </a:rPr>
              <a:t>Infractions</a:t>
            </a:r>
            <a:endParaRPr lang="en-US" sz="1300" dirty="0"/>
          </a:p>
        </p:txBody>
      </p:sp>
      <p:sp>
        <p:nvSpPr>
          <p:cNvPr id="11" name="Shape 8"/>
          <p:cNvSpPr/>
          <p:nvPr/>
        </p:nvSpPr>
        <p:spPr>
          <a:xfrm>
            <a:off x="4297680" y="1828800"/>
            <a:ext cx="3520440" cy="1234440"/>
          </a:xfrm>
          <a:prstGeom prst="roundRect">
            <a:avLst>
              <a:gd name="adj" fmla="val 8889"/>
            </a:avLst>
          </a:prstGeom>
          <a:solidFill>
            <a:srgbClr val="1F1A4D"/>
          </a:solidFill>
          <a:ln/>
        </p:spPr>
      </p:sp>
      <p:sp>
        <p:nvSpPr>
          <p:cNvPr id="12" name="Shape 9"/>
          <p:cNvSpPr/>
          <p:nvPr/>
        </p:nvSpPr>
        <p:spPr>
          <a:xfrm>
            <a:off x="4572000" y="2103120"/>
            <a:ext cx="685800" cy="685800"/>
          </a:xfrm>
          <a:prstGeom prst="ellipse">
            <a:avLst/>
          </a:prstGeom>
          <a:solidFill>
            <a:srgbClr val="FFF9C7"/>
          </a:solidFill>
          <a:ln/>
        </p:spPr>
      </p:sp>
      <p:pic>
        <p:nvPicPr>
          <p:cNvPr id="13" name="Image 1" descr="preencoded.png">    </p:cNvPr>
          <p:cNvPicPr>
            <a:picLocks noChangeAspect="1"/>
          </p:cNvPicPr>
          <p:nvPr/>
        </p:nvPicPr>
        <p:blipFill>
          <a:blip r:embed="rId2"/>
          <a:stretch>
            <a:fillRect/>
          </a:stretch>
        </p:blipFill>
        <p:spPr>
          <a:xfrm>
            <a:off x="4722876" y="2253996"/>
            <a:ext cx="384048" cy="384048"/>
          </a:xfrm>
          <a:prstGeom prst="rect">
            <a:avLst/>
          </a:prstGeom>
        </p:spPr>
      </p:pic>
      <p:sp>
        <p:nvSpPr>
          <p:cNvPr id="14" name="Text 10"/>
          <p:cNvSpPr txBox="1"/>
          <p:nvPr/>
        </p:nvSpPr>
        <p:spPr>
          <a:xfrm>
            <a:off x="5440680" y="2084832"/>
            <a:ext cx="2194560" cy="41148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Civile</a:t>
            </a:r>
            <a:endParaRPr lang="en-US" sz="2000" dirty="0"/>
          </a:p>
        </p:txBody>
      </p:sp>
      <p:sp>
        <p:nvSpPr>
          <p:cNvPr id="15" name="Text 11"/>
          <p:cNvSpPr txBox="1"/>
          <p:nvPr/>
        </p:nvSpPr>
        <p:spPr>
          <a:xfrm>
            <a:off x="5440680" y="2487168"/>
            <a:ext cx="2194560" cy="320040"/>
          </a:xfrm>
          <a:prstGeom prst="rect">
            <a:avLst/>
          </a:prstGeom>
          <a:noFill/>
          <a:ln/>
        </p:spPr>
        <p:txBody>
          <a:bodyPr wrap="square" lIns="0" tIns="0" rIns="0" bIns="0" rtlCol="0" anchor="t"/>
          <a:lstStyle/>
          <a:p>
            <a:pPr indent="0" marL="0">
              <a:buNone/>
            </a:pPr>
            <a:r>
              <a:rPr lang="en-US" sz="1300" dirty="0">
                <a:solidFill>
                  <a:srgbClr val="FFF9C7"/>
                </a:solidFill>
                <a:latin typeface="Calibri" pitchFamily="34" charset="0"/>
                <a:ea typeface="Calibri" pitchFamily="34" charset="-122"/>
                <a:cs typeface="Calibri" pitchFamily="34" charset="-120"/>
              </a:rPr>
              <a:t>Réparation</a:t>
            </a:r>
            <a:endParaRPr lang="en-US" sz="1300" dirty="0"/>
          </a:p>
        </p:txBody>
      </p:sp>
      <p:sp>
        <p:nvSpPr>
          <p:cNvPr id="16" name="Shape 12"/>
          <p:cNvSpPr/>
          <p:nvPr/>
        </p:nvSpPr>
        <p:spPr>
          <a:xfrm>
            <a:off x="8046720" y="1828800"/>
            <a:ext cx="3520440" cy="1234440"/>
          </a:xfrm>
          <a:prstGeom prst="roundRect">
            <a:avLst>
              <a:gd name="adj" fmla="val 8889"/>
            </a:avLst>
          </a:prstGeom>
          <a:solidFill>
            <a:srgbClr val="1F1A4D"/>
          </a:solidFill>
          <a:ln/>
        </p:spPr>
      </p:sp>
      <p:sp>
        <p:nvSpPr>
          <p:cNvPr id="17" name="Shape 13"/>
          <p:cNvSpPr/>
          <p:nvPr/>
        </p:nvSpPr>
        <p:spPr>
          <a:xfrm>
            <a:off x="8321040" y="2103120"/>
            <a:ext cx="685800" cy="685800"/>
          </a:xfrm>
          <a:prstGeom prst="ellipse">
            <a:avLst/>
          </a:prstGeom>
          <a:solidFill>
            <a:srgbClr val="FFF9C7"/>
          </a:solidFill>
          <a:ln/>
        </p:spPr>
      </p:sp>
      <p:pic>
        <p:nvPicPr>
          <p:cNvPr id="18" name="Image 2" descr="preencoded.png">    </p:cNvPr>
          <p:cNvPicPr>
            <a:picLocks noChangeAspect="1"/>
          </p:cNvPicPr>
          <p:nvPr/>
        </p:nvPicPr>
        <p:blipFill>
          <a:blip r:embed="rId3"/>
          <a:stretch>
            <a:fillRect/>
          </a:stretch>
        </p:blipFill>
        <p:spPr>
          <a:xfrm>
            <a:off x="8471916" y="2253996"/>
            <a:ext cx="384048" cy="384048"/>
          </a:xfrm>
          <a:prstGeom prst="rect">
            <a:avLst/>
          </a:prstGeom>
        </p:spPr>
      </p:pic>
      <p:sp>
        <p:nvSpPr>
          <p:cNvPr id="19" name="Text 14"/>
          <p:cNvSpPr txBox="1"/>
          <p:nvPr/>
        </p:nvSpPr>
        <p:spPr>
          <a:xfrm>
            <a:off x="9189720" y="2084832"/>
            <a:ext cx="2194560" cy="41148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Politique</a:t>
            </a:r>
            <a:endParaRPr lang="en-US" sz="2000" dirty="0"/>
          </a:p>
        </p:txBody>
      </p:sp>
      <p:sp>
        <p:nvSpPr>
          <p:cNvPr id="20" name="Text 15"/>
          <p:cNvSpPr txBox="1"/>
          <p:nvPr/>
        </p:nvSpPr>
        <p:spPr>
          <a:xfrm>
            <a:off x="9189720" y="2487168"/>
            <a:ext cx="2194560" cy="320040"/>
          </a:xfrm>
          <a:prstGeom prst="rect">
            <a:avLst/>
          </a:prstGeom>
          <a:noFill/>
          <a:ln/>
        </p:spPr>
        <p:txBody>
          <a:bodyPr wrap="square" lIns="0" tIns="0" rIns="0" bIns="0" rtlCol="0" anchor="t"/>
          <a:lstStyle/>
          <a:p>
            <a:pPr indent="0" marL="0">
              <a:buNone/>
            </a:pPr>
            <a:r>
              <a:rPr lang="en-US" sz="1300" dirty="0">
                <a:solidFill>
                  <a:srgbClr val="FFF9C7"/>
                </a:solidFill>
                <a:latin typeface="Calibri" pitchFamily="34" charset="0"/>
                <a:ea typeface="Calibri" pitchFamily="34" charset="-122"/>
                <a:cs typeface="Calibri" pitchFamily="34" charset="-120"/>
              </a:rPr>
              <a:t>Rendre compte</a:t>
            </a:r>
            <a:endParaRPr lang="en-US" sz="1300" dirty="0"/>
          </a:p>
        </p:txBody>
      </p:sp>
      <p:sp>
        <p:nvSpPr>
          <p:cNvPr id="21" name="Text 16"/>
          <p:cNvSpPr txBox="1"/>
          <p:nvPr/>
        </p:nvSpPr>
        <p:spPr>
          <a:xfrm>
            <a:off x="548640" y="3429000"/>
            <a:ext cx="10972800" cy="548640"/>
          </a:xfrm>
          <a:prstGeom prst="rect">
            <a:avLst/>
          </a:prstGeom>
          <a:noFill/>
          <a:ln/>
        </p:spPr>
        <p:txBody>
          <a:bodyPr wrap="square" lIns="0" tIns="0" rIns="0" bIns="0" rtlCol="0" anchor="t"/>
          <a:lstStyle/>
          <a:p>
            <a:pPr indent="0" marL="0">
              <a:buNone/>
            </a:pPr>
            <a:r>
              <a:rPr lang="en-US" sz="2600" b="1" dirty="0">
                <a:solidFill>
                  <a:srgbClr val="FFF9C7"/>
                </a:solidFill>
                <a:latin typeface="Calibri" pitchFamily="34" charset="0"/>
                <a:ea typeface="Calibri" pitchFamily="34" charset="-122"/>
                <a:cs typeface="Calibri" pitchFamily="34" charset="-120"/>
              </a:rPr>
              <a:t>Être élu, c’est exercer des responsabilités importantes.</a:t>
            </a:r>
            <a:endParaRPr lang="en-US" sz="2600" dirty="0"/>
          </a:p>
        </p:txBody>
      </p:sp>
      <p:sp>
        <p:nvSpPr>
          <p:cNvPr id="22" name="Text 17"/>
          <p:cNvSpPr txBox="1"/>
          <p:nvPr/>
        </p:nvSpPr>
        <p:spPr>
          <a:xfrm>
            <a:off x="548640" y="4069080"/>
            <a:ext cx="10515600" cy="1280160"/>
          </a:xfrm>
          <a:prstGeom prst="rect">
            <a:avLst/>
          </a:prstGeom>
          <a:noFill/>
          <a:ln/>
        </p:spPr>
        <p:txBody>
          <a:bodyPr wrap="square" lIns="0" tIns="0" rIns="0" bIns="0" rtlCol="0" anchor="t"/>
          <a:lstStyle/>
          <a:p>
            <a:pPr indent="0" marL="0">
              <a:lnSpc>
                <a:spcPct val="110000"/>
              </a:lnSpc>
              <a:buNone/>
            </a:pPr>
            <a:r>
              <a:rPr lang="en-US" sz="1800" dirty="0">
                <a:solidFill>
                  <a:srgbClr val="FFFFFF"/>
                </a:solidFill>
                <a:latin typeface="Calibri" pitchFamily="34" charset="0"/>
                <a:ea typeface="Calibri" pitchFamily="34" charset="-122"/>
                <a:cs typeface="Calibri" pitchFamily="34" charset="-120"/>
              </a:rPr>
              <a:t>Chaque décision doit être prise dans le respect de la loi, de l’intérêt général et des principes de transparence, de prudence et d’éthique. Une bonne connaissance des règles juridiques est la meilleure protection de l’élu comme de la collectivité.</a:t>
            </a:r>
            <a:endParaRPr lang="en-US" sz="1800" dirty="0"/>
          </a:p>
        </p:txBody>
      </p:sp>
      <p:sp>
        <p:nvSpPr>
          <p:cNvPr id="23" name="Text 18"/>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spc="100" kern="0" dirty="0">
                <a:solidFill>
                  <a:srgbClr val="B3B3BA"/>
                </a:solidFill>
                <a:latin typeface="Calibri" pitchFamily="34" charset="0"/>
                <a:ea typeface="Calibri" pitchFamily="34" charset="-122"/>
                <a:cs typeface="Calibri" pitchFamily="34" charset="-120"/>
              </a:rPr>
              <a:t>ENMA FORMATION  ·  Formation des élus municipaux 2026</a:t>
            </a:r>
            <a:endParaRPr lang="en-US" sz="900" dirty="0"/>
          </a:p>
        </p:txBody>
      </p:sp>
      <p:sp>
        <p:nvSpPr>
          <p:cNvPr id="24" name="Text 19"/>
          <p:cNvSpPr txBox="1"/>
          <p:nvPr/>
        </p:nvSpPr>
        <p:spPr>
          <a:xfrm>
            <a:off x="9692640" y="6400800"/>
            <a:ext cx="548640" cy="274320"/>
          </a:xfrm>
          <a:prstGeom prst="rect">
            <a:avLst/>
          </a:prstGeom>
          <a:noFill/>
          <a:ln/>
        </p:spPr>
        <p:txBody>
          <a:bodyPr wrap="square" lIns="0" tIns="0" rIns="0" bIns="0" rtlCol="0" anchor="ctr"/>
          <a:lstStyle/>
          <a:p>
            <a:pPr algn="r" indent="0" marL="0">
              <a:buNone/>
            </a:pPr>
            <a:r>
              <a:rPr lang="en-US" sz="900" dirty="0">
                <a:solidFill>
                  <a:srgbClr val="B3B3BA"/>
                </a:solidFill>
                <a:latin typeface="Calibri" pitchFamily="34" charset="0"/>
                <a:ea typeface="Calibri" pitchFamily="34" charset="-122"/>
                <a:cs typeface="Calibri" pitchFamily="34" charset="-120"/>
              </a:rPr>
              <a:t>28</a:t>
            </a:r>
            <a:endParaRPr lang="en-US" sz="900" dirty="0"/>
          </a:p>
        </p:txBody>
      </p:sp>
      <p:pic>
        <p:nvPicPr>
          <p:cNvPr id="25" name="Image 3" descr="preencoded.png">    </p:cNvPr>
          <p:cNvPicPr>
            <a:picLocks noChangeAspect="1"/>
          </p:cNvPicPr>
          <p:nvPr/>
        </p:nvPicPr>
        <p:blipFill>
          <a:blip r:embed="rId4"/>
          <a:stretch>
            <a:fillRect/>
          </a:stretch>
        </p:blipFill>
        <p:spPr>
          <a:xfrm>
            <a:off x="10469880" y="6309360"/>
            <a:ext cx="1170432" cy="484632"/>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B032B"/>
        </a:solidFill>
      </p:bgPr>
    </p:bg>
    <p:spTree>
      <p:nvGrpSpPr>
        <p:cNvPr id="1" name=""/>
        <p:cNvGrpSpPr/>
        <p:nvPr/>
      </p:nvGrpSpPr>
      <p:grpSpPr>
        <a:xfrm>
          <a:off x="0" y="0"/>
          <a:ext cx="0" cy="0"/>
          <a:chOff x="0" y="0"/>
          <a:chExt cx="0" cy="0"/>
        </a:xfrm>
      </p:grpSpPr>
      <p:sp>
        <p:nvSpPr>
          <p:cNvPr id="2" name="Text 0"/>
          <p:cNvSpPr txBox="1"/>
          <p:nvPr/>
        </p:nvSpPr>
        <p:spPr>
          <a:xfrm>
            <a:off x="548640" y="640080"/>
            <a:ext cx="4114800" cy="2286000"/>
          </a:xfrm>
          <a:prstGeom prst="rect">
            <a:avLst/>
          </a:prstGeom>
          <a:noFill/>
          <a:ln/>
        </p:spPr>
        <p:txBody>
          <a:bodyPr wrap="square" lIns="0" tIns="0" rIns="0" bIns="0" rtlCol="0" anchor="b"/>
          <a:lstStyle/>
          <a:p>
            <a:pPr indent="0" marL="0">
              <a:buNone/>
            </a:pPr>
            <a:r>
              <a:rPr lang="en-US" sz="15000" dirty="0">
                <a:solidFill>
                  <a:srgbClr val="FFF9C7"/>
                </a:solidFill>
                <a:latin typeface="Impact" pitchFamily="34" charset="0"/>
                <a:ea typeface="Impact" pitchFamily="34" charset="-122"/>
                <a:cs typeface="Impact" pitchFamily="34" charset="-120"/>
              </a:rPr>
              <a:t>05</a:t>
            </a:r>
            <a:endParaRPr lang="en-US" sz="15000" dirty="0"/>
          </a:p>
        </p:txBody>
      </p:sp>
      <p:sp>
        <p:nvSpPr>
          <p:cNvPr id="3" name="Text 1"/>
          <p:cNvSpPr txBox="1"/>
          <p:nvPr/>
        </p:nvSpPr>
        <p:spPr>
          <a:xfrm>
            <a:off x="594360" y="3017520"/>
            <a:ext cx="5486400" cy="320040"/>
          </a:xfrm>
          <a:prstGeom prst="rect">
            <a:avLst/>
          </a:prstGeom>
          <a:noFill/>
          <a:ln/>
        </p:spPr>
        <p:txBody>
          <a:bodyPr wrap="square" lIns="0" tIns="0" rIns="0" bIns="0" rtlCol="0" anchor="t"/>
          <a:lstStyle/>
          <a:p>
            <a:pPr indent="0" marL="0">
              <a:buNone/>
            </a:pPr>
            <a:r>
              <a:rPr lang="en-US" sz="1300" b="1" spc="400" kern="0" dirty="0">
                <a:solidFill>
                  <a:srgbClr val="FFF9C7"/>
                </a:solidFill>
                <a:latin typeface="Calibri" pitchFamily="34" charset="0"/>
                <a:ea typeface="Calibri" pitchFamily="34" charset="-122"/>
                <a:cs typeface="Calibri" pitchFamily="34" charset="-120"/>
              </a:rPr>
              <a:t>SÉQUENCE 05</a:t>
            </a:r>
            <a:endParaRPr lang="en-US" sz="1300" dirty="0"/>
          </a:p>
        </p:txBody>
      </p:sp>
      <p:sp>
        <p:nvSpPr>
          <p:cNvPr id="4" name="Text 2"/>
          <p:cNvSpPr txBox="1"/>
          <p:nvPr/>
        </p:nvSpPr>
        <p:spPr>
          <a:xfrm>
            <a:off x="548640" y="3401568"/>
            <a:ext cx="5486400" cy="1463040"/>
          </a:xfrm>
          <a:prstGeom prst="rect">
            <a:avLst/>
          </a:prstGeom>
          <a:noFill/>
          <a:ln/>
        </p:spPr>
        <p:txBody>
          <a:bodyPr wrap="square" lIns="0" tIns="0" rIns="0" bIns="0"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La commune dans son environnement institutionnel</a:t>
            </a:r>
            <a:endParaRPr lang="en-US" sz="3000" dirty="0"/>
          </a:p>
        </p:txBody>
      </p:sp>
      <p:sp>
        <p:nvSpPr>
          <p:cNvPr id="5" name="Text 3"/>
          <p:cNvSpPr txBox="1"/>
          <p:nvPr/>
        </p:nvSpPr>
        <p:spPr>
          <a:xfrm>
            <a:off x="548640" y="4937760"/>
            <a:ext cx="5486400" cy="640080"/>
          </a:xfrm>
          <a:prstGeom prst="rect">
            <a:avLst/>
          </a:prstGeom>
          <a:noFill/>
          <a:ln/>
        </p:spPr>
        <p:txBody>
          <a:bodyPr wrap="square" lIns="0" tIns="0" rIns="0" bIns="0" rtlCol="0" anchor="t">
            <a:normAutofit/>
          </a:bodyPr>
          <a:lstStyle/>
          <a:p>
            <a:pPr indent="0" marL="0">
              <a:buNone/>
            </a:pPr>
            <a:r>
              <a:rPr lang="en-US" sz="1600" dirty="0">
                <a:solidFill>
                  <a:srgbClr val="B3B3BA"/>
                </a:solidFill>
                <a:latin typeface="Calibri" pitchFamily="34" charset="0"/>
                <a:ea typeface="Calibri" pitchFamily="34" charset="-122"/>
                <a:cs typeface="Calibri" pitchFamily="34" charset="-120"/>
              </a:rPr>
              <a:t>Intercommunalité (EPCI), Département, Région Hauts-de-France, État.</a:t>
            </a:r>
            <a:endParaRPr lang="en-US" sz="1600" dirty="0"/>
          </a:p>
        </p:txBody>
      </p:sp>
      <p:sp>
        <p:nvSpPr>
          <p:cNvPr id="6" name="Shape 4"/>
          <p:cNvSpPr/>
          <p:nvPr/>
        </p:nvSpPr>
        <p:spPr>
          <a:xfrm>
            <a:off x="548640" y="5623560"/>
            <a:ext cx="3017520" cy="384048"/>
          </a:xfrm>
          <a:prstGeom prst="roundRect">
            <a:avLst>
              <a:gd name="adj" fmla="val 50000"/>
            </a:avLst>
          </a:prstGeom>
          <a:solidFill>
            <a:srgbClr val="0B032B"/>
          </a:solidFill>
          <a:ln w="12700">
            <a:solidFill>
              <a:srgbClr val="FFF9C7"/>
            </a:solidFill>
            <a:prstDash val="solid"/>
          </a:ln>
        </p:spPr>
      </p:sp>
      <p:sp>
        <p:nvSpPr>
          <p:cNvPr id="7" name="Text 5"/>
          <p:cNvSpPr txBox="1"/>
          <p:nvPr/>
        </p:nvSpPr>
        <p:spPr>
          <a:xfrm>
            <a:off x="548640" y="5623560"/>
            <a:ext cx="3017520" cy="384048"/>
          </a:xfrm>
          <a:prstGeom prst="rect">
            <a:avLst/>
          </a:prstGeom>
          <a:noFill/>
          <a:ln/>
        </p:spPr>
        <p:txBody>
          <a:bodyPr wrap="square" lIns="0" tIns="0" rIns="0" bIns="0" rtlCol="0" anchor="ctr"/>
          <a:lstStyle/>
          <a:p>
            <a:pPr algn="ctr" indent="0" marL="0">
              <a:buNone/>
            </a:pPr>
            <a:r>
              <a:rPr lang="en-US" sz="1200" b="1" dirty="0">
                <a:solidFill>
                  <a:srgbClr val="FFF9C7"/>
                </a:solidFill>
                <a:latin typeface="Calibri" pitchFamily="34" charset="0"/>
                <a:ea typeface="Calibri" pitchFamily="34" charset="-122"/>
                <a:cs typeface="Calibri" pitchFamily="34" charset="-120"/>
              </a:rPr>
              <a:t>14h45 – 16h15  ·  90 min</a:t>
            </a:r>
            <a:endParaRPr lang="en-US" sz="1200" dirty="0"/>
          </a:p>
        </p:txBody>
      </p:sp>
      <p:sp>
        <p:nvSpPr>
          <p:cNvPr id="8" name="Shape 6"/>
          <p:cNvSpPr/>
          <p:nvPr/>
        </p:nvSpPr>
        <p:spPr>
          <a:xfrm>
            <a:off x="6263640" y="411480"/>
            <a:ext cx="5486400" cy="5486400"/>
          </a:xfrm>
          <a:prstGeom prst="ellipse">
            <a:avLst/>
          </a:prstGeom>
          <a:solidFill>
            <a:srgbClr val="0B032B"/>
          </a:solidFill>
          <a:ln w="12700">
            <a:solidFill>
              <a:srgbClr val="FFF9C7"/>
            </a:solidFill>
            <a:prstDash val="dash"/>
          </a:ln>
        </p:spPr>
      </p:sp>
      <p:sp>
        <p:nvSpPr>
          <p:cNvPr id="9" name="Shape 7"/>
          <p:cNvSpPr/>
          <p:nvPr/>
        </p:nvSpPr>
        <p:spPr>
          <a:xfrm>
            <a:off x="6583680" y="731520"/>
            <a:ext cx="4846320" cy="4846320"/>
          </a:xfrm>
          <a:prstGeom prst="ellipse">
            <a:avLst/>
          </a:prstGeom>
          <a:solidFill>
            <a:srgbClr val="0B032B"/>
          </a:solidFill>
          <a:ln/>
        </p:spPr>
      </p:sp>
      <p:pic>
        <p:nvPicPr>
          <p:cNvPr id="10" name="Image 0" descr="preencoded.png">    </p:cNvPr>
          <p:cNvPicPr>
            <a:picLocks noChangeAspect="1"/>
          </p:cNvPicPr>
          <p:nvPr/>
        </p:nvPicPr>
        <p:blipFill>
          <a:blip r:embed="rId1"/>
          <a:stretch>
            <a:fillRect/>
          </a:stretch>
        </p:blipFill>
        <p:spPr>
          <a:xfrm>
            <a:off x="7086600" y="1401417"/>
            <a:ext cx="3840480" cy="3506525"/>
          </a:xfrm>
          <a:prstGeom prst="rect">
            <a:avLst/>
          </a:prstGeom>
        </p:spPr>
      </p:pic>
      <p:sp>
        <p:nvSpPr>
          <p:cNvPr id="11" name="Text 8"/>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spc="100" kern="0" dirty="0">
                <a:solidFill>
                  <a:srgbClr val="B3B3BA"/>
                </a:solidFill>
                <a:latin typeface="Calibri" pitchFamily="34" charset="0"/>
                <a:ea typeface="Calibri" pitchFamily="34" charset="-122"/>
                <a:cs typeface="Calibri" pitchFamily="34" charset="-120"/>
              </a:rPr>
              <a:t>ENMA FORMATION  ·  Formation des élus municipaux 2026</a:t>
            </a:r>
            <a:endParaRPr lang="en-US" sz="900" dirty="0"/>
          </a:p>
        </p:txBody>
      </p:sp>
      <p:sp>
        <p:nvSpPr>
          <p:cNvPr id="12" name="Text 9"/>
          <p:cNvSpPr txBox="1"/>
          <p:nvPr/>
        </p:nvSpPr>
        <p:spPr>
          <a:xfrm>
            <a:off x="9692640" y="6400800"/>
            <a:ext cx="548640" cy="274320"/>
          </a:xfrm>
          <a:prstGeom prst="rect">
            <a:avLst/>
          </a:prstGeom>
          <a:noFill/>
          <a:ln/>
        </p:spPr>
        <p:txBody>
          <a:bodyPr wrap="square" lIns="0" tIns="0" rIns="0" bIns="0" rtlCol="0" anchor="ctr"/>
          <a:lstStyle/>
          <a:p>
            <a:pPr algn="r" indent="0" marL="0">
              <a:buNone/>
            </a:pPr>
            <a:r>
              <a:rPr lang="en-US" sz="900" dirty="0">
                <a:solidFill>
                  <a:srgbClr val="B3B3BA"/>
                </a:solidFill>
                <a:latin typeface="Calibri" pitchFamily="34" charset="0"/>
                <a:ea typeface="Calibri" pitchFamily="34" charset="-122"/>
                <a:cs typeface="Calibri" pitchFamily="34" charset="-120"/>
              </a:rPr>
              <a:t>29</a:t>
            </a:r>
            <a:endParaRPr lang="en-US" sz="900" dirty="0"/>
          </a:p>
        </p:txBody>
      </p:sp>
      <p:pic>
        <p:nvPicPr>
          <p:cNvPr id="13" name="Image 1" descr="preencoded.png">    </p:cNvPr>
          <p:cNvPicPr>
            <a:picLocks noChangeAspect="1"/>
          </p:cNvPicPr>
          <p:nvPr/>
        </p:nvPicPr>
        <p:blipFill>
          <a:blip r:embed="rId2"/>
          <a:stretch>
            <a:fillRect/>
          </a:stretch>
        </p:blipFill>
        <p:spPr>
          <a:xfrm>
            <a:off x="10469880" y="6309360"/>
            <a:ext cx="1170432" cy="484632"/>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420624" cy="310896"/>
          </a:xfrm>
          <a:prstGeom prst="roundRect">
            <a:avLst>
              <a:gd name="adj" fmla="val 23529"/>
            </a:avLst>
          </a:prstGeom>
          <a:solidFill>
            <a:srgbClr val="0B032B"/>
          </a:solidFill>
          <a:ln/>
        </p:spPr>
      </p:sp>
      <p:sp>
        <p:nvSpPr>
          <p:cNvPr id="3" name="Text 1"/>
          <p:cNvSpPr txBox="1"/>
          <p:nvPr/>
        </p:nvSpPr>
        <p:spPr>
          <a:xfrm>
            <a:off x="548640" y="438912"/>
            <a:ext cx="420624" cy="310896"/>
          </a:xfrm>
          <a:prstGeom prst="rect">
            <a:avLst/>
          </a:prstGeom>
          <a:noFill/>
          <a:ln/>
        </p:spPr>
        <p:txBody>
          <a:bodyPr wrap="square" lIns="0" tIns="0" rIns="0" bIns="0" rtlCol="0" anchor="ctr"/>
          <a:lstStyle/>
          <a:p>
            <a:pPr algn="ctr" indent="0" marL="0">
              <a:buNone/>
            </a:pPr>
            <a:r>
              <a:rPr lang="en-US" sz="1100" b="1" dirty="0">
                <a:solidFill>
                  <a:srgbClr val="FFF9C7"/>
                </a:solidFill>
                <a:latin typeface="Calibri" pitchFamily="34" charset="0"/>
                <a:ea typeface="Calibri" pitchFamily="34" charset="-122"/>
                <a:cs typeface="Calibri" pitchFamily="34" charset="-120"/>
              </a:rPr>
              <a:t>05</a:t>
            </a:r>
            <a:endParaRPr lang="en-US" sz="1100" dirty="0"/>
          </a:p>
        </p:txBody>
      </p:sp>
      <p:sp>
        <p:nvSpPr>
          <p:cNvPr id="4" name="Text 2"/>
          <p:cNvSpPr txBox="1"/>
          <p:nvPr/>
        </p:nvSpPr>
        <p:spPr>
          <a:xfrm>
            <a:off x="1115568" y="438912"/>
            <a:ext cx="8229600" cy="310896"/>
          </a:xfrm>
          <a:prstGeom prst="rect">
            <a:avLst/>
          </a:prstGeom>
          <a:noFill/>
          <a:ln/>
        </p:spPr>
        <p:txBody>
          <a:bodyPr wrap="square" lIns="0" tIns="0" rIns="0" bIns="0" rtlCol="0" anchor="ctr"/>
          <a:lstStyle/>
          <a:p>
            <a:pPr indent="0" marL="0">
              <a:buNone/>
            </a:pPr>
            <a:r>
              <a:rPr lang="en-US" sz="1100" b="1" spc="200" kern="0" dirty="0">
                <a:solidFill>
                  <a:srgbClr val="55516E"/>
                </a:solidFill>
                <a:latin typeface="Calibri" pitchFamily="34" charset="0"/>
                <a:ea typeface="Calibri" pitchFamily="34" charset="-122"/>
                <a:cs typeface="Calibri" pitchFamily="34" charset="-120"/>
              </a:rPr>
              <a:t>LE PAYSAGE INSTITUTIONNEL</a:t>
            </a:r>
            <a:endParaRPr lang="en-US" sz="1100" dirty="0"/>
          </a:p>
        </p:txBody>
      </p:sp>
      <p:sp>
        <p:nvSpPr>
          <p:cNvPr id="5" name="Text 3"/>
          <p:cNvSpPr txBox="1"/>
          <p:nvPr/>
        </p:nvSpPr>
        <p:spPr>
          <a:xfrm>
            <a:off x="548640" y="841248"/>
            <a:ext cx="11064240" cy="685800"/>
          </a:xfrm>
          <a:prstGeom prst="rect">
            <a:avLst/>
          </a:prstGeom>
          <a:noFill/>
          <a:ln/>
        </p:spPr>
        <p:txBody>
          <a:bodyPr wrap="square" lIns="0" tIns="0" rIns="0" bIns="0" rtlCol="0" anchor="ctr">
            <a:normAutofit/>
          </a:bodyPr>
          <a:lstStyle/>
          <a:p>
            <a:pPr indent="0" marL="0">
              <a:buNone/>
            </a:pPr>
            <a:r>
              <a:rPr lang="en-US" sz="2800" b="1" dirty="0">
                <a:solidFill>
                  <a:srgbClr val="0B032B"/>
                </a:solidFill>
                <a:latin typeface="Calibri" pitchFamily="34" charset="0"/>
                <a:ea typeface="Calibri" pitchFamily="34" charset="-122"/>
                <a:cs typeface="Calibri" pitchFamily="34" charset="-120"/>
              </a:rPr>
              <a:t>Qui fait quoi ? La commune au centre de cercles de coopération</a:t>
            </a:r>
            <a:endParaRPr lang="en-US" sz="2800" dirty="0"/>
          </a:p>
        </p:txBody>
      </p:sp>
      <p:sp>
        <p:nvSpPr>
          <p:cNvPr id="6" name="Shape 4"/>
          <p:cNvSpPr/>
          <p:nvPr/>
        </p:nvSpPr>
        <p:spPr>
          <a:xfrm>
            <a:off x="548640" y="1874520"/>
            <a:ext cx="6035040" cy="4206240"/>
          </a:xfrm>
          <a:prstGeom prst="roundRect">
            <a:avLst>
              <a:gd name="adj" fmla="val 10870"/>
            </a:avLst>
          </a:prstGeom>
          <a:solidFill>
            <a:srgbClr val="0B032B"/>
          </a:solidFill>
          <a:ln w="25400">
            <a:solidFill>
              <a:srgbClr val="FFFFFF"/>
            </a:solidFill>
            <a:prstDash val="solid"/>
          </a:ln>
        </p:spPr>
      </p:sp>
      <p:sp>
        <p:nvSpPr>
          <p:cNvPr id="7" name="Text 5"/>
          <p:cNvSpPr txBox="1"/>
          <p:nvPr/>
        </p:nvSpPr>
        <p:spPr>
          <a:xfrm>
            <a:off x="731520" y="1929384"/>
            <a:ext cx="5669280" cy="329184"/>
          </a:xfrm>
          <a:prstGeom prst="rect">
            <a:avLst/>
          </a:prstGeom>
          <a:noFill/>
          <a:ln/>
        </p:spPr>
        <p:txBody>
          <a:bodyPr wrap="square" lIns="0" tIns="0" rIns="0" bIns="0" rtlCol="0" anchor="ctr"/>
          <a:lstStyle/>
          <a:p>
            <a:pPr algn="ctr" indent="0" marL="0">
              <a:buNone/>
            </a:pPr>
            <a:r>
              <a:rPr lang="en-US" sz="1250" b="1" dirty="0">
                <a:solidFill>
                  <a:srgbClr val="FFF9C7"/>
                </a:solidFill>
                <a:latin typeface="Calibri" pitchFamily="34" charset="0"/>
                <a:ea typeface="Calibri" pitchFamily="34" charset="-122"/>
                <a:cs typeface="Calibri" pitchFamily="34" charset="-120"/>
              </a:rPr>
              <a:t>L’État</a:t>
            </a:r>
            <a:endParaRPr lang="en-US" sz="1250" dirty="0"/>
          </a:p>
        </p:txBody>
      </p:sp>
      <p:sp>
        <p:nvSpPr>
          <p:cNvPr id="8" name="Shape 6"/>
          <p:cNvSpPr/>
          <p:nvPr/>
        </p:nvSpPr>
        <p:spPr>
          <a:xfrm>
            <a:off x="1097280" y="2359152"/>
            <a:ext cx="4937760" cy="3456432"/>
          </a:xfrm>
          <a:prstGeom prst="roundRect">
            <a:avLst>
              <a:gd name="adj" fmla="val 13228"/>
            </a:avLst>
          </a:prstGeom>
          <a:solidFill>
            <a:srgbClr val="1F1A4D"/>
          </a:solidFill>
          <a:ln w="25400">
            <a:solidFill>
              <a:srgbClr val="FFFFFF"/>
            </a:solidFill>
            <a:prstDash val="solid"/>
          </a:ln>
        </p:spPr>
      </p:sp>
      <p:sp>
        <p:nvSpPr>
          <p:cNvPr id="9" name="Text 7"/>
          <p:cNvSpPr txBox="1"/>
          <p:nvPr/>
        </p:nvSpPr>
        <p:spPr>
          <a:xfrm>
            <a:off x="1280160" y="2414016"/>
            <a:ext cx="4572000" cy="329184"/>
          </a:xfrm>
          <a:prstGeom prst="rect">
            <a:avLst/>
          </a:prstGeom>
          <a:noFill/>
          <a:ln/>
        </p:spPr>
        <p:txBody>
          <a:bodyPr wrap="square" lIns="0" tIns="0" rIns="0" bIns="0" rtlCol="0" anchor="ctr"/>
          <a:lstStyle/>
          <a:p>
            <a:pPr algn="ctr" indent="0" marL="0">
              <a:buNone/>
            </a:pPr>
            <a:r>
              <a:rPr lang="en-US" sz="1250" b="1" dirty="0">
                <a:solidFill>
                  <a:srgbClr val="FFF9C7"/>
                </a:solidFill>
                <a:latin typeface="Calibri" pitchFamily="34" charset="0"/>
                <a:ea typeface="Calibri" pitchFamily="34" charset="-122"/>
                <a:cs typeface="Calibri" pitchFamily="34" charset="-120"/>
              </a:rPr>
              <a:t>La Région</a:t>
            </a:r>
            <a:endParaRPr lang="en-US" sz="1250" dirty="0"/>
          </a:p>
        </p:txBody>
      </p:sp>
      <p:sp>
        <p:nvSpPr>
          <p:cNvPr id="10" name="Shape 8"/>
          <p:cNvSpPr/>
          <p:nvPr/>
        </p:nvSpPr>
        <p:spPr>
          <a:xfrm>
            <a:off x="1645920" y="2843784"/>
            <a:ext cx="3840480" cy="2706624"/>
          </a:xfrm>
          <a:prstGeom prst="roundRect">
            <a:avLst>
              <a:gd name="adj" fmla="val 16892"/>
            </a:avLst>
          </a:prstGeom>
          <a:solidFill>
            <a:srgbClr val="3A3563"/>
          </a:solidFill>
          <a:ln w="25400">
            <a:solidFill>
              <a:srgbClr val="FFFFFF"/>
            </a:solidFill>
            <a:prstDash val="solid"/>
          </a:ln>
        </p:spPr>
      </p:sp>
      <p:sp>
        <p:nvSpPr>
          <p:cNvPr id="11" name="Text 9"/>
          <p:cNvSpPr txBox="1"/>
          <p:nvPr/>
        </p:nvSpPr>
        <p:spPr>
          <a:xfrm>
            <a:off x="1828800" y="2898648"/>
            <a:ext cx="3474720" cy="329184"/>
          </a:xfrm>
          <a:prstGeom prst="rect">
            <a:avLst/>
          </a:prstGeom>
          <a:noFill/>
          <a:ln/>
        </p:spPr>
        <p:txBody>
          <a:bodyPr wrap="square" lIns="0" tIns="0" rIns="0" bIns="0" rtlCol="0" anchor="ctr"/>
          <a:lstStyle/>
          <a:p>
            <a:pPr algn="ctr" indent="0" marL="0">
              <a:buNone/>
            </a:pPr>
            <a:r>
              <a:rPr lang="en-US" sz="1250" b="1" dirty="0">
                <a:solidFill>
                  <a:srgbClr val="FFF9C7"/>
                </a:solidFill>
                <a:latin typeface="Calibri" pitchFamily="34" charset="0"/>
                <a:ea typeface="Calibri" pitchFamily="34" charset="-122"/>
                <a:cs typeface="Calibri" pitchFamily="34" charset="-120"/>
              </a:rPr>
              <a:t>Le Département</a:t>
            </a:r>
            <a:endParaRPr lang="en-US" sz="1250" dirty="0"/>
          </a:p>
        </p:txBody>
      </p:sp>
      <p:sp>
        <p:nvSpPr>
          <p:cNvPr id="12" name="Shape 10"/>
          <p:cNvSpPr/>
          <p:nvPr/>
        </p:nvSpPr>
        <p:spPr>
          <a:xfrm>
            <a:off x="2194560" y="3328416"/>
            <a:ext cx="2743200" cy="1956816"/>
          </a:xfrm>
          <a:prstGeom prst="roundRect">
            <a:avLst>
              <a:gd name="adj" fmla="val 23364"/>
            </a:avLst>
          </a:prstGeom>
          <a:solidFill>
            <a:srgbClr val="E7E5F0"/>
          </a:solidFill>
          <a:ln w="25400">
            <a:solidFill>
              <a:srgbClr val="FFFFFF"/>
            </a:solidFill>
            <a:prstDash val="solid"/>
          </a:ln>
        </p:spPr>
      </p:sp>
      <p:sp>
        <p:nvSpPr>
          <p:cNvPr id="13" name="Text 11"/>
          <p:cNvSpPr txBox="1"/>
          <p:nvPr/>
        </p:nvSpPr>
        <p:spPr>
          <a:xfrm>
            <a:off x="2377440" y="3383280"/>
            <a:ext cx="2377440" cy="329184"/>
          </a:xfrm>
          <a:prstGeom prst="rect">
            <a:avLst/>
          </a:prstGeom>
          <a:noFill/>
          <a:ln/>
        </p:spPr>
        <p:txBody>
          <a:bodyPr wrap="square" lIns="0" tIns="0" rIns="0" bIns="0" rtlCol="0" anchor="ctr"/>
          <a:lstStyle/>
          <a:p>
            <a:pPr algn="ctr" indent="0" marL="0">
              <a:buNone/>
            </a:pPr>
            <a:r>
              <a:rPr lang="en-US" sz="1250" b="1" dirty="0">
                <a:solidFill>
                  <a:srgbClr val="0B032B"/>
                </a:solidFill>
                <a:latin typeface="Calibri" pitchFamily="34" charset="0"/>
                <a:ea typeface="Calibri" pitchFamily="34" charset="-122"/>
                <a:cs typeface="Calibri" pitchFamily="34" charset="-120"/>
              </a:rPr>
              <a:t>L’intercommunalité (EPCI)</a:t>
            </a:r>
            <a:endParaRPr lang="en-US" sz="1250" dirty="0"/>
          </a:p>
        </p:txBody>
      </p:sp>
      <p:sp>
        <p:nvSpPr>
          <p:cNvPr id="14" name="Shape 12"/>
          <p:cNvSpPr/>
          <p:nvPr/>
        </p:nvSpPr>
        <p:spPr>
          <a:xfrm>
            <a:off x="2743200" y="3813048"/>
            <a:ext cx="1645920" cy="1207008"/>
          </a:xfrm>
          <a:prstGeom prst="roundRect">
            <a:avLst>
              <a:gd name="adj" fmla="val 37879"/>
            </a:avLst>
          </a:prstGeom>
          <a:solidFill>
            <a:srgbClr val="FFF9C7"/>
          </a:solidFill>
          <a:ln w="25400">
            <a:solidFill>
              <a:srgbClr val="FFFFFF"/>
            </a:solidFill>
            <a:prstDash val="solid"/>
          </a:ln>
        </p:spPr>
      </p:sp>
      <p:sp>
        <p:nvSpPr>
          <p:cNvPr id="15" name="Text 13"/>
          <p:cNvSpPr txBox="1"/>
          <p:nvPr/>
        </p:nvSpPr>
        <p:spPr>
          <a:xfrm>
            <a:off x="2926080" y="3867912"/>
            <a:ext cx="1280160" cy="329184"/>
          </a:xfrm>
          <a:prstGeom prst="rect">
            <a:avLst/>
          </a:prstGeom>
          <a:noFill/>
          <a:ln/>
        </p:spPr>
        <p:txBody>
          <a:bodyPr wrap="square" lIns="0" tIns="0" rIns="0" bIns="0" rtlCol="0" anchor="ctr"/>
          <a:lstStyle/>
          <a:p>
            <a:pPr algn="ctr" indent="0" marL="0">
              <a:buNone/>
            </a:pPr>
            <a:r>
              <a:rPr lang="en-US" sz="1600" b="1" dirty="0">
                <a:solidFill>
                  <a:srgbClr val="0B032B"/>
                </a:solidFill>
                <a:latin typeface="Calibri" pitchFamily="34" charset="0"/>
                <a:ea typeface="Calibri" pitchFamily="34" charset="-122"/>
                <a:cs typeface="Calibri" pitchFamily="34" charset="-120"/>
              </a:rPr>
              <a:t>La commune</a:t>
            </a:r>
            <a:endParaRPr lang="en-US" sz="1600" dirty="0"/>
          </a:p>
        </p:txBody>
      </p:sp>
      <p:pic>
        <p:nvPicPr>
          <p:cNvPr id="16" name="Image 0" descr="preencoded.png">    </p:cNvPr>
          <p:cNvPicPr>
            <a:picLocks noChangeAspect="1"/>
          </p:cNvPicPr>
          <p:nvPr/>
        </p:nvPicPr>
        <p:blipFill>
          <a:blip r:embed="rId1"/>
          <a:stretch>
            <a:fillRect/>
          </a:stretch>
        </p:blipFill>
        <p:spPr>
          <a:xfrm>
            <a:off x="3291840" y="4480560"/>
            <a:ext cx="548640" cy="548640"/>
          </a:xfrm>
          <a:prstGeom prst="rect">
            <a:avLst/>
          </a:prstGeom>
        </p:spPr>
      </p:pic>
      <p:sp>
        <p:nvSpPr>
          <p:cNvPr id="17" name="Shape 14"/>
          <p:cNvSpPr/>
          <p:nvPr/>
        </p:nvSpPr>
        <p:spPr>
          <a:xfrm>
            <a:off x="6949440" y="1920240"/>
            <a:ext cx="457200" cy="457200"/>
          </a:xfrm>
          <a:prstGeom prst="ellipse">
            <a:avLst/>
          </a:prstGeom>
          <a:solidFill>
            <a:srgbClr val="0B032B"/>
          </a:solidFill>
          <a:ln w="12700">
            <a:solidFill>
              <a:srgbClr val="0B032B"/>
            </a:solidFill>
            <a:prstDash val="solid"/>
          </a:ln>
        </p:spPr>
      </p:sp>
      <p:sp>
        <p:nvSpPr>
          <p:cNvPr id="18" name="Text 15"/>
          <p:cNvSpPr txBox="1"/>
          <p:nvPr/>
        </p:nvSpPr>
        <p:spPr>
          <a:xfrm>
            <a:off x="7589520" y="1828800"/>
            <a:ext cx="4023360" cy="347472"/>
          </a:xfrm>
          <a:prstGeom prst="rect">
            <a:avLst/>
          </a:prstGeom>
          <a:noFill/>
          <a:ln/>
        </p:spPr>
        <p:txBody>
          <a:bodyPr wrap="square" lIns="0" tIns="0" rIns="0" bIns="0" rtlCol="0" anchor="t"/>
          <a:lstStyle/>
          <a:p>
            <a:pPr indent="0" marL="0">
              <a:buNone/>
            </a:pPr>
            <a:r>
              <a:rPr lang="en-US" sz="1500" b="1" dirty="0">
                <a:solidFill>
                  <a:srgbClr val="0B032B"/>
                </a:solidFill>
                <a:latin typeface="Calibri" pitchFamily="34" charset="0"/>
                <a:ea typeface="Calibri" pitchFamily="34" charset="-122"/>
                <a:cs typeface="Calibri" pitchFamily="34" charset="-120"/>
              </a:rPr>
              <a:t>L’État</a:t>
            </a:r>
            <a:endParaRPr lang="en-US" sz="1500" dirty="0"/>
          </a:p>
        </p:txBody>
      </p:sp>
      <p:sp>
        <p:nvSpPr>
          <p:cNvPr id="19" name="Text 16"/>
          <p:cNvSpPr txBox="1"/>
          <p:nvPr/>
        </p:nvSpPr>
        <p:spPr>
          <a:xfrm>
            <a:off x="7589520" y="2167128"/>
            <a:ext cx="4023360" cy="347472"/>
          </a:xfrm>
          <a:prstGeom prst="rect">
            <a:avLst/>
          </a:prstGeom>
          <a:noFill/>
          <a:ln/>
        </p:spPr>
        <p:txBody>
          <a:bodyPr wrap="square" lIns="0" tIns="0" rIns="0" bIns="0" rtlCol="0" anchor="t"/>
          <a:lstStyle/>
          <a:p>
            <a:pPr indent="0" marL="0">
              <a:buNone/>
            </a:pPr>
            <a:r>
              <a:rPr lang="en-US" sz="1250" dirty="0">
                <a:solidFill>
                  <a:srgbClr val="55516E"/>
                </a:solidFill>
                <a:latin typeface="Calibri" pitchFamily="34" charset="0"/>
                <a:ea typeface="Calibri" pitchFamily="34" charset="-122"/>
                <a:cs typeface="Calibri" pitchFamily="34" charset="-120"/>
              </a:rPr>
              <a:t>fixe les règles, garantit l’égalité devant la loi, contrôle la légalité</a:t>
            </a:r>
            <a:endParaRPr lang="en-US" sz="1250" dirty="0"/>
          </a:p>
        </p:txBody>
      </p:sp>
      <p:sp>
        <p:nvSpPr>
          <p:cNvPr id="20" name="Shape 17"/>
          <p:cNvSpPr/>
          <p:nvPr/>
        </p:nvSpPr>
        <p:spPr>
          <a:xfrm>
            <a:off x="6949440" y="2770632"/>
            <a:ext cx="457200" cy="457200"/>
          </a:xfrm>
          <a:prstGeom prst="ellipse">
            <a:avLst/>
          </a:prstGeom>
          <a:solidFill>
            <a:srgbClr val="1F1A4D"/>
          </a:solidFill>
          <a:ln w="12700">
            <a:solidFill>
              <a:srgbClr val="0B032B"/>
            </a:solidFill>
            <a:prstDash val="solid"/>
          </a:ln>
        </p:spPr>
      </p:sp>
      <p:sp>
        <p:nvSpPr>
          <p:cNvPr id="21" name="Text 18"/>
          <p:cNvSpPr txBox="1"/>
          <p:nvPr/>
        </p:nvSpPr>
        <p:spPr>
          <a:xfrm>
            <a:off x="7589520" y="2679192"/>
            <a:ext cx="4023360" cy="347472"/>
          </a:xfrm>
          <a:prstGeom prst="rect">
            <a:avLst/>
          </a:prstGeom>
          <a:noFill/>
          <a:ln/>
        </p:spPr>
        <p:txBody>
          <a:bodyPr wrap="square" lIns="0" tIns="0" rIns="0" bIns="0" rtlCol="0" anchor="t"/>
          <a:lstStyle/>
          <a:p>
            <a:pPr indent="0" marL="0">
              <a:buNone/>
            </a:pPr>
            <a:r>
              <a:rPr lang="en-US" sz="1500" b="1" dirty="0">
                <a:solidFill>
                  <a:srgbClr val="0B032B"/>
                </a:solidFill>
                <a:latin typeface="Calibri" pitchFamily="34" charset="0"/>
                <a:ea typeface="Calibri" pitchFamily="34" charset="-122"/>
                <a:cs typeface="Calibri" pitchFamily="34" charset="-120"/>
              </a:rPr>
              <a:t>La Région</a:t>
            </a:r>
            <a:endParaRPr lang="en-US" sz="1500" dirty="0"/>
          </a:p>
        </p:txBody>
      </p:sp>
      <p:sp>
        <p:nvSpPr>
          <p:cNvPr id="22" name="Text 19"/>
          <p:cNvSpPr txBox="1"/>
          <p:nvPr/>
        </p:nvSpPr>
        <p:spPr>
          <a:xfrm>
            <a:off x="7589520" y="3017520"/>
            <a:ext cx="4023360" cy="347472"/>
          </a:xfrm>
          <a:prstGeom prst="rect">
            <a:avLst/>
          </a:prstGeom>
          <a:noFill/>
          <a:ln/>
        </p:spPr>
        <p:txBody>
          <a:bodyPr wrap="square" lIns="0" tIns="0" rIns="0" bIns="0" rtlCol="0" anchor="t"/>
          <a:lstStyle/>
          <a:p>
            <a:pPr indent="0" marL="0">
              <a:buNone/>
            </a:pPr>
            <a:r>
              <a:rPr lang="en-US" sz="1250" dirty="0">
                <a:solidFill>
                  <a:srgbClr val="55516E"/>
                </a:solidFill>
                <a:latin typeface="Calibri" pitchFamily="34" charset="0"/>
                <a:ea typeface="Calibri" pitchFamily="34" charset="-122"/>
                <a:cs typeface="Calibri" pitchFamily="34" charset="-120"/>
              </a:rPr>
              <a:t>économie, mobilités, formation, lycées</a:t>
            </a:r>
            <a:endParaRPr lang="en-US" sz="1250" dirty="0"/>
          </a:p>
        </p:txBody>
      </p:sp>
      <p:sp>
        <p:nvSpPr>
          <p:cNvPr id="23" name="Shape 20"/>
          <p:cNvSpPr/>
          <p:nvPr/>
        </p:nvSpPr>
        <p:spPr>
          <a:xfrm>
            <a:off x="6949440" y="3621024"/>
            <a:ext cx="457200" cy="457200"/>
          </a:xfrm>
          <a:prstGeom prst="ellipse">
            <a:avLst/>
          </a:prstGeom>
          <a:solidFill>
            <a:srgbClr val="3A3563"/>
          </a:solidFill>
          <a:ln w="12700">
            <a:solidFill>
              <a:srgbClr val="0B032B"/>
            </a:solidFill>
            <a:prstDash val="solid"/>
          </a:ln>
        </p:spPr>
      </p:sp>
      <p:sp>
        <p:nvSpPr>
          <p:cNvPr id="24" name="Text 21"/>
          <p:cNvSpPr txBox="1"/>
          <p:nvPr/>
        </p:nvSpPr>
        <p:spPr>
          <a:xfrm>
            <a:off x="7589520" y="3529584"/>
            <a:ext cx="4023360" cy="347472"/>
          </a:xfrm>
          <a:prstGeom prst="rect">
            <a:avLst/>
          </a:prstGeom>
          <a:noFill/>
          <a:ln/>
        </p:spPr>
        <p:txBody>
          <a:bodyPr wrap="square" lIns="0" tIns="0" rIns="0" bIns="0" rtlCol="0" anchor="t"/>
          <a:lstStyle/>
          <a:p>
            <a:pPr indent="0" marL="0">
              <a:buNone/>
            </a:pPr>
            <a:r>
              <a:rPr lang="en-US" sz="1500" b="1" dirty="0">
                <a:solidFill>
                  <a:srgbClr val="0B032B"/>
                </a:solidFill>
                <a:latin typeface="Calibri" pitchFamily="34" charset="0"/>
                <a:ea typeface="Calibri" pitchFamily="34" charset="-122"/>
                <a:cs typeface="Calibri" pitchFamily="34" charset="-120"/>
              </a:rPr>
              <a:t>Le Département</a:t>
            </a:r>
            <a:endParaRPr lang="en-US" sz="1500" dirty="0"/>
          </a:p>
        </p:txBody>
      </p:sp>
      <p:sp>
        <p:nvSpPr>
          <p:cNvPr id="25" name="Text 22"/>
          <p:cNvSpPr txBox="1"/>
          <p:nvPr/>
        </p:nvSpPr>
        <p:spPr>
          <a:xfrm>
            <a:off x="7589520" y="3867912"/>
            <a:ext cx="4023360" cy="347472"/>
          </a:xfrm>
          <a:prstGeom prst="rect">
            <a:avLst/>
          </a:prstGeom>
          <a:noFill/>
          <a:ln/>
        </p:spPr>
        <p:txBody>
          <a:bodyPr wrap="square" lIns="0" tIns="0" rIns="0" bIns="0" rtlCol="0" anchor="t"/>
          <a:lstStyle/>
          <a:p>
            <a:pPr indent="0" marL="0">
              <a:buNone/>
            </a:pPr>
            <a:r>
              <a:rPr lang="en-US" sz="1250" dirty="0">
                <a:solidFill>
                  <a:srgbClr val="55516E"/>
                </a:solidFill>
                <a:latin typeface="Calibri" pitchFamily="34" charset="0"/>
                <a:ea typeface="Calibri" pitchFamily="34" charset="-122"/>
                <a:cs typeface="Calibri" pitchFamily="34" charset="-120"/>
              </a:rPr>
              <a:t>solidarités, collèges, routes départementales</a:t>
            </a:r>
            <a:endParaRPr lang="en-US" sz="1250" dirty="0"/>
          </a:p>
        </p:txBody>
      </p:sp>
      <p:sp>
        <p:nvSpPr>
          <p:cNvPr id="26" name="Shape 23"/>
          <p:cNvSpPr/>
          <p:nvPr/>
        </p:nvSpPr>
        <p:spPr>
          <a:xfrm>
            <a:off x="6949440" y="4471416"/>
            <a:ext cx="457200" cy="457200"/>
          </a:xfrm>
          <a:prstGeom prst="ellipse">
            <a:avLst/>
          </a:prstGeom>
          <a:solidFill>
            <a:srgbClr val="E7E5F0"/>
          </a:solidFill>
          <a:ln w="12700">
            <a:solidFill>
              <a:srgbClr val="0B032B"/>
            </a:solidFill>
            <a:prstDash val="solid"/>
          </a:ln>
        </p:spPr>
      </p:sp>
      <p:sp>
        <p:nvSpPr>
          <p:cNvPr id="27" name="Text 24"/>
          <p:cNvSpPr txBox="1"/>
          <p:nvPr/>
        </p:nvSpPr>
        <p:spPr>
          <a:xfrm>
            <a:off x="7589520" y="4379976"/>
            <a:ext cx="4023360" cy="347472"/>
          </a:xfrm>
          <a:prstGeom prst="rect">
            <a:avLst/>
          </a:prstGeom>
          <a:noFill/>
          <a:ln/>
        </p:spPr>
        <p:txBody>
          <a:bodyPr wrap="square" lIns="0" tIns="0" rIns="0" bIns="0" rtlCol="0" anchor="t"/>
          <a:lstStyle/>
          <a:p>
            <a:pPr indent="0" marL="0">
              <a:buNone/>
            </a:pPr>
            <a:r>
              <a:rPr lang="en-US" sz="1500" b="1" dirty="0">
                <a:solidFill>
                  <a:srgbClr val="0B032B"/>
                </a:solidFill>
                <a:latin typeface="Calibri" pitchFamily="34" charset="0"/>
                <a:ea typeface="Calibri" pitchFamily="34" charset="-122"/>
                <a:cs typeface="Calibri" pitchFamily="34" charset="-120"/>
              </a:rPr>
              <a:t>L’intercommunalité (EPCI)</a:t>
            </a:r>
            <a:endParaRPr lang="en-US" sz="1500" dirty="0"/>
          </a:p>
        </p:txBody>
      </p:sp>
      <p:sp>
        <p:nvSpPr>
          <p:cNvPr id="28" name="Text 25"/>
          <p:cNvSpPr txBox="1"/>
          <p:nvPr/>
        </p:nvSpPr>
        <p:spPr>
          <a:xfrm>
            <a:off x="7589520" y="4718304"/>
            <a:ext cx="4023360" cy="347472"/>
          </a:xfrm>
          <a:prstGeom prst="rect">
            <a:avLst/>
          </a:prstGeom>
          <a:noFill/>
          <a:ln/>
        </p:spPr>
        <p:txBody>
          <a:bodyPr wrap="square" lIns="0" tIns="0" rIns="0" bIns="0" rtlCol="0" anchor="t"/>
          <a:lstStyle/>
          <a:p>
            <a:pPr indent="0" marL="0">
              <a:buNone/>
            </a:pPr>
            <a:r>
              <a:rPr lang="en-US" sz="1250" dirty="0">
                <a:solidFill>
                  <a:srgbClr val="55516E"/>
                </a:solidFill>
                <a:latin typeface="Calibri" pitchFamily="34" charset="0"/>
                <a:ea typeface="Calibri" pitchFamily="34" charset="-122"/>
                <a:cs typeface="Calibri" pitchFamily="34" charset="-120"/>
              </a:rPr>
              <a:t>compétences mutualisées entre communes</a:t>
            </a:r>
            <a:endParaRPr lang="en-US" sz="1250" dirty="0"/>
          </a:p>
        </p:txBody>
      </p:sp>
      <p:sp>
        <p:nvSpPr>
          <p:cNvPr id="29" name="Shape 26"/>
          <p:cNvSpPr/>
          <p:nvPr/>
        </p:nvSpPr>
        <p:spPr>
          <a:xfrm>
            <a:off x="6949440" y="5321808"/>
            <a:ext cx="457200" cy="457200"/>
          </a:xfrm>
          <a:prstGeom prst="ellipse">
            <a:avLst/>
          </a:prstGeom>
          <a:solidFill>
            <a:srgbClr val="FFF9C7"/>
          </a:solidFill>
          <a:ln w="12700">
            <a:solidFill>
              <a:srgbClr val="0B032B"/>
            </a:solidFill>
            <a:prstDash val="solid"/>
          </a:ln>
        </p:spPr>
      </p:sp>
      <p:sp>
        <p:nvSpPr>
          <p:cNvPr id="30" name="Text 27"/>
          <p:cNvSpPr txBox="1"/>
          <p:nvPr/>
        </p:nvSpPr>
        <p:spPr>
          <a:xfrm>
            <a:off x="7589520" y="5230368"/>
            <a:ext cx="4023360" cy="347472"/>
          </a:xfrm>
          <a:prstGeom prst="rect">
            <a:avLst/>
          </a:prstGeom>
          <a:noFill/>
          <a:ln/>
        </p:spPr>
        <p:txBody>
          <a:bodyPr wrap="square" lIns="0" tIns="0" rIns="0" bIns="0" rtlCol="0" anchor="t"/>
          <a:lstStyle/>
          <a:p>
            <a:pPr indent="0" marL="0">
              <a:buNone/>
            </a:pPr>
            <a:r>
              <a:rPr lang="en-US" sz="1500" b="1" dirty="0">
                <a:solidFill>
                  <a:srgbClr val="0B032B"/>
                </a:solidFill>
                <a:latin typeface="Calibri" pitchFamily="34" charset="0"/>
                <a:ea typeface="Calibri" pitchFamily="34" charset="-122"/>
                <a:cs typeface="Calibri" pitchFamily="34" charset="-120"/>
              </a:rPr>
              <a:t>La commune</a:t>
            </a:r>
            <a:endParaRPr lang="en-US" sz="1500" dirty="0"/>
          </a:p>
        </p:txBody>
      </p:sp>
      <p:sp>
        <p:nvSpPr>
          <p:cNvPr id="31" name="Text 28"/>
          <p:cNvSpPr txBox="1"/>
          <p:nvPr/>
        </p:nvSpPr>
        <p:spPr>
          <a:xfrm>
            <a:off x="7589520" y="5568696"/>
            <a:ext cx="4023360" cy="347472"/>
          </a:xfrm>
          <a:prstGeom prst="rect">
            <a:avLst/>
          </a:prstGeom>
          <a:noFill/>
          <a:ln/>
        </p:spPr>
        <p:txBody>
          <a:bodyPr wrap="square" lIns="0" tIns="0" rIns="0" bIns="0" rtlCol="0" anchor="t"/>
          <a:lstStyle/>
          <a:p>
            <a:pPr indent="0" marL="0">
              <a:buNone/>
            </a:pPr>
            <a:r>
              <a:rPr lang="en-US" sz="1250" dirty="0">
                <a:solidFill>
                  <a:srgbClr val="55516E"/>
                </a:solidFill>
                <a:latin typeface="Calibri" pitchFamily="34" charset="0"/>
                <a:ea typeface="Calibri" pitchFamily="34" charset="-122"/>
                <a:cs typeface="Calibri" pitchFamily="34" charset="-120"/>
              </a:rPr>
              <a:t>l’échelon de proximité</a:t>
            </a:r>
            <a:endParaRPr lang="en-US" sz="1250" dirty="0"/>
          </a:p>
        </p:txBody>
      </p:sp>
      <p:sp>
        <p:nvSpPr>
          <p:cNvPr id="32" name="Text 29"/>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spc="100" kern="0" dirty="0">
                <a:solidFill>
                  <a:srgbClr val="8A8699"/>
                </a:solidFill>
                <a:latin typeface="Calibri" pitchFamily="34" charset="0"/>
                <a:ea typeface="Calibri" pitchFamily="34" charset="-122"/>
                <a:cs typeface="Calibri" pitchFamily="34" charset="-120"/>
              </a:rPr>
              <a:t>ENMA FORMATION  ·  Formation des élus municipaux 2026</a:t>
            </a:r>
            <a:endParaRPr lang="en-US" sz="900" dirty="0"/>
          </a:p>
        </p:txBody>
      </p:sp>
      <p:sp>
        <p:nvSpPr>
          <p:cNvPr id="33" name="Text 30"/>
          <p:cNvSpPr txBox="1"/>
          <p:nvPr/>
        </p:nvSpPr>
        <p:spPr>
          <a:xfrm>
            <a:off x="9692640" y="6400800"/>
            <a:ext cx="548640" cy="274320"/>
          </a:xfrm>
          <a:prstGeom prst="rect">
            <a:avLst/>
          </a:prstGeom>
          <a:noFill/>
          <a:ln/>
        </p:spPr>
        <p:txBody>
          <a:bodyPr wrap="square" lIns="0" tIns="0" rIns="0" bIns="0" rtlCol="0" anchor="ctr"/>
          <a:lstStyle/>
          <a:p>
            <a:pPr algn="r" indent="0" marL="0">
              <a:buNone/>
            </a:pPr>
            <a:r>
              <a:rPr lang="en-US" sz="900" dirty="0">
                <a:solidFill>
                  <a:srgbClr val="8A8699"/>
                </a:solidFill>
                <a:latin typeface="Calibri" pitchFamily="34" charset="0"/>
                <a:ea typeface="Calibri" pitchFamily="34" charset="-122"/>
                <a:cs typeface="Calibri" pitchFamily="34" charset="-120"/>
              </a:rPr>
              <a:t>30</a:t>
            </a:r>
            <a:endParaRPr lang="en-US" sz="900" dirty="0"/>
          </a:p>
        </p:txBody>
      </p:sp>
      <p:pic>
        <p:nvPicPr>
          <p:cNvPr id="34" name="Image 1" descr="preencoded.png">    </p:cNvPr>
          <p:cNvPicPr>
            <a:picLocks noChangeAspect="1"/>
          </p:cNvPicPr>
          <p:nvPr/>
        </p:nvPicPr>
        <p:blipFill>
          <a:blip r:embed="rId2"/>
          <a:stretch>
            <a:fillRect/>
          </a:stretch>
        </p:blipFill>
        <p:spPr>
          <a:xfrm>
            <a:off x="10469880" y="6309360"/>
            <a:ext cx="1170432" cy="484632"/>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420624" cy="310896"/>
          </a:xfrm>
          <a:prstGeom prst="roundRect">
            <a:avLst>
              <a:gd name="adj" fmla="val 23529"/>
            </a:avLst>
          </a:prstGeom>
          <a:solidFill>
            <a:srgbClr val="0B032B"/>
          </a:solidFill>
          <a:ln/>
        </p:spPr>
      </p:sp>
      <p:sp>
        <p:nvSpPr>
          <p:cNvPr id="3" name="Text 1"/>
          <p:cNvSpPr txBox="1"/>
          <p:nvPr/>
        </p:nvSpPr>
        <p:spPr>
          <a:xfrm>
            <a:off x="548640" y="438912"/>
            <a:ext cx="420624" cy="310896"/>
          </a:xfrm>
          <a:prstGeom prst="rect">
            <a:avLst/>
          </a:prstGeom>
          <a:noFill/>
          <a:ln/>
        </p:spPr>
        <p:txBody>
          <a:bodyPr wrap="square" lIns="0" tIns="0" rIns="0" bIns="0" rtlCol="0" anchor="ctr"/>
          <a:lstStyle/>
          <a:p>
            <a:pPr algn="ctr" indent="0" marL="0">
              <a:buNone/>
            </a:pPr>
            <a:r>
              <a:rPr lang="en-US" sz="1100" b="1" dirty="0">
                <a:solidFill>
                  <a:srgbClr val="FFF9C7"/>
                </a:solidFill>
                <a:latin typeface="Calibri" pitchFamily="34" charset="0"/>
                <a:ea typeface="Calibri" pitchFamily="34" charset="-122"/>
                <a:cs typeface="Calibri" pitchFamily="34" charset="-120"/>
              </a:rPr>
              <a:t>05</a:t>
            </a:r>
            <a:endParaRPr lang="en-US" sz="1100" dirty="0"/>
          </a:p>
        </p:txBody>
      </p:sp>
      <p:sp>
        <p:nvSpPr>
          <p:cNvPr id="4" name="Text 2"/>
          <p:cNvSpPr txBox="1"/>
          <p:nvPr/>
        </p:nvSpPr>
        <p:spPr>
          <a:xfrm>
            <a:off x="1115568" y="438912"/>
            <a:ext cx="8229600" cy="310896"/>
          </a:xfrm>
          <a:prstGeom prst="rect">
            <a:avLst/>
          </a:prstGeom>
          <a:noFill/>
          <a:ln/>
        </p:spPr>
        <p:txBody>
          <a:bodyPr wrap="square" lIns="0" tIns="0" rIns="0" bIns="0" rtlCol="0" anchor="ctr"/>
          <a:lstStyle/>
          <a:p>
            <a:pPr indent="0" marL="0">
              <a:buNone/>
            </a:pPr>
            <a:r>
              <a:rPr lang="en-US" sz="1100" b="1" spc="200" kern="0" dirty="0">
                <a:solidFill>
                  <a:srgbClr val="55516E"/>
                </a:solidFill>
                <a:latin typeface="Calibri" pitchFamily="34" charset="0"/>
                <a:ea typeface="Calibri" pitchFamily="34" charset="-122"/>
                <a:cs typeface="Calibri" pitchFamily="34" charset="-120"/>
              </a:rPr>
              <a:t>LES COMPÉTENCES DE L’INTERCOMMUNALITÉ (EPCI)</a:t>
            </a:r>
            <a:endParaRPr lang="en-US" sz="1100" dirty="0"/>
          </a:p>
        </p:txBody>
      </p:sp>
      <p:sp>
        <p:nvSpPr>
          <p:cNvPr id="5" name="Text 3"/>
          <p:cNvSpPr txBox="1"/>
          <p:nvPr/>
        </p:nvSpPr>
        <p:spPr>
          <a:xfrm>
            <a:off x="548640" y="841248"/>
            <a:ext cx="11064240" cy="685800"/>
          </a:xfrm>
          <a:prstGeom prst="rect">
            <a:avLst/>
          </a:prstGeom>
          <a:noFill/>
          <a:ln/>
        </p:spPr>
        <p:txBody>
          <a:bodyPr wrap="square" lIns="0" tIns="0" rIns="0" bIns="0" rtlCol="0" anchor="ctr">
            <a:normAutofit/>
          </a:bodyPr>
          <a:lstStyle/>
          <a:p>
            <a:pPr indent="0" marL="0">
              <a:buNone/>
            </a:pPr>
            <a:r>
              <a:rPr lang="en-US" sz="2800" b="1" dirty="0">
                <a:solidFill>
                  <a:srgbClr val="0B032B"/>
                </a:solidFill>
                <a:latin typeface="Calibri" pitchFamily="34" charset="0"/>
                <a:ea typeface="Calibri" pitchFamily="34" charset="-122"/>
                <a:cs typeface="Calibri" pitchFamily="34" charset="-120"/>
              </a:rPr>
              <a:t>Mutualiser les moyens pour agir plus efficacement</a:t>
            </a:r>
            <a:endParaRPr lang="en-US" sz="2800" dirty="0"/>
          </a:p>
        </p:txBody>
      </p:sp>
      <p:sp>
        <p:nvSpPr>
          <p:cNvPr id="6" name="Text 4"/>
          <p:cNvSpPr txBox="1"/>
          <p:nvPr/>
        </p:nvSpPr>
        <p:spPr>
          <a:xfrm>
            <a:off x="548640" y="1783080"/>
            <a:ext cx="5943600" cy="411480"/>
          </a:xfrm>
          <a:prstGeom prst="rect">
            <a:avLst/>
          </a:prstGeom>
          <a:noFill/>
          <a:ln/>
        </p:spPr>
        <p:txBody>
          <a:bodyPr wrap="square" lIns="0" tIns="0" rIns="0" bIns="0" rtlCol="0" anchor="t"/>
          <a:lstStyle/>
          <a:p>
            <a:pPr indent="0" marL="0">
              <a:buNone/>
            </a:pPr>
            <a:r>
              <a:rPr lang="en-US" sz="2000" b="1" dirty="0">
                <a:solidFill>
                  <a:srgbClr val="0B032B"/>
                </a:solidFill>
                <a:latin typeface="Calibri" pitchFamily="34" charset="0"/>
                <a:ea typeface="Calibri" pitchFamily="34" charset="-122"/>
                <a:cs typeface="Calibri" pitchFamily="34" charset="-120"/>
              </a:rPr>
              <a:t>Qu’est-ce qu’un EPCI ?</a:t>
            </a:r>
            <a:endParaRPr lang="en-US" sz="2000" dirty="0"/>
          </a:p>
        </p:txBody>
      </p:sp>
      <p:sp>
        <p:nvSpPr>
          <p:cNvPr id="7" name="Text 5"/>
          <p:cNvSpPr txBox="1"/>
          <p:nvPr/>
        </p:nvSpPr>
        <p:spPr>
          <a:xfrm>
            <a:off x="548640" y="2240280"/>
            <a:ext cx="6035040" cy="1188720"/>
          </a:xfrm>
          <a:prstGeom prst="rect">
            <a:avLst/>
          </a:prstGeom>
          <a:noFill/>
          <a:ln/>
        </p:spPr>
        <p:txBody>
          <a:bodyPr wrap="square" lIns="0" tIns="0" rIns="0" bIns="0" rtlCol="0" anchor="t"/>
          <a:lstStyle/>
          <a:p>
            <a:pPr indent="0" marL="0">
              <a:lnSpc>
                <a:spcPct val="110000"/>
              </a:lnSpc>
              <a:buNone/>
            </a:pPr>
            <a:r>
              <a:rPr lang="en-US" sz="1600" dirty="0">
                <a:solidFill>
                  <a:srgbClr val="55516E"/>
                </a:solidFill>
                <a:latin typeface="Calibri" pitchFamily="34" charset="0"/>
                <a:ea typeface="Calibri" pitchFamily="34" charset="-122"/>
                <a:cs typeface="Calibri" pitchFamily="34" charset="-120"/>
              </a:rPr>
              <a:t>Un Établissement Public de Coopération Intercommunale (EPCI) regroupe plusieurs communes afin d’exercer ensemble certaines compétences qui dépassent l’échelle d’une seule commune.</a:t>
            </a:r>
            <a:endParaRPr lang="en-US" sz="1600" dirty="0"/>
          </a:p>
        </p:txBody>
      </p:sp>
      <p:sp>
        <p:nvSpPr>
          <p:cNvPr id="8" name="Text 6"/>
          <p:cNvSpPr txBox="1"/>
          <p:nvPr/>
        </p:nvSpPr>
        <p:spPr>
          <a:xfrm>
            <a:off x="548640" y="3611880"/>
            <a:ext cx="3657600" cy="274320"/>
          </a:xfrm>
          <a:prstGeom prst="rect">
            <a:avLst/>
          </a:prstGeom>
          <a:noFill/>
          <a:ln/>
        </p:spPr>
        <p:txBody>
          <a:bodyPr wrap="square" lIns="0" tIns="0" rIns="0" bIns="0" rtlCol="0" anchor="t"/>
          <a:lstStyle/>
          <a:p>
            <a:pPr indent="0" marL="0">
              <a:buNone/>
            </a:pPr>
            <a:r>
              <a:rPr lang="en-US" sz="1200" b="1" spc="300" kern="0" dirty="0">
                <a:solidFill>
                  <a:srgbClr val="55516E"/>
                </a:solidFill>
                <a:latin typeface="Calibri" pitchFamily="34" charset="0"/>
                <a:ea typeface="Calibri" pitchFamily="34" charset="-122"/>
                <a:cs typeface="Calibri" pitchFamily="34" charset="-120"/>
              </a:rPr>
              <a:t>OBJECTIFS</a:t>
            </a:r>
            <a:endParaRPr lang="en-US" sz="1200" dirty="0"/>
          </a:p>
        </p:txBody>
      </p:sp>
      <p:sp>
        <p:nvSpPr>
          <p:cNvPr id="9" name="Shape 7"/>
          <p:cNvSpPr/>
          <p:nvPr/>
        </p:nvSpPr>
        <p:spPr>
          <a:xfrm>
            <a:off x="548640" y="3977640"/>
            <a:ext cx="2926080" cy="896112"/>
          </a:xfrm>
          <a:prstGeom prst="roundRect">
            <a:avLst>
              <a:gd name="adj" fmla="val 12245"/>
            </a:avLst>
          </a:prstGeom>
          <a:solidFill>
            <a:srgbClr val="F3F2F8"/>
          </a:solidFill>
          <a:ln/>
        </p:spPr>
      </p:sp>
      <p:sp>
        <p:nvSpPr>
          <p:cNvPr id="10" name="Shape 8"/>
          <p:cNvSpPr/>
          <p:nvPr/>
        </p:nvSpPr>
        <p:spPr>
          <a:xfrm>
            <a:off x="685800" y="4160520"/>
            <a:ext cx="530352" cy="530352"/>
          </a:xfrm>
          <a:prstGeom prst="ellipse">
            <a:avLst/>
          </a:prstGeom>
          <a:solidFill>
            <a:srgbClr val="0B032B"/>
          </a:solidFill>
          <a:ln/>
        </p:spPr>
      </p:sp>
      <p:pic>
        <p:nvPicPr>
          <p:cNvPr id="11" name="Image 0" descr="preencoded.png">    </p:cNvPr>
          <p:cNvPicPr>
            <a:picLocks noChangeAspect="1"/>
          </p:cNvPicPr>
          <p:nvPr/>
        </p:nvPicPr>
        <p:blipFill>
          <a:blip r:embed="rId1"/>
          <a:stretch>
            <a:fillRect/>
          </a:stretch>
        </p:blipFill>
        <p:spPr>
          <a:xfrm>
            <a:off x="802477" y="4277197"/>
            <a:ext cx="296997" cy="296997"/>
          </a:xfrm>
          <a:prstGeom prst="rect">
            <a:avLst/>
          </a:prstGeom>
        </p:spPr>
      </p:pic>
      <p:sp>
        <p:nvSpPr>
          <p:cNvPr id="12" name="Text 9"/>
          <p:cNvSpPr txBox="1"/>
          <p:nvPr/>
        </p:nvSpPr>
        <p:spPr>
          <a:xfrm>
            <a:off x="1353312" y="3977640"/>
            <a:ext cx="2011680" cy="896112"/>
          </a:xfrm>
          <a:prstGeom prst="rect">
            <a:avLst/>
          </a:prstGeom>
          <a:noFill/>
          <a:ln/>
        </p:spPr>
        <p:txBody>
          <a:bodyPr wrap="square" lIns="0" tIns="0" rIns="0" bIns="0" rtlCol="0" anchor="ctr"/>
          <a:lstStyle/>
          <a:p>
            <a:pPr indent="0" marL="0">
              <a:buNone/>
            </a:pPr>
            <a:r>
              <a:rPr lang="en-US" sz="1300" b="1" dirty="0">
                <a:solidFill>
                  <a:srgbClr val="0B032B"/>
                </a:solidFill>
                <a:latin typeface="Calibri" pitchFamily="34" charset="0"/>
                <a:ea typeface="Calibri" pitchFamily="34" charset="-122"/>
                <a:cs typeface="Calibri" pitchFamily="34" charset="-120"/>
              </a:rPr>
              <a:t>Mutualiser les moyens humains et financiers.</a:t>
            </a:r>
            <a:endParaRPr lang="en-US" sz="1300" dirty="0"/>
          </a:p>
        </p:txBody>
      </p:sp>
      <p:sp>
        <p:nvSpPr>
          <p:cNvPr id="13" name="Shape 10"/>
          <p:cNvSpPr/>
          <p:nvPr/>
        </p:nvSpPr>
        <p:spPr>
          <a:xfrm>
            <a:off x="3611880" y="3977640"/>
            <a:ext cx="2926080" cy="896112"/>
          </a:xfrm>
          <a:prstGeom prst="roundRect">
            <a:avLst>
              <a:gd name="adj" fmla="val 12245"/>
            </a:avLst>
          </a:prstGeom>
          <a:solidFill>
            <a:srgbClr val="F3F2F8"/>
          </a:solidFill>
          <a:ln/>
        </p:spPr>
      </p:sp>
      <p:sp>
        <p:nvSpPr>
          <p:cNvPr id="14" name="Shape 11"/>
          <p:cNvSpPr/>
          <p:nvPr/>
        </p:nvSpPr>
        <p:spPr>
          <a:xfrm>
            <a:off x="3749040" y="4160520"/>
            <a:ext cx="530352" cy="530352"/>
          </a:xfrm>
          <a:prstGeom prst="ellipse">
            <a:avLst/>
          </a:prstGeom>
          <a:solidFill>
            <a:srgbClr val="0B032B"/>
          </a:solidFill>
          <a:ln/>
        </p:spPr>
      </p:sp>
      <p:pic>
        <p:nvPicPr>
          <p:cNvPr id="15" name="Image 1" descr="preencoded.png">    </p:cNvPr>
          <p:cNvPicPr>
            <a:picLocks noChangeAspect="1"/>
          </p:cNvPicPr>
          <p:nvPr/>
        </p:nvPicPr>
        <p:blipFill>
          <a:blip r:embed="rId2"/>
          <a:stretch>
            <a:fillRect/>
          </a:stretch>
        </p:blipFill>
        <p:spPr>
          <a:xfrm>
            <a:off x="3865717" y="4277197"/>
            <a:ext cx="296997" cy="296997"/>
          </a:xfrm>
          <a:prstGeom prst="rect">
            <a:avLst/>
          </a:prstGeom>
        </p:spPr>
      </p:pic>
      <p:sp>
        <p:nvSpPr>
          <p:cNvPr id="16" name="Text 12"/>
          <p:cNvSpPr txBox="1"/>
          <p:nvPr/>
        </p:nvSpPr>
        <p:spPr>
          <a:xfrm>
            <a:off x="4416552" y="3977640"/>
            <a:ext cx="2011680" cy="896112"/>
          </a:xfrm>
          <a:prstGeom prst="rect">
            <a:avLst/>
          </a:prstGeom>
          <a:noFill/>
          <a:ln/>
        </p:spPr>
        <p:txBody>
          <a:bodyPr wrap="square" lIns="0" tIns="0" rIns="0" bIns="0" rtlCol="0" anchor="ctr"/>
          <a:lstStyle/>
          <a:p>
            <a:pPr indent="0" marL="0">
              <a:buNone/>
            </a:pPr>
            <a:r>
              <a:rPr lang="en-US" sz="1300" b="1" dirty="0">
                <a:solidFill>
                  <a:srgbClr val="0B032B"/>
                </a:solidFill>
                <a:latin typeface="Calibri" pitchFamily="34" charset="0"/>
                <a:ea typeface="Calibri" pitchFamily="34" charset="-122"/>
                <a:cs typeface="Calibri" pitchFamily="34" charset="-120"/>
              </a:rPr>
              <a:t>Réaliser des projets d’envergure.</a:t>
            </a:r>
            <a:endParaRPr lang="en-US" sz="1300" dirty="0"/>
          </a:p>
        </p:txBody>
      </p:sp>
      <p:sp>
        <p:nvSpPr>
          <p:cNvPr id="17" name="Shape 13"/>
          <p:cNvSpPr/>
          <p:nvPr/>
        </p:nvSpPr>
        <p:spPr>
          <a:xfrm>
            <a:off x="548640" y="5001768"/>
            <a:ext cx="2926080" cy="896112"/>
          </a:xfrm>
          <a:prstGeom prst="roundRect">
            <a:avLst>
              <a:gd name="adj" fmla="val 12245"/>
            </a:avLst>
          </a:prstGeom>
          <a:solidFill>
            <a:srgbClr val="F3F2F8"/>
          </a:solidFill>
          <a:ln/>
        </p:spPr>
      </p:sp>
      <p:sp>
        <p:nvSpPr>
          <p:cNvPr id="18" name="Shape 14"/>
          <p:cNvSpPr/>
          <p:nvPr/>
        </p:nvSpPr>
        <p:spPr>
          <a:xfrm>
            <a:off x="685800" y="5184648"/>
            <a:ext cx="530352" cy="530352"/>
          </a:xfrm>
          <a:prstGeom prst="ellipse">
            <a:avLst/>
          </a:prstGeom>
          <a:solidFill>
            <a:srgbClr val="0B032B"/>
          </a:solidFill>
          <a:ln/>
        </p:spPr>
      </p:sp>
      <p:pic>
        <p:nvPicPr>
          <p:cNvPr id="19" name="Image 2" descr="preencoded.png">    </p:cNvPr>
          <p:cNvPicPr>
            <a:picLocks noChangeAspect="1"/>
          </p:cNvPicPr>
          <p:nvPr/>
        </p:nvPicPr>
        <p:blipFill>
          <a:blip r:embed="rId3"/>
          <a:stretch>
            <a:fillRect/>
          </a:stretch>
        </p:blipFill>
        <p:spPr>
          <a:xfrm>
            <a:off x="802477" y="5301325"/>
            <a:ext cx="296997" cy="296997"/>
          </a:xfrm>
          <a:prstGeom prst="rect">
            <a:avLst/>
          </a:prstGeom>
        </p:spPr>
      </p:pic>
      <p:sp>
        <p:nvSpPr>
          <p:cNvPr id="20" name="Text 15"/>
          <p:cNvSpPr txBox="1"/>
          <p:nvPr/>
        </p:nvSpPr>
        <p:spPr>
          <a:xfrm>
            <a:off x="1353312" y="5001768"/>
            <a:ext cx="2011680" cy="896112"/>
          </a:xfrm>
          <a:prstGeom prst="rect">
            <a:avLst/>
          </a:prstGeom>
          <a:noFill/>
          <a:ln/>
        </p:spPr>
        <p:txBody>
          <a:bodyPr wrap="square" lIns="0" tIns="0" rIns="0" bIns="0" rtlCol="0" anchor="ctr"/>
          <a:lstStyle/>
          <a:p>
            <a:pPr indent="0" marL="0">
              <a:buNone/>
            </a:pPr>
            <a:r>
              <a:rPr lang="en-US" sz="1300" b="1" dirty="0">
                <a:solidFill>
                  <a:srgbClr val="0B032B"/>
                </a:solidFill>
                <a:latin typeface="Calibri" pitchFamily="34" charset="0"/>
                <a:ea typeface="Calibri" pitchFamily="34" charset="-122"/>
                <a:cs typeface="Calibri" pitchFamily="34" charset="-120"/>
              </a:rPr>
              <a:t>Améliorer la qualité des services publics.</a:t>
            </a:r>
            <a:endParaRPr lang="en-US" sz="1300" dirty="0"/>
          </a:p>
        </p:txBody>
      </p:sp>
      <p:sp>
        <p:nvSpPr>
          <p:cNvPr id="21" name="Shape 16"/>
          <p:cNvSpPr/>
          <p:nvPr/>
        </p:nvSpPr>
        <p:spPr>
          <a:xfrm>
            <a:off x="3611880" y="5001768"/>
            <a:ext cx="2926080" cy="896112"/>
          </a:xfrm>
          <a:prstGeom prst="roundRect">
            <a:avLst>
              <a:gd name="adj" fmla="val 12245"/>
            </a:avLst>
          </a:prstGeom>
          <a:solidFill>
            <a:srgbClr val="F3F2F8"/>
          </a:solidFill>
          <a:ln/>
        </p:spPr>
      </p:sp>
      <p:sp>
        <p:nvSpPr>
          <p:cNvPr id="22" name="Shape 17"/>
          <p:cNvSpPr/>
          <p:nvPr/>
        </p:nvSpPr>
        <p:spPr>
          <a:xfrm>
            <a:off x="3749040" y="5184648"/>
            <a:ext cx="530352" cy="530352"/>
          </a:xfrm>
          <a:prstGeom prst="ellipse">
            <a:avLst/>
          </a:prstGeom>
          <a:solidFill>
            <a:srgbClr val="0B032B"/>
          </a:solidFill>
          <a:ln/>
        </p:spPr>
      </p:sp>
      <p:pic>
        <p:nvPicPr>
          <p:cNvPr id="23" name="Image 3" descr="preencoded.png">    </p:cNvPr>
          <p:cNvPicPr>
            <a:picLocks noChangeAspect="1"/>
          </p:cNvPicPr>
          <p:nvPr/>
        </p:nvPicPr>
        <p:blipFill>
          <a:blip r:embed="rId4"/>
          <a:stretch>
            <a:fillRect/>
          </a:stretch>
        </p:blipFill>
        <p:spPr>
          <a:xfrm>
            <a:off x="3865717" y="5301325"/>
            <a:ext cx="296997" cy="296997"/>
          </a:xfrm>
          <a:prstGeom prst="rect">
            <a:avLst/>
          </a:prstGeom>
        </p:spPr>
      </p:pic>
      <p:sp>
        <p:nvSpPr>
          <p:cNvPr id="24" name="Text 18"/>
          <p:cNvSpPr txBox="1"/>
          <p:nvPr/>
        </p:nvSpPr>
        <p:spPr>
          <a:xfrm>
            <a:off x="4416552" y="5001768"/>
            <a:ext cx="2011680" cy="896112"/>
          </a:xfrm>
          <a:prstGeom prst="rect">
            <a:avLst/>
          </a:prstGeom>
          <a:noFill/>
          <a:ln/>
        </p:spPr>
        <p:txBody>
          <a:bodyPr wrap="square" lIns="0" tIns="0" rIns="0" bIns="0" rtlCol="0" anchor="ctr"/>
          <a:lstStyle/>
          <a:p>
            <a:pPr indent="0" marL="0">
              <a:buNone/>
            </a:pPr>
            <a:r>
              <a:rPr lang="en-US" sz="1300" b="1" dirty="0">
                <a:solidFill>
                  <a:srgbClr val="0B032B"/>
                </a:solidFill>
                <a:latin typeface="Calibri" pitchFamily="34" charset="0"/>
                <a:ea typeface="Calibri" pitchFamily="34" charset="-122"/>
                <a:cs typeface="Calibri" pitchFamily="34" charset="-120"/>
              </a:rPr>
              <a:t>Renforcer l’attractivité du territoire.</a:t>
            </a:r>
            <a:endParaRPr lang="en-US" sz="1300" dirty="0"/>
          </a:p>
        </p:txBody>
      </p:sp>
      <p:sp>
        <p:nvSpPr>
          <p:cNvPr id="25" name="Shape 19"/>
          <p:cNvSpPr/>
          <p:nvPr/>
        </p:nvSpPr>
        <p:spPr>
          <a:xfrm>
            <a:off x="6995160" y="1783080"/>
            <a:ext cx="4645152" cy="4297680"/>
          </a:xfrm>
          <a:prstGeom prst="roundRect">
            <a:avLst>
              <a:gd name="adj" fmla="val 4255"/>
            </a:avLst>
          </a:prstGeom>
          <a:solidFill>
            <a:srgbClr val="0B032B"/>
          </a:solidFill>
          <a:ln/>
        </p:spPr>
      </p:sp>
      <p:pic>
        <p:nvPicPr>
          <p:cNvPr id="26" name="Image 4" descr="preencoded.png">    </p:cNvPr>
          <p:cNvPicPr>
            <a:picLocks noChangeAspect="1"/>
          </p:cNvPicPr>
          <p:nvPr/>
        </p:nvPicPr>
        <p:blipFill>
          <a:blip r:embed="rId5"/>
          <a:stretch>
            <a:fillRect/>
          </a:stretch>
        </p:blipFill>
        <p:spPr>
          <a:xfrm>
            <a:off x="7178040" y="1874520"/>
            <a:ext cx="4279392" cy="3907271"/>
          </a:xfrm>
          <a:prstGeom prst="rect">
            <a:avLst/>
          </a:prstGeom>
        </p:spPr>
      </p:pic>
      <p:sp>
        <p:nvSpPr>
          <p:cNvPr id="27" name="Text 20"/>
          <p:cNvSpPr txBox="1"/>
          <p:nvPr/>
        </p:nvSpPr>
        <p:spPr>
          <a:xfrm>
            <a:off x="7269480" y="5532120"/>
            <a:ext cx="4114800" cy="457200"/>
          </a:xfrm>
          <a:prstGeom prst="rect">
            <a:avLst/>
          </a:prstGeom>
          <a:noFill/>
          <a:ln/>
        </p:spPr>
        <p:txBody>
          <a:bodyPr wrap="square" lIns="0" tIns="0" rIns="0" bIns="0" rtlCol="0" anchor="t"/>
          <a:lstStyle/>
          <a:p>
            <a:pPr algn="ctr" indent="0" marL="0">
              <a:buNone/>
            </a:pPr>
            <a:r>
              <a:rPr lang="en-US" sz="1150" i="1" dirty="0">
                <a:solidFill>
                  <a:srgbClr val="FFF9C7"/>
                </a:solidFill>
                <a:latin typeface="Calibri" pitchFamily="34" charset="0"/>
                <a:ea typeface="Calibri" pitchFamily="34" charset="-122"/>
                <a:cs typeface="Calibri" pitchFamily="34" charset="-120"/>
              </a:rPr>
              <a:t>Chaque commune garde son identité ; ensemble, elles portent des projets à l’échelle du territoire.</a:t>
            </a:r>
            <a:endParaRPr lang="en-US" sz="1150" dirty="0"/>
          </a:p>
        </p:txBody>
      </p:sp>
      <p:sp>
        <p:nvSpPr>
          <p:cNvPr id="28" name="Text 21"/>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spc="100" kern="0" dirty="0">
                <a:solidFill>
                  <a:srgbClr val="8A8699"/>
                </a:solidFill>
                <a:latin typeface="Calibri" pitchFamily="34" charset="0"/>
                <a:ea typeface="Calibri" pitchFamily="34" charset="-122"/>
                <a:cs typeface="Calibri" pitchFamily="34" charset="-120"/>
              </a:rPr>
              <a:t>ENMA FORMATION  ·  Formation des élus municipaux 2026</a:t>
            </a:r>
            <a:endParaRPr lang="en-US" sz="900" dirty="0"/>
          </a:p>
        </p:txBody>
      </p:sp>
      <p:sp>
        <p:nvSpPr>
          <p:cNvPr id="29" name="Text 22"/>
          <p:cNvSpPr txBox="1"/>
          <p:nvPr/>
        </p:nvSpPr>
        <p:spPr>
          <a:xfrm>
            <a:off x="9692640" y="6400800"/>
            <a:ext cx="548640" cy="274320"/>
          </a:xfrm>
          <a:prstGeom prst="rect">
            <a:avLst/>
          </a:prstGeom>
          <a:noFill/>
          <a:ln/>
        </p:spPr>
        <p:txBody>
          <a:bodyPr wrap="square" lIns="0" tIns="0" rIns="0" bIns="0" rtlCol="0" anchor="ctr"/>
          <a:lstStyle/>
          <a:p>
            <a:pPr algn="r" indent="0" marL="0">
              <a:buNone/>
            </a:pPr>
            <a:r>
              <a:rPr lang="en-US" sz="900" dirty="0">
                <a:solidFill>
                  <a:srgbClr val="8A8699"/>
                </a:solidFill>
                <a:latin typeface="Calibri" pitchFamily="34" charset="0"/>
                <a:ea typeface="Calibri" pitchFamily="34" charset="-122"/>
                <a:cs typeface="Calibri" pitchFamily="34" charset="-120"/>
              </a:rPr>
              <a:t>31</a:t>
            </a:r>
            <a:endParaRPr lang="en-US" sz="900" dirty="0"/>
          </a:p>
        </p:txBody>
      </p:sp>
      <p:pic>
        <p:nvPicPr>
          <p:cNvPr id="30" name="Image 5" descr="preencoded.png">    </p:cNvPr>
          <p:cNvPicPr>
            <a:picLocks noChangeAspect="1"/>
          </p:cNvPicPr>
          <p:nvPr/>
        </p:nvPicPr>
        <p:blipFill>
          <a:blip r:embed="rId6"/>
          <a:stretch>
            <a:fillRect/>
          </a:stretch>
        </p:blipFill>
        <p:spPr>
          <a:xfrm>
            <a:off x="10469880" y="6309360"/>
            <a:ext cx="1170432" cy="484632"/>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420624" cy="310896"/>
          </a:xfrm>
          <a:prstGeom prst="roundRect">
            <a:avLst>
              <a:gd name="adj" fmla="val 23529"/>
            </a:avLst>
          </a:prstGeom>
          <a:solidFill>
            <a:srgbClr val="0B032B"/>
          </a:solidFill>
          <a:ln/>
        </p:spPr>
      </p:sp>
      <p:sp>
        <p:nvSpPr>
          <p:cNvPr id="3" name="Text 1"/>
          <p:cNvSpPr txBox="1"/>
          <p:nvPr/>
        </p:nvSpPr>
        <p:spPr>
          <a:xfrm>
            <a:off x="548640" y="438912"/>
            <a:ext cx="420624" cy="310896"/>
          </a:xfrm>
          <a:prstGeom prst="rect">
            <a:avLst/>
          </a:prstGeom>
          <a:noFill/>
          <a:ln/>
        </p:spPr>
        <p:txBody>
          <a:bodyPr wrap="square" lIns="0" tIns="0" rIns="0" bIns="0" rtlCol="0" anchor="ctr"/>
          <a:lstStyle/>
          <a:p>
            <a:pPr algn="ctr" indent="0" marL="0">
              <a:buNone/>
            </a:pPr>
            <a:r>
              <a:rPr lang="en-US" sz="1100" b="1" dirty="0">
                <a:solidFill>
                  <a:srgbClr val="FFF9C7"/>
                </a:solidFill>
                <a:latin typeface="Calibri" pitchFamily="34" charset="0"/>
                <a:ea typeface="Calibri" pitchFamily="34" charset="-122"/>
                <a:cs typeface="Calibri" pitchFamily="34" charset="-120"/>
              </a:rPr>
              <a:t>05</a:t>
            </a:r>
            <a:endParaRPr lang="en-US" sz="1100" dirty="0"/>
          </a:p>
        </p:txBody>
      </p:sp>
      <p:sp>
        <p:nvSpPr>
          <p:cNvPr id="4" name="Text 2"/>
          <p:cNvSpPr txBox="1"/>
          <p:nvPr/>
        </p:nvSpPr>
        <p:spPr>
          <a:xfrm>
            <a:off x="1115568" y="438912"/>
            <a:ext cx="8229600" cy="310896"/>
          </a:xfrm>
          <a:prstGeom prst="rect">
            <a:avLst/>
          </a:prstGeom>
          <a:noFill/>
          <a:ln/>
        </p:spPr>
        <p:txBody>
          <a:bodyPr wrap="square" lIns="0" tIns="0" rIns="0" bIns="0" rtlCol="0" anchor="ctr"/>
          <a:lstStyle/>
          <a:p>
            <a:pPr indent="0" marL="0">
              <a:buNone/>
            </a:pPr>
            <a:r>
              <a:rPr lang="en-US" sz="1100" b="1" spc="200" kern="0" dirty="0">
                <a:solidFill>
                  <a:srgbClr val="55516E"/>
                </a:solidFill>
                <a:latin typeface="Calibri" pitchFamily="34" charset="0"/>
                <a:ea typeface="Calibri" pitchFamily="34" charset="-122"/>
                <a:cs typeface="Calibri" pitchFamily="34" charset="-120"/>
              </a:rPr>
              <a:t>LES COMPÉTENCES DE L’INTERCOMMUNALITÉ (EPCI)</a:t>
            </a:r>
            <a:endParaRPr lang="en-US" sz="1100" dirty="0"/>
          </a:p>
        </p:txBody>
      </p:sp>
      <p:sp>
        <p:nvSpPr>
          <p:cNvPr id="5" name="Text 3"/>
          <p:cNvSpPr txBox="1"/>
          <p:nvPr/>
        </p:nvSpPr>
        <p:spPr>
          <a:xfrm>
            <a:off x="548640" y="841248"/>
            <a:ext cx="11064240" cy="685800"/>
          </a:xfrm>
          <a:prstGeom prst="rect">
            <a:avLst/>
          </a:prstGeom>
          <a:noFill/>
          <a:ln/>
        </p:spPr>
        <p:txBody>
          <a:bodyPr wrap="square" lIns="0" tIns="0" rIns="0" bIns="0" rtlCol="0" anchor="ctr">
            <a:normAutofit/>
          </a:bodyPr>
          <a:lstStyle/>
          <a:p>
            <a:pPr indent="0" marL="0">
              <a:buNone/>
            </a:pPr>
            <a:r>
              <a:rPr lang="en-US" sz="2800" b="1" dirty="0">
                <a:solidFill>
                  <a:srgbClr val="0B032B"/>
                </a:solidFill>
                <a:latin typeface="Calibri" pitchFamily="34" charset="0"/>
                <a:ea typeface="Calibri" pitchFamily="34" charset="-122"/>
                <a:cs typeface="Calibri" pitchFamily="34" charset="-120"/>
              </a:rPr>
              <a:t>Les principales compétences</a:t>
            </a:r>
            <a:endParaRPr lang="en-US" sz="2800" dirty="0"/>
          </a:p>
        </p:txBody>
      </p:sp>
      <p:sp>
        <p:nvSpPr>
          <p:cNvPr id="6" name="Shape 4"/>
          <p:cNvSpPr/>
          <p:nvPr/>
        </p:nvSpPr>
        <p:spPr>
          <a:xfrm>
            <a:off x="548640" y="1783080"/>
            <a:ext cx="3566160" cy="2103120"/>
          </a:xfrm>
          <a:prstGeom prst="roundRect">
            <a:avLst>
              <a:gd name="adj" fmla="val 5217"/>
            </a:avLst>
          </a:prstGeom>
          <a:solidFill>
            <a:srgbClr val="F3F2F8"/>
          </a:solidFill>
          <a:ln/>
        </p:spPr>
      </p:sp>
      <p:sp>
        <p:nvSpPr>
          <p:cNvPr id="7" name="Shape 5"/>
          <p:cNvSpPr/>
          <p:nvPr/>
        </p:nvSpPr>
        <p:spPr>
          <a:xfrm>
            <a:off x="749808" y="1965960"/>
            <a:ext cx="530352" cy="530352"/>
          </a:xfrm>
          <a:prstGeom prst="ellipse">
            <a:avLst/>
          </a:prstGeom>
          <a:solidFill>
            <a:srgbClr val="0B032B"/>
          </a:solidFill>
          <a:ln/>
        </p:spPr>
      </p:sp>
      <p:pic>
        <p:nvPicPr>
          <p:cNvPr id="8" name="Image 0" descr="preencoded.png">    </p:cNvPr>
          <p:cNvPicPr>
            <a:picLocks noChangeAspect="1"/>
          </p:cNvPicPr>
          <p:nvPr/>
        </p:nvPicPr>
        <p:blipFill>
          <a:blip r:embed="rId1"/>
          <a:stretch>
            <a:fillRect/>
          </a:stretch>
        </p:blipFill>
        <p:spPr>
          <a:xfrm>
            <a:off x="866485" y="2082637"/>
            <a:ext cx="296997" cy="296997"/>
          </a:xfrm>
          <a:prstGeom prst="rect">
            <a:avLst/>
          </a:prstGeom>
        </p:spPr>
      </p:pic>
      <p:sp>
        <p:nvSpPr>
          <p:cNvPr id="9" name="Text 6"/>
          <p:cNvSpPr txBox="1"/>
          <p:nvPr/>
        </p:nvSpPr>
        <p:spPr>
          <a:xfrm>
            <a:off x="1417320" y="1965960"/>
            <a:ext cx="2560320" cy="530352"/>
          </a:xfrm>
          <a:prstGeom prst="rect">
            <a:avLst/>
          </a:prstGeom>
          <a:noFill/>
          <a:ln/>
        </p:spPr>
        <p:txBody>
          <a:bodyPr wrap="square" lIns="0" tIns="0" rIns="0" bIns="0" rtlCol="0" anchor="ctr">
            <a:normAutofit/>
          </a:bodyPr>
          <a:lstStyle/>
          <a:p>
            <a:pPr indent="0" marL="0">
              <a:buNone/>
            </a:pPr>
            <a:r>
              <a:rPr lang="en-US" sz="1450" b="1" dirty="0">
                <a:solidFill>
                  <a:srgbClr val="0B032B"/>
                </a:solidFill>
                <a:latin typeface="Calibri" pitchFamily="34" charset="0"/>
                <a:ea typeface="Calibri" pitchFamily="34" charset="-122"/>
                <a:cs typeface="Calibri" pitchFamily="34" charset="-120"/>
              </a:rPr>
              <a:t>Développement économique</a:t>
            </a:r>
            <a:endParaRPr lang="en-US" sz="1450" dirty="0"/>
          </a:p>
        </p:txBody>
      </p:sp>
      <p:sp>
        <p:nvSpPr>
          <p:cNvPr id="10" name="Text 7"/>
          <p:cNvSpPr txBox="1"/>
          <p:nvPr/>
        </p:nvSpPr>
        <p:spPr>
          <a:xfrm>
            <a:off x="777240" y="2624328"/>
            <a:ext cx="3154680" cy="1170432"/>
          </a:xfrm>
          <a:prstGeom prst="rect">
            <a:avLst/>
          </a:prstGeom>
          <a:noFill/>
          <a:ln/>
        </p:spPr>
        <p:txBody>
          <a:bodyPr wrap="square" lIns="0" tIns="0" rIns="0" bIns="0" rtlCol="0" anchor="t">
            <a:normAutofit/>
          </a:bodyPr>
          <a:lstStyle/>
          <a:p>
            <a:pPr marL="203200" indent="-203200">
              <a:spcAft>
                <a:spcPts val="300"/>
              </a:spcAft>
              <a:buSzPct val="100000"/>
              <a:buChar char="●"/>
            </a:pPr>
            <a:r>
              <a:rPr lang="en-US" sz="1250" dirty="0">
                <a:solidFill>
                  <a:srgbClr val="55516E"/>
                </a:solidFill>
                <a:latin typeface="Calibri" pitchFamily="34" charset="0"/>
                <a:ea typeface="Calibri" pitchFamily="34" charset="-122"/>
                <a:cs typeface="Calibri" pitchFamily="34" charset="-120"/>
              </a:rPr>
              <a:t>Zones d’activités économiques</a:t>
            </a:r>
            <a:endParaRPr lang="en-US" sz="1250" dirty="0"/>
          </a:p>
          <a:p>
            <a:pPr marL="203200" indent="-203200">
              <a:spcAft>
                <a:spcPts val="300"/>
              </a:spcAft>
              <a:buSzPct val="100000"/>
              <a:buChar char="●"/>
            </a:pPr>
            <a:r>
              <a:rPr lang="en-US" sz="1250" dirty="0">
                <a:solidFill>
                  <a:srgbClr val="55516E"/>
                </a:solidFill>
                <a:latin typeface="Calibri" pitchFamily="34" charset="0"/>
                <a:ea typeface="Calibri" pitchFamily="34" charset="-122"/>
                <a:cs typeface="Calibri" pitchFamily="34" charset="-120"/>
              </a:rPr>
              <a:t>Soutien aux entreprises</a:t>
            </a:r>
            <a:endParaRPr lang="en-US" sz="1250" dirty="0"/>
          </a:p>
          <a:p>
            <a:pPr marL="203200" indent="-203200">
              <a:spcAft>
                <a:spcPts val="300"/>
              </a:spcAft>
              <a:buSzPct val="100000"/>
              <a:buChar char="●"/>
            </a:pPr>
            <a:r>
              <a:rPr lang="en-US" sz="1250" dirty="0">
                <a:solidFill>
                  <a:srgbClr val="55516E"/>
                </a:solidFill>
                <a:latin typeface="Calibri" pitchFamily="34" charset="0"/>
                <a:ea typeface="Calibri" pitchFamily="34" charset="-122"/>
                <a:cs typeface="Calibri" pitchFamily="34" charset="-120"/>
              </a:rPr>
              <a:t>Attractivité du territoire</a:t>
            </a:r>
            <a:endParaRPr lang="en-US" sz="1250" dirty="0"/>
          </a:p>
        </p:txBody>
      </p:sp>
      <p:sp>
        <p:nvSpPr>
          <p:cNvPr id="11" name="Shape 8"/>
          <p:cNvSpPr/>
          <p:nvPr/>
        </p:nvSpPr>
        <p:spPr>
          <a:xfrm>
            <a:off x="4297680" y="1783080"/>
            <a:ext cx="3566160" cy="2103120"/>
          </a:xfrm>
          <a:prstGeom prst="roundRect">
            <a:avLst>
              <a:gd name="adj" fmla="val 5217"/>
            </a:avLst>
          </a:prstGeom>
          <a:solidFill>
            <a:srgbClr val="FFFDEB"/>
          </a:solidFill>
          <a:ln/>
        </p:spPr>
      </p:sp>
      <p:sp>
        <p:nvSpPr>
          <p:cNvPr id="12" name="Shape 9"/>
          <p:cNvSpPr/>
          <p:nvPr/>
        </p:nvSpPr>
        <p:spPr>
          <a:xfrm>
            <a:off x="4498848" y="1965960"/>
            <a:ext cx="530352" cy="530352"/>
          </a:xfrm>
          <a:prstGeom prst="ellipse">
            <a:avLst/>
          </a:prstGeom>
          <a:solidFill>
            <a:srgbClr val="0B032B"/>
          </a:solidFill>
          <a:ln/>
        </p:spPr>
      </p:sp>
      <p:pic>
        <p:nvPicPr>
          <p:cNvPr id="13" name="Image 1" descr="preencoded.png">    </p:cNvPr>
          <p:cNvPicPr>
            <a:picLocks noChangeAspect="1"/>
          </p:cNvPicPr>
          <p:nvPr/>
        </p:nvPicPr>
        <p:blipFill>
          <a:blip r:embed="rId2"/>
          <a:stretch>
            <a:fillRect/>
          </a:stretch>
        </p:blipFill>
        <p:spPr>
          <a:xfrm>
            <a:off x="4615525" y="2082637"/>
            <a:ext cx="296997" cy="296997"/>
          </a:xfrm>
          <a:prstGeom prst="rect">
            <a:avLst/>
          </a:prstGeom>
        </p:spPr>
      </p:pic>
      <p:sp>
        <p:nvSpPr>
          <p:cNvPr id="14" name="Text 10"/>
          <p:cNvSpPr txBox="1"/>
          <p:nvPr/>
        </p:nvSpPr>
        <p:spPr>
          <a:xfrm>
            <a:off x="5166360" y="1965960"/>
            <a:ext cx="2560320" cy="530352"/>
          </a:xfrm>
          <a:prstGeom prst="rect">
            <a:avLst/>
          </a:prstGeom>
          <a:noFill/>
          <a:ln/>
        </p:spPr>
        <p:txBody>
          <a:bodyPr wrap="square" lIns="0" tIns="0" rIns="0" bIns="0" rtlCol="0" anchor="ctr">
            <a:normAutofit/>
          </a:bodyPr>
          <a:lstStyle/>
          <a:p>
            <a:pPr indent="0" marL="0">
              <a:buNone/>
            </a:pPr>
            <a:r>
              <a:rPr lang="en-US" sz="1450" b="1" dirty="0">
                <a:solidFill>
                  <a:srgbClr val="0B032B"/>
                </a:solidFill>
                <a:latin typeface="Calibri" pitchFamily="34" charset="0"/>
                <a:ea typeface="Calibri" pitchFamily="34" charset="-122"/>
                <a:cs typeface="Calibri" pitchFamily="34" charset="-120"/>
              </a:rPr>
              <a:t>Aménagement de l’espace</a:t>
            </a:r>
            <a:endParaRPr lang="en-US" sz="1450" dirty="0"/>
          </a:p>
        </p:txBody>
      </p:sp>
      <p:sp>
        <p:nvSpPr>
          <p:cNvPr id="15" name="Text 11"/>
          <p:cNvSpPr txBox="1"/>
          <p:nvPr/>
        </p:nvSpPr>
        <p:spPr>
          <a:xfrm>
            <a:off x="4526280" y="2624328"/>
            <a:ext cx="3154680" cy="1170432"/>
          </a:xfrm>
          <a:prstGeom prst="rect">
            <a:avLst/>
          </a:prstGeom>
          <a:noFill/>
          <a:ln/>
        </p:spPr>
        <p:txBody>
          <a:bodyPr wrap="square" lIns="0" tIns="0" rIns="0" bIns="0" rtlCol="0" anchor="t">
            <a:normAutofit/>
          </a:bodyPr>
          <a:lstStyle/>
          <a:p>
            <a:pPr marL="203200" indent="-203200">
              <a:spcAft>
                <a:spcPts val="300"/>
              </a:spcAft>
              <a:buSzPct val="100000"/>
              <a:buChar char="●"/>
            </a:pPr>
            <a:r>
              <a:rPr lang="en-US" sz="1250" dirty="0">
                <a:solidFill>
                  <a:srgbClr val="55516E"/>
                </a:solidFill>
                <a:latin typeface="Calibri" pitchFamily="34" charset="0"/>
                <a:ea typeface="Calibri" pitchFamily="34" charset="-122"/>
                <a:cs typeface="Calibri" pitchFamily="34" charset="-120"/>
              </a:rPr>
              <a:t>Plan Local d’Urbanisme Intercommunal (PLUi)</a:t>
            </a:r>
            <a:endParaRPr lang="en-US" sz="1250" dirty="0"/>
          </a:p>
          <a:p>
            <a:pPr marL="203200" indent="-203200">
              <a:spcAft>
                <a:spcPts val="300"/>
              </a:spcAft>
              <a:buSzPct val="100000"/>
              <a:buChar char="●"/>
            </a:pPr>
            <a:r>
              <a:rPr lang="en-US" sz="1250" dirty="0">
                <a:solidFill>
                  <a:srgbClr val="55516E"/>
                </a:solidFill>
                <a:latin typeface="Calibri" pitchFamily="34" charset="0"/>
                <a:ea typeface="Calibri" pitchFamily="34" charset="-122"/>
                <a:cs typeface="Calibri" pitchFamily="34" charset="-120"/>
              </a:rPr>
              <a:t>Schéma de cohérence territoriale (SCoT)</a:t>
            </a:r>
            <a:endParaRPr lang="en-US" sz="1250" dirty="0"/>
          </a:p>
          <a:p>
            <a:pPr marL="203200" indent="-203200">
              <a:spcAft>
                <a:spcPts val="300"/>
              </a:spcAft>
              <a:buSzPct val="100000"/>
              <a:buChar char="●"/>
            </a:pPr>
            <a:r>
              <a:rPr lang="en-US" sz="1250" dirty="0">
                <a:solidFill>
                  <a:srgbClr val="55516E"/>
                </a:solidFill>
                <a:latin typeface="Calibri" pitchFamily="34" charset="0"/>
                <a:ea typeface="Calibri" pitchFamily="34" charset="-122"/>
                <a:cs typeface="Calibri" pitchFamily="34" charset="-120"/>
              </a:rPr>
              <a:t>Grands projets d’aménagement</a:t>
            </a:r>
            <a:endParaRPr lang="en-US" sz="1250" dirty="0"/>
          </a:p>
        </p:txBody>
      </p:sp>
      <p:sp>
        <p:nvSpPr>
          <p:cNvPr id="16" name="Shape 12"/>
          <p:cNvSpPr/>
          <p:nvPr/>
        </p:nvSpPr>
        <p:spPr>
          <a:xfrm>
            <a:off x="8046720" y="1783080"/>
            <a:ext cx="3566160" cy="2103120"/>
          </a:xfrm>
          <a:prstGeom prst="roundRect">
            <a:avLst>
              <a:gd name="adj" fmla="val 5217"/>
            </a:avLst>
          </a:prstGeom>
          <a:solidFill>
            <a:srgbClr val="F3F2F8"/>
          </a:solidFill>
          <a:ln/>
        </p:spPr>
      </p:sp>
      <p:sp>
        <p:nvSpPr>
          <p:cNvPr id="17" name="Shape 13"/>
          <p:cNvSpPr/>
          <p:nvPr/>
        </p:nvSpPr>
        <p:spPr>
          <a:xfrm>
            <a:off x="8247888" y="1965960"/>
            <a:ext cx="530352" cy="530352"/>
          </a:xfrm>
          <a:prstGeom prst="ellipse">
            <a:avLst/>
          </a:prstGeom>
          <a:solidFill>
            <a:srgbClr val="0B032B"/>
          </a:solidFill>
          <a:ln/>
        </p:spPr>
      </p:sp>
      <p:pic>
        <p:nvPicPr>
          <p:cNvPr id="18" name="Image 2" descr="preencoded.png">    </p:cNvPr>
          <p:cNvPicPr>
            <a:picLocks noChangeAspect="1"/>
          </p:cNvPicPr>
          <p:nvPr/>
        </p:nvPicPr>
        <p:blipFill>
          <a:blip r:embed="rId3"/>
          <a:stretch>
            <a:fillRect/>
          </a:stretch>
        </p:blipFill>
        <p:spPr>
          <a:xfrm>
            <a:off x="8364565" y="2082637"/>
            <a:ext cx="296997" cy="296997"/>
          </a:xfrm>
          <a:prstGeom prst="rect">
            <a:avLst/>
          </a:prstGeom>
        </p:spPr>
      </p:pic>
      <p:sp>
        <p:nvSpPr>
          <p:cNvPr id="19" name="Text 14"/>
          <p:cNvSpPr txBox="1"/>
          <p:nvPr/>
        </p:nvSpPr>
        <p:spPr>
          <a:xfrm>
            <a:off x="8915400" y="1965960"/>
            <a:ext cx="2560320" cy="530352"/>
          </a:xfrm>
          <a:prstGeom prst="rect">
            <a:avLst/>
          </a:prstGeom>
          <a:noFill/>
          <a:ln/>
        </p:spPr>
        <p:txBody>
          <a:bodyPr wrap="square" lIns="0" tIns="0" rIns="0" bIns="0" rtlCol="0" anchor="ctr">
            <a:normAutofit/>
          </a:bodyPr>
          <a:lstStyle/>
          <a:p>
            <a:pPr indent="0" marL="0">
              <a:buNone/>
            </a:pPr>
            <a:r>
              <a:rPr lang="en-US" sz="1450" b="1" dirty="0">
                <a:solidFill>
                  <a:srgbClr val="0B032B"/>
                </a:solidFill>
                <a:latin typeface="Calibri" pitchFamily="34" charset="0"/>
                <a:ea typeface="Calibri" pitchFamily="34" charset="-122"/>
                <a:cs typeface="Calibri" pitchFamily="34" charset="-120"/>
              </a:rPr>
              <a:t>Gestion des services publics</a:t>
            </a:r>
            <a:endParaRPr lang="en-US" sz="1450" dirty="0"/>
          </a:p>
        </p:txBody>
      </p:sp>
      <p:sp>
        <p:nvSpPr>
          <p:cNvPr id="20" name="Text 15"/>
          <p:cNvSpPr txBox="1"/>
          <p:nvPr/>
        </p:nvSpPr>
        <p:spPr>
          <a:xfrm>
            <a:off x="8275320" y="2624328"/>
            <a:ext cx="3154680" cy="1170432"/>
          </a:xfrm>
          <a:prstGeom prst="rect">
            <a:avLst/>
          </a:prstGeom>
          <a:noFill/>
          <a:ln/>
        </p:spPr>
        <p:txBody>
          <a:bodyPr wrap="square" lIns="0" tIns="0" rIns="0" bIns="0" rtlCol="0" anchor="t">
            <a:normAutofit/>
          </a:bodyPr>
          <a:lstStyle/>
          <a:p>
            <a:pPr marL="203200" indent="-203200">
              <a:spcAft>
                <a:spcPts val="300"/>
              </a:spcAft>
              <a:buSzPct val="100000"/>
              <a:buChar char="●"/>
            </a:pPr>
            <a:r>
              <a:rPr lang="en-US" sz="1250" dirty="0">
                <a:solidFill>
                  <a:srgbClr val="55516E"/>
                </a:solidFill>
                <a:latin typeface="Calibri" pitchFamily="34" charset="0"/>
                <a:ea typeface="Calibri" pitchFamily="34" charset="-122"/>
                <a:cs typeface="Calibri" pitchFamily="34" charset="-120"/>
              </a:rPr>
              <a:t>Collecte et traitement des déchets</a:t>
            </a:r>
            <a:endParaRPr lang="en-US" sz="1250" dirty="0"/>
          </a:p>
          <a:p>
            <a:pPr marL="203200" indent="-203200">
              <a:spcAft>
                <a:spcPts val="300"/>
              </a:spcAft>
              <a:buSzPct val="100000"/>
              <a:buChar char="●"/>
            </a:pPr>
            <a:r>
              <a:rPr lang="en-US" sz="1250" dirty="0">
                <a:solidFill>
                  <a:srgbClr val="55516E"/>
                </a:solidFill>
                <a:latin typeface="Calibri" pitchFamily="34" charset="0"/>
                <a:ea typeface="Calibri" pitchFamily="34" charset="-122"/>
                <a:cs typeface="Calibri" pitchFamily="34" charset="-120"/>
              </a:rPr>
              <a:t>Eau potable et assainissement (selon les compétences exercées)</a:t>
            </a:r>
            <a:endParaRPr lang="en-US" sz="1250" dirty="0"/>
          </a:p>
          <a:p>
            <a:pPr marL="203200" indent="-203200">
              <a:spcAft>
                <a:spcPts val="300"/>
              </a:spcAft>
              <a:buSzPct val="100000"/>
              <a:buChar char="●"/>
            </a:pPr>
            <a:r>
              <a:rPr lang="en-US" sz="1250" dirty="0">
                <a:solidFill>
                  <a:srgbClr val="55516E"/>
                </a:solidFill>
                <a:latin typeface="Calibri" pitchFamily="34" charset="0"/>
                <a:ea typeface="Calibri" pitchFamily="34" charset="-122"/>
                <a:cs typeface="Calibri" pitchFamily="34" charset="-120"/>
              </a:rPr>
              <a:t>Gestion des milieux aquatiques et prévention des inondations (GEMAPI)</a:t>
            </a:r>
            <a:endParaRPr lang="en-US" sz="1250" dirty="0"/>
          </a:p>
        </p:txBody>
      </p:sp>
      <p:sp>
        <p:nvSpPr>
          <p:cNvPr id="21" name="Shape 16"/>
          <p:cNvSpPr/>
          <p:nvPr/>
        </p:nvSpPr>
        <p:spPr>
          <a:xfrm>
            <a:off x="548640" y="4069080"/>
            <a:ext cx="5394960" cy="2011680"/>
          </a:xfrm>
          <a:prstGeom prst="roundRect">
            <a:avLst>
              <a:gd name="adj" fmla="val 5455"/>
            </a:avLst>
          </a:prstGeom>
          <a:solidFill>
            <a:srgbClr val="FFFDEB"/>
          </a:solidFill>
          <a:ln/>
        </p:spPr>
      </p:sp>
      <p:sp>
        <p:nvSpPr>
          <p:cNvPr id="22" name="Shape 17"/>
          <p:cNvSpPr/>
          <p:nvPr/>
        </p:nvSpPr>
        <p:spPr>
          <a:xfrm>
            <a:off x="749808" y="4251960"/>
            <a:ext cx="530352" cy="530352"/>
          </a:xfrm>
          <a:prstGeom prst="ellipse">
            <a:avLst/>
          </a:prstGeom>
          <a:solidFill>
            <a:srgbClr val="0B032B"/>
          </a:solidFill>
          <a:ln/>
        </p:spPr>
      </p:sp>
      <p:pic>
        <p:nvPicPr>
          <p:cNvPr id="23" name="Image 3" descr="preencoded.png">    </p:cNvPr>
          <p:cNvPicPr>
            <a:picLocks noChangeAspect="1"/>
          </p:cNvPicPr>
          <p:nvPr/>
        </p:nvPicPr>
        <p:blipFill>
          <a:blip r:embed="rId4"/>
          <a:stretch>
            <a:fillRect/>
          </a:stretch>
        </p:blipFill>
        <p:spPr>
          <a:xfrm>
            <a:off x="866485" y="4368637"/>
            <a:ext cx="296997" cy="296997"/>
          </a:xfrm>
          <a:prstGeom prst="rect">
            <a:avLst/>
          </a:prstGeom>
        </p:spPr>
      </p:pic>
      <p:sp>
        <p:nvSpPr>
          <p:cNvPr id="24" name="Text 18"/>
          <p:cNvSpPr txBox="1"/>
          <p:nvPr/>
        </p:nvSpPr>
        <p:spPr>
          <a:xfrm>
            <a:off x="1417320" y="4251960"/>
            <a:ext cx="4389120" cy="530352"/>
          </a:xfrm>
          <a:prstGeom prst="rect">
            <a:avLst/>
          </a:prstGeom>
          <a:noFill/>
          <a:ln/>
        </p:spPr>
        <p:txBody>
          <a:bodyPr wrap="square" lIns="0" tIns="0" rIns="0" bIns="0" rtlCol="0" anchor="ctr"/>
          <a:lstStyle/>
          <a:p>
            <a:pPr indent="0" marL="0">
              <a:buNone/>
            </a:pPr>
            <a:r>
              <a:rPr lang="en-US" sz="1450" b="1" dirty="0">
                <a:solidFill>
                  <a:srgbClr val="0B032B"/>
                </a:solidFill>
                <a:latin typeface="Calibri" pitchFamily="34" charset="0"/>
                <a:ea typeface="Calibri" pitchFamily="34" charset="-122"/>
                <a:cs typeface="Calibri" pitchFamily="34" charset="-120"/>
              </a:rPr>
              <a:t>Mobilité et transports</a:t>
            </a:r>
            <a:endParaRPr lang="en-US" sz="1450" dirty="0"/>
          </a:p>
        </p:txBody>
      </p:sp>
      <p:sp>
        <p:nvSpPr>
          <p:cNvPr id="25" name="Text 19"/>
          <p:cNvSpPr txBox="1"/>
          <p:nvPr/>
        </p:nvSpPr>
        <p:spPr>
          <a:xfrm>
            <a:off x="777240" y="4892040"/>
            <a:ext cx="4983480" cy="1097280"/>
          </a:xfrm>
          <a:prstGeom prst="rect">
            <a:avLst/>
          </a:prstGeom>
          <a:noFill/>
          <a:ln/>
        </p:spPr>
        <p:txBody>
          <a:bodyPr wrap="square" lIns="0" tIns="0" rIns="0" bIns="0" rtlCol="0" anchor="t">
            <a:normAutofit/>
          </a:bodyPr>
          <a:lstStyle/>
          <a:p>
            <a:pPr marL="203200" indent="-203200">
              <a:spcAft>
                <a:spcPts val="300"/>
              </a:spcAft>
              <a:buSzPct val="100000"/>
              <a:buChar char="●"/>
            </a:pPr>
            <a:r>
              <a:rPr lang="en-US" sz="1250" dirty="0">
                <a:solidFill>
                  <a:srgbClr val="55516E"/>
                </a:solidFill>
                <a:latin typeface="Calibri" pitchFamily="34" charset="0"/>
                <a:ea typeface="Calibri" pitchFamily="34" charset="-122"/>
                <a:cs typeface="Calibri" pitchFamily="34" charset="-120"/>
              </a:rPr>
              <a:t>Organisation des mobilités</a:t>
            </a:r>
            <a:endParaRPr lang="en-US" sz="1250" dirty="0"/>
          </a:p>
          <a:p>
            <a:pPr marL="203200" indent="-203200">
              <a:spcAft>
                <a:spcPts val="300"/>
              </a:spcAft>
              <a:buSzPct val="100000"/>
              <a:buChar char="●"/>
            </a:pPr>
            <a:r>
              <a:rPr lang="en-US" sz="1250" dirty="0">
                <a:solidFill>
                  <a:srgbClr val="55516E"/>
                </a:solidFill>
                <a:latin typeface="Calibri" pitchFamily="34" charset="0"/>
                <a:ea typeface="Calibri" pitchFamily="34" charset="-122"/>
                <a:cs typeface="Calibri" pitchFamily="34" charset="-120"/>
              </a:rPr>
              <a:t>Mobilité douce (pistes cyclables, covoiturage)</a:t>
            </a:r>
            <a:endParaRPr lang="en-US" sz="1250" dirty="0"/>
          </a:p>
          <a:p>
            <a:pPr marL="203200" indent="-203200">
              <a:spcAft>
                <a:spcPts val="300"/>
              </a:spcAft>
              <a:buSzPct val="100000"/>
              <a:buChar char="●"/>
            </a:pPr>
            <a:r>
              <a:rPr lang="en-US" sz="1250" dirty="0">
                <a:solidFill>
                  <a:srgbClr val="55516E"/>
                </a:solidFill>
                <a:latin typeface="Calibri" pitchFamily="34" charset="0"/>
                <a:ea typeface="Calibri" pitchFamily="34" charset="-122"/>
                <a:cs typeface="Calibri" pitchFamily="34" charset="-120"/>
              </a:rPr>
              <a:t>Transports collectifs lorsque la compétence est exercée</a:t>
            </a:r>
            <a:endParaRPr lang="en-US" sz="1250" dirty="0"/>
          </a:p>
        </p:txBody>
      </p:sp>
      <p:sp>
        <p:nvSpPr>
          <p:cNvPr id="26" name="Shape 20"/>
          <p:cNvSpPr/>
          <p:nvPr/>
        </p:nvSpPr>
        <p:spPr>
          <a:xfrm>
            <a:off x="6126480" y="4069080"/>
            <a:ext cx="5394960" cy="2011680"/>
          </a:xfrm>
          <a:prstGeom prst="roundRect">
            <a:avLst>
              <a:gd name="adj" fmla="val 5455"/>
            </a:avLst>
          </a:prstGeom>
          <a:solidFill>
            <a:srgbClr val="F3F2F8"/>
          </a:solidFill>
          <a:ln/>
        </p:spPr>
      </p:sp>
      <p:sp>
        <p:nvSpPr>
          <p:cNvPr id="27" name="Shape 21"/>
          <p:cNvSpPr/>
          <p:nvPr/>
        </p:nvSpPr>
        <p:spPr>
          <a:xfrm>
            <a:off x="6327648" y="4251960"/>
            <a:ext cx="530352" cy="530352"/>
          </a:xfrm>
          <a:prstGeom prst="ellipse">
            <a:avLst/>
          </a:prstGeom>
          <a:solidFill>
            <a:srgbClr val="0B032B"/>
          </a:solidFill>
          <a:ln/>
        </p:spPr>
      </p:sp>
      <p:pic>
        <p:nvPicPr>
          <p:cNvPr id="28" name="Image 4" descr="preencoded.png">    </p:cNvPr>
          <p:cNvPicPr>
            <a:picLocks noChangeAspect="1"/>
          </p:cNvPicPr>
          <p:nvPr/>
        </p:nvPicPr>
        <p:blipFill>
          <a:blip r:embed="rId5"/>
          <a:stretch>
            <a:fillRect/>
          </a:stretch>
        </p:blipFill>
        <p:spPr>
          <a:xfrm>
            <a:off x="6444325" y="4368637"/>
            <a:ext cx="296997" cy="296997"/>
          </a:xfrm>
          <a:prstGeom prst="rect">
            <a:avLst/>
          </a:prstGeom>
        </p:spPr>
      </p:pic>
      <p:sp>
        <p:nvSpPr>
          <p:cNvPr id="29" name="Text 22"/>
          <p:cNvSpPr txBox="1"/>
          <p:nvPr/>
        </p:nvSpPr>
        <p:spPr>
          <a:xfrm>
            <a:off x="6995160" y="4251960"/>
            <a:ext cx="4389120" cy="530352"/>
          </a:xfrm>
          <a:prstGeom prst="rect">
            <a:avLst/>
          </a:prstGeom>
          <a:noFill/>
          <a:ln/>
        </p:spPr>
        <p:txBody>
          <a:bodyPr wrap="square" lIns="0" tIns="0" rIns="0" bIns="0" rtlCol="0" anchor="ctr"/>
          <a:lstStyle/>
          <a:p>
            <a:pPr indent="0" marL="0">
              <a:buNone/>
            </a:pPr>
            <a:r>
              <a:rPr lang="en-US" sz="1450" b="1" dirty="0">
                <a:solidFill>
                  <a:srgbClr val="0B032B"/>
                </a:solidFill>
                <a:latin typeface="Calibri" pitchFamily="34" charset="0"/>
                <a:ea typeface="Calibri" pitchFamily="34" charset="-122"/>
                <a:cs typeface="Calibri" pitchFamily="34" charset="-120"/>
              </a:rPr>
              <a:t>Habitat et environnement</a:t>
            </a:r>
            <a:endParaRPr lang="en-US" sz="1450" dirty="0"/>
          </a:p>
        </p:txBody>
      </p:sp>
      <p:sp>
        <p:nvSpPr>
          <p:cNvPr id="30" name="Text 23"/>
          <p:cNvSpPr txBox="1"/>
          <p:nvPr/>
        </p:nvSpPr>
        <p:spPr>
          <a:xfrm>
            <a:off x="6355080" y="4892040"/>
            <a:ext cx="4983480" cy="1097280"/>
          </a:xfrm>
          <a:prstGeom prst="rect">
            <a:avLst/>
          </a:prstGeom>
          <a:noFill/>
          <a:ln/>
        </p:spPr>
        <p:txBody>
          <a:bodyPr wrap="square" lIns="0" tIns="0" rIns="0" bIns="0" rtlCol="0" anchor="t">
            <a:normAutofit/>
          </a:bodyPr>
          <a:lstStyle/>
          <a:p>
            <a:pPr marL="203200" indent="-203200">
              <a:spcAft>
                <a:spcPts val="300"/>
              </a:spcAft>
              <a:buSzPct val="100000"/>
              <a:buChar char="●"/>
            </a:pPr>
            <a:r>
              <a:rPr lang="en-US" sz="1250" dirty="0">
                <a:solidFill>
                  <a:srgbClr val="55516E"/>
                </a:solidFill>
                <a:latin typeface="Calibri" pitchFamily="34" charset="0"/>
                <a:ea typeface="Calibri" pitchFamily="34" charset="-122"/>
                <a:cs typeface="Calibri" pitchFamily="34" charset="-120"/>
              </a:rPr>
              <a:t>Politique locale de l’habitat</a:t>
            </a:r>
            <a:endParaRPr lang="en-US" sz="1250" dirty="0"/>
          </a:p>
          <a:p>
            <a:pPr marL="203200" indent="-203200">
              <a:spcAft>
                <a:spcPts val="300"/>
              </a:spcAft>
              <a:buSzPct val="100000"/>
              <a:buChar char="●"/>
            </a:pPr>
            <a:r>
              <a:rPr lang="en-US" sz="1250" dirty="0">
                <a:solidFill>
                  <a:srgbClr val="55516E"/>
                </a:solidFill>
                <a:latin typeface="Calibri" pitchFamily="34" charset="0"/>
                <a:ea typeface="Calibri" pitchFamily="34" charset="-122"/>
                <a:cs typeface="Calibri" pitchFamily="34" charset="-120"/>
              </a:rPr>
              <a:t>Transition énergétique</a:t>
            </a:r>
            <a:endParaRPr lang="en-US" sz="1250" dirty="0"/>
          </a:p>
          <a:p>
            <a:pPr marL="203200" indent="-203200">
              <a:spcAft>
                <a:spcPts val="300"/>
              </a:spcAft>
              <a:buSzPct val="100000"/>
              <a:buChar char="●"/>
            </a:pPr>
            <a:r>
              <a:rPr lang="en-US" sz="1250" dirty="0">
                <a:solidFill>
                  <a:srgbClr val="55516E"/>
                </a:solidFill>
                <a:latin typeface="Calibri" pitchFamily="34" charset="0"/>
                <a:ea typeface="Calibri" pitchFamily="34" charset="-122"/>
                <a:cs typeface="Calibri" pitchFamily="34" charset="-120"/>
              </a:rPr>
              <a:t>Protection de l’environnement</a:t>
            </a:r>
            <a:endParaRPr lang="en-US" sz="1250" dirty="0"/>
          </a:p>
          <a:p>
            <a:pPr marL="203200" indent="-203200">
              <a:spcAft>
                <a:spcPts val="300"/>
              </a:spcAft>
              <a:buSzPct val="100000"/>
              <a:buChar char="●"/>
            </a:pPr>
            <a:r>
              <a:rPr lang="en-US" sz="1250" dirty="0">
                <a:solidFill>
                  <a:srgbClr val="55516E"/>
                </a:solidFill>
                <a:latin typeface="Calibri" pitchFamily="34" charset="0"/>
                <a:ea typeface="Calibri" pitchFamily="34" charset="-122"/>
                <a:cs typeface="Calibri" pitchFamily="34" charset="-120"/>
              </a:rPr>
              <a:t>Préservation de la biodiversité</a:t>
            </a:r>
            <a:endParaRPr lang="en-US" sz="1250" dirty="0"/>
          </a:p>
        </p:txBody>
      </p:sp>
      <p:sp>
        <p:nvSpPr>
          <p:cNvPr id="31" name="Text 24"/>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spc="100" kern="0" dirty="0">
                <a:solidFill>
                  <a:srgbClr val="8A8699"/>
                </a:solidFill>
                <a:latin typeface="Calibri" pitchFamily="34" charset="0"/>
                <a:ea typeface="Calibri" pitchFamily="34" charset="-122"/>
                <a:cs typeface="Calibri" pitchFamily="34" charset="-120"/>
              </a:rPr>
              <a:t>ENMA FORMATION  ·  Formation des élus municipaux 2026</a:t>
            </a:r>
            <a:endParaRPr lang="en-US" sz="900" dirty="0"/>
          </a:p>
        </p:txBody>
      </p:sp>
      <p:sp>
        <p:nvSpPr>
          <p:cNvPr id="32" name="Text 25"/>
          <p:cNvSpPr txBox="1"/>
          <p:nvPr/>
        </p:nvSpPr>
        <p:spPr>
          <a:xfrm>
            <a:off x="9692640" y="6400800"/>
            <a:ext cx="548640" cy="274320"/>
          </a:xfrm>
          <a:prstGeom prst="rect">
            <a:avLst/>
          </a:prstGeom>
          <a:noFill/>
          <a:ln/>
        </p:spPr>
        <p:txBody>
          <a:bodyPr wrap="square" lIns="0" tIns="0" rIns="0" bIns="0" rtlCol="0" anchor="ctr"/>
          <a:lstStyle/>
          <a:p>
            <a:pPr algn="r" indent="0" marL="0">
              <a:buNone/>
            </a:pPr>
            <a:r>
              <a:rPr lang="en-US" sz="900" dirty="0">
                <a:solidFill>
                  <a:srgbClr val="8A8699"/>
                </a:solidFill>
                <a:latin typeface="Calibri" pitchFamily="34" charset="0"/>
                <a:ea typeface="Calibri" pitchFamily="34" charset="-122"/>
                <a:cs typeface="Calibri" pitchFamily="34" charset="-120"/>
              </a:rPr>
              <a:t>32</a:t>
            </a:r>
            <a:endParaRPr lang="en-US" sz="900" dirty="0"/>
          </a:p>
        </p:txBody>
      </p:sp>
      <p:pic>
        <p:nvPicPr>
          <p:cNvPr id="33" name="Image 5" descr="preencoded.png">    </p:cNvPr>
          <p:cNvPicPr>
            <a:picLocks noChangeAspect="1"/>
          </p:cNvPicPr>
          <p:nvPr/>
        </p:nvPicPr>
        <p:blipFill>
          <a:blip r:embed="rId6"/>
          <a:stretch>
            <a:fillRect/>
          </a:stretch>
        </p:blipFill>
        <p:spPr>
          <a:xfrm>
            <a:off x="10469880" y="6309360"/>
            <a:ext cx="1170432" cy="484632"/>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420624" cy="310896"/>
          </a:xfrm>
          <a:prstGeom prst="roundRect">
            <a:avLst>
              <a:gd name="adj" fmla="val 23529"/>
            </a:avLst>
          </a:prstGeom>
          <a:solidFill>
            <a:srgbClr val="0B032B"/>
          </a:solidFill>
          <a:ln/>
        </p:spPr>
      </p:sp>
      <p:sp>
        <p:nvSpPr>
          <p:cNvPr id="3" name="Text 1"/>
          <p:cNvSpPr txBox="1"/>
          <p:nvPr/>
        </p:nvSpPr>
        <p:spPr>
          <a:xfrm>
            <a:off x="548640" y="438912"/>
            <a:ext cx="420624" cy="310896"/>
          </a:xfrm>
          <a:prstGeom prst="rect">
            <a:avLst/>
          </a:prstGeom>
          <a:noFill/>
          <a:ln/>
        </p:spPr>
        <p:txBody>
          <a:bodyPr wrap="square" lIns="0" tIns="0" rIns="0" bIns="0" rtlCol="0" anchor="ctr"/>
          <a:lstStyle/>
          <a:p>
            <a:pPr algn="ctr" indent="0" marL="0">
              <a:buNone/>
            </a:pPr>
            <a:r>
              <a:rPr lang="en-US" sz="1100" b="1" dirty="0">
                <a:solidFill>
                  <a:srgbClr val="FFF9C7"/>
                </a:solidFill>
                <a:latin typeface="Calibri" pitchFamily="34" charset="0"/>
                <a:ea typeface="Calibri" pitchFamily="34" charset="-122"/>
                <a:cs typeface="Calibri" pitchFamily="34" charset="-120"/>
              </a:rPr>
              <a:t>05</a:t>
            </a:r>
            <a:endParaRPr lang="en-US" sz="1100" dirty="0"/>
          </a:p>
        </p:txBody>
      </p:sp>
      <p:sp>
        <p:nvSpPr>
          <p:cNvPr id="4" name="Text 2"/>
          <p:cNvSpPr txBox="1"/>
          <p:nvPr/>
        </p:nvSpPr>
        <p:spPr>
          <a:xfrm>
            <a:off x="1115568" y="438912"/>
            <a:ext cx="8229600" cy="310896"/>
          </a:xfrm>
          <a:prstGeom prst="rect">
            <a:avLst/>
          </a:prstGeom>
          <a:noFill/>
          <a:ln/>
        </p:spPr>
        <p:txBody>
          <a:bodyPr wrap="square" lIns="0" tIns="0" rIns="0" bIns="0" rtlCol="0" anchor="ctr"/>
          <a:lstStyle/>
          <a:p>
            <a:pPr indent="0" marL="0">
              <a:buNone/>
            </a:pPr>
            <a:r>
              <a:rPr lang="en-US" sz="1100" b="1" spc="200" kern="0" dirty="0">
                <a:solidFill>
                  <a:srgbClr val="55516E"/>
                </a:solidFill>
                <a:latin typeface="Calibri" pitchFamily="34" charset="0"/>
                <a:ea typeface="Calibri" pitchFamily="34" charset="-122"/>
                <a:cs typeface="Calibri" pitchFamily="34" charset="-120"/>
              </a:rPr>
              <a:t>LES COMPÉTENCES DE L’INTERCOMMUNALITÉ (EPCI)</a:t>
            </a:r>
            <a:endParaRPr lang="en-US" sz="1100" dirty="0"/>
          </a:p>
        </p:txBody>
      </p:sp>
      <p:sp>
        <p:nvSpPr>
          <p:cNvPr id="5" name="Text 3"/>
          <p:cNvSpPr txBox="1"/>
          <p:nvPr/>
        </p:nvSpPr>
        <p:spPr>
          <a:xfrm>
            <a:off x="548640" y="841248"/>
            <a:ext cx="11064240" cy="685800"/>
          </a:xfrm>
          <a:prstGeom prst="rect">
            <a:avLst/>
          </a:prstGeom>
          <a:noFill/>
          <a:ln/>
        </p:spPr>
        <p:txBody>
          <a:bodyPr wrap="square" lIns="0" tIns="0" rIns="0" bIns="0" rtlCol="0" anchor="ctr">
            <a:normAutofit/>
          </a:bodyPr>
          <a:lstStyle/>
          <a:p>
            <a:pPr indent="0" marL="0">
              <a:buNone/>
            </a:pPr>
            <a:r>
              <a:rPr lang="en-US" sz="2800" b="1" dirty="0">
                <a:solidFill>
                  <a:srgbClr val="0B032B"/>
                </a:solidFill>
                <a:latin typeface="Calibri" pitchFamily="34" charset="0"/>
                <a:ea typeface="Calibri" pitchFamily="34" charset="-122"/>
                <a:cs typeface="Calibri" pitchFamily="34" charset="-120"/>
              </a:rPr>
              <a:t>Le rôle des élus municipaux au sein de l’EPCI</a:t>
            </a:r>
            <a:endParaRPr lang="en-US" sz="2800" dirty="0"/>
          </a:p>
        </p:txBody>
      </p:sp>
      <p:sp>
        <p:nvSpPr>
          <p:cNvPr id="6" name="Shape 4"/>
          <p:cNvSpPr/>
          <p:nvPr/>
        </p:nvSpPr>
        <p:spPr>
          <a:xfrm>
            <a:off x="548640" y="1783080"/>
            <a:ext cx="2606040" cy="2514600"/>
          </a:xfrm>
          <a:prstGeom prst="roundRect">
            <a:avLst>
              <a:gd name="adj" fmla="val 4364"/>
            </a:avLst>
          </a:prstGeom>
          <a:solidFill>
            <a:srgbClr val="F3F2F8"/>
          </a:solidFill>
          <a:ln/>
        </p:spPr>
      </p:sp>
      <p:sp>
        <p:nvSpPr>
          <p:cNvPr id="7" name="Text 5"/>
          <p:cNvSpPr txBox="1"/>
          <p:nvPr/>
        </p:nvSpPr>
        <p:spPr>
          <a:xfrm>
            <a:off x="777240" y="1920240"/>
            <a:ext cx="914400" cy="548640"/>
          </a:xfrm>
          <a:prstGeom prst="rect">
            <a:avLst/>
          </a:prstGeom>
          <a:noFill/>
          <a:ln/>
        </p:spPr>
        <p:txBody>
          <a:bodyPr wrap="square" lIns="0" tIns="0" rIns="0" bIns="0" rtlCol="0" anchor="t"/>
          <a:lstStyle/>
          <a:p>
            <a:pPr indent="0" marL="0">
              <a:buNone/>
            </a:pPr>
            <a:r>
              <a:rPr lang="en-US" sz="3000" dirty="0">
                <a:solidFill>
                  <a:srgbClr val="E7E5F0"/>
                </a:solidFill>
                <a:latin typeface="Impact" pitchFamily="34" charset="0"/>
                <a:ea typeface="Impact" pitchFamily="34" charset="-122"/>
                <a:cs typeface="Impact" pitchFamily="34" charset="-120"/>
              </a:rPr>
              <a:t>01</a:t>
            </a:r>
            <a:endParaRPr lang="en-US" sz="3000" dirty="0"/>
          </a:p>
        </p:txBody>
      </p:sp>
      <p:sp>
        <p:nvSpPr>
          <p:cNvPr id="8" name="Shape 6"/>
          <p:cNvSpPr/>
          <p:nvPr/>
        </p:nvSpPr>
        <p:spPr>
          <a:xfrm>
            <a:off x="2331720" y="1965960"/>
            <a:ext cx="594360" cy="594360"/>
          </a:xfrm>
          <a:prstGeom prst="ellipse">
            <a:avLst/>
          </a:prstGeom>
          <a:solidFill>
            <a:srgbClr val="0B032B"/>
          </a:solidFill>
          <a:ln/>
        </p:spPr>
      </p:sp>
      <p:pic>
        <p:nvPicPr>
          <p:cNvPr id="9" name="Image 0" descr="preencoded.png">    </p:cNvPr>
          <p:cNvPicPr>
            <a:picLocks noChangeAspect="1"/>
          </p:cNvPicPr>
          <p:nvPr/>
        </p:nvPicPr>
        <p:blipFill>
          <a:blip r:embed="rId1"/>
          <a:stretch>
            <a:fillRect/>
          </a:stretch>
        </p:blipFill>
        <p:spPr>
          <a:xfrm>
            <a:off x="2462479" y="2096719"/>
            <a:ext cx="332842" cy="332842"/>
          </a:xfrm>
          <a:prstGeom prst="rect">
            <a:avLst/>
          </a:prstGeom>
        </p:spPr>
      </p:pic>
      <p:sp>
        <p:nvSpPr>
          <p:cNvPr id="10" name="Text 7"/>
          <p:cNvSpPr txBox="1"/>
          <p:nvPr/>
        </p:nvSpPr>
        <p:spPr>
          <a:xfrm>
            <a:off x="777240" y="2697480"/>
            <a:ext cx="2194560" cy="1463040"/>
          </a:xfrm>
          <a:prstGeom prst="rect">
            <a:avLst/>
          </a:prstGeom>
          <a:noFill/>
          <a:ln/>
        </p:spPr>
        <p:txBody>
          <a:bodyPr wrap="square" lIns="0" tIns="0" rIns="0" bIns="0" rtlCol="0" anchor="t"/>
          <a:lstStyle/>
          <a:p>
            <a:pPr indent="0" marL="0">
              <a:buNone/>
            </a:pPr>
            <a:r>
              <a:rPr lang="en-US" sz="1500" b="1" dirty="0">
                <a:solidFill>
                  <a:srgbClr val="0B032B"/>
                </a:solidFill>
                <a:latin typeface="Calibri" pitchFamily="34" charset="0"/>
                <a:ea typeface="Calibri" pitchFamily="34" charset="-122"/>
                <a:cs typeface="Calibri" pitchFamily="34" charset="-120"/>
              </a:rPr>
              <a:t>Représenter leur commune au conseil communautaire.</a:t>
            </a:r>
            <a:endParaRPr lang="en-US" sz="1500" dirty="0"/>
          </a:p>
        </p:txBody>
      </p:sp>
      <p:sp>
        <p:nvSpPr>
          <p:cNvPr id="11" name="Shape 8"/>
          <p:cNvSpPr/>
          <p:nvPr/>
        </p:nvSpPr>
        <p:spPr>
          <a:xfrm>
            <a:off x="3355848" y="1783080"/>
            <a:ext cx="2606040" cy="2514600"/>
          </a:xfrm>
          <a:prstGeom prst="roundRect">
            <a:avLst>
              <a:gd name="adj" fmla="val 4364"/>
            </a:avLst>
          </a:prstGeom>
          <a:solidFill>
            <a:srgbClr val="F3F2F8"/>
          </a:solidFill>
          <a:ln/>
        </p:spPr>
      </p:sp>
      <p:sp>
        <p:nvSpPr>
          <p:cNvPr id="12" name="Text 9"/>
          <p:cNvSpPr txBox="1"/>
          <p:nvPr/>
        </p:nvSpPr>
        <p:spPr>
          <a:xfrm>
            <a:off x="3584448" y="1920240"/>
            <a:ext cx="914400" cy="548640"/>
          </a:xfrm>
          <a:prstGeom prst="rect">
            <a:avLst/>
          </a:prstGeom>
          <a:noFill/>
          <a:ln/>
        </p:spPr>
        <p:txBody>
          <a:bodyPr wrap="square" lIns="0" tIns="0" rIns="0" bIns="0" rtlCol="0" anchor="t"/>
          <a:lstStyle/>
          <a:p>
            <a:pPr indent="0" marL="0">
              <a:buNone/>
            </a:pPr>
            <a:r>
              <a:rPr lang="en-US" sz="3000" dirty="0">
                <a:solidFill>
                  <a:srgbClr val="E7E5F0"/>
                </a:solidFill>
                <a:latin typeface="Impact" pitchFamily="34" charset="0"/>
                <a:ea typeface="Impact" pitchFamily="34" charset="-122"/>
                <a:cs typeface="Impact" pitchFamily="34" charset="-120"/>
              </a:rPr>
              <a:t>02</a:t>
            </a:r>
            <a:endParaRPr lang="en-US" sz="3000" dirty="0"/>
          </a:p>
        </p:txBody>
      </p:sp>
      <p:sp>
        <p:nvSpPr>
          <p:cNvPr id="13" name="Shape 10"/>
          <p:cNvSpPr/>
          <p:nvPr/>
        </p:nvSpPr>
        <p:spPr>
          <a:xfrm>
            <a:off x="5138928" y="1965960"/>
            <a:ext cx="594360" cy="594360"/>
          </a:xfrm>
          <a:prstGeom prst="ellipse">
            <a:avLst/>
          </a:prstGeom>
          <a:solidFill>
            <a:srgbClr val="0B032B"/>
          </a:solidFill>
          <a:ln/>
        </p:spPr>
      </p:sp>
      <p:pic>
        <p:nvPicPr>
          <p:cNvPr id="14" name="Image 1" descr="preencoded.png">    </p:cNvPr>
          <p:cNvPicPr>
            <a:picLocks noChangeAspect="1"/>
          </p:cNvPicPr>
          <p:nvPr/>
        </p:nvPicPr>
        <p:blipFill>
          <a:blip r:embed="rId2"/>
          <a:stretch>
            <a:fillRect/>
          </a:stretch>
        </p:blipFill>
        <p:spPr>
          <a:xfrm>
            <a:off x="5269687" y="2096719"/>
            <a:ext cx="332842" cy="332842"/>
          </a:xfrm>
          <a:prstGeom prst="rect">
            <a:avLst/>
          </a:prstGeom>
        </p:spPr>
      </p:pic>
      <p:sp>
        <p:nvSpPr>
          <p:cNvPr id="15" name="Text 11"/>
          <p:cNvSpPr txBox="1"/>
          <p:nvPr/>
        </p:nvSpPr>
        <p:spPr>
          <a:xfrm>
            <a:off x="3584448" y="2697480"/>
            <a:ext cx="2194560" cy="1463040"/>
          </a:xfrm>
          <a:prstGeom prst="rect">
            <a:avLst/>
          </a:prstGeom>
          <a:noFill/>
          <a:ln/>
        </p:spPr>
        <p:txBody>
          <a:bodyPr wrap="square" lIns="0" tIns="0" rIns="0" bIns="0" rtlCol="0" anchor="t"/>
          <a:lstStyle/>
          <a:p>
            <a:pPr indent="0" marL="0">
              <a:buNone/>
            </a:pPr>
            <a:r>
              <a:rPr lang="en-US" sz="1500" b="1" dirty="0">
                <a:solidFill>
                  <a:srgbClr val="0B032B"/>
                </a:solidFill>
                <a:latin typeface="Calibri" pitchFamily="34" charset="0"/>
                <a:ea typeface="Calibri" pitchFamily="34" charset="-122"/>
                <a:cs typeface="Calibri" pitchFamily="34" charset="-120"/>
              </a:rPr>
              <a:t>Participer aux décisions qui concernent l’ensemble du territoire.</a:t>
            </a:r>
            <a:endParaRPr lang="en-US" sz="1500" dirty="0"/>
          </a:p>
        </p:txBody>
      </p:sp>
      <p:sp>
        <p:nvSpPr>
          <p:cNvPr id="16" name="Shape 12"/>
          <p:cNvSpPr/>
          <p:nvPr/>
        </p:nvSpPr>
        <p:spPr>
          <a:xfrm>
            <a:off x="6163056" y="1783080"/>
            <a:ext cx="2606040" cy="2514600"/>
          </a:xfrm>
          <a:prstGeom prst="roundRect">
            <a:avLst>
              <a:gd name="adj" fmla="val 4364"/>
            </a:avLst>
          </a:prstGeom>
          <a:solidFill>
            <a:srgbClr val="F3F2F8"/>
          </a:solidFill>
          <a:ln/>
        </p:spPr>
      </p:sp>
      <p:sp>
        <p:nvSpPr>
          <p:cNvPr id="17" name="Text 13"/>
          <p:cNvSpPr txBox="1"/>
          <p:nvPr/>
        </p:nvSpPr>
        <p:spPr>
          <a:xfrm>
            <a:off x="6391656" y="1920240"/>
            <a:ext cx="914400" cy="548640"/>
          </a:xfrm>
          <a:prstGeom prst="rect">
            <a:avLst/>
          </a:prstGeom>
          <a:noFill/>
          <a:ln/>
        </p:spPr>
        <p:txBody>
          <a:bodyPr wrap="square" lIns="0" tIns="0" rIns="0" bIns="0" rtlCol="0" anchor="t"/>
          <a:lstStyle/>
          <a:p>
            <a:pPr indent="0" marL="0">
              <a:buNone/>
            </a:pPr>
            <a:r>
              <a:rPr lang="en-US" sz="3000" dirty="0">
                <a:solidFill>
                  <a:srgbClr val="E7E5F0"/>
                </a:solidFill>
                <a:latin typeface="Impact" pitchFamily="34" charset="0"/>
                <a:ea typeface="Impact" pitchFamily="34" charset="-122"/>
                <a:cs typeface="Impact" pitchFamily="34" charset="-120"/>
              </a:rPr>
              <a:t>03</a:t>
            </a:r>
            <a:endParaRPr lang="en-US" sz="3000" dirty="0"/>
          </a:p>
        </p:txBody>
      </p:sp>
      <p:sp>
        <p:nvSpPr>
          <p:cNvPr id="18" name="Shape 14"/>
          <p:cNvSpPr/>
          <p:nvPr/>
        </p:nvSpPr>
        <p:spPr>
          <a:xfrm>
            <a:off x="7946136" y="1965960"/>
            <a:ext cx="594360" cy="594360"/>
          </a:xfrm>
          <a:prstGeom prst="ellipse">
            <a:avLst/>
          </a:prstGeom>
          <a:solidFill>
            <a:srgbClr val="0B032B"/>
          </a:solidFill>
          <a:ln/>
        </p:spPr>
      </p:sp>
      <p:pic>
        <p:nvPicPr>
          <p:cNvPr id="19" name="Image 2" descr="preencoded.png">    </p:cNvPr>
          <p:cNvPicPr>
            <a:picLocks noChangeAspect="1"/>
          </p:cNvPicPr>
          <p:nvPr/>
        </p:nvPicPr>
        <p:blipFill>
          <a:blip r:embed="rId3"/>
          <a:stretch>
            <a:fillRect/>
          </a:stretch>
        </p:blipFill>
        <p:spPr>
          <a:xfrm>
            <a:off x="8076895" y="2096719"/>
            <a:ext cx="332842" cy="332842"/>
          </a:xfrm>
          <a:prstGeom prst="rect">
            <a:avLst/>
          </a:prstGeom>
        </p:spPr>
      </p:pic>
      <p:sp>
        <p:nvSpPr>
          <p:cNvPr id="20" name="Text 15"/>
          <p:cNvSpPr txBox="1"/>
          <p:nvPr/>
        </p:nvSpPr>
        <p:spPr>
          <a:xfrm>
            <a:off x="6391656" y="2697480"/>
            <a:ext cx="2194560" cy="1463040"/>
          </a:xfrm>
          <a:prstGeom prst="rect">
            <a:avLst/>
          </a:prstGeom>
          <a:noFill/>
          <a:ln/>
        </p:spPr>
        <p:txBody>
          <a:bodyPr wrap="square" lIns="0" tIns="0" rIns="0" bIns="0" rtlCol="0" anchor="t"/>
          <a:lstStyle/>
          <a:p>
            <a:pPr indent="0" marL="0">
              <a:buNone/>
            </a:pPr>
            <a:r>
              <a:rPr lang="en-US" sz="1500" b="1" dirty="0">
                <a:solidFill>
                  <a:srgbClr val="0B032B"/>
                </a:solidFill>
                <a:latin typeface="Calibri" pitchFamily="34" charset="0"/>
                <a:ea typeface="Calibri" pitchFamily="34" charset="-122"/>
                <a:cs typeface="Calibri" pitchFamily="34" charset="-120"/>
              </a:rPr>
              <a:t>Défendre les intérêts communaux tout en recherchant l’intérêt communautaire.</a:t>
            </a:r>
            <a:endParaRPr lang="en-US" sz="1500" dirty="0"/>
          </a:p>
        </p:txBody>
      </p:sp>
      <p:sp>
        <p:nvSpPr>
          <p:cNvPr id="21" name="Shape 16"/>
          <p:cNvSpPr/>
          <p:nvPr/>
        </p:nvSpPr>
        <p:spPr>
          <a:xfrm>
            <a:off x="8970264" y="1783080"/>
            <a:ext cx="2606040" cy="2514600"/>
          </a:xfrm>
          <a:prstGeom prst="roundRect">
            <a:avLst>
              <a:gd name="adj" fmla="val 4364"/>
            </a:avLst>
          </a:prstGeom>
          <a:solidFill>
            <a:srgbClr val="F3F2F8"/>
          </a:solidFill>
          <a:ln/>
        </p:spPr>
      </p:sp>
      <p:sp>
        <p:nvSpPr>
          <p:cNvPr id="22" name="Text 17"/>
          <p:cNvSpPr txBox="1"/>
          <p:nvPr/>
        </p:nvSpPr>
        <p:spPr>
          <a:xfrm>
            <a:off x="9198864" y="1920240"/>
            <a:ext cx="914400" cy="548640"/>
          </a:xfrm>
          <a:prstGeom prst="rect">
            <a:avLst/>
          </a:prstGeom>
          <a:noFill/>
          <a:ln/>
        </p:spPr>
        <p:txBody>
          <a:bodyPr wrap="square" lIns="0" tIns="0" rIns="0" bIns="0" rtlCol="0" anchor="t"/>
          <a:lstStyle/>
          <a:p>
            <a:pPr indent="0" marL="0">
              <a:buNone/>
            </a:pPr>
            <a:r>
              <a:rPr lang="en-US" sz="3000" dirty="0">
                <a:solidFill>
                  <a:srgbClr val="E7E5F0"/>
                </a:solidFill>
                <a:latin typeface="Impact" pitchFamily="34" charset="0"/>
                <a:ea typeface="Impact" pitchFamily="34" charset="-122"/>
                <a:cs typeface="Impact" pitchFamily="34" charset="-120"/>
              </a:rPr>
              <a:t>04</a:t>
            </a:r>
            <a:endParaRPr lang="en-US" sz="3000" dirty="0"/>
          </a:p>
        </p:txBody>
      </p:sp>
      <p:sp>
        <p:nvSpPr>
          <p:cNvPr id="23" name="Shape 18"/>
          <p:cNvSpPr/>
          <p:nvPr/>
        </p:nvSpPr>
        <p:spPr>
          <a:xfrm>
            <a:off x="10753344" y="1965960"/>
            <a:ext cx="594360" cy="594360"/>
          </a:xfrm>
          <a:prstGeom prst="ellipse">
            <a:avLst/>
          </a:prstGeom>
          <a:solidFill>
            <a:srgbClr val="0B032B"/>
          </a:solidFill>
          <a:ln/>
        </p:spPr>
      </p:sp>
      <p:pic>
        <p:nvPicPr>
          <p:cNvPr id="24" name="Image 3" descr="preencoded.png">    </p:cNvPr>
          <p:cNvPicPr>
            <a:picLocks noChangeAspect="1"/>
          </p:cNvPicPr>
          <p:nvPr/>
        </p:nvPicPr>
        <p:blipFill>
          <a:blip r:embed="rId4"/>
          <a:stretch>
            <a:fillRect/>
          </a:stretch>
        </p:blipFill>
        <p:spPr>
          <a:xfrm>
            <a:off x="10884103" y="2096719"/>
            <a:ext cx="332842" cy="332842"/>
          </a:xfrm>
          <a:prstGeom prst="rect">
            <a:avLst/>
          </a:prstGeom>
        </p:spPr>
      </p:pic>
      <p:sp>
        <p:nvSpPr>
          <p:cNvPr id="25" name="Text 19"/>
          <p:cNvSpPr txBox="1"/>
          <p:nvPr/>
        </p:nvSpPr>
        <p:spPr>
          <a:xfrm>
            <a:off x="9198864" y="2697480"/>
            <a:ext cx="2194560" cy="1463040"/>
          </a:xfrm>
          <a:prstGeom prst="rect">
            <a:avLst/>
          </a:prstGeom>
          <a:noFill/>
          <a:ln/>
        </p:spPr>
        <p:txBody>
          <a:bodyPr wrap="square" lIns="0" tIns="0" rIns="0" bIns="0" rtlCol="0" anchor="t"/>
          <a:lstStyle/>
          <a:p>
            <a:pPr indent="0" marL="0">
              <a:buNone/>
            </a:pPr>
            <a:r>
              <a:rPr lang="en-US" sz="1500" b="1" dirty="0">
                <a:solidFill>
                  <a:srgbClr val="0B032B"/>
                </a:solidFill>
                <a:latin typeface="Calibri" pitchFamily="34" charset="0"/>
                <a:ea typeface="Calibri" pitchFamily="34" charset="-122"/>
                <a:cs typeface="Calibri" pitchFamily="34" charset="-120"/>
              </a:rPr>
              <a:t>Assurer le lien entre les décisions intercommunales et le conseil municipal.</a:t>
            </a:r>
            <a:endParaRPr lang="en-US" sz="1500" dirty="0"/>
          </a:p>
        </p:txBody>
      </p:sp>
      <p:sp>
        <p:nvSpPr>
          <p:cNvPr id="26" name="Shape 20"/>
          <p:cNvSpPr/>
          <p:nvPr/>
        </p:nvSpPr>
        <p:spPr>
          <a:xfrm>
            <a:off x="548640" y="4572000"/>
            <a:ext cx="11064240" cy="1554480"/>
          </a:xfrm>
          <a:prstGeom prst="roundRect">
            <a:avLst>
              <a:gd name="adj" fmla="val 8235"/>
            </a:avLst>
          </a:prstGeom>
          <a:solidFill>
            <a:srgbClr val="0B032B"/>
          </a:solidFill>
          <a:ln/>
        </p:spPr>
      </p:sp>
      <p:sp>
        <p:nvSpPr>
          <p:cNvPr id="27" name="Shape 21"/>
          <p:cNvSpPr/>
          <p:nvPr/>
        </p:nvSpPr>
        <p:spPr>
          <a:xfrm>
            <a:off x="804672" y="4828032"/>
            <a:ext cx="566928" cy="566928"/>
          </a:xfrm>
          <a:prstGeom prst="ellipse">
            <a:avLst/>
          </a:prstGeom>
          <a:solidFill>
            <a:srgbClr val="FFF9C7"/>
          </a:solidFill>
          <a:ln/>
        </p:spPr>
      </p:sp>
      <p:pic>
        <p:nvPicPr>
          <p:cNvPr id="28" name="Image 4" descr="preencoded.png">    </p:cNvPr>
          <p:cNvPicPr>
            <a:picLocks noChangeAspect="1"/>
          </p:cNvPicPr>
          <p:nvPr/>
        </p:nvPicPr>
        <p:blipFill>
          <a:blip r:embed="rId5"/>
          <a:stretch>
            <a:fillRect/>
          </a:stretch>
        </p:blipFill>
        <p:spPr>
          <a:xfrm>
            <a:off x="929396" y="4952756"/>
            <a:ext cx="317480" cy="317480"/>
          </a:xfrm>
          <a:prstGeom prst="rect">
            <a:avLst/>
          </a:prstGeom>
        </p:spPr>
      </p:pic>
      <p:sp>
        <p:nvSpPr>
          <p:cNvPr id="29" name="Text 22"/>
          <p:cNvSpPr txBox="1"/>
          <p:nvPr/>
        </p:nvSpPr>
        <p:spPr>
          <a:xfrm>
            <a:off x="1554480" y="4846320"/>
            <a:ext cx="9784080" cy="274320"/>
          </a:xfrm>
          <a:prstGeom prst="rect">
            <a:avLst/>
          </a:prstGeom>
          <a:noFill/>
          <a:ln/>
        </p:spPr>
        <p:txBody>
          <a:bodyPr wrap="square" lIns="0" tIns="0" rIns="0" bIns="0" rtlCol="0" anchor="t"/>
          <a:lstStyle/>
          <a:p>
            <a:pPr indent="0" marL="0">
              <a:buNone/>
            </a:pPr>
            <a:r>
              <a:rPr lang="en-US" sz="1100" b="1" spc="300" kern="0" dirty="0">
                <a:solidFill>
                  <a:srgbClr val="FFF9C7"/>
                </a:solidFill>
                <a:latin typeface="Calibri" pitchFamily="34" charset="0"/>
                <a:ea typeface="Calibri" pitchFamily="34" charset="-122"/>
                <a:cs typeface="Calibri" pitchFamily="34" charset="-120"/>
              </a:rPr>
              <a:t>À RETENIR</a:t>
            </a:r>
            <a:endParaRPr lang="en-US" sz="1100" dirty="0"/>
          </a:p>
        </p:txBody>
      </p:sp>
      <p:sp>
        <p:nvSpPr>
          <p:cNvPr id="30" name="Text 23"/>
          <p:cNvSpPr txBox="1"/>
          <p:nvPr/>
        </p:nvSpPr>
        <p:spPr>
          <a:xfrm>
            <a:off x="1554480" y="5157216"/>
            <a:ext cx="9784080" cy="768096"/>
          </a:xfrm>
          <a:prstGeom prst="rect">
            <a:avLst/>
          </a:prstGeom>
          <a:noFill/>
          <a:ln/>
        </p:spPr>
        <p:txBody>
          <a:bodyPr wrap="square" lIns="0" tIns="0" rIns="0" bIns="0" rtlCol="0" anchor="t">
            <a:normAutofit/>
          </a:bodyPr>
          <a:lstStyle/>
          <a:p>
            <a:pPr indent="0" marL="0">
              <a:lnSpc>
                <a:spcPct val="105000"/>
              </a:lnSpc>
              <a:buNone/>
            </a:pPr>
            <a:r>
              <a:rPr lang="en-US" sz="1450" dirty="0">
                <a:solidFill>
                  <a:srgbClr val="FFFFFF"/>
                </a:solidFill>
                <a:latin typeface="Calibri" pitchFamily="34" charset="0"/>
                <a:ea typeface="Calibri" pitchFamily="34" charset="-122"/>
                <a:cs typeface="Calibri" pitchFamily="34" charset="-120"/>
              </a:rPr>
              <a:t>L’intercommunalité ne remplace pas la commune : elle agit à ses côtés. La commune reste l’échelon de proximité, tandis que l’EPCI prend en charge les compétences qui gagnent à être exercées à une échelle plus large, au bénéfice de l’ensemble du territoire.</a:t>
            </a:r>
            <a:endParaRPr lang="en-US" sz="1450" dirty="0"/>
          </a:p>
        </p:txBody>
      </p:sp>
      <p:sp>
        <p:nvSpPr>
          <p:cNvPr id="31" name="Text 24"/>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spc="100" kern="0" dirty="0">
                <a:solidFill>
                  <a:srgbClr val="8A8699"/>
                </a:solidFill>
                <a:latin typeface="Calibri" pitchFamily="34" charset="0"/>
                <a:ea typeface="Calibri" pitchFamily="34" charset="-122"/>
                <a:cs typeface="Calibri" pitchFamily="34" charset="-120"/>
              </a:rPr>
              <a:t>ENMA FORMATION  ·  Formation des élus municipaux 2026</a:t>
            </a:r>
            <a:endParaRPr lang="en-US" sz="900" dirty="0"/>
          </a:p>
        </p:txBody>
      </p:sp>
      <p:sp>
        <p:nvSpPr>
          <p:cNvPr id="32" name="Text 25"/>
          <p:cNvSpPr txBox="1"/>
          <p:nvPr/>
        </p:nvSpPr>
        <p:spPr>
          <a:xfrm>
            <a:off x="9692640" y="6400800"/>
            <a:ext cx="548640" cy="274320"/>
          </a:xfrm>
          <a:prstGeom prst="rect">
            <a:avLst/>
          </a:prstGeom>
          <a:noFill/>
          <a:ln/>
        </p:spPr>
        <p:txBody>
          <a:bodyPr wrap="square" lIns="0" tIns="0" rIns="0" bIns="0" rtlCol="0" anchor="ctr"/>
          <a:lstStyle/>
          <a:p>
            <a:pPr algn="r" indent="0" marL="0">
              <a:buNone/>
            </a:pPr>
            <a:r>
              <a:rPr lang="en-US" sz="900" dirty="0">
                <a:solidFill>
                  <a:srgbClr val="8A8699"/>
                </a:solidFill>
                <a:latin typeface="Calibri" pitchFamily="34" charset="0"/>
                <a:ea typeface="Calibri" pitchFamily="34" charset="-122"/>
                <a:cs typeface="Calibri" pitchFamily="34" charset="-120"/>
              </a:rPr>
              <a:t>33</a:t>
            </a:r>
            <a:endParaRPr lang="en-US" sz="900" dirty="0"/>
          </a:p>
        </p:txBody>
      </p:sp>
      <p:pic>
        <p:nvPicPr>
          <p:cNvPr id="33" name="Image 5" descr="preencoded.png">    </p:cNvPr>
          <p:cNvPicPr>
            <a:picLocks noChangeAspect="1"/>
          </p:cNvPicPr>
          <p:nvPr/>
        </p:nvPicPr>
        <p:blipFill>
          <a:blip r:embed="rId6"/>
          <a:stretch>
            <a:fillRect/>
          </a:stretch>
        </p:blipFill>
        <p:spPr>
          <a:xfrm>
            <a:off x="10469880" y="6309360"/>
            <a:ext cx="1170432" cy="484632"/>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420624" cy="310896"/>
          </a:xfrm>
          <a:prstGeom prst="roundRect">
            <a:avLst>
              <a:gd name="adj" fmla="val 23529"/>
            </a:avLst>
          </a:prstGeom>
          <a:solidFill>
            <a:srgbClr val="0B032B"/>
          </a:solidFill>
          <a:ln/>
        </p:spPr>
      </p:sp>
      <p:sp>
        <p:nvSpPr>
          <p:cNvPr id="3" name="Text 1"/>
          <p:cNvSpPr txBox="1"/>
          <p:nvPr/>
        </p:nvSpPr>
        <p:spPr>
          <a:xfrm>
            <a:off x="548640" y="438912"/>
            <a:ext cx="420624" cy="310896"/>
          </a:xfrm>
          <a:prstGeom prst="rect">
            <a:avLst/>
          </a:prstGeom>
          <a:noFill/>
          <a:ln/>
        </p:spPr>
        <p:txBody>
          <a:bodyPr wrap="square" lIns="0" tIns="0" rIns="0" bIns="0" rtlCol="0" anchor="ctr"/>
          <a:lstStyle/>
          <a:p>
            <a:pPr algn="ctr" indent="0" marL="0">
              <a:buNone/>
            </a:pPr>
            <a:r>
              <a:rPr lang="en-US" sz="1100" b="1" dirty="0">
                <a:solidFill>
                  <a:srgbClr val="FFF9C7"/>
                </a:solidFill>
                <a:latin typeface="Calibri" pitchFamily="34" charset="0"/>
                <a:ea typeface="Calibri" pitchFamily="34" charset="-122"/>
                <a:cs typeface="Calibri" pitchFamily="34" charset="-120"/>
              </a:rPr>
              <a:t>05</a:t>
            </a:r>
            <a:endParaRPr lang="en-US" sz="1100" dirty="0"/>
          </a:p>
        </p:txBody>
      </p:sp>
      <p:sp>
        <p:nvSpPr>
          <p:cNvPr id="4" name="Text 2"/>
          <p:cNvSpPr txBox="1"/>
          <p:nvPr/>
        </p:nvSpPr>
        <p:spPr>
          <a:xfrm>
            <a:off x="1115568" y="438912"/>
            <a:ext cx="8229600" cy="310896"/>
          </a:xfrm>
          <a:prstGeom prst="rect">
            <a:avLst/>
          </a:prstGeom>
          <a:noFill/>
          <a:ln/>
        </p:spPr>
        <p:txBody>
          <a:bodyPr wrap="square" lIns="0" tIns="0" rIns="0" bIns="0" rtlCol="0" anchor="ctr"/>
          <a:lstStyle/>
          <a:p>
            <a:pPr indent="0" marL="0">
              <a:buNone/>
            </a:pPr>
            <a:r>
              <a:rPr lang="en-US" sz="1100" b="1" spc="200" kern="0" dirty="0">
                <a:solidFill>
                  <a:srgbClr val="55516E"/>
                </a:solidFill>
                <a:latin typeface="Calibri" pitchFamily="34" charset="0"/>
                <a:ea typeface="Calibri" pitchFamily="34" charset="-122"/>
                <a:cs typeface="Calibri" pitchFamily="34" charset="-120"/>
              </a:rPr>
              <a:t>LES COMPÉTENCES DU DÉPARTEMENT</a:t>
            </a:r>
            <a:endParaRPr lang="en-US" sz="1100" dirty="0"/>
          </a:p>
        </p:txBody>
      </p:sp>
      <p:sp>
        <p:nvSpPr>
          <p:cNvPr id="5" name="Text 3"/>
          <p:cNvSpPr txBox="1"/>
          <p:nvPr/>
        </p:nvSpPr>
        <p:spPr>
          <a:xfrm>
            <a:off x="548640" y="841248"/>
            <a:ext cx="11064240" cy="685800"/>
          </a:xfrm>
          <a:prstGeom prst="rect">
            <a:avLst/>
          </a:prstGeom>
          <a:noFill/>
          <a:ln/>
        </p:spPr>
        <p:txBody>
          <a:bodyPr wrap="square" lIns="0" tIns="0" rIns="0" bIns="0" rtlCol="0" anchor="ctr">
            <a:normAutofit/>
          </a:bodyPr>
          <a:lstStyle/>
          <a:p>
            <a:pPr indent="0" marL="0">
              <a:buNone/>
            </a:pPr>
            <a:r>
              <a:rPr lang="en-US" sz="2800" b="1" dirty="0">
                <a:solidFill>
                  <a:srgbClr val="0B032B"/>
                </a:solidFill>
                <a:latin typeface="Calibri" pitchFamily="34" charset="0"/>
                <a:ea typeface="Calibri" pitchFamily="34" charset="-122"/>
                <a:cs typeface="Calibri" pitchFamily="34" charset="-120"/>
              </a:rPr>
              <a:t>La collectivité des solidarités et de la proximité</a:t>
            </a:r>
            <a:endParaRPr lang="en-US" sz="2800" dirty="0"/>
          </a:p>
        </p:txBody>
      </p:sp>
      <p:sp>
        <p:nvSpPr>
          <p:cNvPr id="6" name="Text 4"/>
          <p:cNvSpPr txBox="1"/>
          <p:nvPr/>
        </p:nvSpPr>
        <p:spPr>
          <a:xfrm>
            <a:off x="548640" y="1645920"/>
            <a:ext cx="10972800" cy="365760"/>
          </a:xfrm>
          <a:prstGeom prst="rect">
            <a:avLst/>
          </a:prstGeom>
          <a:noFill/>
          <a:ln/>
        </p:spPr>
        <p:txBody>
          <a:bodyPr wrap="square" lIns="0" tIns="0" rIns="0" bIns="0" rtlCol="0" anchor="t"/>
          <a:lstStyle/>
          <a:p>
            <a:pPr indent="0" marL="0">
              <a:buNone/>
            </a:pPr>
            <a:r>
              <a:rPr lang="en-US" sz="1600" i="1" dirty="0">
                <a:solidFill>
                  <a:srgbClr val="55516E"/>
                </a:solidFill>
                <a:latin typeface="Calibri" pitchFamily="34" charset="0"/>
                <a:ea typeface="Calibri" pitchFamily="34" charset="-122"/>
                <a:cs typeface="Calibri" pitchFamily="34" charset="-120"/>
              </a:rPr>
              <a:t>Le Département intervient principalement dans les domaines de la solidarité et des infrastructures.</a:t>
            </a:r>
            <a:endParaRPr lang="en-US" sz="1600" dirty="0"/>
          </a:p>
        </p:txBody>
      </p:sp>
      <p:sp>
        <p:nvSpPr>
          <p:cNvPr id="7" name="Shape 5"/>
          <p:cNvSpPr/>
          <p:nvPr/>
        </p:nvSpPr>
        <p:spPr>
          <a:xfrm>
            <a:off x="548640" y="2148840"/>
            <a:ext cx="4206240" cy="3977640"/>
          </a:xfrm>
          <a:prstGeom prst="roundRect">
            <a:avLst>
              <a:gd name="adj" fmla="val 2759"/>
            </a:avLst>
          </a:prstGeom>
          <a:solidFill>
            <a:srgbClr val="0B032B"/>
          </a:solidFill>
          <a:ln/>
        </p:spPr>
      </p:sp>
      <p:sp>
        <p:nvSpPr>
          <p:cNvPr id="8" name="Shape 6"/>
          <p:cNvSpPr/>
          <p:nvPr/>
        </p:nvSpPr>
        <p:spPr>
          <a:xfrm>
            <a:off x="822960" y="2377440"/>
            <a:ext cx="640080" cy="640080"/>
          </a:xfrm>
          <a:prstGeom prst="ellipse">
            <a:avLst/>
          </a:prstGeom>
          <a:solidFill>
            <a:srgbClr val="FFF9C7"/>
          </a:solidFill>
          <a:ln/>
        </p:spPr>
      </p:sp>
      <p:pic>
        <p:nvPicPr>
          <p:cNvPr id="9" name="Image 0" descr="preencoded.png">    </p:cNvPr>
          <p:cNvPicPr>
            <a:picLocks noChangeAspect="1"/>
          </p:cNvPicPr>
          <p:nvPr/>
        </p:nvPicPr>
        <p:blipFill>
          <a:blip r:embed="rId1"/>
          <a:stretch>
            <a:fillRect/>
          </a:stretch>
        </p:blipFill>
        <p:spPr>
          <a:xfrm>
            <a:off x="963778" y="2518258"/>
            <a:ext cx="358445" cy="358445"/>
          </a:xfrm>
          <a:prstGeom prst="rect">
            <a:avLst/>
          </a:prstGeom>
        </p:spPr>
      </p:pic>
      <p:sp>
        <p:nvSpPr>
          <p:cNvPr id="10" name="Text 7"/>
          <p:cNvSpPr txBox="1"/>
          <p:nvPr/>
        </p:nvSpPr>
        <p:spPr>
          <a:xfrm>
            <a:off x="1645920" y="2377440"/>
            <a:ext cx="2926080" cy="640080"/>
          </a:xfrm>
          <a:prstGeom prst="rect">
            <a:avLst/>
          </a:prstGeom>
          <a:noFill/>
          <a:ln/>
        </p:spPr>
        <p:txBody>
          <a:bodyPr wrap="square" lIns="0" tIns="0" rIns="0" bIns="0" rtlCol="0" anchor="ctr"/>
          <a:lstStyle/>
          <a:p>
            <a:pPr indent="0" marL="0">
              <a:buNone/>
            </a:pPr>
            <a:r>
              <a:rPr lang="en-US" sz="1700" b="1" dirty="0">
                <a:solidFill>
                  <a:srgbClr val="FFF9C7"/>
                </a:solidFill>
                <a:latin typeface="Calibri" pitchFamily="34" charset="0"/>
                <a:ea typeface="Calibri" pitchFamily="34" charset="-122"/>
                <a:cs typeface="Calibri" pitchFamily="34" charset="-120"/>
              </a:rPr>
              <a:t>Action sociale et solidarité</a:t>
            </a:r>
            <a:endParaRPr lang="en-US" sz="1700" dirty="0"/>
          </a:p>
        </p:txBody>
      </p:sp>
      <p:sp>
        <p:nvSpPr>
          <p:cNvPr id="11" name="Text 8"/>
          <p:cNvSpPr txBox="1"/>
          <p:nvPr/>
        </p:nvSpPr>
        <p:spPr>
          <a:xfrm>
            <a:off x="822960" y="3200400"/>
            <a:ext cx="3703320" cy="2834640"/>
          </a:xfrm>
          <a:prstGeom prst="rect">
            <a:avLst/>
          </a:prstGeom>
          <a:noFill/>
          <a:ln/>
        </p:spPr>
        <p:txBody>
          <a:bodyPr wrap="square" lIns="0" tIns="0" rIns="0" bIns="0" rtlCol="0" anchor="t"/>
          <a:lstStyle/>
          <a:p>
            <a:pPr marL="203200" indent="-203200">
              <a:spcAft>
                <a:spcPts val="700"/>
              </a:spcAft>
              <a:buSzPct val="100000"/>
              <a:buChar char="●"/>
            </a:pPr>
            <a:r>
              <a:rPr lang="en-US" sz="1350" dirty="0">
                <a:solidFill>
                  <a:srgbClr val="FFFFFF"/>
                </a:solidFill>
                <a:latin typeface="Calibri" pitchFamily="34" charset="0"/>
                <a:ea typeface="Calibri" pitchFamily="34" charset="-122"/>
                <a:cs typeface="Calibri" pitchFamily="34" charset="-120"/>
              </a:rPr>
              <a:t>Protection de l’enfance (Aide Sociale à l’Enfance – ASE)</a:t>
            </a:r>
            <a:endParaRPr lang="en-US" sz="1350" dirty="0"/>
          </a:p>
          <a:p>
            <a:pPr marL="203200" indent="-203200">
              <a:spcAft>
                <a:spcPts val="700"/>
              </a:spcAft>
              <a:buSzPct val="100000"/>
              <a:buChar char="●"/>
            </a:pPr>
            <a:r>
              <a:rPr lang="en-US" sz="1350" dirty="0">
                <a:solidFill>
                  <a:srgbClr val="FFFFFF"/>
                </a:solidFill>
                <a:latin typeface="Calibri" pitchFamily="34" charset="0"/>
                <a:ea typeface="Calibri" pitchFamily="34" charset="-122"/>
                <a:cs typeface="Calibri" pitchFamily="34" charset="-120"/>
              </a:rPr>
              <a:t>Protection maternelle et infantile (PMI)</a:t>
            </a:r>
            <a:endParaRPr lang="en-US" sz="1350" dirty="0"/>
          </a:p>
          <a:p>
            <a:pPr marL="203200" indent="-203200">
              <a:spcAft>
                <a:spcPts val="700"/>
              </a:spcAft>
              <a:buSzPct val="100000"/>
              <a:buChar char="●"/>
            </a:pPr>
            <a:r>
              <a:rPr lang="en-US" sz="1350" dirty="0">
                <a:solidFill>
                  <a:srgbClr val="FFFFFF"/>
                </a:solidFill>
                <a:latin typeface="Calibri" pitchFamily="34" charset="0"/>
                <a:ea typeface="Calibri" pitchFamily="34" charset="-122"/>
                <a:cs typeface="Calibri" pitchFamily="34" charset="-120"/>
              </a:rPr>
              <a:t>Accompagnement des personnes âgées (APA)</a:t>
            </a:r>
            <a:endParaRPr lang="en-US" sz="1350" dirty="0"/>
          </a:p>
          <a:p>
            <a:pPr marL="203200" indent="-203200">
              <a:spcAft>
                <a:spcPts val="700"/>
              </a:spcAft>
              <a:buSzPct val="100000"/>
              <a:buChar char="●"/>
            </a:pPr>
            <a:r>
              <a:rPr lang="en-US" sz="1350" dirty="0">
                <a:solidFill>
                  <a:srgbClr val="FFFFFF"/>
                </a:solidFill>
                <a:latin typeface="Calibri" pitchFamily="34" charset="0"/>
                <a:ea typeface="Calibri" pitchFamily="34" charset="-122"/>
                <a:cs typeface="Calibri" pitchFamily="34" charset="-120"/>
              </a:rPr>
              <a:t>Accompagnement des personnes en situation de handicap (PCH, MDPH)</a:t>
            </a:r>
            <a:endParaRPr lang="en-US" sz="1350" dirty="0"/>
          </a:p>
          <a:p>
            <a:pPr marL="203200" indent="-203200">
              <a:spcAft>
                <a:spcPts val="700"/>
              </a:spcAft>
              <a:buSzPct val="100000"/>
              <a:buChar char="●"/>
            </a:pPr>
            <a:r>
              <a:rPr lang="en-US" sz="1350" dirty="0">
                <a:solidFill>
                  <a:srgbClr val="FFFFFF"/>
                </a:solidFill>
                <a:latin typeface="Calibri" pitchFamily="34" charset="0"/>
                <a:ea typeface="Calibri" pitchFamily="34" charset="-122"/>
                <a:cs typeface="Calibri" pitchFamily="34" charset="-120"/>
              </a:rPr>
              <a:t>Revenu de Solidarité Active (RSA) et insertion</a:t>
            </a:r>
            <a:endParaRPr lang="en-US" sz="1350" dirty="0"/>
          </a:p>
        </p:txBody>
      </p:sp>
      <p:sp>
        <p:nvSpPr>
          <p:cNvPr id="12" name="Shape 9"/>
          <p:cNvSpPr/>
          <p:nvPr/>
        </p:nvSpPr>
        <p:spPr>
          <a:xfrm>
            <a:off x="4937760" y="2148840"/>
            <a:ext cx="3218688" cy="1920240"/>
          </a:xfrm>
          <a:prstGeom prst="roundRect">
            <a:avLst>
              <a:gd name="adj" fmla="val 5714"/>
            </a:avLst>
          </a:prstGeom>
          <a:solidFill>
            <a:srgbClr val="F3F2F8"/>
          </a:solidFill>
          <a:ln/>
        </p:spPr>
      </p:sp>
      <p:sp>
        <p:nvSpPr>
          <p:cNvPr id="13" name="Shape 10"/>
          <p:cNvSpPr/>
          <p:nvPr/>
        </p:nvSpPr>
        <p:spPr>
          <a:xfrm>
            <a:off x="5120640" y="2313432"/>
            <a:ext cx="502920" cy="502920"/>
          </a:xfrm>
          <a:prstGeom prst="ellipse">
            <a:avLst/>
          </a:prstGeom>
          <a:solidFill>
            <a:srgbClr val="0B032B"/>
          </a:solidFill>
          <a:ln/>
        </p:spPr>
      </p:sp>
      <p:pic>
        <p:nvPicPr>
          <p:cNvPr id="14" name="Image 1" descr="preencoded.png">    </p:cNvPr>
          <p:cNvPicPr>
            <a:picLocks noChangeAspect="1"/>
          </p:cNvPicPr>
          <p:nvPr/>
        </p:nvPicPr>
        <p:blipFill>
          <a:blip r:embed="rId2"/>
          <a:stretch>
            <a:fillRect/>
          </a:stretch>
        </p:blipFill>
        <p:spPr>
          <a:xfrm>
            <a:off x="5231282" y="2424074"/>
            <a:ext cx="281635" cy="281635"/>
          </a:xfrm>
          <a:prstGeom prst="rect">
            <a:avLst/>
          </a:prstGeom>
        </p:spPr>
      </p:pic>
      <p:sp>
        <p:nvSpPr>
          <p:cNvPr id="15" name="Text 11"/>
          <p:cNvSpPr txBox="1"/>
          <p:nvPr/>
        </p:nvSpPr>
        <p:spPr>
          <a:xfrm>
            <a:off x="5742432" y="2313432"/>
            <a:ext cx="2304288" cy="502920"/>
          </a:xfrm>
          <a:prstGeom prst="rect">
            <a:avLst/>
          </a:prstGeom>
          <a:noFill/>
          <a:ln/>
        </p:spPr>
        <p:txBody>
          <a:bodyPr wrap="square" lIns="0" tIns="0" rIns="0" bIns="0" rtlCol="0" anchor="ctr">
            <a:normAutofit/>
          </a:bodyPr>
          <a:lstStyle/>
          <a:p>
            <a:pPr indent="0" marL="0">
              <a:buNone/>
            </a:pPr>
            <a:r>
              <a:rPr lang="en-US" sz="1350" b="1" dirty="0">
                <a:solidFill>
                  <a:srgbClr val="0B032B"/>
                </a:solidFill>
                <a:latin typeface="Calibri" pitchFamily="34" charset="0"/>
                <a:ea typeface="Calibri" pitchFamily="34" charset="-122"/>
                <a:cs typeface="Calibri" pitchFamily="34" charset="-120"/>
              </a:rPr>
              <a:t>Éducation</a:t>
            </a:r>
            <a:endParaRPr lang="en-US" sz="1350" dirty="0"/>
          </a:p>
        </p:txBody>
      </p:sp>
      <p:sp>
        <p:nvSpPr>
          <p:cNvPr id="16" name="Text 12"/>
          <p:cNvSpPr txBox="1"/>
          <p:nvPr/>
        </p:nvSpPr>
        <p:spPr>
          <a:xfrm>
            <a:off x="5138928" y="2926080"/>
            <a:ext cx="2852928" cy="1051560"/>
          </a:xfrm>
          <a:prstGeom prst="rect">
            <a:avLst/>
          </a:prstGeom>
          <a:noFill/>
          <a:ln/>
        </p:spPr>
        <p:txBody>
          <a:bodyPr wrap="square" lIns="0" tIns="0" rIns="0" bIns="0" rtlCol="0" anchor="t">
            <a:normAutofit/>
          </a:bodyPr>
          <a:lstStyle/>
          <a:p>
            <a:pPr marL="203200" indent="-203200">
              <a:spcAft>
                <a:spcPts val="200"/>
              </a:spcAft>
              <a:buSzPct val="100000"/>
              <a:buChar char="●"/>
            </a:pPr>
            <a:r>
              <a:rPr lang="en-US" sz="1150" dirty="0">
                <a:solidFill>
                  <a:srgbClr val="55516E"/>
                </a:solidFill>
                <a:latin typeface="Calibri" pitchFamily="34" charset="0"/>
                <a:ea typeface="Calibri" pitchFamily="34" charset="-122"/>
                <a:cs typeface="Calibri" pitchFamily="34" charset="-120"/>
              </a:rPr>
              <a:t>Construction, entretien et fonctionnement des collèges.</a:t>
            </a:r>
            <a:endParaRPr lang="en-US" sz="1150" dirty="0"/>
          </a:p>
          <a:p>
            <a:pPr marL="203200" indent="-203200">
              <a:spcAft>
                <a:spcPts val="200"/>
              </a:spcAft>
              <a:buSzPct val="100000"/>
              <a:buChar char="●"/>
            </a:pPr>
            <a:r>
              <a:rPr lang="en-US" sz="1150" dirty="0">
                <a:solidFill>
                  <a:srgbClr val="55516E"/>
                </a:solidFill>
                <a:latin typeface="Calibri" pitchFamily="34" charset="0"/>
                <a:ea typeface="Calibri" pitchFamily="34" charset="-122"/>
                <a:cs typeface="Calibri" pitchFamily="34" charset="-120"/>
              </a:rPr>
              <a:t>Gestion des agents techniques des collèges.</a:t>
            </a:r>
            <a:endParaRPr lang="en-US" sz="1150" dirty="0"/>
          </a:p>
        </p:txBody>
      </p:sp>
      <p:sp>
        <p:nvSpPr>
          <p:cNvPr id="17" name="Shape 13"/>
          <p:cNvSpPr/>
          <p:nvPr/>
        </p:nvSpPr>
        <p:spPr>
          <a:xfrm>
            <a:off x="8321040" y="2148840"/>
            <a:ext cx="3218688" cy="1920240"/>
          </a:xfrm>
          <a:prstGeom prst="roundRect">
            <a:avLst>
              <a:gd name="adj" fmla="val 5714"/>
            </a:avLst>
          </a:prstGeom>
          <a:solidFill>
            <a:srgbClr val="FFFDEB"/>
          </a:solidFill>
          <a:ln/>
        </p:spPr>
      </p:sp>
      <p:sp>
        <p:nvSpPr>
          <p:cNvPr id="18" name="Shape 14"/>
          <p:cNvSpPr/>
          <p:nvPr/>
        </p:nvSpPr>
        <p:spPr>
          <a:xfrm>
            <a:off x="8503920" y="2313432"/>
            <a:ext cx="502920" cy="502920"/>
          </a:xfrm>
          <a:prstGeom prst="ellipse">
            <a:avLst/>
          </a:prstGeom>
          <a:solidFill>
            <a:srgbClr val="0B032B"/>
          </a:solidFill>
          <a:ln/>
        </p:spPr>
      </p:sp>
      <p:pic>
        <p:nvPicPr>
          <p:cNvPr id="19" name="Image 2" descr="preencoded.png">    </p:cNvPr>
          <p:cNvPicPr>
            <a:picLocks noChangeAspect="1"/>
          </p:cNvPicPr>
          <p:nvPr/>
        </p:nvPicPr>
        <p:blipFill>
          <a:blip r:embed="rId3"/>
          <a:stretch>
            <a:fillRect/>
          </a:stretch>
        </p:blipFill>
        <p:spPr>
          <a:xfrm>
            <a:off x="8614562" y="2424074"/>
            <a:ext cx="281635" cy="281635"/>
          </a:xfrm>
          <a:prstGeom prst="rect">
            <a:avLst/>
          </a:prstGeom>
        </p:spPr>
      </p:pic>
      <p:sp>
        <p:nvSpPr>
          <p:cNvPr id="20" name="Text 15"/>
          <p:cNvSpPr txBox="1"/>
          <p:nvPr/>
        </p:nvSpPr>
        <p:spPr>
          <a:xfrm>
            <a:off x="9125712" y="2313432"/>
            <a:ext cx="2304288" cy="502920"/>
          </a:xfrm>
          <a:prstGeom prst="rect">
            <a:avLst/>
          </a:prstGeom>
          <a:noFill/>
          <a:ln/>
        </p:spPr>
        <p:txBody>
          <a:bodyPr wrap="square" lIns="0" tIns="0" rIns="0" bIns="0" rtlCol="0" anchor="ctr">
            <a:normAutofit/>
          </a:bodyPr>
          <a:lstStyle/>
          <a:p>
            <a:pPr indent="0" marL="0">
              <a:buNone/>
            </a:pPr>
            <a:r>
              <a:rPr lang="en-US" sz="1350" b="1" dirty="0">
                <a:solidFill>
                  <a:srgbClr val="0B032B"/>
                </a:solidFill>
                <a:latin typeface="Calibri" pitchFamily="34" charset="0"/>
                <a:ea typeface="Calibri" pitchFamily="34" charset="-122"/>
                <a:cs typeface="Calibri" pitchFamily="34" charset="-120"/>
              </a:rPr>
              <a:t>Voirie départementale</a:t>
            </a:r>
            <a:endParaRPr lang="en-US" sz="1350" dirty="0"/>
          </a:p>
        </p:txBody>
      </p:sp>
      <p:sp>
        <p:nvSpPr>
          <p:cNvPr id="21" name="Text 16"/>
          <p:cNvSpPr txBox="1"/>
          <p:nvPr/>
        </p:nvSpPr>
        <p:spPr>
          <a:xfrm>
            <a:off x="8522208" y="2926080"/>
            <a:ext cx="2852928" cy="1051560"/>
          </a:xfrm>
          <a:prstGeom prst="rect">
            <a:avLst/>
          </a:prstGeom>
          <a:noFill/>
          <a:ln/>
        </p:spPr>
        <p:txBody>
          <a:bodyPr wrap="square" lIns="0" tIns="0" rIns="0" bIns="0" rtlCol="0" anchor="t">
            <a:normAutofit/>
          </a:bodyPr>
          <a:lstStyle/>
          <a:p>
            <a:pPr marL="203200" indent="-203200">
              <a:spcAft>
                <a:spcPts val="200"/>
              </a:spcAft>
              <a:buSzPct val="100000"/>
              <a:buChar char="●"/>
            </a:pPr>
            <a:r>
              <a:rPr lang="en-US" sz="1150" dirty="0">
                <a:solidFill>
                  <a:srgbClr val="55516E"/>
                </a:solidFill>
                <a:latin typeface="Calibri" pitchFamily="34" charset="0"/>
                <a:ea typeface="Calibri" pitchFamily="34" charset="-122"/>
                <a:cs typeface="Calibri" pitchFamily="34" charset="-120"/>
              </a:rPr>
              <a:t>Construction, entretien et sécurisation des routes départementales.</a:t>
            </a:r>
            <a:endParaRPr lang="en-US" sz="1150" dirty="0"/>
          </a:p>
          <a:p>
            <a:pPr marL="203200" indent="-203200">
              <a:spcAft>
                <a:spcPts val="200"/>
              </a:spcAft>
              <a:buSzPct val="100000"/>
              <a:buChar char="●"/>
            </a:pPr>
            <a:r>
              <a:rPr lang="en-US" sz="1150" dirty="0">
                <a:solidFill>
                  <a:srgbClr val="55516E"/>
                </a:solidFill>
                <a:latin typeface="Calibri" pitchFamily="34" charset="0"/>
                <a:ea typeface="Calibri" pitchFamily="34" charset="-122"/>
                <a:cs typeface="Calibri" pitchFamily="34" charset="-120"/>
              </a:rPr>
              <a:t>Gestion des ouvrages d’art (ponts, tunnels...).</a:t>
            </a:r>
            <a:endParaRPr lang="en-US" sz="1150" dirty="0"/>
          </a:p>
        </p:txBody>
      </p:sp>
      <p:sp>
        <p:nvSpPr>
          <p:cNvPr id="22" name="Shape 17"/>
          <p:cNvSpPr/>
          <p:nvPr/>
        </p:nvSpPr>
        <p:spPr>
          <a:xfrm>
            <a:off x="4937760" y="4206240"/>
            <a:ext cx="3218688" cy="1920240"/>
          </a:xfrm>
          <a:prstGeom prst="roundRect">
            <a:avLst>
              <a:gd name="adj" fmla="val 5714"/>
            </a:avLst>
          </a:prstGeom>
          <a:solidFill>
            <a:srgbClr val="FFFDEB"/>
          </a:solidFill>
          <a:ln/>
        </p:spPr>
      </p:sp>
      <p:sp>
        <p:nvSpPr>
          <p:cNvPr id="23" name="Shape 18"/>
          <p:cNvSpPr/>
          <p:nvPr/>
        </p:nvSpPr>
        <p:spPr>
          <a:xfrm>
            <a:off x="5120640" y="4370832"/>
            <a:ext cx="502920" cy="502920"/>
          </a:xfrm>
          <a:prstGeom prst="ellipse">
            <a:avLst/>
          </a:prstGeom>
          <a:solidFill>
            <a:srgbClr val="0B032B"/>
          </a:solidFill>
          <a:ln/>
        </p:spPr>
      </p:sp>
      <p:pic>
        <p:nvPicPr>
          <p:cNvPr id="24" name="Image 3" descr="preencoded.png">    </p:cNvPr>
          <p:cNvPicPr>
            <a:picLocks noChangeAspect="1"/>
          </p:cNvPicPr>
          <p:nvPr/>
        </p:nvPicPr>
        <p:blipFill>
          <a:blip r:embed="rId4"/>
          <a:stretch>
            <a:fillRect/>
          </a:stretch>
        </p:blipFill>
        <p:spPr>
          <a:xfrm>
            <a:off x="5231282" y="4481474"/>
            <a:ext cx="281635" cy="281635"/>
          </a:xfrm>
          <a:prstGeom prst="rect">
            <a:avLst/>
          </a:prstGeom>
        </p:spPr>
      </p:pic>
      <p:sp>
        <p:nvSpPr>
          <p:cNvPr id="25" name="Text 19"/>
          <p:cNvSpPr txBox="1"/>
          <p:nvPr/>
        </p:nvSpPr>
        <p:spPr>
          <a:xfrm>
            <a:off x="5742432" y="4370832"/>
            <a:ext cx="2304288" cy="502920"/>
          </a:xfrm>
          <a:prstGeom prst="rect">
            <a:avLst/>
          </a:prstGeom>
          <a:noFill/>
          <a:ln/>
        </p:spPr>
        <p:txBody>
          <a:bodyPr wrap="square" lIns="0" tIns="0" rIns="0" bIns="0" rtlCol="0" anchor="ctr">
            <a:normAutofit/>
          </a:bodyPr>
          <a:lstStyle/>
          <a:p>
            <a:pPr indent="0" marL="0">
              <a:buNone/>
            </a:pPr>
            <a:r>
              <a:rPr lang="en-US" sz="1350" b="1" dirty="0">
                <a:solidFill>
                  <a:srgbClr val="0B032B"/>
                </a:solidFill>
                <a:latin typeface="Calibri" pitchFamily="34" charset="0"/>
                <a:ea typeface="Calibri" pitchFamily="34" charset="-122"/>
                <a:cs typeface="Calibri" pitchFamily="34" charset="-120"/>
              </a:rPr>
              <a:t>Sécurité civile</a:t>
            </a:r>
            <a:endParaRPr lang="en-US" sz="1350" dirty="0"/>
          </a:p>
        </p:txBody>
      </p:sp>
      <p:sp>
        <p:nvSpPr>
          <p:cNvPr id="26" name="Text 20"/>
          <p:cNvSpPr txBox="1"/>
          <p:nvPr/>
        </p:nvSpPr>
        <p:spPr>
          <a:xfrm>
            <a:off x="5138928" y="4983480"/>
            <a:ext cx="2852928" cy="1051560"/>
          </a:xfrm>
          <a:prstGeom prst="rect">
            <a:avLst/>
          </a:prstGeom>
          <a:noFill/>
          <a:ln/>
        </p:spPr>
        <p:txBody>
          <a:bodyPr wrap="square" lIns="0" tIns="0" rIns="0" bIns="0" rtlCol="0" anchor="t">
            <a:normAutofit/>
          </a:bodyPr>
          <a:lstStyle/>
          <a:p>
            <a:pPr marL="203200" indent="-203200">
              <a:spcAft>
                <a:spcPts val="200"/>
              </a:spcAft>
              <a:buSzPct val="100000"/>
              <a:buChar char="●"/>
            </a:pPr>
            <a:r>
              <a:rPr lang="en-US" sz="1150" dirty="0">
                <a:solidFill>
                  <a:srgbClr val="55516E"/>
                </a:solidFill>
                <a:latin typeface="Calibri" pitchFamily="34" charset="0"/>
                <a:ea typeface="Calibri" pitchFamily="34" charset="-122"/>
                <a:cs typeface="Calibri" pitchFamily="34" charset="-120"/>
              </a:rPr>
              <a:t>Financement et gouvernance des Services départementaux d’incendie et de secours (SDIS), aux côtés des communes et des EPCI.</a:t>
            </a:r>
            <a:endParaRPr lang="en-US" sz="1150" dirty="0"/>
          </a:p>
        </p:txBody>
      </p:sp>
      <p:sp>
        <p:nvSpPr>
          <p:cNvPr id="27" name="Shape 21"/>
          <p:cNvSpPr/>
          <p:nvPr/>
        </p:nvSpPr>
        <p:spPr>
          <a:xfrm>
            <a:off x="8321040" y="4206240"/>
            <a:ext cx="3218688" cy="1920240"/>
          </a:xfrm>
          <a:prstGeom prst="roundRect">
            <a:avLst>
              <a:gd name="adj" fmla="val 5714"/>
            </a:avLst>
          </a:prstGeom>
          <a:solidFill>
            <a:srgbClr val="F3F2F8"/>
          </a:solidFill>
          <a:ln/>
        </p:spPr>
      </p:sp>
      <p:sp>
        <p:nvSpPr>
          <p:cNvPr id="28" name="Shape 22"/>
          <p:cNvSpPr/>
          <p:nvPr/>
        </p:nvSpPr>
        <p:spPr>
          <a:xfrm>
            <a:off x="8503920" y="4370832"/>
            <a:ext cx="502920" cy="502920"/>
          </a:xfrm>
          <a:prstGeom prst="ellipse">
            <a:avLst/>
          </a:prstGeom>
          <a:solidFill>
            <a:srgbClr val="0B032B"/>
          </a:solidFill>
          <a:ln/>
        </p:spPr>
      </p:sp>
      <p:pic>
        <p:nvPicPr>
          <p:cNvPr id="29" name="Image 4" descr="preencoded.png">    </p:cNvPr>
          <p:cNvPicPr>
            <a:picLocks noChangeAspect="1"/>
          </p:cNvPicPr>
          <p:nvPr/>
        </p:nvPicPr>
        <p:blipFill>
          <a:blip r:embed="rId5"/>
          <a:stretch>
            <a:fillRect/>
          </a:stretch>
        </p:blipFill>
        <p:spPr>
          <a:xfrm>
            <a:off x="8614562" y="4481474"/>
            <a:ext cx="281635" cy="281635"/>
          </a:xfrm>
          <a:prstGeom prst="rect">
            <a:avLst/>
          </a:prstGeom>
        </p:spPr>
      </p:pic>
      <p:sp>
        <p:nvSpPr>
          <p:cNvPr id="30" name="Text 23"/>
          <p:cNvSpPr txBox="1"/>
          <p:nvPr/>
        </p:nvSpPr>
        <p:spPr>
          <a:xfrm>
            <a:off x="9125712" y="4370832"/>
            <a:ext cx="2304288" cy="502920"/>
          </a:xfrm>
          <a:prstGeom prst="rect">
            <a:avLst/>
          </a:prstGeom>
          <a:noFill/>
          <a:ln/>
        </p:spPr>
        <p:txBody>
          <a:bodyPr wrap="square" lIns="0" tIns="0" rIns="0" bIns="0" rtlCol="0" anchor="ctr">
            <a:normAutofit/>
          </a:bodyPr>
          <a:lstStyle/>
          <a:p>
            <a:pPr indent="0" marL="0">
              <a:buNone/>
            </a:pPr>
            <a:r>
              <a:rPr lang="en-US" sz="1350" b="1" dirty="0">
                <a:solidFill>
                  <a:srgbClr val="0B032B"/>
                </a:solidFill>
                <a:latin typeface="Calibri" pitchFamily="34" charset="0"/>
                <a:ea typeface="Calibri" pitchFamily="34" charset="-122"/>
                <a:cs typeface="Calibri" pitchFamily="34" charset="-120"/>
              </a:rPr>
              <a:t>Aménagement et attractivité du territoire</a:t>
            </a:r>
            <a:endParaRPr lang="en-US" sz="1350" dirty="0"/>
          </a:p>
        </p:txBody>
      </p:sp>
      <p:sp>
        <p:nvSpPr>
          <p:cNvPr id="31" name="Text 24"/>
          <p:cNvSpPr txBox="1"/>
          <p:nvPr/>
        </p:nvSpPr>
        <p:spPr>
          <a:xfrm>
            <a:off x="8522208" y="4983480"/>
            <a:ext cx="2852928" cy="1051560"/>
          </a:xfrm>
          <a:prstGeom prst="rect">
            <a:avLst/>
          </a:prstGeom>
          <a:noFill/>
          <a:ln/>
        </p:spPr>
        <p:txBody>
          <a:bodyPr wrap="square" lIns="0" tIns="0" rIns="0" bIns="0" rtlCol="0" anchor="t">
            <a:normAutofit/>
          </a:bodyPr>
          <a:lstStyle/>
          <a:p>
            <a:pPr marL="203200" indent="-203200">
              <a:spcAft>
                <a:spcPts val="200"/>
              </a:spcAft>
              <a:buSzPct val="100000"/>
              <a:buChar char="●"/>
            </a:pPr>
            <a:r>
              <a:rPr lang="en-US" sz="1150" dirty="0">
                <a:solidFill>
                  <a:srgbClr val="55516E"/>
                </a:solidFill>
                <a:latin typeface="Calibri" pitchFamily="34" charset="0"/>
                <a:ea typeface="Calibri" pitchFamily="34" charset="-122"/>
                <a:cs typeface="Calibri" pitchFamily="34" charset="-120"/>
              </a:rPr>
              <a:t>Soutien aux communes et aux intercommunalités.</a:t>
            </a:r>
            <a:endParaRPr lang="en-US" sz="1150" dirty="0"/>
          </a:p>
          <a:p>
            <a:pPr marL="203200" indent="-203200">
              <a:spcAft>
                <a:spcPts val="200"/>
              </a:spcAft>
              <a:buSzPct val="100000"/>
              <a:buChar char="●"/>
            </a:pPr>
            <a:r>
              <a:rPr lang="en-US" sz="1150" dirty="0">
                <a:solidFill>
                  <a:srgbClr val="55516E"/>
                </a:solidFill>
                <a:latin typeface="Calibri" pitchFamily="34" charset="0"/>
                <a:ea typeface="Calibri" pitchFamily="34" charset="-122"/>
                <a:cs typeface="Calibri" pitchFamily="34" charset="-120"/>
              </a:rPr>
              <a:t>Développement des territoires ruraux.</a:t>
            </a:r>
            <a:endParaRPr lang="en-US" sz="1150" dirty="0"/>
          </a:p>
          <a:p>
            <a:pPr marL="203200" indent="-203200">
              <a:spcAft>
                <a:spcPts val="200"/>
              </a:spcAft>
              <a:buSzPct val="100000"/>
              <a:buChar char="●"/>
            </a:pPr>
            <a:r>
              <a:rPr lang="en-US" sz="1150" dirty="0">
                <a:solidFill>
                  <a:srgbClr val="55516E"/>
                </a:solidFill>
                <a:latin typeface="Calibri" pitchFamily="34" charset="0"/>
                <a:ea typeface="Calibri" pitchFamily="34" charset="-122"/>
                <a:cs typeface="Calibri" pitchFamily="34" charset="-120"/>
              </a:rPr>
              <a:t>Préservation des espaces naturels sensibles.</a:t>
            </a:r>
            <a:endParaRPr lang="en-US" sz="1150" dirty="0"/>
          </a:p>
          <a:p>
            <a:pPr marL="203200" indent="-203200">
              <a:spcAft>
                <a:spcPts val="200"/>
              </a:spcAft>
              <a:buSzPct val="100000"/>
              <a:buChar char="●"/>
            </a:pPr>
            <a:r>
              <a:rPr lang="en-US" sz="1150" dirty="0">
                <a:solidFill>
                  <a:srgbClr val="55516E"/>
                </a:solidFill>
                <a:latin typeface="Calibri" pitchFamily="34" charset="0"/>
                <a:ea typeface="Calibri" pitchFamily="34" charset="-122"/>
                <a:cs typeface="Calibri" pitchFamily="34" charset="-120"/>
              </a:rPr>
              <a:t>Développement touristique et culturel.</a:t>
            </a:r>
            <a:endParaRPr lang="en-US" sz="1150" dirty="0"/>
          </a:p>
        </p:txBody>
      </p:sp>
      <p:sp>
        <p:nvSpPr>
          <p:cNvPr id="32" name="Text 25"/>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spc="100" kern="0" dirty="0">
                <a:solidFill>
                  <a:srgbClr val="8A8699"/>
                </a:solidFill>
                <a:latin typeface="Calibri" pitchFamily="34" charset="0"/>
                <a:ea typeface="Calibri" pitchFamily="34" charset="-122"/>
                <a:cs typeface="Calibri" pitchFamily="34" charset="-120"/>
              </a:rPr>
              <a:t>ENMA FORMATION  ·  Formation des élus municipaux 2026</a:t>
            </a:r>
            <a:endParaRPr lang="en-US" sz="900" dirty="0"/>
          </a:p>
        </p:txBody>
      </p:sp>
      <p:sp>
        <p:nvSpPr>
          <p:cNvPr id="33" name="Text 26"/>
          <p:cNvSpPr txBox="1"/>
          <p:nvPr/>
        </p:nvSpPr>
        <p:spPr>
          <a:xfrm>
            <a:off x="9692640" y="6400800"/>
            <a:ext cx="548640" cy="274320"/>
          </a:xfrm>
          <a:prstGeom prst="rect">
            <a:avLst/>
          </a:prstGeom>
          <a:noFill/>
          <a:ln/>
        </p:spPr>
        <p:txBody>
          <a:bodyPr wrap="square" lIns="0" tIns="0" rIns="0" bIns="0" rtlCol="0" anchor="ctr"/>
          <a:lstStyle/>
          <a:p>
            <a:pPr algn="r" indent="0" marL="0">
              <a:buNone/>
            </a:pPr>
            <a:r>
              <a:rPr lang="en-US" sz="900" dirty="0">
                <a:solidFill>
                  <a:srgbClr val="8A8699"/>
                </a:solidFill>
                <a:latin typeface="Calibri" pitchFamily="34" charset="0"/>
                <a:ea typeface="Calibri" pitchFamily="34" charset="-122"/>
                <a:cs typeface="Calibri" pitchFamily="34" charset="-120"/>
              </a:rPr>
              <a:t>34</a:t>
            </a:r>
            <a:endParaRPr lang="en-US" sz="900" dirty="0"/>
          </a:p>
        </p:txBody>
      </p:sp>
      <p:pic>
        <p:nvPicPr>
          <p:cNvPr id="34" name="Image 5" descr="preencoded.png">    </p:cNvPr>
          <p:cNvPicPr>
            <a:picLocks noChangeAspect="1"/>
          </p:cNvPicPr>
          <p:nvPr/>
        </p:nvPicPr>
        <p:blipFill>
          <a:blip r:embed="rId6"/>
          <a:stretch>
            <a:fillRect/>
          </a:stretch>
        </p:blipFill>
        <p:spPr>
          <a:xfrm>
            <a:off x="10469880" y="6309360"/>
            <a:ext cx="1170432" cy="484632"/>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420624" cy="310896"/>
          </a:xfrm>
          <a:prstGeom prst="roundRect">
            <a:avLst>
              <a:gd name="adj" fmla="val 23529"/>
            </a:avLst>
          </a:prstGeom>
          <a:solidFill>
            <a:srgbClr val="0B032B"/>
          </a:solidFill>
          <a:ln/>
        </p:spPr>
      </p:sp>
      <p:sp>
        <p:nvSpPr>
          <p:cNvPr id="3" name="Text 1"/>
          <p:cNvSpPr txBox="1"/>
          <p:nvPr/>
        </p:nvSpPr>
        <p:spPr>
          <a:xfrm>
            <a:off x="548640" y="438912"/>
            <a:ext cx="420624" cy="310896"/>
          </a:xfrm>
          <a:prstGeom prst="rect">
            <a:avLst/>
          </a:prstGeom>
          <a:noFill/>
          <a:ln/>
        </p:spPr>
        <p:txBody>
          <a:bodyPr wrap="square" lIns="0" tIns="0" rIns="0" bIns="0" rtlCol="0" anchor="ctr"/>
          <a:lstStyle/>
          <a:p>
            <a:pPr algn="ctr" indent="0" marL="0">
              <a:buNone/>
            </a:pPr>
            <a:r>
              <a:rPr lang="en-US" sz="1100" b="1" dirty="0">
                <a:solidFill>
                  <a:srgbClr val="FFF9C7"/>
                </a:solidFill>
                <a:latin typeface="Calibri" pitchFamily="34" charset="0"/>
                <a:ea typeface="Calibri" pitchFamily="34" charset="-122"/>
                <a:cs typeface="Calibri" pitchFamily="34" charset="-120"/>
              </a:rPr>
              <a:t>05</a:t>
            </a:r>
            <a:endParaRPr lang="en-US" sz="1100" dirty="0"/>
          </a:p>
        </p:txBody>
      </p:sp>
      <p:sp>
        <p:nvSpPr>
          <p:cNvPr id="4" name="Text 2"/>
          <p:cNvSpPr txBox="1"/>
          <p:nvPr/>
        </p:nvSpPr>
        <p:spPr>
          <a:xfrm>
            <a:off x="1115568" y="438912"/>
            <a:ext cx="8229600" cy="310896"/>
          </a:xfrm>
          <a:prstGeom prst="rect">
            <a:avLst/>
          </a:prstGeom>
          <a:noFill/>
          <a:ln/>
        </p:spPr>
        <p:txBody>
          <a:bodyPr wrap="square" lIns="0" tIns="0" rIns="0" bIns="0" rtlCol="0" anchor="ctr"/>
          <a:lstStyle/>
          <a:p>
            <a:pPr indent="0" marL="0">
              <a:buNone/>
            </a:pPr>
            <a:r>
              <a:rPr lang="en-US" sz="1100" b="1" spc="200" kern="0" dirty="0">
                <a:solidFill>
                  <a:srgbClr val="55516E"/>
                </a:solidFill>
                <a:latin typeface="Calibri" pitchFamily="34" charset="0"/>
                <a:ea typeface="Calibri" pitchFamily="34" charset="-122"/>
                <a:cs typeface="Calibri" pitchFamily="34" charset="-120"/>
              </a:rPr>
              <a:t>LES COMPÉTENCES DU DÉPARTEMENT</a:t>
            </a:r>
            <a:endParaRPr lang="en-US" sz="1100" dirty="0"/>
          </a:p>
        </p:txBody>
      </p:sp>
      <p:sp>
        <p:nvSpPr>
          <p:cNvPr id="5" name="Text 3"/>
          <p:cNvSpPr txBox="1"/>
          <p:nvPr/>
        </p:nvSpPr>
        <p:spPr>
          <a:xfrm>
            <a:off x="548640" y="841248"/>
            <a:ext cx="11064240" cy="685800"/>
          </a:xfrm>
          <a:prstGeom prst="rect">
            <a:avLst/>
          </a:prstGeom>
          <a:noFill/>
          <a:ln/>
        </p:spPr>
        <p:txBody>
          <a:bodyPr wrap="square" lIns="0" tIns="0" rIns="0" bIns="0" rtlCol="0" anchor="ctr">
            <a:normAutofit/>
          </a:bodyPr>
          <a:lstStyle/>
          <a:p>
            <a:pPr indent="0" marL="0">
              <a:buNone/>
            </a:pPr>
            <a:r>
              <a:rPr lang="en-US" sz="2800" b="1" dirty="0">
                <a:solidFill>
                  <a:srgbClr val="0B032B"/>
                </a:solidFill>
                <a:latin typeface="Calibri" pitchFamily="34" charset="0"/>
                <a:ea typeface="Calibri" pitchFamily="34" charset="-122"/>
                <a:cs typeface="Calibri" pitchFamily="34" charset="-120"/>
              </a:rPr>
              <a:t>Le rôle des conseillers départementaux</a:t>
            </a:r>
            <a:endParaRPr lang="en-US" sz="2800" dirty="0"/>
          </a:p>
        </p:txBody>
      </p:sp>
      <p:sp>
        <p:nvSpPr>
          <p:cNvPr id="6" name="Shape 4"/>
          <p:cNvSpPr/>
          <p:nvPr/>
        </p:nvSpPr>
        <p:spPr>
          <a:xfrm>
            <a:off x="548640" y="1783080"/>
            <a:ext cx="2606040" cy="2331720"/>
          </a:xfrm>
          <a:prstGeom prst="roundRect">
            <a:avLst>
              <a:gd name="adj" fmla="val 4706"/>
            </a:avLst>
          </a:prstGeom>
          <a:solidFill>
            <a:srgbClr val="F3F2F8"/>
          </a:solidFill>
          <a:ln/>
        </p:spPr>
      </p:sp>
      <p:sp>
        <p:nvSpPr>
          <p:cNvPr id="7" name="Shape 5"/>
          <p:cNvSpPr/>
          <p:nvPr/>
        </p:nvSpPr>
        <p:spPr>
          <a:xfrm>
            <a:off x="777240" y="2011680"/>
            <a:ext cx="685800" cy="685800"/>
          </a:xfrm>
          <a:prstGeom prst="ellipse">
            <a:avLst/>
          </a:prstGeom>
          <a:solidFill>
            <a:srgbClr val="0B032B"/>
          </a:solidFill>
          <a:ln/>
        </p:spPr>
      </p:sp>
      <p:pic>
        <p:nvPicPr>
          <p:cNvPr id="8" name="Image 0" descr="preencoded.png">    </p:cNvPr>
          <p:cNvPicPr>
            <a:picLocks noChangeAspect="1"/>
          </p:cNvPicPr>
          <p:nvPr/>
        </p:nvPicPr>
        <p:blipFill>
          <a:blip r:embed="rId1"/>
          <a:stretch>
            <a:fillRect/>
          </a:stretch>
        </p:blipFill>
        <p:spPr>
          <a:xfrm>
            <a:off x="928116" y="2162556"/>
            <a:ext cx="384048" cy="384048"/>
          </a:xfrm>
          <a:prstGeom prst="rect">
            <a:avLst/>
          </a:prstGeom>
        </p:spPr>
      </p:pic>
      <p:sp>
        <p:nvSpPr>
          <p:cNvPr id="9" name="Text 6"/>
          <p:cNvSpPr txBox="1"/>
          <p:nvPr/>
        </p:nvSpPr>
        <p:spPr>
          <a:xfrm>
            <a:off x="777240" y="2880360"/>
            <a:ext cx="2194560" cy="1097280"/>
          </a:xfrm>
          <a:prstGeom prst="rect">
            <a:avLst/>
          </a:prstGeom>
          <a:noFill/>
          <a:ln/>
        </p:spPr>
        <p:txBody>
          <a:bodyPr wrap="square" lIns="0" tIns="0" rIns="0" bIns="0" rtlCol="0" anchor="t"/>
          <a:lstStyle/>
          <a:p>
            <a:pPr indent="0" marL="0">
              <a:buNone/>
            </a:pPr>
            <a:r>
              <a:rPr lang="en-US" sz="1550" b="1" dirty="0">
                <a:solidFill>
                  <a:srgbClr val="0B032B"/>
                </a:solidFill>
                <a:latin typeface="Calibri" pitchFamily="34" charset="0"/>
                <a:ea typeface="Calibri" pitchFamily="34" charset="-122"/>
                <a:cs typeface="Calibri" pitchFamily="34" charset="-120"/>
              </a:rPr>
              <a:t>Représenter leur canton.</a:t>
            </a:r>
            <a:endParaRPr lang="en-US" sz="1550" dirty="0"/>
          </a:p>
        </p:txBody>
      </p:sp>
      <p:sp>
        <p:nvSpPr>
          <p:cNvPr id="10" name="Shape 7"/>
          <p:cNvSpPr/>
          <p:nvPr/>
        </p:nvSpPr>
        <p:spPr>
          <a:xfrm>
            <a:off x="3355848" y="1783080"/>
            <a:ext cx="2606040" cy="2331720"/>
          </a:xfrm>
          <a:prstGeom prst="roundRect">
            <a:avLst>
              <a:gd name="adj" fmla="val 4706"/>
            </a:avLst>
          </a:prstGeom>
          <a:solidFill>
            <a:srgbClr val="F3F2F8"/>
          </a:solidFill>
          <a:ln/>
        </p:spPr>
      </p:sp>
      <p:sp>
        <p:nvSpPr>
          <p:cNvPr id="11" name="Shape 8"/>
          <p:cNvSpPr/>
          <p:nvPr/>
        </p:nvSpPr>
        <p:spPr>
          <a:xfrm>
            <a:off x="3584448" y="2011680"/>
            <a:ext cx="685800" cy="685800"/>
          </a:xfrm>
          <a:prstGeom prst="ellipse">
            <a:avLst/>
          </a:prstGeom>
          <a:solidFill>
            <a:srgbClr val="0B032B"/>
          </a:solidFill>
          <a:ln/>
        </p:spPr>
      </p:sp>
      <p:pic>
        <p:nvPicPr>
          <p:cNvPr id="12" name="Image 1" descr="preencoded.png">    </p:cNvPr>
          <p:cNvPicPr>
            <a:picLocks noChangeAspect="1"/>
          </p:cNvPicPr>
          <p:nvPr/>
        </p:nvPicPr>
        <p:blipFill>
          <a:blip r:embed="rId2"/>
          <a:stretch>
            <a:fillRect/>
          </a:stretch>
        </p:blipFill>
        <p:spPr>
          <a:xfrm>
            <a:off x="3735324" y="2162556"/>
            <a:ext cx="384048" cy="384048"/>
          </a:xfrm>
          <a:prstGeom prst="rect">
            <a:avLst/>
          </a:prstGeom>
        </p:spPr>
      </p:pic>
      <p:sp>
        <p:nvSpPr>
          <p:cNvPr id="13" name="Text 9"/>
          <p:cNvSpPr txBox="1"/>
          <p:nvPr/>
        </p:nvSpPr>
        <p:spPr>
          <a:xfrm>
            <a:off x="3584448" y="2880360"/>
            <a:ext cx="2194560" cy="1097280"/>
          </a:xfrm>
          <a:prstGeom prst="rect">
            <a:avLst/>
          </a:prstGeom>
          <a:noFill/>
          <a:ln/>
        </p:spPr>
        <p:txBody>
          <a:bodyPr wrap="square" lIns="0" tIns="0" rIns="0" bIns="0" rtlCol="0" anchor="t"/>
          <a:lstStyle/>
          <a:p>
            <a:pPr indent="0" marL="0">
              <a:buNone/>
            </a:pPr>
            <a:r>
              <a:rPr lang="en-US" sz="1550" b="1" dirty="0">
                <a:solidFill>
                  <a:srgbClr val="0B032B"/>
                </a:solidFill>
                <a:latin typeface="Calibri" pitchFamily="34" charset="0"/>
                <a:ea typeface="Calibri" pitchFamily="34" charset="-122"/>
                <a:cs typeface="Calibri" pitchFamily="34" charset="-120"/>
              </a:rPr>
              <a:t>Voter le budget départemental.</a:t>
            </a:r>
            <a:endParaRPr lang="en-US" sz="1550" dirty="0"/>
          </a:p>
        </p:txBody>
      </p:sp>
      <p:sp>
        <p:nvSpPr>
          <p:cNvPr id="14" name="Shape 10"/>
          <p:cNvSpPr/>
          <p:nvPr/>
        </p:nvSpPr>
        <p:spPr>
          <a:xfrm>
            <a:off x="6163056" y="1783080"/>
            <a:ext cx="2606040" cy="2331720"/>
          </a:xfrm>
          <a:prstGeom prst="roundRect">
            <a:avLst>
              <a:gd name="adj" fmla="val 4706"/>
            </a:avLst>
          </a:prstGeom>
          <a:solidFill>
            <a:srgbClr val="F3F2F8"/>
          </a:solidFill>
          <a:ln/>
        </p:spPr>
      </p:sp>
      <p:sp>
        <p:nvSpPr>
          <p:cNvPr id="15" name="Shape 11"/>
          <p:cNvSpPr/>
          <p:nvPr/>
        </p:nvSpPr>
        <p:spPr>
          <a:xfrm>
            <a:off x="6391656" y="2011680"/>
            <a:ext cx="685800" cy="685800"/>
          </a:xfrm>
          <a:prstGeom prst="ellipse">
            <a:avLst/>
          </a:prstGeom>
          <a:solidFill>
            <a:srgbClr val="0B032B"/>
          </a:solidFill>
          <a:ln/>
        </p:spPr>
      </p:sp>
      <p:pic>
        <p:nvPicPr>
          <p:cNvPr id="16" name="Image 2" descr="preencoded.png">    </p:cNvPr>
          <p:cNvPicPr>
            <a:picLocks noChangeAspect="1"/>
          </p:cNvPicPr>
          <p:nvPr/>
        </p:nvPicPr>
        <p:blipFill>
          <a:blip r:embed="rId3"/>
          <a:stretch>
            <a:fillRect/>
          </a:stretch>
        </p:blipFill>
        <p:spPr>
          <a:xfrm>
            <a:off x="6542532" y="2162556"/>
            <a:ext cx="384048" cy="384048"/>
          </a:xfrm>
          <a:prstGeom prst="rect">
            <a:avLst/>
          </a:prstGeom>
        </p:spPr>
      </p:pic>
      <p:sp>
        <p:nvSpPr>
          <p:cNvPr id="17" name="Text 12"/>
          <p:cNvSpPr txBox="1"/>
          <p:nvPr/>
        </p:nvSpPr>
        <p:spPr>
          <a:xfrm>
            <a:off x="6391656" y="2880360"/>
            <a:ext cx="2194560" cy="1097280"/>
          </a:xfrm>
          <a:prstGeom prst="rect">
            <a:avLst/>
          </a:prstGeom>
          <a:noFill/>
          <a:ln/>
        </p:spPr>
        <p:txBody>
          <a:bodyPr wrap="square" lIns="0" tIns="0" rIns="0" bIns="0" rtlCol="0" anchor="t"/>
          <a:lstStyle/>
          <a:p>
            <a:pPr indent="0" marL="0">
              <a:buNone/>
            </a:pPr>
            <a:r>
              <a:rPr lang="en-US" sz="1550" b="1" dirty="0">
                <a:solidFill>
                  <a:srgbClr val="0B032B"/>
                </a:solidFill>
                <a:latin typeface="Calibri" pitchFamily="34" charset="0"/>
                <a:ea typeface="Calibri" pitchFamily="34" charset="-122"/>
                <a:cs typeface="Calibri" pitchFamily="34" charset="-120"/>
              </a:rPr>
              <a:t>Définir les politiques sociales et territoriales.</a:t>
            </a:r>
            <a:endParaRPr lang="en-US" sz="1550" dirty="0"/>
          </a:p>
        </p:txBody>
      </p:sp>
      <p:sp>
        <p:nvSpPr>
          <p:cNvPr id="18" name="Shape 13"/>
          <p:cNvSpPr/>
          <p:nvPr/>
        </p:nvSpPr>
        <p:spPr>
          <a:xfrm>
            <a:off x="8970264" y="1783080"/>
            <a:ext cx="2606040" cy="2331720"/>
          </a:xfrm>
          <a:prstGeom prst="roundRect">
            <a:avLst>
              <a:gd name="adj" fmla="val 4706"/>
            </a:avLst>
          </a:prstGeom>
          <a:solidFill>
            <a:srgbClr val="F3F2F8"/>
          </a:solidFill>
          <a:ln/>
        </p:spPr>
      </p:sp>
      <p:sp>
        <p:nvSpPr>
          <p:cNvPr id="19" name="Shape 14"/>
          <p:cNvSpPr/>
          <p:nvPr/>
        </p:nvSpPr>
        <p:spPr>
          <a:xfrm>
            <a:off x="9198864" y="2011680"/>
            <a:ext cx="685800" cy="685800"/>
          </a:xfrm>
          <a:prstGeom prst="ellipse">
            <a:avLst/>
          </a:prstGeom>
          <a:solidFill>
            <a:srgbClr val="0B032B"/>
          </a:solidFill>
          <a:ln/>
        </p:spPr>
      </p:sp>
      <p:pic>
        <p:nvPicPr>
          <p:cNvPr id="20" name="Image 3" descr="preencoded.png">    </p:cNvPr>
          <p:cNvPicPr>
            <a:picLocks noChangeAspect="1"/>
          </p:cNvPicPr>
          <p:nvPr/>
        </p:nvPicPr>
        <p:blipFill>
          <a:blip r:embed="rId4"/>
          <a:stretch>
            <a:fillRect/>
          </a:stretch>
        </p:blipFill>
        <p:spPr>
          <a:xfrm>
            <a:off x="9349740" y="2162556"/>
            <a:ext cx="384048" cy="384048"/>
          </a:xfrm>
          <a:prstGeom prst="rect">
            <a:avLst/>
          </a:prstGeom>
        </p:spPr>
      </p:pic>
      <p:sp>
        <p:nvSpPr>
          <p:cNvPr id="21" name="Text 15"/>
          <p:cNvSpPr txBox="1"/>
          <p:nvPr/>
        </p:nvSpPr>
        <p:spPr>
          <a:xfrm>
            <a:off x="9198864" y="2880360"/>
            <a:ext cx="2194560" cy="1097280"/>
          </a:xfrm>
          <a:prstGeom prst="rect">
            <a:avLst/>
          </a:prstGeom>
          <a:noFill/>
          <a:ln/>
        </p:spPr>
        <p:txBody>
          <a:bodyPr wrap="square" lIns="0" tIns="0" rIns="0" bIns="0" rtlCol="0" anchor="t"/>
          <a:lstStyle/>
          <a:p>
            <a:pPr indent="0" marL="0">
              <a:buNone/>
            </a:pPr>
            <a:r>
              <a:rPr lang="en-US" sz="1550" b="1" dirty="0">
                <a:solidFill>
                  <a:srgbClr val="0B032B"/>
                </a:solidFill>
                <a:latin typeface="Calibri" pitchFamily="34" charset="0"/>
                <a:ea typeface="Calibri" pitchFamily="34" charset="-122"/>
                <a:cs typeface="Calibri" pitchFamily="34" charset="-120"/>
              </a:rPr>
              <a:t>Accompagner les projets des communes et des intercommunalités.</a:t>
            </a:r>
            <a:endParaRPr lang="en-US" sz="1550" dirty="0"/>
          </a:p>
        </p:txBody>
      </p:sp>
      <p:sp>
        <p:nvSpPr>
          <p:cNvPr id="22" name="Shape 16"/>
          <p:cNvSpPr/>
          <p:nvPr/>
        </p:nvSpPr>
        <p:spPr>
          <a:xfrm>
            <a:off x="548640" y="4389120"/>
            <a:ext cx="11064240" cy="1737360"/>
          </a:xfrm>
          <a:prstGeom prst="roundRect">
            <a:avLst>
              <a:gd name="adj" fmla="val 7368"/>
            </a:avLst>
          </a:prstGeom>
          <a:solidFill>
            <a:srgbClr val="0B032B"/>
          </a:solidFill>
          <a:ln/>
        </p:spPr>
      </p:sp>
      <p:sp>
        <p:nvSpPr>
          <p:cNvPr id="23" name="Shape 17"/>
          <p:cNvSpPr/>
          <p:nvPr/>
        </p:nvSpPr>
        <p:spPr>
          <a:xfrm>
            <a:off x="804672" y="4645152"/>
            <a:ext cx="566928" cy="566928"/>
          </a:xfrm>
          <a:prstGeom prst="ellipse">
            <a:avLst/>
          </a:prstGeom>
          <a:solidFill>
            <a:srgbClr val="FFF9C7"/>
          </a:solidFill>
          <a:ln/>
        </p:spPr>
      </p:sp>
      <p:pic>
        <p:nvPicPr>
          <p:cNvPr id="24" name="Image 4" descr="preencoded.png">    </p:cNvPr>
          <p:cNvPicPr>
            <a:picLocks noChangeAspect="1"/>
          </p:cNvPicPr>
          <p:nvPr/>
        </p:nvPicPr>
        <p:blipFill>
          <a:blip r:embed="rId5"/>
          <a:stretch>
            <a:fillRect/>
          </a:stretch>
        </p:blipFill>
        <p:spPr>
          <a:xfrm>
            <a:off x="929396" y="4769876"/>
            <a:ext cx="317480" cy="317480"/>
          </a:xfrm>
          <a:prstGeom prst="rect">
            <a:avLst/>
          </a:prstGeom>
        </p:spPr>
      </p:pic>
      <p:sp>
        <p:nvSpPr>
          <p:cNvPr id="25" name="Text 18"/>
          <p:cNvSpPr txBox="1"/>
          <p:nvPr/>
        </p:nvSpPr>
        <p:spPr>
          <a:xfrm>
            <a:off x="1554480" y="4663440"/>
            <a:ext cx="9784080" cy="274320"/>
          </a:xfrm>
          <a:prstGeom prst="rect">
            <a:avLst/>
          </a:prstGeom>
          <a:noFill/>
          <a:ln/>
        </p:spPr>
        <p:txBody>
          <a:bodyPr wrap="square" lIns="0" tIns="0" rIns="0" bIns="0" rtlCol="0" anchor="t"/>
          <a:lstStyle/>
          <a:p>
            <a:pPr indent="0" marL="0">
              <a:buNone/>
            </a:pPr>
            <a:r>
              <a:rPr lang="en-US" sz="1100" b="1" spc="300" kern="0" dirty="0">
                <a:solidFill>
                  <a:srgbClr val="FFF9C7"/>
                </a:solidFill>
                <a:latin typeface="Calibri" pitchFamily="34" charset="0"/>
                <a:ea typeface="Calibri" pitchFamily="34" charset="-122"/>
                <a:cs typeface="Calibri" pitchFamily="34" charset="-120"/>
              </a:rPr>
              <a:t>À RETENIR</a:t>
            </a:r>
            <a:endParaRPr lang="en-US" sz="1100" dirty="0"/>
          </a:p>
        </p:txBody>
      </p:sp>
      <p:sp>
        <p:nvSpPr>
          <p:cNvPr id="26" name="Text 19"/>
          <p:cNvSpPr txBox="1"/>
          <p:nvPr/>
        </p:nvSpPr>
        <p:spPr>
          <a:xfrm>
            <a:off x="1554480" y="4974336"/>
            <a:ext cx="9784080" cy="950976"/>
          </a:xfrm>
          <a:prstGeom prst="rect">
            <a:avLst/>
          </a:prstGeom>
          <a:noFill/>
          <a:ln/>
        </p:spPr>
        <p:txBody>
          <a:bodyPr wrap="square" lIns="0" tIns="0" rIns="0" bIns="0" rtlCol="0" anchor="t">
            <a:normAutofit/>
          </a:bodyPr>
          <a:lstStyle/>
          <a:p>
            <a:pPr indent="0" marL="0">
              <a:lnSpc>
                <a:spcPct val="105000"/>
              </a:lnSpc>
              <a:buNone/>
            </a:pPr>
            <a:r>
              <a:rPr lang="en-US" sz="1500" dirty="0">
                <a:solidFill>
                  <a:srgbClr val="FFFFFF"/>
                </a:solidFill>
                <a:latin typeface="Calibri" pitchFamily="34" charset="0"/>
                <a:ea typeface="Calibri" pitchFamily="34" charset="-122"/>
                <a:cs typeface="Calibri" pitchFamily="34" charset="-120"/>
              </a:rPr>
              <a:t>Le Département est la collectivité des solidarités humaines et territoriales. Il accompagne les habitants tout au long de leur vie et soutient les communes dans leurs projets structurants, notamment en matière d’action sociale, d’éducation, d’infrastructures et d’aménagement du territoire.</a:t>
            </a:r>
            <a:endParaRPr lang="en-US" sz="1500" dirty="0"/>
          </a:p>
        </p:txBody>
      </p:sp>
      <p:sp>
        <p:nvSpPr>
          <p:cNvPr id="27" name="Text 20"/>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spc="100" kern="0" dirty="0">
                <a:solidFill>
                  <a:srgbClr val="8A8699"/>
                </a:solidFill>
                <a:latin typeface="Calibri" pitchFamily="34" charset="0"/>
                <a:ea typeface="Calibri" pitchFamily="34" charset="-122"/>
                <a:cs typeface="Calibri" pitchFamily="34" charset="-120"/>
              </a:rPr>
              <a:t>ENMA FORMATION  ·  Formation des élus municipaux 2026</a:t>
            </a:r>
            <a:endParaRPr lang="en-US" sz="900" dirty="0"/>
          </a:p>
        </p:txBody>
      </p:sp>
      <p:sp>
        <p:nvSpPr>
          <p:cNvPr id="28" name="Text 21"/>
          <p:cNvSpPr txBox="1"/>
          <p:nvPr/>
        </p:nvSpPr>
        <p:spPr>
          <a:xfrm>
            <a:off x="9692640" y="6400800"/>
            <a:ext cx="548640" cy="274320"/>
          </a:xfrm>
          <a:prstGeom prst="rect">
            <a:avLst/>
          </a:prstGeom>
          <a:noFill/>
          <a:ln/>
        </p:spPr>
        <p:txBody>
          <a:bodyPr wrap="square" lIns="0" tIns="0" rIns="0" bIns="0" rtlCol="0" anchor="ctr"/>
          <a:lstStyle/>
          <a:p>
            <a:pPr algn="r" indent="0" marL="0">
              <a:buNone/>
            </a:pPr>
            <a:r>
              <a:rPr lang="en-US" sz="900" dirty="0">
                <a:solidFill>
                  <a:srgbClr val="8A8699"/>
                </a:solidFill>
                <a:latin typeface="Calibri" pitchFamily="34" charset="0"/>
                <a:ea typeface="Calibri" pitchFamily="34" charset="-122"/>
                <a:cs typeface="Calibri" pitchFamily="34" charset="-120"/>
              </a:rPr>
              <a:t>35</a:t>
            </a:r>
            <a:endParaRPr lang="en-US" sz="900" dirty="0"/>
          </a:p>
        </p:txBody>
      </p:sp>
      <p:pic>
        <p:nvPicPr>
          <p:cNvPr id="29" name="Image 5" descr="preencoded.png">    </p:cNvPr>
          <p:cNvPicPr>
            <a:picLocks noChangeAspect="1"/>
          </p:cNvPicPr>
          <p:nvPr/>
        </p:nvPicPr>
        <p:blipFill>
          <a:blip r:embed="rId6"/>
          <a:stretch>
            <a:fillRect/>
          </a:stretch>
        </p:blipFill>
        <p:spPr>
          <a:xfrm>
            <a:off x="10469880" y="6309360"/>
            <a:ext cx="1170432" cy="484632"/>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420624" cy="310896"/>
          </a:xfrm>
          <a:prstGeom prst="roundRect">
            <a:avLst>
              <a:gd name="adj" fmla="val 23529"/>
            </a:avLst>
          </a:prstGeom>
          <a:solidFill>
            <a:srgbClr val="0B032B"/>
          </a:solidFill>
          <a:ln/>
        </p:spPr>
      </p:sp>
      <p:sp>
        <p:nvSpPr>
          <p:cNvPr id="3" name="Text 1"/>
          <p:cNvSpPr txBox="1"/>
          <p:nvPr/>
        </p:nvSpPr>
        <p:spPr>
          <a:xfrm>
            <a:off x="548640" y="438912"/>
            <a:ext cx="420624" cy="310896"/>
          </a:xfrm>
          <a:prstGeom prst="rect">
            <a:avLst/>
          </a:prstGeom>
          <a:noFill/>
          <a:ln/>
        </p:spPr>
        <p:txBody>
          <a:bodyPr wrap="square" lIns="0" tIns="0" rIns="0" bIns="0" rtlCol="0" anchor="ctr"/>
          <a:lstStyle/>
          <a:p>
            <a:pPr algn="ctr" indent="0" marL="0">
              <a:buNone/>
            </a:pPr>
            <a:r>
              <a:rPr lang="en-US" sz="1100" b="1" dirty="0">
                <a:solidFill>
                  <a:srgbClr val="FFF9C7"/>
                </a:solidFill>
                <a:latin typeface="Calibri" pitchFamily="34" charset="0"/>
                <a:ea typeface="Calibri" pitchFamily="34" charset="-122"/>
                <a:cs typeface="Calibri" pitchFamily="34" charset="-120"/>
              </a:rPr>
              <a:t>05</a:t>
            </a:r>
            <a:endParaRPr lang="en-US" sz="1100" dirty="0"/>
          </a:p>
        </p:txBody>
      </p:sp>
      <p:sp>
        <p:nvSpPr>
          <p:cNvPr id="4" name="Text 2"/>
          <p:cNvSpPr txBox="1"/>
          <p:nvPr/>
        </p:nvSpPr>
        <p:spPr>
          <a:xfrm>
            <a:off x="1115568" y="438912"/>
            <a:ext cx="8229600" cy="310896"/>
          </a:xfrm>
          <a:prstGeom prst="rect">
            <a:avLst/>
          </a:prstGeom>
          <a:noFill/>
          <a:ln/>
        </p:spPr>
        <p:txBody>
          <a:bodyPr wrap="square" lIns="0" tIns="0" rIns="0" bIns="0" rtlCol="0" anchor="ctr"/>
          <a:lstStyle/>
          <a:p>
            <a:pPr indent="0" marL="0">
              <a:buNone/>
            </a:pPr>
            <a:r>
              <a:rPr lang="en-US" sz="1100" b="1" spc="200" kern="0" dirty="0">
                <a:solidFill>
                  <a:srgbClr val="55516E"/>
                </a:solidFill>
                <a:latin typeface="Calibri" pitchFamily="34" charset="0"/>
                <a:ea typeface="Calibri" pitchFamily="34" charset="-122"/>
                <a:cs typeface="Calibri" pitchFamily="34" charset="-120"/>
              </a:rPr>
              <a:t>LES COMPÉTENCES DE LA RÉGION HAUTS-DE-FRANCE</a:t>
            </a:r>
            <a:endParaRPr lang="en-US" sz="1100" dirty="0"/>
          </a:p>
        </p:txBody>
      </p:sp>
      <p:sp>
        <p:nvSpPr>
          <p:cNvPr id="5" name="Text 3"/>
          <p:cNvSpPr txBox="1"/>
          <p:nvPr/>
        </p:nvSpPr>
        <p:spPr>
          <a:xfrm>
            <a:off x="548640" y="841248"/>
            <a:ext cx="11064240" cy="685800"/>
          </a:xfrm>
          <a:prstGeom prst="rect">
            <a:avLst/>
          </a:prstGeom>
          <a:noFill/>
          <a:ln/>
        </p:spPr>
        <p:txBody>
          <a:bodyPr wrap="square" lIns="0" tIns="0" rIns="0" bIns="0" rtlCol="0" anchor="ctr">
            <a:normAutofit/>
          </a:bodyPr>
          <a:lstStyle/>
          <a:p>
            <a:pPr indent="0" marL="0">
              <a:buNone/>
            </a:pPr>
            <a:r>
              <a:rPr lang="en-US" sz="2600" b="1" dirty="0">
                <a:solidFill>
                  <a:srgbClr val="0B032B"/>
                </a:solidFill>
                <a:latin typeface="Calibri" pitchFamily="34" charset="0"/>
                <a:ea typeface="Calibri" pitchFamily="34" charset="-122"/>
                <a:cs typeface="Calibri" pitchFamily="34" charset="-120"/>
              </a:rPr>
              <a:t>La collectivité du développement économique, de la mobilité et de la formation</a:t>
            </a:r>
            <a:endParaRPr lang="en-US" sz="2600" dirty="0"/>
          </a:p>
        </p:txBody>
      </p:sp>
      <p:sp>
        <p:nvSpPr>
          <p:cNvPr id="6" name="Text 4"/>
          <p:cNvSpPr txBox="1"/>
          <p:nvPr/>
        </p:nvSpPr>
        <p:spPr>
          <a:xfrm>
            <a:off x="548640" y="1645920"/>
            <a:ext cx="10972800" cy="365760"/>
          </a:xfrm>
          <a:prstGeom prst="rect">
            <a:avLst/>
          </a:prstGeom>
          <a:noFill/>
          <a:ln/>
        </p:spPr>
        <p:txBody>
          <a:bodyPr wrap="square" lIns="0" tIns="0" rIns="0" bIns="0" rtlCol="0" anchor="t"/>
          <a:lstStyle/>
          <a:p>
            <a:pPr indent="0" marL="0">
              <a:buNone/>
            </a:pPr>
            <a:r>
              <a:rPr lang="en-US" sz="1500" i="1" dirty="0">
                <a:solidFill>
                  <a:srgbClr val="55516E"/>
                </a:solidFill>
                <a:latin typeface="Calibri" pitchFamily="34" charset="0"/>
                <a:ea typeface="Calibri" pitchFamily="34" charset="-122"/>
                <a:cs typeface="Calibri" pitchFamily="34" charset="-120"/>
              </a:rPr>
              <a:t>La Région prépare l’avenir du territoire : elle intervient sur les grands enjeux de développement, d’attractivité et d’aménagement régional.</a:t>
            </a:r>
            <a:endParaRPr lang="en-US" sz="1500" dirty="0"/>
          </a:p>
        </p:txBody>
      </p:sp>
      <p:sp>
        <p:nvSpPr>
          <p:cNvPr id="7" name="Shape 5"/>
          <p:cNvSpPr/>
          <p:nvPr/>
        </p:nvSpPr>
        <p:spPr>
          <a:xfrm>
            <a:off x="548640" y="2148840"/>
            <a:ext cx="3566160" cy="1920240"/>
          </a:xfrm>
          <a:prstGeom prst="roundRect">
            <a:avLst>
              <a:gd name="adj" fmla="val 5714"/>
            </a:avLst>
          </a:prstGeom>
          <a:solidFill>
            <a:srgbClr val="F3F2F8"/>
          </a:solidFill>
          <a:ln/>
        </p:spPr>
      </p:sp>
      <p:sp>
        <p:nvSpPr>
          <p:cNvPr id="8" name="Shape 6"/>
          <p:cNvSpPr/>
          <p:nvPr/>
        </p:nvSpPr>
        <p:spPr>
          <a:xfrm>
            <a:off x="749808" y="2331720"/>
            <a:ext cx="530352" cy="530352"/>
          </a:xfrm>
          <a:prstGeom prst="ellipse">
            <a:avLst/>
          </a:prstGeom>
          <a:solidFill>
            <a:srgbClr val="0B032B"/>
          </a:solidFill>
          <a:ln/>
        </p:spPr>
      </p:sp>
      <p:pic>
        <p:nvPicPr>
          <p:cNvPr id="9" name="Image 0" descr="preencoded.png">    </p:cNvPr>
          <p:cNvPicPr>
            <a:picLocks noChangeAspect="1"/>
          </p:cNvPicPr>
          <p:nvPr/>
        </p:nvPicPr>
        <p:blipFill>
          <a:blip r:embed="rId1"/>
          <a:stretch>
            <a:fillRect/>
          </a:stretch>
        </p:blipFill>
        <p:spPr>
          <a:xfrm>
            <a:off x="866485" y="2448397"/>
            <a:ext cx="296997" cy="296997"/>
          </a:xfrm>
          <a:prstGeom prst="rect">
            <a:avLst/>
          </a:prstGeom>
        </p:spPr>
      </p:pic>
      <p:sp>
        <p:nvSpPr>
          <p:cNvPr id="10" name="Text 7"/>
          <p:cNvSpPr txBox="1"/>
          <p:nvPr/>
        </p:nvSpPr>
        <p:spPr>
          <a:xfrm>
            <a:off x="1417320" y="2331720"/>
            <a:ext cx="2560320" cy="530352"/>
          </a:xfrm>
          <a:prstGeom prst="rect">
            <a:avLst/>
          </a:prstGeom>
          <a:noFill/>
          <a:ln/>
        </p:spPr>
        <p:txBody>
          <a:bodyPr wrap="square" lIns="0" tIns="0" rIns="0" bIns="0" rtlCol="0" anchor="ctr">
            <a:normAutofit/>
          </a:bodyPr>
          <a:lstStyle/>
          <a:p>
            <a:pPr indent="0" marL="0">
              <a:buNone/>
            </a:pPr>
            <a:r>
              <a:rPr lang="en-US" sz="1450" b="1" dirty="0">
                <a:solidFill>
                  <a:srgbClr val="0B032B"/>
                </a:solidFill>
                <a:latin typeface="Calibri" pitchFamily="34" charset="0"/>
                <a:ea typeface="Calibri" pitchFamily="34" charset="-122"/>
                <a:cs typeface="Calibri" pitchFamily="34" charset="-120"/>
              </a:rPr>
              <a:t>Développement économique</a:t>
            </a:r>
            <a:endParaRPr lang="en-US" sz="1450" dirty="0"/>
          </a:p>
        </p:txBody>
      </p:sp>
      <p:sp>
        <p:nvSpPr>
          <p:cNvPr id="11" name="Text 8"/>
          <p:cNvSpPr txBox="1"/>
          <p:nvPr/>
        </p:nvSpPr>
        <p:spPr>
          <a:xfrm>
            <a:off x="777240" y="2990088"/>
            <a:ext cx="3154680" cy="987552"/>
          </a:xfrm>
          <a:prstGeom prst="rect">
            <a:avLst/>
          </a:prstGeom>
          <a:noFill/>
          <a:ln/>
        </p:spPr>
        <p:txBody>
          <a:bodyPr wrap="square" lIns="0" tIns="0" rIns="0" bIns="0" rtlCol="0" anchor="t">
            <a:normAutofit/>
          </a:bodyPr>
          <a:lstStyle/>
          <a:p>
            <a:pPr marL="203200" indent="-203200">
              <a:spcAft>
                <a:spcPts val="300"/>
              </a:spcAft>
              <a:buSzPct val="100000"/>
              <a:buChar char="●"/>
            </a:pPr>
            <a:r>
              <a:rPr lang="en-US" sz="1150" dirty="0">
                <a:solidFill>
                  <a:srgbClr val="55516E"/>
                </a:solidFill>
                <a:latin typeface="Calibri" pitchFamily="34" charset="0"/>
                <a:ea typeface="Calibri" pitchFamily="34" charset="-122"/>
                <a:cs typeface="Calibri" pitchFamily="34" charset="-120"/>
              </a:rPr>
              <a:t>Soutien aux entreprises, à l’innovation et à l’artisanat.</a:t>
            </a:r>
            <a:endParaRPr lang="en-US" sz="1150" dirty="0"/>
          </a:p>
          <a:p>
            <a:pPr marL="203200" indent="-203200">
              <a:spcAft>
                <a:spcPts val="300"/>
              </a:spcAft>
              <a:buSzPct val="100000"/>
              <a:buChar char="●"/>
            </a:pPr>
            <a:r>
              <a:rPr lang="en-US" sz="1150" dirty="0">
                <a:solidFill>
                  <a:srgbClr val="55516E"/>
                </a:solidFill>
                <a:latin typeface="Calibri" pitchFamily="34" charset="0"/>
                <a:ea typeface="Calibri" pitchFamily="34" charset="-122"/>
                <a:cs typeface="Calibri" pitchFamily="34" charset="-120"/>
              </a:rPr>
              <a:t>Aides à la création et à la reprise d’entreprises.</a:t>
            </a:r>
            <a:endParaRPr lang="en-US" sz="1150" dirty="0"/>
          </a:p>
          <a:p>
            <a:pPr marL="203200" indent="-203200">
              <a:spcAft>
                <a:spcPts val="300"/>
              </a:spcAft>
              <a:buSzPct val="100000"/>
              <a:buChar char="●"/>
            </a:pPr>
            <a:r>
              <a:rPr lang="en-US" sz="1150" dirty="0">
                <a:solidFill>
                  <a:srgbClr val="55516E"/>
                </a:solidFill>
                <a:latin typeface="Calibri" pitchFamily="34" charset="0"/>
                <a:ea typeface="Calibri" pitchFamily="34" charset="-122"/>
                <a:cs typeface="Calibri" pitchFamily="34" charset="-120"/>
              </a:rPr>
              <a:t>Attractivité et compétitivité du territoire.</a:t>
            </a:r>
            <a:endParaRPr lang="en-US" sz="1150" dirty="0"/>
          </a:p>
        </p:txBody>
      </p:sp>
      <p:sp>
        <p:nvSpPr>
          <p:cNvPr id="12" name="Shape 9"/>
          <p:cNvSpPr/>
          <p:nvPr/>
        </p:nvSpPr>
        <p:spPr>
          <a:xfrm>
            <a:off x="4297680" y="2148840"/>
            <a:ext cx="3566160" cy="1920240"/>
          </a:xfrm>
          <a:prstGeom prst="roundRect">
            <a:avLst>
              <a:gd name="adj" fmla="val 5714"/>
            </a:avLst>
          </a:prstGeom>
          <a:solidFill>
            <a:srgbClr val="FFFDEB"/>
          </a:solidFill>
          <a:ln/>
        </p:spPr>
      </p:sp>
      <p:sp>
        <p:nvSpPr>
          <p:cNvPr id="13" name="Shape 10"/>
          <p:cNvSpPr/>
          <p:nvPr/>
        </p:nvSpPr>
        <p:spPr>
          <a:xfrm>
            <a:off x="4498848" y="2331720"/>
            <a:ext cx="530352" cy="530352"/>
          </a:xfrm>
          <a:prstGeom prst="ellipse">
            <a:avLst/>
          </a:prstGeom>
          <a:solidFill>
            <a:srgbClr val="0B032B"/>
          </a:solidFill>
          <a:ln/>
        </p:spPr>
      </p:sp>
      <p:pic>
        <p:nvPicPr>
          <p:cNvPr id="14" name="Image 1" descr="preencoded.png">    </p:cNvPr>
          <p:cNvPicPr>
            <a:picLocks noChangeAspect="1"/>
          </p:cNvPicPr>
          <p:nvPr/>
        </p:nvPicPr>
        <p:blipFill>
          <a:blip r:embed="rId2"/>
          <a:stretch>
            <a:fillRect/>
          </a:stretch>
        </p:blipFill>
        <p:spPr>
          <a:xfrm>
            <a:off x="4615525" y="2448397"/>
            <a:ext cx="296997" cy="296997"/>
          </a:xfrm>
          <a:prstGeom prst="rect">
            <a:avLst/>
          </a:prstGeom>
        </p:spPr>
      </p:pic>
      <p:sp>
        <p:nvSpPr>
          <p:cNvPr id="15" name="Text 11"/>
          <p:cNvSpPr txBox="1"/>
          <p:nvPr/>
        </p:nvSpPr>
        <p:spPr>
          <a:xfrm>
            <a:off x="5166360" y="2331720"/>
            <a:ext cx="2560320" cy="530352"/>
          </a:xfrm>
          <a:prstGeom prst="rect">
            <a:avLst/>
          </a:prstGeom>
          <a:noFill/>
          <a:ln/>
        </p:spPr>
        <p:txBody>
          <a:bodyPr wrap="square" lIns="0" tIns="0" rIns="0" bIns="0" rtlCol="0" anchor="ctr">
            <a:normAutofit/>
          </a:bodyPr>
          <a:lstStyle/>
          <a:p>
            <a:pPr indent="0" marL="0">
              <a:buNone/>
            </a:pPr>
            <a:r>
              <a:rPr lang="en-US" sz="1450" b="1" dirty="0">
                <a:solidFill>
                  <a:srgbClr val="0B032B"/>
                </a:solidFill>
                <a:latin typeface="Calibri" pitchFamily="34" charset="0"/>
                <a:ea typeface="Calibri" pitchFamily="34" charset="-122"/>
                <a:cs typeface="Calibri" pitchFamily="34" charset="-120"/>
              </a:rPr>
              <a:t>Formation, apprentissage et emploi</a:t>
            </a:r>
            <a:endParaRPr lang="en-US" sz="1450" dirty="0"/>
          </a:p>
        </p:txBody>
      </p:sp>
      <p:sp>
        <p:nvSpPr>
          <p:cNvPr id="16" name="Text 12"/>
          <p:cNvSpPr txBox="1"/>
          <p:nvPr/>
        </p:nvSpPr>
        <p:spPr>
          <a:xfrm>
            <a:off x="4526280" y="2990088"/>
            <a:ext cx="3154680" cy="987552"/>
          </a:xfrm>
          <a:prstGeom prst="rect">
            <a:avLst/>
          </a:prstGeom>
          <a:noFill/>
          <a:ln/>
        </p:spPr>
        <p:txBody>
          <a:bodyPr wrap="square" lIns="0" tIns="0" rIns="0" bIns="0" rtlCol="0" anchor="t">
            <a:normAutofit/>
          </a:bodyPr>
          <a:lstStyle/>
          <a:p>
            <a:pPr marL="203200" indent="-203200">
              <a:spcAft>
                <a:spcPts val="300"/>
              </a:spcAft>
              <a:buSzPct val="100000"/>
              <a:buChar char="●"/>
            </a:pPr>
            <a:r>
              <a:rPr lang="en-US" sz="1150" dirty="0">
                <a:solidFill>
                  <a:srgbClr val="55516E"/>
                </a:solidFill>
                <a:latin typeface="Calibri" pitchFamily="34" charset="0"/>
                <a:ea typeface="Calibri" pitchFamily="34" charset="-122"/>
                <a:cs typeface="Calibri" pitchFamily="34" charset="-120"/>
              </a:rPr>
              <a:t>Formation professionnelle des demandeurs d’emploi.</a:t>
            </a:r>
            <a:endParaRPr lang="en-US" sz="1150" dirty="0"/>
          </a:p>
          <a:p>
            <a:pPr marL="203200" indent="-203200">
              <a:spcAft>
                <a:spcPts val="300"/>
              </a:spcAft>
              <a:buSzPct val="100000"/>
              <a:buChar char="●"/>
            </a:pPr>
            <a:r>
              <a:rPr lang="en-US" sz="1150" dirty="0">
                <a:solidFill>
                  <a:srgbClr val="55516E"/>
                </a:solidFill>
                <a:latin typeface="Calibri" pitchFamily="34" charset="0"/>
                <a:ea typeface="Calibri" pitchFamily="34" charset="-122"/>
                <a:cs typeface="Calibri" pitchFamily="34" charset="-120"/>
              </a:rPr>
              <a:t>Développement de l’apprentissage.</a:t>
            </a:r>
            <a:endParaRPr lang="en-US" sz="1150" dirty="0"/>
          </a:p>
          <a:p>
            <a:pPr marL="203200" indent="-203200">
              <a:spcAft>
                <a:spcPts val="300"/>
              </a:spcAft>
              <a:buSzPct val="100000"/>
              <a:buChar char="●"/>
            </a:pPr>
            <a:r>
              <a:rPr lang="en-US" sz="1150" dirty="0">
                <a:solidFill>
                  <a:srgbClr val="55516E"/>
                </a:solidFill>
                <a:latin typeface="Calibri" pitchFamily="34" charset="0"/>
                <a:ea typeface="Calibri" pitchFamily="34" charset="-122"/>
                <a:cs typeface="Calibri" pitchFamily="34" charset="-120"/>
              </a:rPr>
              <a:t>Orientation et insertion professionnelle.</a:t>
            </a:r>
            <a:endParaRPr lang="en-US" sz="1150" dirty="0"/>
          </a:p>
        </p:txBody>
      </p:sp>
      <p:sp>
        <p:nvSpPr>
          <p:cNvPr id="17" name="Shape 13"/>
          <p:cNvSpPr/>
          <p:nvPr/>
        </p:nvSpPr>
        <p:spPr>
          <a:xfrm>
            <a:off x="8046720" y="2148840"/>
            <a:ext cx="3566160" cy="1920240"/>
          </a:xfrm>
          <a:prstGeom prst="roundRect">
            <a:avLst>
              <a:gd name="adj" fmla="val 5714"/>
            </a:avLst>
          </a:prstGeom>
          <a:solidFill>
            <a:srgbClr val="F3F2F8"/>
          </a:solidFill>
          <a:ln/>
        </p:spPr>
      </p:sp>
      <p:sp>
        <p:nvSpPr>
          <p:cNvPr id="18" name="Shape 14"/>
          <p:cNvSpPr/>
          <p:nvPr/>
        </p:nvSpPr>
        <p:spPr>
          <a:xfrm>
            <a:off x="8247888" y="2331720"/>
            <a:ext cx="530352" cy="530352"/>
          </a:xfrm>
          <a:prstGeom prst="ellipse">
            <a:avLst/>
          </a:prstGeom>
          <a:solidFill>
            <a:srgbClr val="0B032B"/>
          </a:solidFill>
          <a:ln/>
        </p:spPr>
      </p:sp>
      <p:pic>
        <p:nvPicPr>
          <p:cNvPr id="19" name="Image 2" descr="preencoded.png">    </p:cNvPr>
          <p:cNvPicPr>
            <a:picLocks noChangeAspect="1"/>
          </p:cNvPicPr>
          <p:nvPr/>
        </p:nvPicPr>
        <p:blipFill>
          <a:blip r:embed="rId3"/>
          <a:stretch>
            <a:fillRect/>
          </a:stretch>
        </p:blipFill>
        <p:spPr>
          <a:xfrm>
            <a:off x="8364565" y="2448397"/>
            <a:ext cx="296997" cy="296997"/>
          </a:xfrm>
          <a:prstGeom prst="rect">
            <a:avLst/>
          </a:prstGeom>
        </p:spPr>
      </p:pic>
      <p:sp>
        <p:nvSpPr>
          <p:cNvPr id="20" name="Text 15"/>
          <p:cNvSpPr txBox="1"/>
          <p:nvPr/>
        </p:nvSpPr>
        <p:spPr>
          <a:xfrm>
            <a:off x="8915400" y="2331720"/>
            <a:ext cx="2560320" cy="530352"/>
          </a:xfrm>
          <a:prstGeom prst="rect">
            <a:avLst/>
          </a:prstGeom>
          <a:noFill/>
          <a:ln/>
        </p:spPr>
        <p:txBody>
          <a:bodyPr wrap="square" lIns="0" tIns="0" rIns="0" bIns="0" rtlCol="0" anchor="ctr">
            <a:normAutofit/>
          </a:bodyPr>
          <a:lstStyle/>
          <a:p>
            <a:pPr indent="0" marL="0">
              <a:buNone/>
            </a:pPr>
            <a:r>
              <a:rPr lang="en-US" sz="1450" b="1" dirty="0">
                <a:solidFill>
                  <a:srgbClr val="0B032B"/>
                </a:solidFill>
                <a:latin typeface="Calibri" pitchFamily="34" charset="0"/>
                <a:ea typeface="Calibri" pitchFamily="34" charset="-122"/>
                <a:cs typeface="Calibri" pitchFamily="34" charset="-120"/>
              </a:rPr>
              <a:t>Transports et mobilités</a:t>
            </a:r>
            <a:endParaRPr lang="en-US" sz="1450" dirty="0"/>
          </a:p>
        </p:txBody>
      </p:sp>
      <p:sp>
        <p:nvSpPr>
          <p:cNvPr id="21" name="Text 16"/>
          <p:cNvSpPr txBox="1"/>
          <p:nvPr/>
        </p:nvSpPr>
        <p:spPr>
          <a:xfrm>
            <a:off x="8275320" y="2990088"/>
            <a:ext cx="3154680" cy="987552"/>
          </a:xfrm>
          <a:prstGeom prst="rect">
            <a:avLst/>
          </a:prstGeom>
          <a:noFill/>
          <a:ln/>
        </p:spPr>
        <p:txBody>
          <a:bodyPr wrap="square" lIns="0" tIns="0" rIns="0" bIns="0" rtlCol="0" anchor="t">
            <a:normAutofit/>
          </a:bodyPr>
          <a:lstStyle/>
          <a:p>
            <a:pPr marL="203200" indent="-203200">
              <a:spcAft>
                <a:spcPts val="300"/>
              </a:spcAft>
              <a:buSzPct val="100000"/>
              <a:buChar char="●"/>
            </a:pPr>
            <a:r>
              <a:rPr lang="en-US" sz="1150" dirty="0">
                <a:solidFill>
                  <a:srgbClr val="55516E"/>
                </a:solidFill>
                <a:latin typeface="Calibri" pitchFamily="34" charset="0"/>
                <a:ea typeface="Calibri" pitchFamily="34" charset="-122"/>
                <a:cs typeface="Calibri" pitchFamily="34" charset="-120"/>
              </a:rPr>
              <a:t>Organisation des transports régionaux (TER).</a:t>
            </a:r>
            <a:endParaRPr lang="en-US" sz="1150" dirty="0"/>
          </a:p>
          <a:p>
            <a:pPr marL="203200" indent="-203200">
              <a:spcAft>
                <a:spcPts val="300"/>
              </a:spcAft>
              <a:buSzPct val="100000"/>
              <a:buChar char="●"/>
            </a:pPr>
            <a:r>
              <a:rPr lang="en-US" sz="1150" dirty="0">
                <a:solidFill>
                  <a:srgbClr val="55516E"/>
                </a:solidFill>
                <a:latin typeface="Calibri" pitchFamily="34" charset="0"/>
                <a:ea typeface="Calibri" pitchFamily="34" charset="-122"/>
                <a:cs typeface="Calibri" pitchFamily="34" charset="-120"/>
              </a:rPr>
              <a:t>Transports scolaires (selon les départements et les conventions).</a:t>
            </a:r>
            <a:endParaRPr lang="en-US" sz="1150" dirty="0"/>
          </a:p>
          <a:p>
            <a:pPr marL="203200" indent="-203200">
              <a:spcAft>
                <a:spcPts val="300"/>
              </a:spcAft>
              <a:buSzPct val="100000"/>
              <a:buChar char="●"/>
            </a:pPr>
            <a:r>
              <a:rPr lang="en-US" sz="1150" dirty="0">
                <a:solidFill>
                  <a:srgbClr val="55516E"/>
                </a:solidFill>
                <a:latin typeface="Calibri" pitchFamily="34" charset="0"/>
                <a:ea typeface="Calibri" pitchFamily="34" charset="-122"/>
                <a:cs typeface="Calibri" pitchFamily="34" charset="-120"/>
              </a:rPr>
              <a:t>Développement des mobilités durables.</a:t>
            </a:r>
            <a:endParaRPr lang="en-US" sz="1150" dirty="0"/>
          </a:p>
        </p:txBody>
      </p:sp>
      <p:sp>
        <p:nvSpPr>
          <p:cNvPr id="22" name="Shape 17"/>
          <p:cNvSpPr/>
          <p:nvPr/>
        </p:nvSpPr>
        <p:spPr>
          <a:xfrm>
            <a:off x="548640" y="4251960"/>
            <a:ext cx="3566160" cy="1920240"/>
          </a:xfrm>
          <a:prstGeom prst="roundRect">
            <a:avLst>
              <a:gd name="adj" fmla="val 5714"/>
            </a:avLst>
          </a:prstGeom>
          <a:solidFill>
            <a:srgbClr val="FFFDEB"/>
          </a:solidFill>
          <a:ln/>
        </p:spPr>
      </p:sp>
      <p:sp>
        <p:nvSpPr>
          <p:cNvPr id="23" name="Shape 18"/>
          <p:cNvSpPr/>
          <p:nvPr/>
        </p:nvSpPr>
        <p:spPr>
          <a:xfrm>
            <a:off x="749808" y="4434840"/>
            <a:ext cx="530352" cy="530352"/>
          </a:xfrm>
          <a:prstGeom prst="ellipse">
            <a:avLst/>
          </a:prstGeom>
          <a:solidFill>
            <a:srgbClr val="0B032B"/>
          </a:solidFill>
          <a:ln/>
        </p:spPr>
      </p:sp>
      <p:pic>
        <p:nvPicPr>
          <p:cNvPr id="24" name="Image 3" descr="preencoded.png">    </p:cNvPr>
          <p:cNvPicPr>
            <a:picLocks noChangeAspect="1"/>
          </p:cNvPicPr>
          <p:nvPr/>
        </p:nvPicPr>
        <p:blipFill>
          <a:blip r:embed="rId4"/>
          <a:stretch>
            <a:fillRect/>
          </a:stretch>
        </p:blipFill>
        <p:spPr>
          <a:xfrm>
            <a:off x="866485" y="4551517"/>
            <a:ext cx="296997" cy="296997"/>
          </a:xfrm>
          <a:prstGeom prst="rect">
            <a:avLst/>
          </a:prstGeom>
        </p:spPr>
      </p:pic>
      <p:sp>
        <p:nvSpPr>
          <p:cNvPr id="25" name="Text 19"/>
          <p:cNvSpPr txBox="1"/>
          <p:nvPr/>
        </p:nvSpPr>
        <p:spPr>
          <a:xfrm>
            <a:off x="1417320" y="4434840"/>
            <a:ext cx="2560320" cy="530352"/>
          </a:xfrm>
          <a:prstGeom prst="rect">
            <a:avLst/>
          </a:prstGeom>
          <a:noFill/>
          <a:ln/>
        </p:spPr>
        <p:txBody>
          <a:bodyPr wrap="square" lIns="0" tIns="0" rIns="0" bIns="0" rtlCol="0" anchor="ctr">
            <a:normAutofit/>
          </a:bodyPr>
          <a:lstStyle/>
          <a:p>
            <a:pPr indent="0" marL="0">
              <a:buNone/>
            </a:pPr>
            <a:r>
              <a:rPr lang="en-US" sz="1450" b="1" dirty="0">
                <a:solidFill>
                  <a:srgbClr val="0B032B"/>
                </a:solidFill>
                <a:latin typeface="Calibri" pitchFamily="34" charset="0"/>
                <a:ea typeface="Calibri" pitchFamily="34" charset="-122"/>
                <a:cs typeface="Calibri" pitchFamily="34" charset="-120"/>
              </a:rPr>
              <a:t>Les lycées</a:t>
            </a:r>
            <a:endParaRPr lang="en-US" sz="1450" dirty="0"/>
          </a:p>
        </p:txBody>
      </p:sp>
      <p:sp>
        <p:nvSpPr>
          <p:cNvPr id="26" name="Text 20"/>
          <p:cNvSpPr txBox="1"/>
          <p:nvPr/>
        </p:nvSpPr>
        <p:spPr>
          <a:xfrm>
            <a:off x="777240" y="5093208"/>
            <a:ext cx="3154680" cy="987552"/>
          </a:xfrm>
          <a:prstGeom prst="rect">
            <a:avLst/>
          </a:prstGeom>
          <a:noFill/>
          <a:ln/>
        </p:spPr>
        <p:txBody>
          <a:bodyPr wrap="square" lIns="0" tIns="0" rIns="0" bIns="0" rtlCol="0" anchor="t">
            <a:normAutofit/>
          </a:bodyPr>
          <a:lstStyle/>
          <a:p>
            <a:pPr marL="203200" indent="-203200">
              <a:spcAft>
                <a:spcPts val="300"/>
              </a:spcAft>
              <a:buSzPct val="100000"/>
              <a:buChar char="●"/>
            </a:pPr>
            <a:r>
              <a:rPr lang="en-US" sz="1150" dirty="0">
                <a:solidFill>
                  <a:srgbClr val="55516E"/>
                </a:solidFill>
                <a:latin typeface="Calibri" pitchFamily="34" charset="0"/>
                <a:ea typeface="Calibri" pitchFamily="34" charset="-122"/>
                <a:cs typeface="Calibri" pitchFamily="34" charset="-120"/>
              </a:rPr>
              <a:t>Construction, rénovation, entretien et équipement des lycées publics.</a:t>
            </a:r>
            <a:endParaRPr lang="en-US" sz="1150" dirty="0"/>
          </a:p>
          <a:p>
            <a:pPr marL="203200" indent="-203200">
              <a:spcAft>
                <a:spcPts val="300"/>
              </a:spcAft>
              <a:buSzPct val="100000"/>
              <a:buChar char="●"/>
            </a:pPr>
            <a:r>
              <a:rPr lang="en-US" sz="1150" dirty="0">
                <a:solidFill>
                  <a:srgbClr val="55516E"/>
                </a:solidFill>
                <a:latin typeface="Calibri" pitchFamily="34" charset="0"/>
                <a:ea typeface="Calibri" pitchFamily="34" charset="-122"/>
                <a:cs typeface="Calibri" pitchFamily="34" charset="-120"/>
              </a:rPr>
              <a:t>Gestion des agents techniques régionaux.</a:t>
            </a:r>
            <a:endParaRPr lang="en-US" sz="1150" dirty="0"/>
          </a:p>
        </p:txBody>
      </p:sp>
      <p:sp>
        <p:nvSpPr>
          <p:cNvPr id="27" name="Shape 21"/>
          <p:cNvSpPr/>
          <p:nvPr/>
        </p:nvSpPr>
        <p:spPr>
          <a:xfrm>
            <a:off x="4297680" y="4251960"/>
            <a:ext cx="3566160" cy="1920240"/>
          </a:xfrm>
          <a:prstGeom prst="roundRect">
            <a:avLst>
              <a:gd name="adj" fmla="val 5714"/>
            </a:avLst>
          </a:prstGeom>
          <a:solidFill>
            <a:srgbClr val="F3F2F8"/>
          </a:solidFill>
          <a:ln/>
        </p:spPr>
      </p:sp>
      <p:sp>
        <p:nvSpPr>
          <p:cNvPr id="28" name="Shape 22"/>
          <p:cNvSpPr/>
          <p:nvPr/>
        </p:nvSpPr>
        <p:spPr>
          <a:xfrm>
            <a:off x="4498848" y="4434840"/>
            <a:ext cx="530352" cy="530352"/>
          </a:xfrm>
          <a:prstGeom prst="ellipse">
            <a:avLst/>
          </a:prstGeom>
          <a:solidFill>
            <a:srgbClr val="0B032B"/>
          </a:solidFill>
          <a:ln/>
        </p:spPr>
      </p:sp>
      <p:pic>
        <p:nvPicPr>
          <p:cNvPr id="29" name="Image 4" descr="preencoded.png">    </p:cNvPr>
          <p:cNvPicPr>
            <a:picLocks noChangeAspect="1"/>
          </p:cNvPicPr>
          <p:nvPr/>
        </p:nvPicPr>
        <p:blipFill>
          <a:blip r:embed="rId5"/>
          <a:stretch>
            <a:fillRect/>
          </a:stretch>
        </p:blipFill>
        <p:spPr>
          <a:xfrm>
            <a:off x="4615525" y="4551517"/>
            <a:ext cx="296997" cy="296997"/>
          </a:xfrm>
          <a:prstGeom prst="rect">
            <a:avLst/>
          </a:prstGeom>
        </p:spPr>
      </p:pic>
      <p:sp>
        <p:nvSpPr>
          <p:cNvPr id="30" name="Text 23"/>
          <p:cNvSpPr txBox="1"/>
          <p:nvPr/>
        </p:nvSpPr>
        <p:spPr>
          <a:xfrm>
            <a:off x="5166360" y="4434840"/>
            <a:ext cx="2560320" cy="530352"/>
          </a:xfrm>
          <a:prstGeom prst="rect">
            <a:avLst/>
          </a:prstGeom>
          <a:noFill/>
          <a:ln/>
        </p:spPr>
        <p:txBody>
          <a:bodyPr wrap="square" lIns="0" tIns="0" rIns="0" bIns="0" rtlCol="0" anchor="ctr">
            <a:normAutofit/>
          </a:bodyPr>
          <a:lstStyle/>
          <a:p>
            <a:pPr indent="0" marL="0">
              <a:buNone/>
            </a:pPr>
            <a:r>
              <a:rPr lang="en-US" sz="1450" b="1" dirty="0">
                <a:solidFill>
                  <a:srgbClr val="0B032B"/>
                </a:solidFill>
                <a:latin typeface="Calibri" pitchFamily="34" charset="0"/>
                <a:ea typeface="Calibri" pitchFamily="34" charset="-122"/>
                <a:cs typeface="Calibri" pitchFamily="34" charset="-120"/>
              </a:rPr>
              <a:t>Aménagement du territoire et transition écologique</a:t>
            </a:r>
            <a:endParaRPr lang="en-US" sz="1450" dirty="0"/>
          </a:p>
        </p:txBody>
      </p:sp>
      <p:sp>
        <p:nvSpPr>
          <p:cNvPr id="31" name="Text 24"/>
          <p:cNvSpPr txBox="1"/>
          <p:nvPr/>
        </p:nvSpPr>
        <p:spPr>
          <a:xfrm>
            <a:off x="4526280" y="5093208"/>
            <a:ext cx="3154680" cy="987552"/>
          </a:xfrm>
          <a:prstGeom prst="rect">
            <a:avLst/>
          </a:prstGeom>
          <a:noFill/>
          <a:ln/>
        </p:spPr>
        <p:txBody>
          <a:bodyPr wrap="square" lIns="0" tIns="0" rIns="0" bIns="0" rtlCol="0" anchor="t">
            <a:normAutofit/>
          </a:bodyPr>
          <a:lstStyle/>
          <a:p>
            <a:pPr marL="203200" indent="-203200">
              <a:spcAft>
                <a:spcPts val="300"/>
              </a:spcAft>
              <a:buSzPct val="100000"/>
              <a:buChar char="●"/>
            </a:pPr>
            <a:r>
              <a:rPr lang="en-US" sz="1150" dirty="0">
                <a:solidFill>
                  <a:srgbClr val="55516E"/>
                </a:solidFill>
                <a:latin typeface="Calibri" pitchFamily="34" charset="0"/>
                <a:ea typeface="Calibri" pitchFamily="34" charset="-122"/>
                <a:cs typeface="Calibri" pitchFamily="34" charset="-120"/>
              </a:rPr>
              <a:t>Schéma régional d’aménagement (SRADDET).</a:t>
            </a:r>
            <a:endParaRPr lang="en-US" sz="1150" dirty="0"/>
          </a:p>
          <a:p>
            <a:pPr marL="203200" indent="-203200">
              <a:spcAft>
                <a:spcPts val="300"/>
              </a:spcAft>
              <a:buSzPct val="100000"/>
              <a:buChar char="●"/>
            </a:pPr>
            <a:r>
              <a:rPr lang="en-US" sz="1150" dirty="0">
                <a:solidFill>
                  <a:srgbClr val="55516E"/>
                </a:solidFill>
                <a:latin typeface="Calibri" pitchFamily="34" charset="0"/>
                <a:ea typeface="Calibri" pitchFamily="34" charset="-122"/>
                <a:cs typeface="Calibri" pitchFamily="34" charset="-120"/>
              </a:rPr>
              <a:t>Soutien aux projets des territoires.</a:t>
            </a:r>
            <a:endParaRPr lang="en-US" sz="1150" dirty="0"/>
          </a:p>
          <a:p>
            <a:pPr marL="203200" indent="-203200">
              <a:spcAft>
                <a:spcPts val="300"/>
              </a:spcAft>
              <a:buSzPct val="100000"/>
              <a:buChar char="●"/>
            </a:pPr>
            <a:r>
              <a:rPr lang="en-US" sz="1150" dirty="0">
                <a:solidFill>
                  <a:srgbClr val="55516E"/>
                </a:solidFill>
                <a:latin typeface="Calibri" pitchFamily="34" charset="0"/>
                <a:ea typeface="Calibri" pitchFamily="34" charset="-122"/>
                <a:cs typeface="Calibri" pitchFamily="34" charset="-120"/>
              </a:rPr>
              <a:t>Transition énergétique et développement durable.</a:t>
            </a:r>
            <a:endParaRPr lang="en-US" sz="1150" dirty="0"/>
          </a:p>
        </p:txBody>
      </p:sp>
      <p:sp>
        <p:nvSpPr>
          <p:cNvPr id="32" name="Shape 25"/>
          <p:cNvSpPr/>
          <p:nvPr/>
        </p:nvSpPr>
        <p:spPr>
          <a:xfrm>
            <a:off x="8046720" y="4251960"/>
            <a:ext cx="3566160" cy="1920240"/>
          </a:xfrm>
          <a:prstGeom prst="roundRect">
            <a:avLst>
              <a:gd name="adj" fmla="val 5714"/>
            </a:avLst>
          </a:prstGeom>
          <a:solidFill>
            <a:srgbClr val="FFFDEB"/>
          </a:solidFill>
          <a:ln/>
        </p:spPr>
      </p:sp>
      <p:sp>
        <p:nvSpPr>
          <p:cNvPr id="33" name="Shape 26"/>
          <p:cNvSpPr/>
          <p:nvPr/>
        </p:nvSpPr>
        <p:spPr>
          <a:xfrm>
            <a:off x="8247888" y="4434840"/>
            <a:ext cx="530352" cy="530352"/>
          </a:xfrm>
          <a:prstGeom prst="ellipse">
            <a:avLst/>
          </a:prstGeom>
          <a:solidFill>
            <a:srgbClr val="0B032B"/>
          </a:solidFill>
          <a:ln/>
        </p:spPr>
      </p:sp>
      <p:pic>
        <p:nvPicPr>
          <p:cNvPr id="34" name="Image 5" descr="preencoded.png">    </p:cNvPr>
          <p:cNvPicPr>
            <a:picLocks noChangeAspect="1"/>
          </p:cNvPicPr>
          <p:nvPr/>
        </p:nvPicPr>
        <p:blipFill>
          <a:blip r:embed="rId6"/>
          <a:stretch>
            <a:fillRect/>
          </a:stretch>
        </p:blipFill>
        <p:spPr>
          <a:xfrm>
            <a:off x="8364565" y="4551517"/>
            <a:ext cx="296997" cy="296997"/>
          </a:xfrm>
          <a:prstGeom prst="rect">
            <a:avLst/>
          </a:prstGeom>
        </p:spPr>
      </p:pic>
      <p:sp>
        <p:nvSpPr>
          <p:cNvPr id="35" name="Text 27"/>
          <p:cNvSpPr txBox="1"/>
          <p:nvPr/>
        </p:nvSpPr>
        <p:spPr>
          <a:xfrm>
            <a:off x="8915400" y="4434840"/>
            <a:ext cx="2560320" cy="530352"/>
          </a:xfrm>
          <a:prstGeom prst="rect">
            <a:avLst/>
          </a:prstGeom>
          <a:noFill/>
          <a:ln/>
        </p:spPr>
        <p:txBody>
          <a:bodyPr wrap="square" lIns="0" tIns="0" rIns="0" bIns="0" rtlCol="0" anchor="ctr">
            <a:normAutofit/>
          </a:bodyPr>
          <a:lstStyle/>
          <a:p>
            <a:pPr indent="0" marL="0">
              <a:buNone/>
            </a:pPr>
            <a:r>
              <a:rPr lang="en-US" sz="1450" b="1" dirty="0">
                <a:solidFill>
                  <a:srgbClr val="0B032B"/>
                </a:solidFill>
                <a:latin typeface="Calibri" pitchFamily="34" charset="0"/>
                <a:ea typeface="Calibri" pitchFamily="34" charset="-122"/>
                <a:cs typeface="Calibri" pitchFamily="34" charset="-120"/>
              </a:rPr>
              <a:t>Europe, culture, tourisme et agriculture</a:t>
            </a:r>
            <a:endParaRPr lang="en-US" sz="1450" dirty="0"/>
          </a:p>
        </p:txBody>
      </p:sp>
      <p:sp>
        <p:nvSpPr>
          <p:cNvPr id="36" name="Text 28"/>
          <p:cNvSpPr txBox="1"/>
          <p:nvPr/>
        </p:nvSpPr>
        <p:spPr>
          <a:xfrm>
            <a:off x="8275320" y="5093208"/>
            <a:ext cx="3154680" cy="987552"/>
          </a:xfrm>
          <a:prstGeom prst="rect">
            <a:avLst/>
          </a:prstGeom>
          <a:noFill/>
          <a:ln/>
        </p:spPr>
        <p:txBody>
          <a:bodyPr wrap="square" lIns="0" tIns="0" rIns="0" bIns="0" rtlCol="0" anchor="t">
            <a:normAutofit/>
          </a:bodyPr>
          <a:lstStyle/>
          <a:p>
            <a:pPr marL="203200" indent="-203200">
              <a:spcAft>
                <a:spcPts val="300"/>
              </a:spcAft>
              <a:buSzPct val="100000"/>
              <a:buChar char="●"/>
            </a:pPr>
            <a:r>
              <a:rPr lang="en-US" sz="1150" dirty="0">
                <a:solidFill>
                  <a:srgbClr val="55516E"/>
                </a:solidFill>
                <a:latin typeface="Calibri" pitchFamily="34" charset="0"/>
                <a:ea typeface="Calibri" pitchFamily="34" charset="-122"/>
                <a:cs typeface="Calibri" pitchFamily="34" charset="-120"/>
              </a:rPr>
              <a:t>Gestion de nombreux fonds européens (FEDER, FSE+...).</a:t>
            </a:r>
            <a:endParaRPr lang="en-US" sz="1150" dirty="0"/>
          </a:p>
          <a:p>
            <a:pPr marL="203200" indent="-203200">
              <a:spcAft>
                <a:spcPts val="300"/>
              </a:spcAft>
              <a:buSzPct val="100000"/>
              <a:buChar char="●"/>
            </a:pPr>
            <a:r>
              <a:rPr lang="en-US" sz="1150" dirty="0">
                <a:solidFill>
                  <a:srgbClr val="55516E"/>
                </a:solidFill>
                <a:latin typeface="Calibri" pitchFamily="34" charset="0"/>
                <a:ea typeface="Calibri" pitchFamily="34" charset="-122"/>
                <a:cs typeface="Calibri" pitchFamily="34" charset="-120"/>
              </a:rPr>
              <a:t>Soutien au patrimoine, à la culture et aux grands événements.</a:t>
            </a:r>
            <a:endParaRPr lang="en-US" sz="1150" dirty="0"/>
          </a:p>
          <a:p>
            <a:pPr marL="203200" indent="-203200">
              <a:spcAft>
                <a:spcPts val="300"/>
              </a:spcAft>
              <a:buSzPct val="100000"/>
              <a:buChar char="●"/>
            </a:pPr>
            <a:r>
              <a:rPr lang="en-US" sz="1150" dirty="0">
                <a:solidFill>
                  <a:srgbClr val="55516E"/>
                </a:solidFill>
                <a:latin typeface="Calibri" pitchFamily="34" charset="0"/>
                <a:ea typeface="Calibri" pitchFamily="34" charset="-122"/>
                <a:cs typeface="Calibri" pitchFamily="34" charset="-120"/>
              </a:rPr>
              <a:t>Développement touristique.</a:t>
            </a:r>
            <a:endParaRPr lang="en-US" sz="1150" dirty="0"/>
          </a:p>
          <a:p>
            <a:pPr marL="203200" indent="-203200">
              <a:spcAft>
                <a:spcPts val="300"/>
              </a:spcAft>
              <a:buSzPct val="100000"/>
              <a:buChar char="●"/>
            </a:pPr>
            <a:r>
              <a:rPr lang="en-US" sz="1150" dirty="0">
                <a:solidFill>
                  <a:srgbClr val="55516E"/>
                </a:solidFill>
                <a:latin typeface="Calibri" pitchFamily="34" charset="0"/>
                <a:ea typeface="Calibri" pitchFamily="34" charset="-122"/>
                <a:cs typeface="Calibri" pitchFamily="34" charset="-120"/>
              </a:rPr>
              <a:t>Accompagnement des filières agricoles et agroalimentaires.</a:t>
            </a:r>
            <a:endParaRPr lang="en-US" sz="1150" dirty="0"/>
          </a:p>
        </p:txBody>
      </p:sp>
      <p:sp>
        <p:nvSpPr>
          <p:cNvPr id="37" name="Text 29"/>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spc="100" kern="0" dirty="0">
                <a:solidFill>
                  <a:srgbClr val="8A8699"/>
                </a:solidFill>
                <a:latin typeface="Calibri" pitchFamily="34" charset="0"/>
                <a:ea typeface="Calibri" pitchFamily="34" charset="-122"/>
                <a:cs typeface="Calibri" pitchFamily="34" charset="-120"/>
              </a:rPr>
              <a:t>ENMA FORMATION  ·  Formation des élus municipaux 2026</a:t>
            </a:r>
            <a:endParaRPr lang="en-US" sz="900" dirty="0"/>
          </a:p>
        </p:txBody>
      </p:sp>
      <p:sp>
        <p:nvSpPr>
          <p:cNvPr id="38" name="Text 30"/>
          <p:cNvSpPr txBox="1"/>
          <p:nvPr/>
        </p:nvSpPr>
        <p:spPr>
          <a:xfrm>
            <a:off x="9692640" y="6400800"/>
            <a:ext cx="548640" cy="274320"/>
          </a:xfrm>
          <a:prstGeom prst="rect">
            <a:avLst/>
          </a:prstGeom>
          <a:noFill/>
          <a:ln/>
        </p:spPr>
        <p:txBody>
          <a:bodyPr wrap="square" lIns="0" tIns="0" rIns="0" bIns="0" rtlCol="0" anchor="ctr"/>
          <a:lstStyle/>
          <a:p>
            <a:pPr algn="r" indent="0" marL="0">
              <a:buNone/>
            </a:pPr>
            <a:r>
              <a:rPr lang="en-US" sz="900" dirty="0">
                <a:solidFill>
                  <a:srgbClr val="8A8699"/>
                </a:solidFill>
                <a:latin typeface="Calibri" pitchFamily="34" charset="0"/>
                <a:ea typeface="Calibri" pitchFamily="34" charset="-122"/>
                <a:cs typeface="Calibri" pitchFamily="34" charset="-120"/>
              </a:rPr>
              <a:t>36</a:t>
            </a:r>
            <a:endParaRPr lang="en-US" sz="900" dirty="0"/>
          </a:p>
        </p:txBody>
      </p:sp>
      <p:pic>
        <p:nvPicPr>
          <p:cNvPr id="39" name="Image 6" descr="preencoded.png">    </p:cNvPr>
          <p:cNvPicPr>
            <a:picLocks noChangeAspect="1"/>
          </p:cNvPicPr>
          <p:nvPr/>
        </p:nvPicPr>
        <p:blipFill>
          <a:blip r:embed="rId7"/>
          <a:stretch>
            <a:fillRect/>
          </a:stretch>
        </p:blipFill>
        <p:spPr>
          <a:xfrm>
            <a:off x="10469880" y="6309360"/>
            <a:ext cx="1170432" cy="484632"/>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420624" cy="310896"/>
          </a:xfrm>
          <a:prstGeom prst="roundRect">
            <a:avLst>
              <a:gd name="adj" fmla="val 23529"/>
            </a:avLst>
          </a:prstGeom>
          <a:solidFill>
            <a:srgbClr val="0B032B"/>
          </a:solidFill>
          <a:ln/>
        </p:spPr>
      </p:sp>
      <p:sp>
        <p:nvSpPr>
          <p:cNvPr id="3" name="Text 1"/>
          <p:cNvSpPr txBox="1"/>
          <p:nvPr/>
        </p:nvSpPr>
        <p:spPr>
          <a:xfrm>
            <a:off x="548640" y="438912"/>
            <a:ext cx="420624" cy="310896"/>
          </a:xfrm>
          <a:prstGeom prst="rect">
            <a:avLst/>
          </a:prstGeom>
          <a:noFill/>
          <a:ln/>
        </p:spPr>
        <p:txBody>
          <a:bodyPr wrap="square" lIns="0" tIns="0" rIns="0" bIns="0" rtlCol="0" anchor="ctr"/>
          <a:lstStyle/>
          <a:p>
            <a:pPr algn="ctr" indent="0" marL="0">
              <a:buNone/>
            </a:pPr>
            <a:r>
              <a:rPr lang="en-US" sz="1100" b="1" dirty="0">
                <a:solidFill>
                  <a:srgbClr val="FFF9C7"/>
                </a:solidFill>
                <a:latin typeface="Calibri" pitchFamily="34" charset="0"/>
                <a:ea typeface="Calibri" pitchFamily="34" charset="-122"/>
                <a:cs typeface="Calibri" pitchFamily="34" charset="-120"/>
              </a:rPr>
              <a:t>05</a:t>
            </a:r>
            <a:endParaRPr lang="en-US" sz="1100" dirty="0"/>
          </a:p>
        </p:txBody>
      </p:sp>
      <p:sp>
        <p:nvSpPr>
          <p:cNvPr id="4" name="Text 2"/>
          <p:cNvSpPr txBox="1"/>
          <p:nvPr/>
        </p:nvSpPr>
        <p:spPr>
          <a:xfrm>
            <a:off x="1115568" y="438912"/>
            <a:ext cx="8229600" cy="310896"/>
          </a:xfrm>
          <a:prstGeom prst="rect">
            <a:avLst/>
          </a:prstGeom>
          <a:noFill/>
          <a:ln/>
        </p:spPr>
        <p:txBody>
          <a:bodyPr wrap="square" lIns="0" tIns="0" rIns="0" bIns="0" rtlCol="0" anchor="ctr"/>
          <a:lstStyle/>
          <a:p>
            <a:pPr indent="0" marL="0">
              <a:buNone/>
            </a:pPr>
            <a:r>
              <a:rPr lang="en-US" sz="1100" b="1" spc="200" kern="0" dirty="0">
                <a:solidFill>
                  <a:srgbClr val="55516E"/>
                </a:solidFill>
                <a:latin typeface="Calibri" pitchFamily="34" charset="0"/>
                <a:ea typeface="Calibri" pitchFamily="34" charset="-122"/>
                <a:cs typeface="Calibri" pitchFamily="34" charset="-120"/>
              </a:rPr>
              <a:t>LES COMPÉTENCES DE LA RÉGION HAUTS-DE-FRANCE</a:t>
            </a:r>
            <a:endParaRPr lang="en-US" sz="1100" dirty="0"/>
          </a:p>
        </p:txBody>
      </p:sp>
      <p:sp>
        <p:nvSpPr>
          <p:cNvPr id="5" name="Text 3"/>
          <p:cNvSpPr txBox="1"/>
          <p:nvPr/>
        </p:nvSpPr>
        <p:spPr>
          <a:xfrm>
            <a:off x="548640" y="841248"/>
            <a:ext cx="11064240" cy="685800"/>
          </a:xfrm>
          <a:prstGeom prst="rect">
            <a:avLst/>
          </a:prstGeom>
          <a:noFill/>
          <a:ln/>
        </p:spPr>
        <p:txBody>
          <a:bodyPr wrap="square" lIns="0" tIns="0" rIns="0" bIns="0" rtlCol="0" anchor="ctr">
            <a:normAutofit/>
          </a:bodyPr>
          <a:lstStyle/>
          <a:p>
            <a:pPr indent="0" marL="0">
              <a:buNone/>
            </a:pPr>
            <a:r>
              <a:rPr lang="en-US" sz="2800" b="1" dirty="0">
                <a:solidFill>
                  <a:srgbClr val="0B032B"/>
                </a:solidFill>
                <a:latin typeface="Calibri" pitchFamily="34" charset="0"/>
                <a:ea typeface="Calibri" pitchFamily="34" charset="-122"/>
                <a:cs typeface="Calibri" pitchFamily="34" charset="-120"/>
              </a:rPr>
              <a:t>Le rôle des conseillers régionaux</a:t>
            </a:r>
            <a:endParaRPr lang="en-US" sz="2800" dirty="0"/>
          </a:p>
        </p:txBody>
      </p:sp>
      <p:sp>
        <p:nvSpPr>
          <p:cNvPr id="6" name="Shape 4"/>
          <p:cNvSpPr/>
          <p:nvPr/>
        </p:nvSpPr>
        <p:spPr>
          <a:xfrm>
            <a:off x="548640" y="1810512"/>
            <a:ext cx="438912" cy="438912"/>
          </a:xfrm>
          <a:prstGeom prst="ellipse">
            <a:avLst/>
          </a:prstGeom>
          <a:solidFill>
            <a:srgbClr val="0B032B"/>
          </a:solidFill>
          <a:ln/>
        </p:spPr>
      </p:sp>
      <p:pic>
        <p:nvPicPr>
          <p:cNvPr id="7" name="Image 0" descr="preencoded.png">    </p:cNvPr>
          <p:cNvPicPr>
            <a:picLocks noChangeAspect="1"/>
          </p:cNvPicPr>
          <p:nvPr/>
        </p:nvPicPr>
        <p:blipFill>
          <a:blip r:embed="rId1"/>
          <a:stretch>
            <a:fillRect/>
          </a:stretch>
        </p:blipFill>
        <p:spPr>
          <a:xfrm>
            <a:off x="645201" y="1907073"/>
            <a:ext cx="245791" cy="245791"/>
          </a:xfrm>
          <a:prstGeom prst="rect">
            <a:avLst/>
          </a:prstGeom>
        </p:spPr>
      </p:pic>
      <p:sp>
        <p:nvSpPr>
          <p:cNvPr id="8" name="Text 5"/>
          <p:cNvSpPr txBox="1"/>
          <p:nvPr/>
        </p:nvSpPr>
        <p:spPr>
          <a:xfrm>
            <a:off x="1188720" y="1783080"/>
            <a:ext cx="5943600" cy="493776"/>
          </a:xfrm>
          <a:prstGeom prst="rect">
            <a:avLst/>
          </a:prstGeom>
          <a:noFill/>
          <a:ln/>
        </p:spPr>
        <p:txBody>
          <a:bodyPr wrap="square" lIns="0" tIns="0" rIns="0" bIns="0" rtlCol="0" anchor="ctr"/>
          <a:lstStyle/>
          <a:p>
            <a:pPr indent="0" marL="0">
              <a:buNone/>
            </a:pPr>
            <a:r>
              <a:rPr lang="en-US" sz="1550" b="1" dirty="0">
                <a:solidFill>
                  <a:srgbClr val="0B032B"/>
                </a:solidFill>
                <a:latin typeface="Calibri" pitchFamily="34" charset="0"/>
                <a:ea typeface="Calibri" pitchFamily="34" charset="-122"/>
                <a:cs typeface="Calibri" pitchFamily="34" charset="-120"/>
              </a:rPr>
              <a:t>Définir les politiques régionales.</a:t>
            </a:r>
            <a:endParaRPr lang="en-US" sz="1550" dirty="0"/>
          </a:p>
        </p:txBody>
      </p:sp>
      <p:sp>
        <p:nvSpPr>
          <p:cNvPr id="9" name="Shape 6"/>
          <p:cNvSpPr/>
          <p:nvPr/>
        </p:nvSpPr>
        <p:spPr>
          <a:xfrm>
            <a:off x="548640" y="2359152"/>
            <a:ext cx="438912" cy="438912"/>
          </a:xfrm>
          <a:prstGeom prst="ellipse">
            <a:avLst/>
          </a:prstGeom>
          <a:solidFill>
            <a:srgbClr val="0B032B"/>
          </a:solidFill>
          <a:ln/>
        </p:spPr>
      </p:sp>
      <p:pic>
        <p:nvPicPr>
          <p:cNvPr id="10" name="Image 1" descr="preencoded.png">    </p:cNvPr>
          <p:cNvPicPr>
            <a:picLocks noChangeAspect="1"/>
          </p:cNvPicPr>
          <p:nvPr/>
        </p:nvPicPr>
        <p:blipFill>
          <a:blip r:embed="rId2"/>
          <a:stretch>
            <a:fillRect/>
          </a:stretch>
        </p:blipFill>
        <p:spPr>
          <a:xfrm>
            <a:off x="645201" y="2455713"/>
            <a:ext cx="245791" cy="245791"/>
          </a:xfrm>
          <a:prstGeom prst="rect">
            <a:avLst/>
          </a:prstGeom>
        </p:spPr>
      </p:pic>
      <p:sp>
        <p:nvSpPr>
          <p:cNvPr id="11" name="Text 7"/>
          <p:cNvSpPr txBox="1"/>
          <p:nvPr/>
        </p:nvSpPr>
        <p:spPr>
          <a:xfrm>
            <a:off x="1188720" y="2331720"/>
            <a:ext cx="5943600" cy="493776"/>
          </a:xfrm>
          <a:prstGeom prst="rect">
            <a:avLst/>
          </a:prstGeom>
          <a:noFill/>
          <a:ln/>
        </p:spPr>
        <p:txBody>
          <a:bodyPr wrap="square" lIns="0" tIns="0" rIns="0" bIns="0" rtlCol="0" anchor="ctr"/>
          <a:lstStyle/>
          <a:p>
            <a:pPr indent="0" marL="0">
              <a:buNone/>
            </a:pPr>
            <a:r>
              <a:rPr lang="en-US" sz="1550" b="1" dirty="0">
                <a:solidFill>
                  <a:srgbClr val="0B032B"/>
                </a:solidFill>
                <a:latin typeface="Calibri" pitchFamily="34" charset="0"/>
                <a:ea typeface="Calibri" pitchFamily="34" charset="-122"/>
                <a:cs typeface="Calibri" pitchFamily="34" charset="-120"/>
              </a:rPr>
              <a:t>Voter le budget de la Région.</a:t>
            </a:r>
            <a:endParaRPr lang="en-US" sz="1550" dirty="0"/>
          </a:p>
        </p:txBody>
      </p:sp>
      <p:sp>
        <p:nvSpPr>
          <p:cNvPr id="12" name="Shape 8"/>
          <p:cNvSpPr/>
          <p:nvPr/>
        </p:nvSpPr>
        <p:spPr>
          <a:xfrm>
            <a:off x="548640" y="2907792"/>
            <a:ext cx="438912" cy="438912"/>
          </a:xfrm>
          <a:prstGeom prst="ellipse">
            <a:avLst/>
          </a:prstGeom>
          <a:solidFill>
            <a:srgbClr val="0B032B"/>
          </a:solidFill>
          <a:ln/>
        </p:spPr>
      </p:sp>
      <p:pic>
        <p:nvPicPr>
          <p:cNvPr id="13" name="Image 2" descr="preencoded.png">    </p:cNvPr>
          <p:cNvPicPr>
            <a:picLocks noChangeAspect="1"/>
          </p:cNvPicPr>
          <p:nvPr/>
        </p:nvPicPr>
        <p:blipFill>
          <a:blip r:embed="rId3"/>
          <a:stretch>
            <a:fillRect/>
          </a:stretch>
        </p:blipFill>
        <p:spPr>
          <a:xfrm>
            <a:off x="645201" y="3004353"/>
            <a:ext cx="245791" cy="245791"/>
          </a:xfrm>
          <a:prstGeom prst="rect">
            <a:avLst/>
          </a:prstGeom>
        </p:spPr>
      </p:pic>
      <p:sp>
        <p:nvSpPr>
          <p:cNvPr id="14" name="Text 9"/>
          <p:cNvSpPr txBox="1"/>
          <p:nvPr/>
        </p:nvSpPr>
        <p:spPr>
          <a:xfrm>
            <a:off x="1188720" y="2880360"/>
            <a:ext cx="5943600" cy="493776"/>
          </a:xfrm>
          <a:prstGeom prst="rect">
            <a:avLst/>
          </a:prstGeom>
          <a:noFill/>
          <a:ln/>
        </p:spPr>
        <p:txBody>
          <a:bodyPr wrap="square" lIns="0" tIns="0" rIns="0" bIns="0" rtlCol="0" anchor="ctr"/>
          <a:lstStyle/>
          <a:p>
            <a:pPr indent="0" marL="0">
              <a:buNone/>
            </a:pPr>
            <a:r>
              <a:rPr lang="en-US" sz="1550" b="1" dirty="0">
                <a:solidFill>
                  <a:srgbClr val="0B032B"/>
                </a:solidFill>
                <a:latin typeface="Calibri" pitchFamily="34" charset="0"/>
                <a:ea typeface="Calibri" pitchFamily="34" charset="-122"/>
                <a:cs typeface="Calibri" pitchFamily="34" charset="-120"/>
              </a:rPr>
              <a:t>Accompagner les grands projets structurants.</a:t>
            </a:r>
            <a:endParaRPr lang="en-US" sz="1550" dirty="0"/>
          </a:p>
        </p:txBody>
      </p:sp>
      <p:sp>
        <p:nvSpPr>
          <p:cNvPr id="15" name="Shape 10"/>
          <p:cNvSpPr/>
          <p:nvPr/>
        </p:nvSpPr>
        <p:spPr>
          <a:xfrm>
            <a:off x="548640" y="3456432"/>
            <a:ext cx="438912" cy="438912"/>
          </a:xfrm>
          <a:prstGeom prst="ellipse">
            <a:avLst/>
          </a:prstGeom>
          <a:solidFill>
            <a:srgbClr val="0B032B"/>
          </a:solidFill>
          <a:ln/>
        </p:spPr>
      </p:sp>
      <p:pic>
        <p:nvPicPr>
          <p:cNvPr id="16" name="Image 3" descr="preencoded.png">    </p:cNvPr>
          <p:cNvPicPr>
            <a:picLocks noChangeAspect="1"/>
          </p:cNvPicPr>
          <p:nvPr/>
        </p:nvPicPr>
        <p:blipFill>
          <a:blip r:embed="rId4"/>
          <a:stretch>
            <a:fillRect/>
          </a:stretch>
        </p:blipFill>
        <p:spPr>
          <a:xfrm>
            <a:off x="645201" y="3552993"/>
            <a:ext cx="245791" cy="245791"/>
          </a:xfrm>
          <a:prstGeom prst="rect">
            <a:avLst/>
          </a:prstGeom>
        </p:spPr>
      </p:pic>
      <p:sp>
        <p:nvSpPr>
          <p:cNvPr id="17" name="Text 11"/>
          <p:cNvSpPr txBox="1"/>
          <p:nvPr/>
        </p:nvSpPr>
        <p:spPr>
          <a:xfrm>
            <a:off x="1188720" y="3429000"/>
            <a:ext cx="5943600" cy="493776"/>
          </a:xfrm>
          <a:prstGeom prst="rect">
            <a:avLst/>
          </a:prstGeom>
          <a:noFill/>
          <a:ln/>
        </p:spPr>
        <p:txBody>
          <a:bodyPr wrap="square" lIns="0" tIns="0" rIns="0" bIns="0" rtlCol="0" anchor="ctr"/>
          <a:lstStyle/>
          <a:p>
            <a:pPr indent="0" marL="0">
              <a:buNone/>
            </a:pPr>
            <a:r>
              <a:rPr lang="en-US" sz="1550" b="1" dirty="0">
                <a:solidFill>
                  <a:srgbClr val="0B032B"/>
                </a:solidFill>
                <a:latin typeface="Calibri" pitchFamily="34" charset="0"/>
                <a:ea typeface="Calibri" pitchFamily="34" charset="-122"/>
                <a:cs typeface="Calibri" pitchFamily="34" charset="-120"/>
              </a:rPr>
              <a:t>Soutenir les communes, les intercommunalités et les acteurs économiques.</a:t>
            </a:r>
            <a:endParaRPr lang="en-US" sz="1550" dirty="0"/>
          </a:p>
        </p:txBody>
      </p:sp>
      <p:sp>
        <p:nvSpPr>
          <p:cNvPr id="18" name="Shape 12"/>
          <p:cNvSpPr/>
          <p:nvPr/>
        </p:nvSpPr>
        <p:spPr>
          <a:xfrm>
            <a:off x="548640" y="4069080"/>
            <a:ext cx="6766560" cy="2057400"/>
          </a:xfrm>
          <a:prstGeom prst="roundRect">
            <a:avLst>
              <a:gd name="adj" fmla="val 6222"/>
            </a:avLst>
          </a:prstGeom>
          <a:solidFill>
            <a:srgbClr val="0B032B"/>
          </a:solidFill>
          <a:ln/>
        </p:spPr>
      </p:sp>
      <p:sp>
        <p:nvSpPr>
          <p:cNvPr id="19" name="Shape 13"/>
          <p:cNvSpPr/>
          <p:nvPr/>
        </p:nvSpPr>
        <p:spPr>
          <a:xfrm>
            <a:off x="804672" y="4325112"/>
            <a:ext cx="566928" cy="566928"/>
          </a:xfrm>
          <a:prstGeom prst="ellipse">
            <a:avLst/>
          </a:prstGeom>
          <a:solidFill>
            <a:srgbClr val="FFF9C7"/>
          </a:solidFill>
          <a:ln/>
        </p:spPr>
      </p:sp>
      <p:pic>
        <p:nvPicPr>
          <p:cNvPr id="20" name="Image 4" descr="preencoded.png">    </p:cNvPr>
          <p:cNvPicPr>
            <a:picLocks noChangeAspect="1"/>
          </p:cNvPicPr>
          <p:nvPr/>
        </p:nvPicPr>
        <p:blipFill>
          <a:blip r:embed="rId5"/>
          <a:stretch>
            <a:fillRect/>
          </a:stretch>
        </p:blipFill>
        <p:spPr>
          <a:xfrm>
            <a:off x="929396" y="4449836"/>
            <a:ext cx="317480" cy="317480"/>
          </a:xfrm>
          <a:prstGeom prst="rect">
            <a:avLst/>
          </a:prstGeom>
        </p:spPr>
      </p:pic>
      <p:sp>
        <p:nvSpPr>
          <p:cNvPr id="21" name="Text 14"/>
          <p:cNvSpPr txBox="1"/>
          <p:nvPr/>
        </p:nvSpPr>
        <p:spPr>
          <a:xfrm>
            <a:off x="1554480" y="4343400"/>
            <a:ext cx="5486400" cy="274320"/>
          </a:xfrm>
          <a:prstGeom prst="rect">
            <a:avLst/>
          </a:prstGeom>
          <a:noFill/>
          <a:ln/>
        </p:spPr>
        <p:txBody>
          <a:bodyPr wrap="square" lIns="0" tIns="0" rIns="0" bIns="0" rtlCol="0" anchor="t"/>
          <a:lstStyle/>
          <a:p>
            <a:pPr indent="0" marL="0">
              <a:buNone/>
            </a:pPr>
            <a:r>
              <a:rPr lang="en-US" sz="1100" b="1" spc="300" kern="0" dirty="0">
                <a:solidFill>
                  <a:srgbClr val="FFF9C7"/>
                </a:solidFill>
                <a:latin typeface="Calibri" pitchFamily="34" charset="0"/>
                <a:ea typeface="Calibri" pitchFamily="34" charset="-122"/>
                <a:cs typeface="Calibri" pitchFamily="34" charset="-120"/>
              </a:rPr>
              <a:t>À RETENIR</a:t>
            </a:r>
            <a:endParaRPr lang="en-US" sz="1100" dirty="0"/>
          </a:p>
        </p:txBody>
      </p:sp>
      <p:sp>
        <p:nvSpPr>
          <p:cNvPr id="22" name="Text 15"/>
          <p:cNvSpPr txBox="1"/>
          <p:nvPr/>
        </p:nvSpPr>
        <p:spPr>
          <a:xfrm>
            <a:off x="1554480" y="4654296"/>
            <a:ext cx="5486400" cy="1271016"/>
          </a:xfrm>
          <a:prstGeom prst="rect">
            <a:avLst/>
          </a:prstGeom>
          <a:noFill/>
          <a:ln/>
        </p:spPr>
        <p:txBody>
          <a:bodyPr wrap="square" lIns="0" tIns="0" rIns="0" bIns="0" rtlCol="0" anchor="t">
            <a:normAutofit/>
          </a:bodyPr>
          <a:lstStyle/>
          <a:p>
            <a:pPr indent="0" marL="0">
              <a:lnSpc>
                <a:spcPct val="105000"/>
              </a:lnSpc>
              <a:buNone/>
            </a:pPr>
            <a:r>
              <a:rPr lang="en-US" sz="1400" dirty="0">
                <a:solidFill>
                  <a:srgbClr val="FFFFFF"/>
                </a:solidFill>
                <a:latin typeface="Calibri" pitchFamily="34" charset="0"/>
                <a:ea typeface="Calibri" pitchFamily="34" charset="-122"/>
                <a:cs typeface="Calibri" pitchFamily="34" charset="-120"/>
              </a:rPr>
              <a:t>La Région Hauts-de-France agit à une échelle stratégique. Elle prépare l’avenir du territoire en investissant dans l’économie, les transports, les lycées, la formation, la transition écologique et l’attractivité régionale. Ses politiques complètent l’action des communes, des intercommunalités et des départements au service des habitants.</a:t>
            </a:r>
            <a:endParaRPr lang="en-US" sz="1400" dirty="0"/>
          </a:p>
        </p:txBody>
      </p:sp>
      <p:sp>
        <p:nvSpPr>
          <p:cNvPr id="23" name="Shape 16"/>
          <p:cNvSpPr/>
          <p:nvPr/>
        </p:nvSpPr>
        <p:spPr>
          <a:xfrm>
            <a:off x="7589520" y="1783080"/>
            <a:ext cx="4050792" cy="4343400"/>
          </a:xfrm>
          <a:prstGeom prst="roundRect">
            <a:avLst>
              <a:gd name="adj" fmla="val 4515"/>
            </a:avLst>
          </a:prstGeom>
          <a:solidFill>
            <a:srgbClr val="F3F2F8"/>
          </a:solidFill>
          <a:ln/>
        </p:spPr>
      </p:sp>
      <p:pic>
        <p:nvPicPr>
          <p:cNvPr id="24" name="Image 5" descr="preencoded.png">    </p:cNvPr>
          <p:cNvPicPr>
            <a:picLocks noChangeAspect="1"/>
          </p:cNvPicPr>
          <p:nvPr/>
        </p:nvPicPr>
        <p:blipFill>
          <a:blip r:embed="rId6"/>
          <a:stretch>
            <a:fillRect/>
          </a:stretch>
        </p:blipFill>
        <p:spPr>
          <a:xfrm>
            <a:off x="7726680" y="1874520"/>
            <a:ext cx="3749040" cy="3749040"/>
          </a:xfrm>
          <a:prstGeom prst="rect">
            <a:avLst/>
          </a:prstGeom>
        </p:spPr>
      </p:pic>
      <p:sp>
        <p:nvSpPr>
          <p:cNvPr id="25" name="Text 17"/>
          <p:cNvSpPr txBox="1"/>
          <p:nvPr/>
        </p:nvSpPr>
        <p:spPr>
          <a:xfrm>
            <a:off x="8410582" y="2612600"/>
            <a:ext cx="1280160" cy="365760"/>
          </a:xfrm>
          <a:prstGeom prst="rect">
            <a:avLst/>
          </a:prstGeom>
          <a:noFill/>
          <a:ln/>
        </p:spPr>
        <p:txBody>
          <a:bodyPr wrap="square" lIns="0" tIns="0" rIns="0" bIns="0" rtlCol="0" anchor="ctr"/>
          <a:lstStyle/>
          <a:p>
            <a:pPr algn="ctr" indent="0" marL="0">
              <a:buNone/>
            </a:pPr>
            <a:r>
              <a:rPr lang="en-US" sz="1150" b="1" dirty="0">
                <a:solidFill>
                  <a:srgbClr val="0B032B"/>
                </a:solidFill>
                <a:latin typeface="Calibri" pitchFamily="34" charset="0"/>
                <a:ea typeface="Calibri" pitchFamily="34" charset="-122"/>
                <a:cs typeface="Calibri" pitchFamily="34" charset="-120"/>
              </a:rPr>
              <a:t>Pas-de-Calais</a:t>
            </a:r>
            <a:endParaRPr lang="en-US" sz="1150" dirty="0"/>
          </a:p>
        </p:txBody>
      </p:sp>
      <p:sp>
        <p:nvSpPr>
          <p:cNvPr id="26" name="Text 18"/>
          <p:cNvSpPr txBox="1"/>
          <p:nvPr/>
        </p:nvSpPr>
        <p:spPr>
          <a:xfrm>
            <a:off x="9511658" y="2612600"/>
            <a:ext cx="1280160" cy="365760"/>
          </a:xfrm>
          <a:prstGeom prst="rect">
            <a:avLst/>
          </a:prstGeom>
          <a:noFill/>
          <a:ln/>
        </p:spPr>
        <p:txBody>
          <a:bodyPr wrap="square" lIns="0" tIns="0" rIns="0" bIns="0" rtlCol="0" anchor="ctr"/>
          <a:lstStyle/>
          <a:p>
            <a:pPr algn="ctr" indent="0" marL="0">
              <a:buNone/>
            </a:pPr>
            <a:r>
              <a:rPr lang="en-US" sz="1150" b="1" dirty="0">
                <a:solidFill>
                  <a:srgbClr val="FFF9C7"/>
                </a:solidFill>
                <a:latin typeface="Calibri" pitchFamily="34" charset="0"/>
                <a:ea typeface="Calibri" pitchFamily="34" charset="-122"/>
                <a:cs typeface="Calibri" pitchFamily="34" charset="-120"/>
              </a:rPr>
              <a:t>Nord</a:t>
            </a:r>
            <a:endParaRPr lang="en-US" sz="1150" dirty="0"/>
          </a:p>
        </p:txBody>
      </p:sp>
      <p:sp>
        <p:nvSpPr>
          <p:cNvPr id="27" name="Text 19"/>
          <p:cNvSpPr txBox="1"/>
          <p:nvPr/>
        </p:nvSpPr>
        <p:spPr>
          <a:xfrm>
            <a:off x="7860044" y="3566160"/>
            <a:ext cx="1280160" cy="365760"/>
          </a:xfrm>
          <a:prstGeom prst="rect">
            <a:avLst/>
          </a:prstGeom>
          <a:noFill/>
          <a:ln/>
        </p:spPr>
        <p:txBody>
          <a:bodyPr wrap="square" lIns="0" tIns="0" rIns="0" bIns="0" rtlCol="0" anchor="ctr"/>
          <a:lstStyle/>
          <a:p>
            <a:pPr algn="ctr" indent="0" marL="0">
              <a:buNone/>
            </a:pPr>
            <a:r>
              <a:rPr lang="en-US" sz="1150" b="1" dirty="0">
                <a:solidFill>
                  <a:srgbClr val="FFF9C7"/>
                </a:solidFill>
                <a:latin typeface="Calibri" pitchFamily="34" charset="0"/>
                <a:ea typeface="Calibri" pitchFamily="34" charset="-122"/>
                <a:cs typeface="Calibri" pitchFamily="34" charset="-120"/>
              </a:rPr>
              <a:t>Somme</a:t>
            </a:r>
            <a:endParaRPr lang="en-US" sz="1150" dirty="0"/>
          </a:p>
        </p:txBody>
      </p:sp>
      <p:sp>
        <p:nvSpPr>
          <p:cNvPr id="28" name="Text 20"/>
          <p:cNvSpPr txBox="1"/>
          <p:nvPr/>
        </p:nvSpPr>
        <p:spPr>
          <a:xfrm>
            <a:off x="10062196" y="3566160"/>
            <a:ext cx="1280160" cy="365760"/>
          </a:xfrm>
          <a:prstGeom prst="rect">
            <a:avLst/>
          </a:prstGeom>
          <a:noFill/>
          <a:ln/>
        </p:spPr>
        <p:txBody>
          <a:bodyPr wrap="square" lIns="0" tIns="0" rIns="0" bIns="0" rtlCol="0" anchor="ctr"/>
          <a:lstStyle/>
          <a:p>
            <a:pPr algn="ctr" indent="0" marL="0">
              <a:buNone/>
            </a:pPr>
            <a:r>
              <a:rPr lang="en-US" sz="1150" b="1" dirty="0">
                <a:solidFill>
                  <a:srgbClr val="FFF9C7"/>
                </a:solidFill>
                <a:latin typeface="Calibri" pitchFamily="34" charset="0"/>
                <a:ea typeface="Calibri" pitchFamily="34" charset="-122"/>
                <a:cs typeface="Calibri" pitchFamily="34" charset="-120"/>
              </a:rPr>
              <a:t>Aisne</a:t>
            </a:r>
            <a:endParaRPr lang="en-US" sz="1150" dirty="0"/>
          </a:p>
        </p:txBody>
      </p:sp>
      <p:sp>
        <p:nvSpPr>
          <p:cNvPr id="29" name="Text 21"/>
          <p:cNvSpPr txBox="1"/>
          <p:nvPr/>
        </p:nvSpPr>
        <p:spPr>
          <a:xfrm>
            <a:off x="8410582" y="4519720"/>
            <a:ext cx="1280160" cy="365760"/>
          </a:xfrm>
          <a:prstGeom prst="rect">
            <a:avLst/>
          </a:prstGeom>
          <a:noFill/>
          <a:ln/>
        </p:spPr>
        <p:txBody>
          <a:bodyPr wrap="square" lIns="0" tIns="0" rIns="0" bIns="0" rtlCol="0" anchor="ctr"/>
          <a:lstStyle/>
          <a:p>
            <a:pPr algn="ctr" indent="0" marL="0">
              <a:buNone/>
            </a:pPr>
            <a:r>
              <a:rPr lang="en-US" sz="1150" b="1" dirty="0">
                <a:solidFill>
                  <a:srgbClr val="FFF9C7"/>
                </a:solidFill>
                <a:latin typeface="Calibri" pitchFamily="34" charset="0"/>
                <a:ea typeface="Calibri" pitchFamily="34" charset="-122"/>
                <a:cs typeface="Calibri" pitchFamily="34" charset="-120"/>
              </a:rPr>
              <a:t>Oise</a:t>
            </a:r>
            <a:endParaRPr lang="en-US" sz="1150" dirty="0"/>
          </a:p>
        </p:txBody>
      </p:sp>
      <p:sp>
        <p:nvSpPr>
          <p:cNvPr id="30" name="Text 22"/>
          <p:cNvSpPr txBox="1"/>
          <p:nvPr/>
        </p:nvSpPr>
        <p:spPr>
          <a:xfrm>
            <a:off x="7726680" y="5669280"/>
            <a:ext cx="3749040" cy="320040"/>
          </a:xfrm>
          <a:prstGeom prst="rect">
            <a:avLst/>
          </a:prstGeom>
          <a:noFill/>
          <a:ln/>
        </p:spPr>
        <p:txBody>
          <a:bodyPr wrap="square" lIns="0" tIns="0" rIns="0" bIns="0" rtlCol="0" anchor="t"/>
          <a:lstStyle/>
          <a:p>
            <a:pPr algn="ctr" indent="0" marL="0">
              <a:buNone/>
            </a:pPr>
            <a:r>
              <a:rPr lang="en-US" sz="1150" i="1" dirty="0">
                <a:solidFill>
                  <a:srgbClr val="55516E"/>
                </a:solidFill>
                <a:latin typeface="Calibri" pitchFamily="34" charset="0"/>
                <a:ea typeface="Calibri" pitchFamily="34" charset="-122"/>
                <a:cs typeface="Calibri" pitchFamily="34" charset="-120"/>
              </a:rPr>
              <a:t>Hauts-de-France : 5 départements</a:t>
            </a:r>
            <a:endParaRPr lang="en-US" sz="1150" dirty="0"/>
          </a:p>
        </p:txBody>
      </p:sp>
      <p:sp>
        <p:nvSpPr>
          <p:cNvPr id="31" name="Text 23"/>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spc="100" kern="0" dirty="0">
                <a:solidFill>
                  <a:srgbClr val="8A8699"/>
                </a:solidFill>
                <a:latin typeface="Calibri" pitchFamily="34" charset="0"/>
                <a:ea typeface="Calibri" pitchFamily="34" charset="-122"/>
                <a:cs typeface="Calibri" pitchFamily="34" charset="-120"/>
              </a:rPr>
              <a:t>ENMA FORMATION  ·  Formation des élus municipaux 2026</a:t>
            </a:r>
            <a:endParaRPr lang="en-US" sz="900" dirty="0"/>
          </a:p>
        </p:txBody>
      </p:sp>
      <p:sp>
        <p:nvSpPr>
          <p:cNvPr id="32" name="Text 24"/>
          <p:cNvSpPr txBox="1"/>
          <p:nvPr/>
        </p:nvSpPr>
        <p:spPr>
          <a:xfrm>
            <a:off x="9692640" y="6400800"/>
            <a:ext cx="548640" cy="274320"/>
          </a:xfrm>
          <a:prstGeom prst="rect">
            <a:avLst/>
          </a:prstGeom>
          <a:noFill/>
          <a:ln/>
        </p:spPr>
        <p:txBody>
          <a:bodyPr wrap="square" lIns="0" tIns="0" rIns="0" bIns="0" rtlCol="0" anchor="ctr"/>
          <a:lstStyle/>
          <a:p>
            <a:pPr algn="r" indent="0" marL="0">
              <a:buNone/>
            </a:pPr>
            <a:r>
              <a:rPr lang="en-US" sz="900" dirty="0">
                <a:solidFill>
                  <a:srgbClr val="8A8699"/>
                </a:solidFill>
                <a:latin typeface="Calibri" pitchFamily="34" charset="0"/>
                <a:ea typeface="Calibri" pitchFamily="34" charset="-122"/>
                <a:cs typeface="Calibri" pitchFamily="34" charset="-120"/>
              </a:rPr>
              <a:t>37</a:t>
            </a:r>
            <a:endParaRPr lang="en-US" sz="900" dirty="0"/>
          </a:p>
        </p:txBody>
      </p:sp>
      <p:pic>
        <p:nvPicPr>
          <p:cNvPr id="33" name="Image 6" descr="preencoded.png">    </p:cNvPr>
          <p:cNvPicPr>
            <a:picLocks noChangeAspect="1"/>
          </p:cNvPicPr>
          <p:nvPr/>
        </p:nvPicPr>
        <p:blipFill>
          <a:blip r:embed="rId7"/>
          <a:stretch>
            <a:fillRect/>
          </a:stretch>
        </p:blipFill>
        <p:spPr>
          <a:xfrm>
            <a:off x="10469880" y="6309360"/>
            <a:ext cx="1170432" cy="484632"/>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420624" cy="310896"/>
          </a:xfrm>
          <a:prstGeom prst="roundRect">
            <a:avLst>
              <a:gd name="adj" fmla="val 23529"/>
            </a:avLst>
          </a:prstGeom>
          <a:solidFill>
            <a:srgbClr val="0B032B"/>
          </a:solidFill>
          <a:ln/>
        </p:spPr>
      </p:sp>
      <p:sp>
        <p:nvSpPr>
          <p:cNvPr id="3" name="Text 1"/>
          <p:cNvSpPr txBox="1"/>
          <p:nvPr/>
        </p:nvSpPr>
        <p:spPr>
          <a:xfrm>
            <a:off x="548640" y="438912"/>
            <a:ext cx="420624" cy="310896"/>
          </a:xfrm>
          <a:prstGeom prst="rect">
            <a:avLst/>
          </a:prstGeom>
          <a:noFill/>
          <a:ln/>
        </p:spPr>
        <p:txBody>
          <a:bodyPr wrap="square" lIns="0" tIns="0" rIns="0" bIns="0" rtlCol="0" anchor="ctr"/>
          <a:lstStyle/>
          <a:p>
            <a:pPr algn="ctr" indent="0" marL="0">
              <a:buNone/>
            </a:pPr>
            <a:r>
              <a:rPr lang="en-US" sz="1100" b="1" dirty="0">
                <a:solidFill>
                  <a:srgbClr val="FFF9C7"/>
                </a:solidFill>
                <a:latin typeface="Calibri" pitchFamily="34" charset="0"/>
                <a:ea typeface="Calibri" pitchFamily="34" charset="-122"/>
                <a:cs typeface="Calibri" pitchFamily="34" charset="-120"/>
              </a:rPr>
              <a:t>05</a:t>
            </a:r>
            <a:endParaRPr lang="en-US" sz="1100" dirty="0"/>
          </a:p>
        </p:txBody>
      </p:sp>
      <p:sp>
        <p:nvSpPr>
          <p:cNvPr id="4" name="Text 2"/>
          <p:cNvSpPr txBox="1"/>
          <p:nvPr/>
        </p:nvSpPr>
        <p:spPr>
          <a:xfrm>
            <a:off x="1115568" y="438912"/>
            <a:ext cx="8229600" cy="310896"/>
          </a:xfrm>
          <a:prstGeom prst="rect">
            <a:avLst/>
          </a:prstGeom>
          <a:noFill/>
          <a:ln/>
        </p:spPr>
        <p:txBody>
          <a:bodyPr wrap="square" lIns="0" tIns="0" rIns="0" bIns="0" rtlCol="0" anchor="ctr"/>
          <a:lstStyle/>
          <a:p>
            <a:pPr indent="0" marL="0">
              <a:buNone/>
            </a:pPr>
            <a:r>
              <a:rPr lang="en-US" sz="1100" b="1" spc="200" kern="0" dirty="0">
                <a:solidFill>
                  <a:srgbClr val="55516E"/>
                </a:solidFill>
                <a:latin typeface="Calibri" pitchFamily="34" charset="0"/>
                <a:ea typeface="Calibri" pitchFamily="34" charset="-122"/>
                <a:cs typeface="Calibri" pitchFamily="34" charset="-120"/>
              </a:rPr>
              <a:t>LES COMPÉTENCES DE L’ÉTAT</a:t>
            </a:r>
            <a:endParaRPr lang="en-US" sz="1100" dirty="0"/>
          </a:p>
        </p:txBody>
      </p:sp>
      <p:sp>
        <p:nvSpPr>
          <p:cNvPr id="5" name="Text 3"/>
          <p:cNvSpPr txBox="1"/>
          <p:nvPr/>
        </p:nvSpPr>
        <p:spPr>
          <a:xfrm>
            <a:off x="548640" y="841248"/>
            <a:ext cx="11064240" cy="685800"/>
          </a:xfrm>
          <a:prstGeom prst="rect">
            <a:avLst/>
          </a:prstGeom>
          <a:noFill/>
          <a:ln/>
        </p:spPr>
        <p:txBody>
          <a:bodyPr wrap="square" lIns="0" tIns="0" rIns="0" bIns="0" rtlCol="0" anchor="ctr">
            <a:normAutofit/>
          </a:bodyPr>
          <a:lstStyle/>
          <a:p>
            <a:pPr indent="0" marL="0">
              <a:buNone/>
            </a:pPr>
            <a:r>
              <a:rPr lang="en-US" sz="2800" b="1" dirty="0">
                <a:solidFill>
                  <a:srgbClr val="0B032B"/>
                </a:solidFill>
                <a:latin typeface="Calibri" pitchFamily="34" charset="0"/>
                <a:ea typeface="Calibri" pitchFamily="34" charset="-122"/>
                <a:cs typeface="Calibri" pitchFamily="34" charset="-120"/>
              </a:rPr>
              <a:t>Le rôle du Préfet et l’organisation territoriale de l’État</a:t>
            </a:r>
            <a:endParaRPr lang="en-US" sz="2800" dirty="0"/>
          </a:p>
        </p:txBody>
      </p:sp>
      <p:sp>
        <p:nvSpPr>
          <p:cNvPr id="6" name="Shape 4"/>
          <p:cNvSpPr/>
          <p:nvPr/>
        </p:nvSpPr>
        <p:spPr>
          <a:xfrm>
            <a:off x="548640" y="1783080"/>
            <a:ext cx="11064240" cy="1417320"/>
          </a:xfrm>
          <a:prstGeom prst="roundRect">
            <a:avLst>
              <a:gd name="adj" fmla="val 7742"/>
            </a:avLst>
          </a:prstGeom>
          <a:solidFill>
            <a:srgbClr val="FFF9C7"/>
          </a:solidFill>
          <a:ln/>
        </p:spPr>
      </p:sp>
      <p:sp>
        <p:nvSpPr>
          <p:cNvPr id="7" name="Text 5"/>
          <p:cNvSpPr txBox="1"/>
          <p:nvPr/>
        </p:nvSpPr>
        <p:spPr>
          <a:xfrm>
            <a:off x="868680" y="1874520"/>
            <a:ext cx="10424160" cy="457200"/>
          </a:xfrm>
          <a:prstGeom prst="rect">
            <a:avLst/>
          </a:prstGeom>
          <a:noFill/>
          <a:ln/>
        </p:spPr>
        <p:txBody>
          <a:bodyPr wrap="square" lIns="0" tIns="0" rIns="0" bIns="0" rtlCol="0" anchor="t"/>
          <a:lstStyle/>
          <a:p>
            <a:pPr indent="0" marL="0">
              <a:buNone/>
            </a:pPr>
            <a:r>
              <a:rPr lang="en-US" sz="1700" b="1" dirty="0">
                <a:solidFill>
                  <a:srgbClr val="0B032B"/>
                </a:solidFill>
                <a:latin typeface="Calibri" pitchFamily="34" charset="0"/>
                <a:ea typeface="Calibri" pitchFamily="34" charset="-122"/>
                <a:cs typeface="Calibri" pitchFamily="34" charset="-120"/>
              </a:rPr>
              <a:t>L’État fixe les grandes politiques publiques et garantit l’application des lois sur l’ensemble du territoire.</a:t>
            </a:r>
            <a:endParaRPr lang="en-US" sz="1700" dirty="0"/>
          </a:p>
        </p:txBody>
      </p:sp>
      <p:sp>
        <p:nvSpPr>
          <p:cNvPr id="8" name="Text 6"/>
          <p:cNvSpPr txBox="1"/>
          <p:nvPr/>
        </p:nvSpPr>
        <p:spPr>
          <a:xfrm>
            <a:off x="868680" y="2331720"/>
            <a:ext cx="10424160" cy="777240"/>
          </a:xfrm>
          <a:prstGeom prst="rect">
            <a:avLst/>
          </a:prstGeom>
          <a:noFill/>
          <a:ln/>
        </p:spPr>
        <p:txBody>
          <a:bodyPr wrap="square" lIns="0" tIns="0" rIns="0" bIns="0" rtlCol="0" anchor="t"/>
          <a:lstStyle/>
          <a:p>
            <a:pPr indent="0" marL="0">
              <a:buNone/>
            </a:pPr>
            <a:r>
              <a:rPr lang="en-US" sz="1400" dirty="0">
                <a:solidFill>
                  <a:srgbClr val="0B032B"/>
                </a:solidFill>
                <a:latin typeface="Calibri" pitchFamily="34" charset="0"/>
                <a:ea typeface="Calibri" pitchFamily="34" charset="-122"/>
                <a:cs typeface="Calibri" pitchFamily="34" charset="-120"/>
              </a:rPr>
              <a:t>Depuis les lois de décentralisation, de nombreuses compétences ont été transférées aux collectivités territoriales (communes, départements, régions). En parallèle, l’État reste présent dans les territoires grâce à ses représentants : les préfets.</a:t>
            </a:r>
            <a:endParaRPr lang="en-US" sz="1400" dirty="0"/>
          </a:p>
        </p:txBody>
      </p:sp>
      <p:sp>
        <p:nvSpPr>
          <p:cNvPr id="9" name="Text 7"/>
          <p:cNvSpPr txBox="1"/>
          <p:nvPr/>
        </p:nvSpPr>
        <p:spPr>
          <a:xfrm>
            <a:off x="548640" y="3429000"/>
            <a:ext cx="7315200" cy="274320"/>
          </a:xfrm>
          <a:prstGeom prst="rect">
            <a:avLst/>
          </a:prstGeom>
          <a:noFill/>
          <a:ln/>
        </p:spPr>
        <p:txBody>
          <a:bodyPr wrap="square" lIns="0" tIns="0" rIns="0" bIns="0" rtlCol="0" anchor="t"/>
          <a:lstStyle/>
          <a:p>
            <a:pPr indent="0" marL="0">
              <a:buNone/>
            </a:pPr>
            <a:r>
              <a:rPr lang="en-US" sz="1200" b="1" spc="300" kern="0" dirty="0">
                <a:solidFill>
                  <a:srgbClr val="55516E"/>
                </a:solidFill>
                <a:latin typeface="Calibri" pitchFamily="34" charset="0"/>
                <a:ea typeface="Calibri" pitchFamily="34" charset="-122"/>
                <a:cs typeface="Calibri" pitchFamily="34" charset="-120"/>
              </a:rPr>
              <a:t>LES PRINCIPALES COMPÉTENCES DE L’ÉTAT</a:t>
            </a:r>
            <a:endParaRPr lang="en-US" sz="1200" dirty="0"/>
          </a:p>
        </p:txBody>
      </p:sp>
      <p:sp>
        <p:nvSpPr>
          <p:cNvPr id="10" name="Shape 8"/>
          <p:cNvSpPr/>
          <p:nvPr/>
        </p:nvSpPr>
        <p:spPr>
          <a:xfrm>
            <a:off x="548640" y="3840480"/>
            <a:ext cx="3520440" cy="1005840"/>
          </a:xfrm>
          <a:prstGeom prst="roundRect">
            <a:avLst>
              <a:gd name="adj" fmla="val 10909"/>
            </a:avLst>
          </a:prstGeom>
          <a:solidFill>
            <a:srgbClr val="F3F2F8"/>
          </a:solidFill>
          <a:ln/>
        </p:spPr>
      </p:sp>
      <p:sp>
        <p:nvSpPr>
          <p:cNvPr id="11" name="Shape 9"/>
          <p:cNvSpPr/>
          <p:nvPr/>
        </p:nvSpPr>
        <p:spPr>
          <a:xfrm>
            <a:off x="731520" y="4041648"/>
            <a:ext cx="603504" cy="603504"/>
          </a:xfrm>
          <a:prstGeom prst="ellipse">
            <a:avLst/>
          </a:prstGeom>
          <a:solidFill>
            <a:srgbClr val="0B032B"/>
          </a:solidFill>
          <a:ln/>
        </p:spPr>
      </p:sp>
      <p:pic>
        <p:nvPicPr>
          <p:cNvPr id="12" name="Image 0" descr="preencoded.png">    </p:cNvPr>
          <p:cNvPicPr>
            <a:picLocks noChangeAspect="1"/>
          </p:cNvPicPr>
          <p:nvPr/>
        </p:nvPicPr>
        <p:blipFill>
          <a:blip r:embed="rId1"/>
          <a:stretch>
            <a:fillRect/>
          </a:stretch>
        </p:blipFill>
        <p:spPr>
          <a:xfrm>
            <a:off x="864291" y="4174419"/>
            <a:ext cx="337962" cy="337962"/>
          </a:xfrm>
          <a:prstGeom prst="rect">
            <a:avLst/>
          </a:prstGeom>
        </p:spPr>
      </p:pic>
      <p:sp>
        <p:nvSpPr>
          <p:cNvPr id="13" name="Text 10"/>
          <p:cNvSpPr txBox="1"/>
          <p:nvPr/>
        </p:nvSpPr>
        <p:spPr>
          <a:xfrm>
            <a:off x="1508760" y="3840480"/>
            <a:ext cx="2423160" cy="1005840"/>
          </a:xfrm>
          <a:prstGeom prst="rect">
            <a:avLst/>
          </a:prstGeom>
          <a:noFill/>
          <a:ln/>
        </p:spPr>
        <p:txBody>
          <a:bodyPr wrap="square" lIns="0" tIns="0" rIns="0" bIns="0" rtlCol="0" anchor="ctr"/>
          <a:lstStyle/>
          <a:p>
            <a:pPr indent="0" marL="0">
              <a:buNone/>
            </a:pPr>
            <a:r>
              <a:rPr lang="en-US" sz="1350" b="1" dirty="0">
                <a:solidFill>
                  <a:srgbClr val="0B032B"/>
                </a:solidFill>
                <a:latin typeface="Calibri" pitchFamily="34" charset="0"/>
                <a:ea typeface="Calibri" pitchFamily="34" charset="-122"/>
                <a:cs typeface="Calibri" pitchFamily="34" charset="-120"/>
              </a:rPr>
              <a:t>Justice, sécurité et ordre public.</a:t>
            </a:r>
            <a:endParaRPr lang="en-US" sz="1350" dirty="0"/>
          </a:p>
        </p:txBody>
      </p:sp>
      <p:sp>
        <p:nvSpPr>
          <p:cNvPr id="14" name="Shape 11"/>
          <p:cNvSpPr/>
          <p:nvPr/>
        </p:nvSpPr>
        <p:spPr>
          <a:xfrm>
            <a:off x="4297680" y="3840480"/>
            <a:ext cx="3520440" cy="1005840"/>
          </a:xfrm>
          <a:prstGeom prst="roundRect">
            <a:avLst>
              <a:gd name="adj" fmla="val 10909"/>
            </a:avLst>
          </a:prstGeom>
          <a:solidFill>
            <a:srgbClr val="F3F2F8"/>
          </a:solidFill>
          <a:ln/>
        </p:spPr>
      </p:sp>
      <p:sp>
        <p:nvSpPr>
          <p:cNvPr id="15" name="Shape 12"/>
          <p:cNvSpPr/>
          <p:nvPr/>
        </p:nvSpPr>
        <p:spPr>
          <a:xfrm>
            <a:off x="4480560" y="4041648"/>
            <a:ext cx="603504" cy="603504"/>
          </a:xfrm>
          <a:prstGeom prst="ellipse">
            <a:avLst/>
          </a:prstGeom>
          <a:solidFill>
            <a:srgbClr val="0B032B"/>
          </a:solidFill>
          <a:ln/>
        </p:spPr>
      </p:sp>
      <p:pic>
        <p:nvPicPr>
          <p:cNvPr id="16" name="Image 1" descr="preencoded.png">    </p:cNvPr>
          <p:cNvPicPr>
            <a:picLocks noChangeAspect="1"/>
          </p:cNvPicPr>
          <p:nvPr/>
        </p:nvPicPr>
        <p:blipFill>
          <a:blip r:embed="rId2"/>
          <a:stretch>
            <a:fillRect/>
          </a:stretch>
        </p:blipFill>
        <p:spPr>
          <a:xfrm>
            <a:off x="4613331" y="4174419"/>
            <a:ext cx="337962" cy="337962"/>
          </a:xfrm>
          <a:prstGeom prst="rect">
            <a:avLst/>
          </a:prstGeom>
        </p:spPr>
      </p:pic>
      <p:sp>
        <p:nvSpPr>
          <p:cNvPr id="17" name="Text 13"/>
          <p:cNvSpPr txBox="1"/>
          <p:nvPr/>
        </p:nvSpPr>
        <p:spPr>
          <a:xfrm>
            <a:off x="5257800" y="3840480"/>
            <a:ext cx="2423160" cy="1005840"/>
          </a:xfrm>
          <a:prstGeom prst="rect">
            <a:avLst/>
          </a:prstGeom>
          <a:noFill/>
          <a:ln/>
        </p:spPr>
        <p:txBody>
          <a:bodyPr wrap="square" lIns="0" tIns="0" rIns="0" bIns="0" rtlCol="0" anchor="ctr"/>
          <a:lstStyle/>
          <a:p>
            <a:pPr indent="0" marL="0">
              <a:buNone/>
            </a:pPr>
            <a:r>
              <a:rPr lang="en-US" sz="1350" b="1" dirty="0">
                <a:solidFill>
                  <a:srgbClr val="0B032B"/>
                </a:solidFill>
                <a:latin typeface="Calibri" pitchFamily="34" charset="0"/>
                <a:ea typeface="Calibri" pitchFamily="34" charset="-122"/>
                <a:cs typeface="Calibri" pitchFamily="34" charset="-120"/>
              </a:rPr>
              <a:t>Éducation nationale et enseignement supérieur.</a:t>
            </a:r>
            <a:endParaRPr lang="en-US" sz="1350" dirty="0"/>
          </a:p>
        </p:txBody>
      </p:sp>
      <p:sp>
        <p:nvSpPr>
          <p:cNvPr id="18" name="Shape 14"/>
          <p:cNvSpPr/>
          <p:nvPr/>
        </p:nvSpPr>
        <p:spPr>
          <a:xfrm>
            <a:off x="8046720" y="3840480"/>
            <a:ext cx="3520440" cy="1005840"/>
          </a:xfrm>
          <a:prstGeom prst="roundRect">
            <a:avLst>
              <a:gd name="adj" fmla="val 10909"/>
            </a:avLst>
          </a:prstGeom>
          <a:solidFill>
            <a:srgbClr val="F3F2F8"/>
          </a:solidFill>
          <a:ln/>
        </p:spPr>
      </p:sp>
      <p:sp>
        <p:nvSpPr>
          <p:cNvPr id="19" name="Shape 15"/>
          <p:cNvSpPr/>
          <p:nvPr/>
        </p:nvSpPr>
        <p:spPr>
          <a:xfrm>
            <a:off x="8229600" y="4041648"/>
            <a:ext cx="603504" cy="603504"/>
          </a:xfrm>
          <a:prstGeom prst="ellipse">
            <a:avLst/>
          </a:prstGeom>
          <a:solidFill>
            <a:srgbClr val="0B032B"/>
          </a:solidFill>
          <a:ln/>
        </p:spPr>
      </p:sp>
      <p:pic>
        <p:nvPicPr>
          <p:cNvPr id="20" name="Image 2" descr="preencoded.png">    </p:cNvPr>
          <p:cNvPicPr>
            <a:picLocks noChangeAspect="1"/>
          </p:cNvPicPr>
          <p:nvPr/>
        </p:nvPicPr>
        <p:blipFill>
          <a:blip r:embed="rId3"/>
          <a:stretch>
            <a:fillRect/>
          </a:stretch>
        </p:blipFill>
        <p:spPr>
          <a:xfrm>
            <a:off x="8362371" y="4174419"/>
            <a:ext cx="337962" cy="337962"/>
          </a:xfrm>
          <a:prstGeom prst="rect">
            <a:avLst/>
          </a:prstGeom>
        </p:spPr>
      </p:pic>
      <p:sp>
        <p:nvSpPr>
          <p:cNvPr id="21" name="Text 16"/>
          <p:cNvSpPr txBox="1"/>
          <p:nvPr/>
        </p:nvSpPr>
        <p:spPr>
          <a:xfrm>
            <a:off x="9006840" y="3840480"/>
            <a:ext cx="2423160" cy="1005840"/>
          </a:xfrm>
          <a:prstGeom prst="rect">
            <a:avLst/>
          </a:prstGeom>
          <a:noFill/>
          <a:ln/>
        </p:spPr>
        <p:txBody>
          <a:bodyPr wrap="square" lIns="0" tIns="0" rIns="0" bIns="0" rtlCol="0" anchor="ctr"/>
          <a:lstStyle/>
          <a:p>
            <a:pPr indent="0" marL="0">
              <a:buNone/>
            </a:pPr>
            <a:r>
              <a:rPr lang="en-US" sz="1350" b="1" dirty="0">
                <a:solidFill>
                  <a:srgbClr val="0B032B"/>
                </a:solidFill>
                <a:latin typeface="Calibri" pitchFamily="34" charset="0"/>
                <a:ea typeface="Calibri" pitchFamily="34" charset="-122"/>
                <a:cs typeface="Calibri" pitchFamily="34" charset="-120"/>
              </a:rPr>
              <a:t>Police nationale, gendarmerie et sécurité civile.</a:t>
            </a:r>
            <a:endParaRPr lang="en-US" sz="1350" dirty="0"/>
          </a:p>
        </p:txBody>
      </p:sp>
      <p:sp>
        <p:nvSpPr>
          <p:cNvPr id="22" name="Shape 17"/>
          <p:cNvSpPr/>
          <p:nvPr/>
        </p:nvSpPr>
        <p:spPr>
          <a:xfrm>
            <a:off x="548640" y="4983480"/>
            <a:ext cx="3520440" cy="1005840"/>
          </a:xfrm>
          <a:prstGeom prst="roundRect">
            <a:avLst>
              <a:gd name="adj" fmla="val 10909"/>
            </a:avLst>
          </a:prstGeom>
          <a:solidFill>
            <a:srgbClr val="F3F2F8"/>
          </a:solidFill>
          <a:ln/>
        </p:spPr>
      </p:sp>
      <p:sp>
        <p:nvSpPr>
          <p:cNvPr id="23" name="Shape 18"/>
          <p:cNvSpPr/>
          <p:nvPr/>
        </p:nvSpPr>
        <p:spPr>
          <a:xfrm>
            <a:off x="731520" y="5184648"/>
            <a:ext cx="603504" cy="603504"/>
          </a:xfrm>
          <a:prstGeom prst="ellipse">
            <a:avLst/>
          </a:prstGeom>
          <a:solidFill>
            <a:srgbClr val="0B032B"/>
          </a:solidFill>
          <a:ln/>
        </p:spPr>
      </p:sp>
      <p:pic>
        <p:nvPicPr>
          <p:cNvPr id="24" name="Image 3" descr="preencoded.png">    </p:cNvPr>
          <p:cNvPicPr>
            <a:picLocks noChangeAspect="1"/>
          </p:cNvPicPr>
          <p:nvPr/>
        </p:nvPicPr>
        <p:blipFill>
          <a:blip r:embed="rId4"/>
          <a:stretch>
            <a:fillRect/>
          </a:stretch>
        </p:blipFill>
        <p:spPr>
          <a:xfrm>
            <a:off x="864291" y="5317419"/>
            <a:ext cx="337962" cy="337962"/>
          </a:xfrm>
          <a:prstGeom prst="rect">
            <a:avLst/>
          </a:prstGeom>
        </p:spPr>
      </p:pic>
      <p:sp>
        <p:nvSpPr>
          <p:cNvPr id="25" name="Text 19"/>
          <p:cNvSpPr txBox="1"/>
          <p:nvPr/>
        </p:nvSpPr>
        <p:spPr>
          <a:xfrm>
            <a:off x="1508760" y="4983480"/>
            <a:ext cx="2423160" cy="1005840"/>
          </a:xfrm>
          <a:prstGeom prst="rect">
            <a:avLst/>
          </a:prstGeom>
          <a:noFill/>
          <a:ln/>
        </p:spPr>
        <p:txBody>
          <a:bodyPr wrap="square" lIns="0" tIns="0" rIns="0" bIns="0" rtlCol="0" anchor="ctr"/>
          <a:lstStyle/>
          <a:p>
            <a:pPr indent="0" marL="0">
              <a:buNone/>
            </a:pPr>
            <a:r>
              <a:rPr lang="en-US" sz="1350" b="1" dirty="0">
                <a:solidFill>
                  <a:srgbClr val="0B032B"/>
                </a:solidFill>
                <a:latin typeface="Calibri" pitchFamily="34" charset="0"/>
                <a:ea typeface="Calibri" pitchFamily="34" charset="-122"/>
                <a:cs typeface="Calibri" pitchFamily="34" charset="-120"/>
              </a:rPr>
              <a:t>Fiscalité nationale et finances publiques.</a:t>
            </a:r>
            <a:endParaRPr lang="en-US" sz="1350" dirty="0"/>
          </a:p>
        </p:txBody>
      </p:sp>
      <p:sp>
        <p:nvSpPr>
          <p:cNvPr id="26" name="Shape 20"/>
          <p:cNvSpPr/>
          <p:nvPr/>
        </p:nvSpPr>
        <p:spPr>
          <a:xfrm>
            <a:off x="4297680" y="4983480"/>
            <a:ext cx="3520440" cy="1005840"/>
          </a:xfrm>
          <a:prstGeom prst="roundRect">
            <a:avLst>
              <a:gd name="adj" fmla="val 10909"/>
            </a:avLst>
          </a:prstGeom>
          <a:solidFill>
            <a:srgbClr val="F3F2F8"/>
          </a:solidFill>
          <a:ln/>
        </p:spPr>
      </p:sp>
      <p:sp>
        <p:nvSpPr>
          <p:cNvPr id="27" name="Shape 21"/>
          <p:cNvSpPr/>
          <p:nvPr/>
        </p:nvSpPr>
        <p:spPr>
          <a:xfrm>
            <a:off x="4480560" y="5184648"/>
            <a:ext cx="603504" cy="603504"/>
          </a:xfrm>
          <a:prstGeom prst="ellipse">
            <a:avLst/>
          </a:prstGeom>
          <a:solidFill>
            <a:srgbClr val="0B032B"/>
          </a:solidFill>
          <a:ln/>
        </p:spPr>
      </p:sp>
      <p:pic>
        <p:nvPicPr>
          <p:cNvPr id="28" name="Image 4" descr="preencoded.png">    </p:cNvPr>
          <p:cNvPicPr>
            <a:picLocks noChangeAspect="1"/>
          </p:cNvPicPr>
          <p:nvPr/>
        </p:nvPicPr>
        <p:blipFill>
          <a:blip r:embed="rId5"/>
          <a:stretch>
            <a:fillRect/>
          </a:stretch>
        </p:blipFill>
        <p:spPr>
          <a:xfrm>
            <a:off x="4613331" y="5317419"/>
            <a:ext cx="337962" cy="337962"/>
          </a:xfrm>
          <a:prstGeom prst="rect">
            <a:avLst/>
          </a:prstGeom>
        </p:spPr>
      </p:pic>
      <p:sp>
        <p:nvSpPr>
          <p:cNvPr id="29" name="Text 22"/>
          <p:cNvSpPr txBox="1"/>
          <p:nvPr/>
        </p:nvSpPr>
        <p:spPr>
          <a:xfrm>
            <a:off x="5257800" y="4983480"/>
            <a:ext cx="2423160" cy="1005840"/>
          </a:xfrm>
          <a:prstGeom prst="rect">
            <a:avLst/>
          </a:prstGeom>
          <a:noFill/>
          <a:ln/>
        </p:spPr>
        <p:txBody>
          <a:bodyPr wrap="square" lIns="0" tIns="0" rIns="0" bIns="0" rtlCol="0" anchor="ctr"/>
          <a:lstStyle/>
          <a:p>
            <a:pPr indent="0" marL="0">
              <a:buNone/>
            </a:pPr>
            <a:r>
              <a:rPr lang="en-US" sz="1350" b="1" dirty="0">
                <a:solidFill>
                  <a:srgbClr val="0B032B"/>
                </a:solidFill>
                <a:latin typeface="Calibri" pitchFamily="34" charset="0"/>
                <a:ea typeface="Calibri" pitchFamily="34" charset="-122"/>
                <a:cs typeface="Calibri" pitchFamily="34" charset="-120"/>
              </a:rPr>
              <a:t>Politique étrangère, défense nationale et immigration.</a:t>
            </a:r>
            <a:endParaRPr lang="en-US" sz="1350" dirty="0"/>
          </a:p>
        </p:txBody>
      </p:sp>
      <p:sp>
        <p:nvSpPr>
          <p:cNvPr id="30" name="Shape 23"/>
          <p:cNvSpPr/>
          <p:nvPr/>
        </p:nvSpPr>
        <p:spPr>
          <a:xfrm>
            <a:off x="8046720" y="4983480"/>
            <a:ext cx="3520440" cy="1005840"/>
          </a:xfrm>
          <a:prstGeom prst="roundRect">
            <a:avLst>
              <a:gd name="adj" fmla="val 10909"/>
            </a:avLst>
          </a:prstGeom>
          <a:solidFill>
            <a:srgbClr val="F3F2F8"/>
          </a:solidFill>
          <a:ln/>
        </p:spPr>
      </p:sp>
      <p:sp>
        <p:nvSpPr>
          <p:cNvPr id="31" name="Shape 24"/>
          <p:cNvSpPr/>
          <p:nvPr/>
        </p:nvSpPr>
        <p:spPr>
          <a:xfrm>
            <a:off x="8229600" y="5184648"/>
            <a:ext cx="603504" cy="603504"/>
          </a:xfrm>
          <a:prstGeom prst="ellipse">
            <a:avLst/>
          </a:prstGeom>
          <a:solidFill>
            <a:srgbClr val="0B032B"/>
          </a:solidFill>
          <a:ln/>
        </p:spPr>
      </p:sp>
      <p:pic>
        <p:nvPicPr>
          <p:cNvPr id="32" name="Image 5" descr="preencoded.png">    </p:cNvPr>
          <p:cNvPicPr>
            <a:picLocks noChangeAspect="1"/>
          </p:cNvPicPr>
          <p:nvPr/>
        </p:nvPicPr>
        <p:blipFill>
          <a:blip r:embed="rId6"/>
          <a:stretch>
            <a:fillRect/>
          </a:stretch>
        </p:blipFill>
        <p:spPr>
          <a:xfrm>
            <a:off x="8362371" y="5317419"/>
            <a:ext cx="337962" cy="337962"/>
          </a:xfrm>
          <a:prstGeom prst="rect">
            <a:avLst/>
          </a:prstGeom>
        </p:spPr>
      </p:pic>
      <p:sp>
        <p:nvSpPr>
          <p:cNvPr id="33" name="Text 25"/>
          <p:cNvSpPr txBox="1"/>
          <p:nvPr/>
        </p:nvSpPr>
        <p:spPr>
          <a:xfrm>
            <a:off x="9006840" y="4983480"/>
            <a:ext cx="2423160" cy="1005840"/>
          </a:xfrm>
          <a:prstGeom prst="rect">
            <a:avLst/>
          </a:prstGeom>
          <a:noFill/>
          <a:ln/>
        </p:spPr>
        <p:txBody>
          <a:bodyPr wrap="square" lIns="0" tIns="0" rIns="0" bIns="0" rtlCol="0" anchor="ctr"/>
          <a:lstStyle/>
          <a:p>
            <a:pPr indent="0" marL="0">
              <a:buNone/>
            </a:pPr>
            <a:r>
              <a:rPr lang="en-US" sz="1350" b="1" dirty="0">
                <a:solidFill>
                  <a:srgbClr val="0B032B"/>
                </a:solidFill>
                <a:latin typeface="Calibri" pitchFamily="34" charset="0"/>
                <a:ea typeface="Calibri" pitchFamily="34" charset="-122"/>
                <a:cs typeface="Calibri" pitchFamily="34" charset="-120"/>
              </a:rPr>
              <a:t>Santé publique (avec les Agences Régionales de Santé).</a:t>
            </a:r>
            <a:endParaRPr lang="en-US" sz="1350" dirty="0"/>
          </a:p>
        </p:txBody>
      </p:sp>
      <p:sp>
        <p:nvSpPr>
          <p:cNvPr id="34" name="Text 26"/>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spc="100" kern="0" dirty="0">
                <a:solidFill>
                  <a:srgbClr val="8A8699"/>
                </a:solidFill>
                <a:latin typeface="Calibri" pitchFamily="34" charset="0"/>
                <a:ea typeface="Calibri" pitchFamily="34" charset="-122"/>
                <a:cs typeface="Calibri" pitchFamily="34" charset="-120"/>
              </a:rPr>
              <a:t>ENMA FORMATION  ·  Formation des élus municipaux 2026</a:t>
            </a:r>
            <a:endParaRPr lang="en-US" sz="900" dirty="0"/>
          </a:p>
        </p:txBody>
      </p:sp>
      <p:sp>
        <p:nvSpPr>
          <p:cNvPr id="35" name="Text 27"/>
          <p:cNvSpPr txBox="1"/>
          <p:nvPr/>
        </p:nvSpPr>
        <p:spPr>
          <a:xfrm>
            <a:off x="9692640" y="6400800"/>
            <a:ext cx="548640" cy="274320"/>
          </a:xfrm>
          <a:prstGeom prst="rect">
            <a:avLst/>
          </a:prstGeom>
          <a:noFill/>
          <a:ln/>
        </p:spPr>
        <p:txBody>
          <a:bodyPr wrap="square" lIns="0" tIns="0" rIns="0" bIns="0" rtlCol="0" anchor="ctr"/>
          <a:lstStyle/>
          <a:p>
            <a:pPr algn="r" indent="0" marL="0">
              <a:buNone/>
            </a:pPr>
            <a:r>
              <a:rPr lang="en-US" sz="900" dirty="0">
                <a:solidFill>
                  <a:srgbClr val="8A8699"/>
                </a:solidFill>
                <a:latin typeface="Calibri" pitchFamily="34" charset="0"/>
                <a:ea typeface="Calibri" pitchFamily="34" charset="-122"/>
                <a:cs typeface="Calibri" pitchFamily="34" charset="-120"/>
              </a:rPr>
              <a:t>38</a:t>
            </a:r>
            <a:endParaRPr lang="en-US" sz="900" dirty="0"/>
          </a:p>
        </p:txBody>
      </p:sp>
      <p:pic>
        <p:nvPicPr>
          <p:cNvPr id="36" name="Image 6" descr="preencoded.png">    </p:cNvPr>
          <p:cNvPicPr>
            <a:picLocks noChangeAspect="1"/>
          </p:cNvPicPr>
          <p:nvPr/>
        </p:nvPicPr>
        <p:blipFill>
          <a:blip r:embed="rId7"/>
          <a:stretch>
            <a:fillRect/>
          </a:stretch>
        </p:blipFill>
        <p:spPr>
          <a:xfrm>
            <a:off x="10469880" y="6309360"/>
            <a:ext cx="1170432" cy="484632"/>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420624" cy="310896"/>
          </a:xfrm>
          <a:prstGeom prst="roundRect">
            <a:avLst>
              <a:gd name="adj" fmla="val 23529"/>
            </a:avLst>
          </a:prstGeom>
          <a:solidFill>
            <a:srgbClr val="0B032B"/>
          </a:solidFill>
          <a:ln/>
        </p:spPr>
      </p:sp>
      <p:sp>
        <p:nvSpPr>
          <p:cNvPr id="3" name="Text 1"/>
          <p:cNvSpPr txBox="1"/>
          <p:nvPr/>
        </p:nvSpPr>
        <p:spPr>
          <a:xfrm>
            <a:off x="548640" y="438912"/>
            <a:ext cx="420624" cy="310896"/>
          </a:xfrm>
          <a:prstGeom prst="rect">
            <a:avLst/>
          </a:prstGeom>
          <a:noFill/>
          <a:ln/>
        </p:spPr>
        <p:txBody>
          <a:bodyPr wrap="square" lIns="0" tIns="0" rIns="0" bIns="0" rtlCol="0" anchor="ctr"/>
          <a:lstStyle/>
          <a:p>
            <a:pPr algn="ctr" indent="0" marL="0">
              <a:buNone/>
            </a:pPr>
            <a:r>
              <a:rPr lang="en-US" sz="1100" b="1" dirty="0">
                <a:solidFill>
                  <a:srgbClr val="FFF9C7"/>
                </a:solidFill>
                <a:latin typeface="Calibri" pitchFamily="34" charset="0"/>
                <a:ea typeface="Calibri" pitchFamily="34" charset="-122"/>
                <a:cs typeface="Calibri" pitchFamily="34" charset="-120"/>
              </a:rPr>
              <a:t>05</a:t>
            </a:r>
            <a:endParaRPr lang="en-US" sz="1100" dirty="0"/>
          </a:p>
        </p:txBody>
      </p:sp>
      <p:sp>
        <p:nvSpPr>
          <p:cNvPr id="4" name="Text 2"/>
          <p:cNvSpPr txBox="1"/>
          <p:nvPr/>
        </p:nvSpPr>
        <p:spPr>
          <a:xfrm>
            <a:off x="1115568" y="438912"/>
            <a:ext cx="8229600" cy="310896"/>
          </a:xfrm>
          <a:prstGeom prst="rect">
            <a:avLst/>
          </a:prstGeom>
          <a:noFill/>
          <a:ln/>
        </p:spPr>
        <p:txBody>
          <a:bodyPr wrap="square" lIns="0" tIns="0" rIns="0" bIns="0" rtlCol="0" anchor="ctr"/>
          <a:lstStyle/>
          <a:p>
            <a:pPr indent="0" marL="0">
              <a:buNone/>
            </a:pPr>
            <a:r>
              <a:rPr lang="en-US" sz="1100" b="1" spc="200" kern="0" dirty="0">
                <a:solidFill>
                  <a:srgbClr val="55516E"/>
                </a:solidFill>
                <a:latin typeface="Calibri" pitchFamily="34" charset="0"/>
                <a:ea typeface="Calibri" pitchFamily="34" charset="-122"/>
                <a:cs typeface="Calibri" pitchFamily="34" charset="-120"/>
              </a:rPr>
              <a:t>LES COMPÉTENCES DE L’ÉTAT</a:t>
            </a:r>
            <a:endParaRPr lang="en-US" sz="1100" dirty="0"/>
          </a:p>
        </p:txBody>
      </p:sp>
      <p:sp>
        <p:nvSpPr>
          <p:cNvPr id="5" name="Text 3"/>
          <p:cNvSpPr txBox="1"/>
          <p:nvPr/>
        </p:nvSpPr>
        <p:spPr>
          <a:xfrm>
            <a:off x="548640" y="841248"/>
            <a:ext cx="11064240" cy="685800"/>
          </a:xfrm>
          <a:prstGeom prst="rect">
            <a:avLst/>
          </a:prstGeom>
          <a:noFill/>
          <a:ln/>
        </p:spPr>
        <p:txBody>
          <a:bodyPr wrap="square" lIns="0" tIns="0" rIns="0" bIns="0" rtlCol="0" anchor="ctr">
            <a:normAutofit/>
          </a:bodyPr>
          <a:lstStyle/>
          <a:p>
            <a:pPr indent="0" marL="0">
              <a:buNone/>
            </a:pPr>
            <a:r>
              <a:rPr lang="en-US" sz="2800" b="1" dirty="0">
                <a:solidFill>
                  <a:srgbClr val="0B032B"/>
                </a:solidFill>
                <a:latin typeface="Calibri" pitchFamily="34" charset="0"/>
                <a:ea typeface="Calibri" pitchFamily="34" charset="-122"/>
                <a:cs typeface="Calibri" pitchFamily="34" charset="-120"/>
              </a:rPr>
              <a:t>Le Préfet : représentant de l’État</a:t>
            </a:r>
            <a:endParaRPr lang="en-US" sz="2800" dirty="0"/>
          </a:p>
        </p:txBody>
      </p:sp>
      <p:sp>
        <p:nvSpPr>
          <p:cNvPr id="6" name="Shape 4"/>
          <p:cNvSpPr/>
          <p:nvPr/>
        </p:nvSpPr>
        <p:spPr>
          <a:xfrm>
            <a:off x="548640" y="1783080"/>
            <a:ext cx="5394960" cy="4343400"/>
          </a:xfrm>
          <a:prstGeom prst="roundRect">
            <a:avLst>
              <a:gd name="adj" fmla="val 2526"/>
            </a:avLst>
          </a:prstGeom>
          <a:solidFill>
            <a:srgbClr val="F3F2F8"/>
          </a:solidFill>
          <a:ln/>
        </p:spPr>
      </p:sp>
      <p:sp>
        <p:nvSpPr>
          <p:cNvPr id="7" name="Shape 5"/>
          <p:cNvSpPr/>
          <p:nvPr/>
        </p:nvSpPr>
        <p:spPr>
          <a:xfrm>
            <a:off x="868680" y="2057400"/>
            <a:ext cx="731520" cy="731520"/>
          </a:xfrm>
          <a:prstGeom prst="ellipse">
            <a:avLst/>
          </a:prstGeom>
          <a:solidFill>
            <a:srgbClr val="0B032B"/>
          </a:solidFill>
          <a:ln/>
        </p:spPr>
      </p:sp>
      <p:pic>
        <p:nvPicPr>
          <p:cNvPr id="8" name="Image 0" descr="preencoded.png">    </p:cNvPr>
          <p:cNvPicPr>
            <a:picLocks noChangeAspect="1"/>
          </p:cNvPicPr>
          <p:nvPr/>
        </p:nvPicPr>
        <p:blipFill>
          <a:blip r:embed="rId1"/>
          <a:stretch>
            <a:fillRect/>
          </a:stretch>
        </p:blipFill>
        <p:spPr>
          <a:xfrm>
            <a:off x="1029614" y="2218334"/>
            <a:ext cx="409651" cy="409651"/>
          </a:xfrm>
          <a:prstGeom prst="rect">
            <a:avLst/>
          </a:prstGeom>
        </p:spPr>
      </p:pic>
      <p:sp>
        <p:nvSpPr>
          <p:cNvPr id="9" name="Text 6"/>
          <p:cNvSpPr txBox="1"/>
          <p:nvPr/>
        </p:nvSpPr>
        <p:spPr>
          <a:xfrm>
            <a:off x="1783080" y="2057400"/>
            <a:ext cx="3931920" cy="274320"/>
          </a:xfrm>
          <a:prstGeom prst="rect">
            <a:avLst/>
          </a:prstGeom>
          <a:noFill/>
          <a:ln/>
        </p:spPr>
        <p:txBody>
          <a:bodyPr wrap="square" lIns="0" tIns="0" rIns="0" bIns="0" rtlCol="0" anchor="t"/>
          <a:lstStyle/>
          <a:p>
            <a:pPr indent="0" marL="0">
              <a:buNone/>
            </a:pPr>
            <a:r>
              <a:rPr lang="en-US" sz="1100" b="1" spc="300" kern="0" dirty="0">
                <a:solidFill>
                  <a:srgbClr val="55516E"/>
                </a:solidFill>
                <a:latin typeface="Calibri" pitchFamily="34" charset="0"/>
                <a:ea typeface="Calibri" pitchFamily="34" charset="-122"/>
                <a:cs typeface="Calibri" pitchFamily="34" charset="-120"/>
              </a:rPr>
              <a:t>AU NIVEAU DÉPARTEMENTAL</a:t>
            </a:r>
            <a:endParaRPr lang="en-US" sz="1100" dirty="0"/>
          </a:p>
        </p:txBody>
      </p:sp>
      <p:sp>
        <p:nvSpPr>
          <p:cNvPr id="10" name="Text 7"/>
          <p:cNvSpPr txBox="1"/>
          <p:nvPr/>
        </p:nvSpPr>
        <p:spPr>
          <a:xfrm>
            <a:off x="1783080" y="2331720"/>
            <a:ext cx="3931920" cy="457200"/>
          </a:xfrm>
          <a:prstGeom prst="rect">
            <a:avLst/>
          </a:prstGeom>
          <a:noFill/>
          <a:ln/>
        </p:spPr>
        <p:txBody>
          <a:bodyPr wrap="square" lIns="0" tIns="0" rIns="0" bIns="0" rtlCol="0" anchor="t"/>
          <a:lstStyle/>
          <a:p>
            <a:pPr indent="0" marL="0">
              <a:buNone/>
            </a:pPr>
            <a:r>
              <a:rPr lang="en-US" sz="2000" b="1" dirty="0">
                <a:solidFill>
                  <a:srgbClr val="0B032B"/>
                </a:solidFill>
                <a:latin typeface="Calibri" pitchFamily="34" charset="0"/>
                <a:ea typeface="Calibri" pitchFamily="34" charset="-122"/>
                <a:cs typeface="Calibri" pitchFamily="34" charset="-120"/>
              </a:rPr>
              <a:t>Le Préfet de département</a:t>
            </a:r>
            <a:endParaRPr lang="en-US" sz="2000" dirty="0"/>
          </a:p>
        </p:txBody>
      </p:sp>
      <p:sp>
        <p:nvSpPr>
          <p:cNvPr id="11" name="Text 8"/>
          <p:cNvSpPr txBox="1"/>
          <p:nvPr/>
        </p:nvSpPr>
        <p:spPr>
          <a:xfrm>
            <a:off x="914400" y="3063240"/>
            <a:ext cx="4663440" cy="2926080"/>
          </a:xfrm>
          <a:prstGeom prst="rect">
            <a:avLst/>
          </a:prstGeom>
          <a:noFill/>
          <a:ln/>
        </p:spPr>
        <p:txBody>
          <a:bodyPr wrap="square" lIns="0" tIns="0" rIns="0" bIns="0" rtlCol="0" anchor="t"/>
          <a:lstStyle/>
          <a:p>
            <a:pPr marL="203200" indent="-203200">
              <a:spcAft>
                <a:spcPts val="1000"/>
              </a:spcAft>
              <a:buSzPct val="100000"/>
              <a:buChar char="●"/>
            </a:pPr>
            <a:r>
              <a:rPr lang="en-US" sz="1500" dirty="0">
                <a:solidFill>
                  <a:srgbClr val="0B032B"/>
                </a:solidFill>
                <a:latin typeface="Calibri" pitchFamily="34" charset="0"/>
                <a:ea typeface="Calibri" pitchFamily="34" charset="-122"/>
                <a:cs typeface="Calibri" pitchFamily="34" charset="-120"/>
              </a:rPr>
              <a:t>Représente le Gouvernement.</a:t>
            </a:r>
            <a:endParaRPr lang="en-US" sz="1500" dirty="0"/>
          </a:p>
          <a:p>
            <a:pPr marL="203200" indent="-203200">
              <a:spcAft>
                <a:spcPts val="1000"/>
              </a:spcAft>
              <a:buSzPct val="100000"/>
              <a:buChar char="●"/>
            </a:pPr>
            <a:r>
              <a:rPr lang="en-US" sz="1500" dirty="0">
                <a:solidFill>
                  <a:srgbClr val="0B032B"/>
                </a:solidFill>
                <a:latin typeface="Calibri" pitchFamily="34" charset="0"/>
                <a:ea typeface="Calibri" pitchFamily="34" charset="-122"/>
                <a:cs typeface="Calibri" pitchFamily="34" charset="-120"/>
              </a:rPr>
              <a:t>Coordonne les services de l’État.</a:t>
            </a:r>
            <a:endParaRPr lang="en-US" sz="1500" dirty="0"/>
          </a:p>
          <a:p>
            <a:pPr marL="203200" indent="-203200">
              <a:spcAft>
                <a:spcPts val="1000"/>
              </a:spcAft>
              <a:buSzPct val="100000"/>
              <a:buChar char="●"/>
            </a:pPr>
            <a:r>
              <a:rPr lang="en-US" sz="1500" dirty="0">
                <a:solidFill>
                  <a:srgbClr val="0B032B"/>
                </a:solidFill>
                <a:latin typeface="Calibri" pitchFamily="34" charset="0"/>
                <a:ea typeface="Calibri" pitchFamily="34" charset="-122"/>
                <a:cs typeface="Calibri" pitchFamily="34" charset="-120"/>
              </a:rPr>
              <a:t>Veille au maintien de l’ordre public.</a:t>
            </a:r>
            <a:endParaRPr lang="en-US" sz="1500" dirty="0"/>
          </a:p>
          <a:p>
            <a:pPr marL="203200" indent="-203200">
              <a:spcAft>
                <a:spcPts val="1000"/>
              </a:spcAft>
              <a:buSzPct val="100000"/>
              <a:buChar char="●"/>
            </a:pPr>
            <a:r>
              <a:rPr lang="en-US" sz="1500" dirty="0">
                <a:solidFill>
                  <a:srgbClr val="0B032B"/>
                </a:solidFill>
                <a:latin typeface="Calibri" pitchFamily="34" charset="0"/>
                <a:ea typeface="Calibri" pitchFamily="34" charset="-122"/>
                <a:cs typeface="Calibri" pitchFamily="34" charset="-120"/>
              </a:rPr>
              <a:t>Contrôle la légalité des actes des collectivités territoriales.</a:t>
            </a:r>
            <a:endParaRPr lang="en-US" sz="1500" dirty="0"/>
          </a:p>
          <a:p>
            <a:pPr marL="203200" indent="-203200">
              <a:spcAft>
                <a:spcPts val="1000"/>
              </a:spcAft>
              <a:buSzPct val="100000"/>
              <a:buChar char="●"/>
            </a:pPr>
            <a:r>
              <a:rPr lang="en-US" sz="1500" dirty="0">
                <a:solidFill>
                  <a:srgbClr val="0B032B"/>
                </a:solidFill>
                <a:latin typeface="Calibri" pitchFamily="34" charset="0"/>
                <a:ea typeface="Calibri" pitchFamily="34" charset="-122"/>
                <a:cs typeface="Calibri" pitchFamily="34" charset="-120"/>
              </a:rPr>
              <a:t>Coordonne la gestion des crises (catastrophes, sécurité civile…).</a:t>
            </a:r>
            <a:endParaRPr lang="en-US" sz="1500" dirty="0"/>
          </a:p>
        </p:txBody>
      </p:sp>
      <p:sp>
        <p:nvSpPr>
          <p:cNvPr id="12" name="Shape 9"/>
          <p:cNvSpPr/>
          <p:nvPr/>
        </p:nvSpPr>
        <p:spPr>
          <a:xfrm>
            <a:off x="6126480" y="1783080"/>
            <a:ext cx="5394960" cy="4343400"/>
          </a:xfrm>
          <a:prstGeom prst="roundRect">
            <a:avLst>
              <a:gd name="adj" fmla="val 2526"/>
            </a:avLst>
          </a:prstGeom>
          <a:solidFill>
            <a:srgbClr val="0B032B"/>
          </a:solidFill>
          <a:ln/>
        </p:spPr>
      </p:sp>
      <p:sp>
        <p:nvSpPr>
          <p:cNvPr id="13" name="Shape 10"/>
          <p:cNvSpPr/>
          <p:nvPr/>
        </p:nvSpPr>
        <p:spPr>
          <a:xfrm>
            <a:off x="6446520" y="2057400"/>
            <a:ext cx="731520" cy="731520"/>
          </a:xfrm>
          <a:prstGeom prst="ellipse">
            <a:avLst/>
          </a:prstGeom>
          <a:solidFill>
            <a:srgbClr val="FFF9C7"/>
          </a:solidFill>
          <a:ln/>
        </p:spPr>
      </p:sp>
      <p:pic>
        <p:nvPicPr>
          <p:cNvPr id="14" name="Image 1" descr="preencoded.png">    </p:cNvPr>
          <p:cNvPicPr>
            <a:picLocks noChangeAspect="1"/>
          </p:cNvPicPr>
          <p:nvPr/>
        </p:nvPicPr>
        <p:blipFill>
          <a:blip r:embed="rId2"/>
          <a:stretch>
            <a:fillRect/>
          </a:stretch>
        </p:blipFill>
        <p:spPr>
          <a:xfrm>
            <a:off x="6607454" y="2218334"/>
            <a:ext cx="409651" cy="409651"/>
          </a:xfrm>
          <a:prstGeom prst="rect">
            <a:avLst/>
          </a:prstGeom>
        </p:spPr>
      </p:pic>
      <p:sp>
        <p:nvSpPr>
          <p:cNvPr id="15" name="Text 11"/>
          <p:cNvSpPr txBox="1"/>
          <p:nvPr/>
        </p:nvSpPr>
        <p:spPr>
          <a:xfrm>
            <a:off x="7360920" y="2057400"/>
            <a:ext cx="3931920" cy="274320"/>
          </a:xfrm>
          <a:prstGeom prst="rect">
            <a:avLst/>
          </a:prstGeom>
          <a:noFill/>
          <a:ln/>
        </p:spPr>
        <p:txBody>
          <a:bodyPr wrap="square" lIns="0" tIns="0" rIns="0" bIns="0" rtlCol="0" anchor="t"/>
          <a:lstStyle/>
          <a:p>
            <a:pPr indent="0" marL="0">
              <a:buNone/>
            </a:pPr>
            <a:r>
              <a:rPr lang="en-US" sz="1100" b="1" spc="300" kern="0" dirty="0">
                <a:solidFill>
                  <a:srgbClr val="FFF9C7"/>
                </a:solidFill>
                <a:latin typeface="Calibri" pitchFamily="34" charset="0"/>
                <a:ea typeface="Calibri" pitchFamily="34" charset="-122"/>
                <a:cs typeface="Calibri" pitchFamily="34" charset="-120"/>
              </a:rPr>
              <a:t>AU NIVEAU RÉGIONAL</a:t>
            </a:r>
            <a:endParaRPr lang="en-US" sz="1100" dirty="0"/>
          </a:p>
        </p:txBody>
      </p:sp>
      <p:sp>
        <p:nvSpPr>
          <p:cNvPr id="16" name="Text 12"/>
          <p:cNvSpPr txBox="1"/>
          <p:nvPr/>
        </p:nvSpPr>
        <p:spPr>
          <a:xfrm>
            <a:off x="7360920" y="2331720"/>
            <a:ext cx="3931920" cy="45720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Le Préfet de région</a:t>
            </a:r>
            <a:endParaRPr lang="en-US" sz="2000" dirty="0"/>
          </a:p>
        </p:txBody>
      </p:sp>
      <p:sp>
        <p:nvSpPr>
          <p:cNvPr id="17" name="Text 13"/>
          <p:cNvSpPr txBox="1"/>
          <p:nvPr/>
        </p:nvSpPr>
        <p:spPr>
          <a:xfrm>
            <a:off x="6492240" y="3063240"/>
            <a:ext cx="4663440" cy="2926080"/>
          </a:xfrm>
          <a:prstGeom prst="rect">
            <a:avLst/>
          </a:prstGeom>
          <a:noFill/>
          <a:ln/>
        </p:spPr>
        <p:txBody>
          <a:bodyPr wrap="square" lIns="0" tIns="0" rIns="0" bIns="0" rtlCol="0" anchor="t"/>
          <a:lstStyle/>
          <a:p>
            <a:pPr marL="203200" indent="-203200">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Coordonne les politiques publiques de l’État à l’échelle régionale.</a:t>
            </a:r>
            <a:endParaRPr lang="en-US" sz="1500" dirty="0"/>
          </a:p>
          <a:p>
            <a:pPr marL="203200" indent="-203200">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Met en œuvre les grandes orientations gouvernementales.</a:t>
            </a:r>
            <a:endParaRPr lang="en-US" sz="1500" dirty="0"/>
          </a:p>
          <a:p>
            <a:pPr marL="203200" indent="-203200">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Pilote les politiques de développement économique, d’aménagement du territoire et de transition écologique.</a:t>
            </a:r>
            <a:endParaRPr lang="en-US" sz="1500" dirty="0"/>
          </a:p>
        </p:txBody>
      </p:sp>
      <p:sp>
        <p:nvSpPr>
          <p:cNvPr id="18" name="Text 14"/>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spc="100" kern="0" dirty="0">
                <a:solidFill>
                  <a:srgbClr val="8A8699"/>
                </a:solidFill>
                <a:latin typeface="Calibri" pitchFamily="34" charset="0"/>
                <a:ea typeface="Calibri" pitchFamily="34" charset="-122"/>
                <a:cs typeface="Calibri" pitchFamily="34" charset="-120"/>
              </a:rPr>
              <a:t>ENMA FORMATION  ·  Formation des élus municipaux 2026</a:t>
            </a:r>
            <a:endParaRPr lang="en-US" sz="900" dirty="0"/>
          </a:p>
        </p:txBody>
      </p:sp>
      <p:sp>
        <p:nvSpPr>
          <p:cNvPr id="19" name="Text 15"/>
          <p:cNvSpPr txBox="1"/>
          <p:nvPr/>
        </p:nvSpPr>
        <p:spPr>
          <a:xfrm>
            <a:off x="9692640" y="6400800"/>
            <a:ext cx="548640" cy="274320"/>
          </a:xfrm>
          <a:prstGeom prst="rect">
            <a:avLst/>
          </a:prstGeom>
          <a:noFill/>
          <a:ln/>
        </p:spPr>
        <p:txBody>
          <a:bodyPr wrap="square" lIns="0" tIns="0" rIns="0" bIns="0" rtlCol="0" anchor="ctr"/>
          <a:lstStyle/>
          <a:p>
            <a:pPr algn="r" indent="0" marL="0">
              <a:buNone/>
            </a:pPr>
            <a:r>
              <a:rPr lang="en-US" sz="900" dirty="0">
                <a:solidFill>
                  <a:srgbClr val="8A8699"/>
                </a:solidFill>
                <a:latin typeface="Calibri" pitchFamily="34" charset="0"/>
                <a:ea typeface="Calibri" pitchFamily="34" charset="-122"/>
                <a:cs typeface="Calibri" pitchFamily="34" charset="-120"/>
              </a:rPr>
              <a:t>39</a:t>
            </a:r>
            <a:endParaRPr lang="en-US" sz="900" dirty="0"/>
          </a:p>
        </p:txBody>
      </p:sp>
      <p:pic>
        <p:nvPicPr>
          <p:cNvPr id="20" name="Image 2" descr="preencoded.png">    </p:cNvPr>
          <p:cNvPicPr>
            <a:picLocks noChangeAspect="1"/>
          </p:cNvPicPr>
          <p:nvPr/>
        </p:nvPicPr>
        <p:blipFill>
          <a:blip r:embed="rId3"/>
          <a:stretch>
            <a:fillRect/>
          </a:stretch>
        </p:blipFill>
        <p:spPr>
          <a:xfrm>
            <a:off x="10469880" y="6309360"/>
            <a:ext cx="1170432" cy="484632"/>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420624" cy="310896"/>
          </a:xfrm>
          <a:prstGeom prst="roundRect">
            <a:avLst>
              <a:gd name="adj" fmla="val 23529"/>
            </a:avLst>
          </a:prstGeom>
          <a:solidFill>
            <a:srgbClr val="0B032B"/>
          </a:solidFill>
          <a:ln/>
        </p:spPr>
      </p:sp>
      <p:sp>
        <p:nvSpPr>
          <p:cNvPr id="3" name="Text 1"/>
          <p:cNvSpPr txBox="1"/>
          <p:nvPr/>
        </p:nvSpPr>
        <p:spPr>
          <a:xfrm>
            <a:off x="548640" y="438912"/>
            <a:ext cx="420624" cy="310896"/>
          </a:xfrm>
          <a:prstGeom prst="rect">
            <a:avLst/>
          </a:prstGeom>
          <a:noFill/>
          <a:ln/>
        </p:spPr>
        <p:txBody>
          <a:bodyPr wrap="square" lIns="0" tIns="0" rIns="0" bIns="0" rtlCol="0" anchor="ctr"/>
          <a:lstStyle/>
          <a:p>
            <a:pPr algn="ctr" indent="0" marL="0">
              <a:buNone/>
            </a:pPr>
            <a:r>
              <a:rPr lang="en-US" sz="1100" b="1" dirty="0">
                <a:solidFill>
                  <a:srgbClr val="FFF9C7"/>
                </a:solidFill>
                <a:latin typeface="Calibri" pitchFamily="34" charset="0"/>
                <a:ea typeface="Calibri" pitchFamily="34" charset="-122"/>
                <a:cs typeface="Calibri" pitchFamily="34" charset="-120"/>
              </a:rPr>
              <a:t>05</a:t>
            </a:r>
            <a:endParaRPr lang="en-US" sz="1100" dirty="0"/>
          </a:p>
        </p:txBody>
      </p:sp>
      <p:sp>
        <p:nvSpPr>
          <p:cNvPr id="4" name="Text 2"/>
          <p:cNvSpPr txBox="1"/>
          <p:nvPr/>
        </p:nvSpPr>
        <p:spPr>
          <a:xfrm>
            <a:off x="1115568" y="438912"/>
            <a:ext cx="8229600" cy="310896"/>
          </a:xfrm>
          <a:prstGeom prst="rect">
            <a:avLst/>
          </a:prstGeom>
          <a:noFill/>
          <a:ln/>
        </p:spPr>
        <p:txBody>
          <a:bodyPr wrap="square" lIns="0" tIns="0" rIns="0" bIns="0" rtlCol="0" anchor="ctr"/>
          <a:lstStyle/>
          <a:p>
            <a:pPr indent="0" marL="0">
              <a:buNone/>
            </a:pPr>
            <a:r>
              <a:rPr lang="en-US" sz="1100" b="1" spc="200" kern="0" dirty="0">
                <a:solidFill>
                  <a:srgbClr val="55516E"/>
                </a:solidFill>
                <a:latin typeface="Calibri" pitchFamily="34" charset="0"/>
                <a:ea typeface="Calibri" pitchFamily="34" charset="-122"/>
                <a:cs typeface="Calibri" pitchFamily="34" charset="-120"/>
              </a:rPr>
              <a:t>LES COMPÉTENCES DE L’ÉTAT</a:t>
            </a:r>
            <a:endParaRPr lang="en-US" sz="1100" dirty="0"/>
          </a:p>
        </p:txBody>
      </p:sp>
      <p:sp>
        <p:nvSpPr>
          <p:cNvPr id="5" name="Text 3"/>
          <p:cNvSpPr txBox="1"/>
          <p:nvPr/>
        </p:nvSpPr>
        <p:spPr>
          <a:xfrm>
            <a:off x="548640" y="841248"/>
            <a:ext cx="11064240" cy="685800"/>
          </a:xfrm>
          <a:prstGeom prst="rect">
            <a:avLst/>
          </a:prstGeom>
          <a:noFill/>
          <a:ln/>
        </p:spPr>
        <p:txBody>
          <a:bodyPr wrap="square" lIns="0" tIns="0" rIns="0" bIns="0" rtlCol="0" anchor="ctr">
            <a:normAutofit/>
          </a:bodyPr>
          <a:lstStyle/>
          <a:p>
            <a:pPr indent="0" marL="0">
              <a:buNone/>
            </a:pPr>
            <a:r>
              <a:rPr lang="en-US" sz="2600" b="1" dirty="0">
                <a:solidFill>
                  <a:srgbClr val="0B032B"/>
                </a:solidFill>
                <a:latin typeface="Calibri" pitchFamily="34" charset="0"/>
                <a:ea typeface="Calibri" pitchFamily="34" charset="-122"/>
                <a:cs typeface="Calibri" pitchFamily="34" charset="-120"/>
              </a:rPr>
              <a:t>Décentralisation et déconcentration : deux notions à distinguer</a:t>
            </a:r>
            <a:endParaRPr lang="en-US" sz="2600" dirty="0"/>
          </a:p>
        </p:txBody>
      </p:sp>
      <p:sp>
        <p:nvSpPr>
          <p:cNvPr id="6" name="Shape 4"/>
          <p:cNvSpPr/>
          <p:nvPr/>
        </p:nvSpPr>
        <p:spPr>
          <a:xfrm>
            <a:off x="548640" y="1783080"/>
            <a:ext cx="5394960" cy="4389120"/>
          </a:xfrm>
          <a:prstGeom prst="roundRect">
            <a:avLst>
              <a:gd name="adj" fmla="val 2500"/>
            </a:avLst>
          </a:prstGeom>
          <a:solidFill>
            <a:srgbClr val="F3F2F8"/>
          </a:solidFill>
          <a:ln/>
        </p:spPr>
      </p:sp>
      <p:sp>
        <p:nvSpPr>
          <p:cNvPr id="7" name="Text 5"/>
          <p:cNvSpPr txBox="1"/>
          <p:nvPr/>
        </p:nvSpPr>
        <p:spPr>
          <a:xfrm>
            <a:off x="868680" y="1965960"/>
            <a:ext cx="4754880" cy="457200"/>
          </a:xfrm>
          <a:prstGeom prst="rect">
            <a:avLst/>
          </a:prstGeom>
          <a:noFill/>
          <a:ln/>
        </p:spPr>
        <p:txBody>
          <a:bodyPr wrap="square" lIns="0" tIns="0" rIns="0" bIns="0" rtlCol="0" anchor="t"/>
          <a:lstStyle/>
          <a:p>
            <a:pPr indent="0" marL="0">
              <a:buNone/>
            </a:pPr>
            <a:r>
              <a:rPr lang="en-US" sz="2200" b="1" dirty="0">
                <a:solidFill>
                  <a:srgbClr val="0B032B"/>
                </a:solidFill>
                <a:latin typeface="Calibri" pitchFamily="34" charset="0"/>
                <a:ea typeface="Calibri" pitchFamily="34" charset="-122"/>
                <a:cs typeface="Calibri" pitchFamily="34" charset="-120"/>
              </a:rPr>
              <a:t>Décentralisation</a:t>
            </a:r>
            <a:endParaRPr lang="en-US" sz="2200" dirty="0"/>
          </a:p>
        </p:txBody>
      </p:sp>
      <p:sp>
        <p:nvSpPr>
          <p:cNvPr id="8" name="Shape 6"/>
          <p:cNvSpPr/>
          <p:nvPr/>
        </p:nvSpPr>
        <p:spPr>
          <a:xfrm>
            <a:off x="868680" y="2606040"/>
            <a:ext cx="1463040" cy="731520"/>
          </a:xfrm>
          <a:prstGeom prst="roundRect">
            <a:avLst>
              <a:gd name="adj" fmla="val 15000"/>
            </a:avLst>
          </a:prstGeom>
          <a:solidFill>
            <a:srgbClr val="0B032B"/>
          </a:solidFill>
          <a:ln/>
        </p:spPr>
      </p:sp>
      <p:sp>
        <p:nvSpPr>
          <p:cNvPr id="9" name="Text 7"/>
          <p:cNvSpPr txBox="1"/>
          <p:nvPr/>
        </p:nvSpPr>
        <p:spPr>
          <a:xfrm>
            <a:off x="868680" y="2606040"/>
            <a:ext cx="1463040" cy="731520"/>
          </a:xfrm>
          <a:prstGeom prst="rect">
            <a:avLst/>
          </a:prstGeom>
          <a:noFill/>
          <a:ln/>
        </p:spPr>
        <p:txBody>
          <a:bodyPr wrap="square" lIns="0" tIns="0" rIns="0" bIns="0" rtlCol="0" anchor="ctr"/>
          <a:lstStyle/>
          <a:p>
            <a:pPr algn="ctr" indent="0" marL="0">
              <a:buNone/>
            </a:pPr>
            <a:r>
              <a:rPr lang="en-US" sz="1600" b="1" dirty="0">
                <a:solidFill>
                  <a:srgbClr val="FFF9C7"/>
                </a:solidFill>
                <a:latin typeface="Calibri" pitchFamily="34" charset="0"/>
                <a:ea typeface="Calibri" pitchFamily="34" charset="-122"/>
                <a:cs typeface="Calibri" pitchFamily="34" charset="-120"/>
              </a:rPr>
              <a:t>État</a:t>
            </a:r>
            <a:endParaRPr lang="en-US" sz="1600" dirty="0"/>
          </a:p>
        </p:txBody>
      </p:sp>
      <p:sp>
        <p:nvSpPr>
          <p:cNvPr id="10" name="Shape 8"/>
          <p:cNvSpPr/>
          <p:nvPr/>
        </p:nvSpPr>
        <p:spPr>
          <a:xfrm>
            <a:off x="2423160" y="2743200"/>
            <a:ext cx="1325880" cy="457200"/>
          </a:xfrm>
          <a:prstGeom prst="rightArrow">
            <a:avLst/>
          </a:prstGeom>
          <a:solidFill>
            <a:srgbClr val="E4572E"/>
          </a:solidFill>
          <a:ln/>
        </p:spPr>
      </p:sp>
      <p:sp>
        <p:nvSpPr>
          <p:cNvPr id="11" name="Text 9"/>
          <p:cNvSpPr txBox="1"/>
          <p:nvPr/>
        </p:nvSpPr>
        <p:spPr>
          <a:xfrm>
            <a:off x="2331720" y="3246120"/>
            <a:ext cx="1508760" cy="411480"/>
          </a:xfrm>
          <a:prstGeom prst="rect">
            <a:avLst/>
          </a:prstGeom>
          <a:noFill/>
          <a:ln/>
        </p:spPr>
        <p:txBody>
          <a:bodyPr wrap="square" lIns="0" tIns="0" rIns="0" bIns="0" rtlCol="0" anchor="t"/>
          <a:lstStyle/>
          <a:p>
            <a:pPr algn="ctr" indent="0" marL="0">
              <a:buNone/>
            </a:pPr>
            <a:r>
              <a:rPr lang="en-US" sz="1000" b="1" dirty="0">
                <a:solidFill>
                  <a:srgbClr val="55516E"/>
                </a:solidFill>
                <a:latin typeface="Calibri" pitchFamily="34" charset="0"/>
                <a:ea typeface="Calibri" pitchFamily="34" charset="-122"/>
                <a:cs typeface="Calibri" pitchFamily="34" charset="-120"/>
              </a:rPr>
              <a:t>transfert de compétences</a:t>
            </a:r>
            <a:endParaRPr lang="en-US" sz="1000" dirty="0"/>
          </a:p>
        </p:txBody>
      </p:sp>
      <p:sp>
        <p:nvSpPr>
          <p:cNvPr id="12" name="Shape 10"/>
          <p:cNvSpPr/>
          <p:nvPr/>
        </p:nvSpPr>
        <p:spPr>
          <a:xfrm>
            <a:off x="3840480" y="2606040"/>
            <a:ext cx="1828800" cy="731520"/>
          </a:xfrm>
          <a:prstGeom prst="roundRect">
            <a:avLst>
              <a:gd name="adj" fmla="val 15000"/>
            </a:avLst>
          </a:prstGeom>
          <a:solidFill>
            <a:srgbClr val="FFFFFF"/>
          </a:solidFill>
          <a:ln w="15875">
            <a:solidFill>
              <a:srgbClr val="0B032B"/>
            </a:solidFill>
            <a:prstDash val="solid"/>
          </a:ln>
        </p:spPr>
      </p:sp>
      <p:sp>
        <p:nvSpPr>
          <p:cNvPr id="13" name="Text 11"/>
          <p:cNvSpPr txBox="1"/>
          <p:nvPr/>
        </p:nvSpPr>
        <p:spPr>
          <a:xfrm>
            <a:off x="3886200" y="2606040"/>
            <a:ext cx="1737360" cy="731520"/>
          </a:xfrm>
          <a:prstGeom prst="rect">
            <a:avLst/>
          </a:prstGeom>
          <a:noFill/>
          <a:ln/>
        </p:spPr>
        <p:txBody>
          <a:bodyPr wrap="square" lIns="0" tIns="0" rIns="0" bIns="0" rtlCol="0" anchor="ctr">
            <a:normAutofit/>
          </a:bodyPr>
          <a:lstStyle/>
          <a:p>
            <a:pPr algn="ctr" indent="0" marL="0">
              <a:buNone/>
            </a:pPr>
            <a:r>
              <a:rPr lang="en-US" sz="1200" b="1" dirty="0">
                <a:solidFill>
                  <a:srgbClr val="0B032B"/>
                </a:solidFill>
                <a:latin typeface="Calibri" pitchFamily="34" charset="0"/>
                <a:ea typeface="Calibri" pitchFamily="34" charset="-122"/>
                <a:cs typeface="Calibri" pitchFamily="34" charset="-120"/>
              </a:rPr>
              <a:t>Collectivités territoriales</a:t>
            </a:r>
            <a:endParaRPr lang="en-US" sz="1200" dirty="0"/>
          </a:p>
        </p:txBody>
      </p:sp>
      <p:sp>
        <p:nvSpPr>
          <p:cNvPr id="14" name="Text 12"/>
          <p:cNvSpPr txBox="1"/>
          <p:nvPr/>
        </p:nvSpPr>
        <p:spPr>
          <a:xfrm>
            <a:off x="3794760" y="3383280"/>
            <a:ext cx="1920240" cy="365760"/>
          </a:xfrm>
          <a:prstGeom prst="rect">
            <a:avLst/>
          </a:prstGeom>
          <a:noFill/>
          <a:ln/>
        </p:spPr>
        <p:txBody>
          <a:bodyPr wrap="square" lIns="0" tIns="0" rIns="0" bIns="0" rtlCol="0" anchor="t"/>
          <a:lstStyle/>
          <a:p>
            <a:pPr algn="ctr" indent="0" marL="0">
              <a:buNone/>
            </a:pPr>
            <a:r>
              <a:rPr lang="en-US" sz="1000" i="1" dirty="0">
                <a:solidFill>
                  <a:srgbClr val="55516E"/>
                </a:solidFill>
                <a:latin typeface="Calibri" pitchFamily="34" charset="0"/>
                <a:ea typeface="Calibri" pitchFamily="34" charset="-122"/>
                <a:cs typeface="Calibri" pitchFamily="34" charset="-120"/>
              </a:rPr>
              <a:t>dirigées par des élus</a:t>
            </a:r>
            <a:endParaRPr lang="en-US" sz="1000" dirty="0"/>
          </a:p>
        </p:txBody>
      </p:sp>
      <p:sp>
        <p:nvSpPr>
          <p:cNvPr id="15" name="Text 13"/>
          <p:cNvSpPr txBox="1"/>
          <p:nvPr/>
        </p:nvSpPr>
        <p:spPr>
          <a:xfrm>
            <a:off x="868680" y="3977640"/>
            <a:ext cx="4754880" cy="2011680"/>
          </a:xfrm>
          <a:prstGeom prst="rect">
            <a:avLst/>
          </a:prstGeom>
          <a:noFill/>
          <a:ln/>
        </p:spPr>
        <p:txBody>
          <a:bodyPr wrap="square" lIns="0" tIns="0" rIns="0" bIns="0" rtlCol="0" anchor="t"/>
          <a:lstStyle/>
          <a:p>
            <a:pPr indent="0" marL="0">
              <a:lnSpc>
                <a:spcPct val="108000"/>
              </a:lnSpc>
              <a:buNone/>
            </a:pPr>
            <a:r>
              <a:rPr lang="en-US" sz="1500" b="1" dirty="0">
                <a:solidFill>
                  <a:srgbClr val="0B032B"/>
                </a:solidFill>
                <a:latin typeface="Calibri" pitchFamily="34" charset="0"/>
                <a:ea typeface="Calibri" pitchFamily="34" charset="-122"/>
                <a:cs typeface="Calibri" pitchFamily="34" charset="-120"/>
              </a:rPr>
              <a:t>La décentralisation </a:t>
            </a:r>
            <a:pPr indent="0" marL="0">
              <a:lnSpc>
                <a:spcPct val="108000"/>
              </a:lnSpc>
              <a:buNone/>
            </a:pPr>
            <a:r>
              <a:rPr lang="en-US" sz="1500" dirty="0">
                <a:solidFill>
                  <a:srgbClr val="0B032B"/>
                </a:solidFill>
                <a:latin typeface="Calibri" pitchFamily="34" charset="0"/>
                <a:ea typeface="Calibri" pitchFamily="34" charset="-122"/>
                <a:cs typeface="Calibri" pitchFamily="34" charset="-120"/>
              </a:rPr>
              <a:t>consiste à transférer des compétences de l’État vers des collectivités territoriales autonomes (communes, départements, régions), dirigées par des élus.</a:t>
            </a:r>
            <a:endParaRPr lang="en-US" sz="1500" dirty="0"/>
          </a:p>
        </p:txBody>
      </p:sp>
      <p:sp>
        <p:nvSpPr>
          <p:cNvPr id="16" name="Shape 14"/>
          <p:cNvSpPr/>
          <p:nvPr/>
        </p:nvSpPr>
        <p:spPr>
          <a:xfrm>
            <a:off x="6217920" y="1783080"/>
            <a:ext cx="5394960" cy="4389120"/>
          </a:xfrm>
          <a:prstGeom prst="roundRect">
            <a:avLst>
              <a:gd name="adj" fmla="val 2500"/>
            </a:avLst>
          </a:prstGeom>
          <a:solidFill>
            <a:srgbClr val="0B032B"/>
          </a:solidFill>
          <a:ln/>
        </p:spPr>
      </p:sp>
      <p:sp>
        <p:nvSpPr>
          <p:cNvPr id="17" name="Text 15"/>
          <p:cNvSpPr txBox="1"/>
          <p:nvPr/>
        </p:nvSpPr>
        <p:spPr>
          <a:xfrm>
            <a:off x="6537960" y="1965960"/>
            <a:ext cx="4754880" cy="457200"/>
          </a:xfrm>
          <a:prstGeom prst="rect">
            <a:avLst/>
          </a:prstGeom>
          <a:noFill/>
          <a:ln/>
        </p:spPr>
        <p:txBody>
          <a:bodyPr wrap="square" lIns="0" tIns="0" rIns="0" bIns="0" rtlCol="0" anchor="t"/>
          <a:lstStyle/>
          <a:p>
            <a:pPr indent="0" marL="0">
              <a:buNone/>
            </a:pPr>
            <a:r>
              <a:rPr lang="en-US" sz="2200" b="1" dirty="0">
                <a:solidFill>
                  <a:srgbClr val="FFF9C7"/>
                </a:solidFill>
                <a:latin typeface="Calibri" pitchFamily="34" charset="0"/>
                <a:ea typeface="Calibri" pitchFamily="34" charset="-122"/>
                <a:cs typeface="Calibri" pitchFamily="34" charset="-120"/>
              </a:rPr>
              <a:t>Déconcentration</a:t>
            </a:r>
            <a:endParaRPr lang="en-US" sz="2200" dirty="0"/>
          </a:p>
        </p:txBody>
      </p:sp>
      <p:sp>
        <p:nvSpPr>
          <p:cNvPr id="18" name="Shape 16"/>
          <p:cNvSpPr/>
          <p:nvPr/>
        </p:nvSpPr>
        <p:spPr>
          <a:xfrm>
            <a:off x="6537960" y="2606040"/>
            <a:ext cx="1463040" cy="731520"/>
          </a:xfrm>
          <a:prstGeom prst="roundRect">
            <a:avLst>
              <a:gd name="adj" fmla="val 15000"/>
            </a:avLst>
          </a:prstGeom>
          <a:solidFill>
            <a:srgbClr val="FFF9C7"/>
          </a:solidFill>
          <a:ln/>
        </p:spPr>
      </p:sp>
      <p:sp>
        <p:nvSpPr>
          <p:cNvPr id="19" name="Text 17"/>
          <p:cNvSpPr txBox="1"/>
          <p:nvPr/>
        </p:nvSpPr>
        <p:spPr>
          <a:xfrm>
            <a:off x="6537960" y="2606040"/>
            <a:ext cx="1463040" cy="731520"/>
          </a:xfrm>
          <a:prstGeom prst="rect">
            <a:avLst/>
          </a:prstGeom>
          <a:noFill/>
          <a:ln/>
        </p:spPr>
        <p:txBody>
          <a:bodyPr wrap="square" lIns="0" tIns="0" rIns="0" bIns="0" rtlCol="0" anchor="ctr"/>
          <a:lstStyle/>
          <a:p>
            <a:pPr algn="ctr" indent="0" marL="0">
              <a:buNone/>
            </a:pPr>
            <a:r>
              <a:rPr lang="en-US" sz="1600" b="1" dirty="0">
                <a:solidFill>
                  <a:srgbClr val="0B032B"/>
                </a:solidFill>
                <a:latin typeface="Calibri" pitchFamily="34" charset="0"/>
                <a:ea typeface="Calibri" pitchFamily="34" charset="-122"/>
                <a:cs typeface="Calibri" pitchFamily="34" charset="-120"/>
              </a:rPr>
              <a:t>État</a:t>
            </a:r>
            <a:endParaRPr lang="en-US" sz="1600" dirty="0"/>
          </a:p>
        </p:txBody>
      </p:sp>
      <p:sp>
        <p:nvSpPr>
          <p:cNvPr id="20" name="Shape 18"/>
          <p:cNvSpPr/>
          <p:nvPr/>
        </p:nvSpPr>
        <p:spPr>
          <a:xfrm>
            <a:off x="8092440" y="2743200"/>
            <a:ext cx="1325880" cy="457200"/>
          </a:xfrm>
          <a:prstGeom prst="rightArrow">
            <a:avLst/>
          </a:prstGeom>
          <a:solidFill>
            <a:srgbClr val="E4572E"/>
          </a:solidFill>
          <a:ln/>
        </p:spPr>
      </p:sp>
      <p:sp>
        <p:nvSpPr>
          <p:cNvPr id="21" name="Text 19"/>
          <p:cNvSpPr txBox="1"/>
          <p:nvPr/>
        </p:nvSpPr>
        <p:spPr>
          <a:xfrm>
            <a:off x="8001000" y="3246120"/>
            <a:ext cx="1508760" cy="411480"/>
          </a:xfrm>
          <a:prstGeom prst="rect">
            <a:avLst/>
          </a:prstGeom>
          <a:noFill/>
          <a:ln/>
        </p:spPr>
        <p:txBody>
          <a:bodyPr wrap="square" lIns="0" tIns="0" rIns="0" bIns="0" rtlCol="0" anchor="t"/>
          <a:lstStyle/>
          <a:p>
            <a:pPr algn="ctr" indent="0" marL="0">
              <a:buNone/>
            </a:pPr>
            <a:r>
              <a:rPr lang="en-US" sz="1000" b="1" dirty="0">
                <a:solidFill>
                  <a:srgbClr val="FFF9C7"/>
                </a:solidFill>
                <a:latin typeface="Calibri" pitchFamily="34" charset="0"/>
                <a:ea typeface="Calibri" pitchFamily="34" charset="-122"/>
                <a:cs typeface="Calibri" pitchFamily="34" charset="-120"/>
              </a:rPr>
              <a:t>délégation de l’action</a:t>
            </a:r>
            <a:endParaRPr lang="en-US" sz="1000" dirty="0"/>
          </a:p>
        </p:txBody>
      </p:sp>
      <p:sp>
        <p:nvSpPr>
          <p:cNvPr id="22" name="Shape 20"/>
          <p:cNvSpPr/>
          <p:nvPr/>
        </p:nvSpPr>
        <p:spPr>
          <a:xfrm>
            <a:off x="9509760" y="2606040"/>
            <a:ext cx="1828800" cy="731520"/>
          </a:xfrm>
          <a:prstGeom prst="roundRect">
            <a:avLst>
              <a:gd name="adj" fmla="val 15000"/>
            </a:avLst>
          </a:prstGeom>
          <a:solidFill>
            <a:srgbClr val="FFFFFF"/>
          </a:solidFill>
          <a:ln w="15875">
            <a:solidFill>
              <a:srgbClr val="FFF9C7"/>
            </a:solidFill>
            <a:prstDash val="solid"/>
          </a:ln>
        </p:spPr>
      </p:sp>
      <p:sp>
        <p:nvSpPr>
          <p:cNvPr id="23" name="Text 21"/>
          <p:cNvSpPr txBox="1"/>
          <p:nvPr/>
        </p:nvSpPr>
        <p:spPr>
          <a:xfrm>
            <a:off x="9555480" y="2606040"/>
            <a:ext cx="1737360" cy="731520"/>
          </a:xfrm>
          <a:prstGeom prst="rect">
            <a:avLst/>
          </a:prstGeom>
          <a:noFill/>
          <a:ln/>
        </p:spPr>
        <p:txBody>
          <a:bodyPr wrap="square" lIns="0" tIns="0" rIns="0" bIns="0" rtlCol="0" anchor="ctr">
            <a:normAutofit/>
          </a:bodyPr>
          <a:lstStyle/>
          <a:p>
            <a:pPr algn="ctr" indent="0" marL="0">
              <a:buNone/>
            </a:pPr>
            <a:r>
              <a:rPr lang="en-US" sz="1200" b="1" dirty="0">
                <a:solidFill>
                  <a:srgbClr val="0B032B"/>
                </a:solidFill>
                <a:latin typeface="Calibri" pitchFamily="34" charset="0"/>
                <a:ea typeface="Calibri" pitchFamily="34" charset="-122"/>
                <a:cs typeface="Calibri" pitchFamily="34" charset="-120"/>
              </a:rPr>
              <a:t>Préfets, sous-préfets, services</a:t>
            </a:r>
            <a:endParaRPr lang="en-US" sz="1200" dirty="0"/>
          </a:p>
        </p:txBody>
      </p:sp>
      <p:sp>
        <p:nvSpPr>
          <p:cNvPr id="24" name="Text 22"/>
          <p:cNvSpPr txBox="1"/>
          <p:nvPr/>
        </p:nvSpPr>
        <p:spPr>
          <a:xfrm>
            <a:off x="9464040" y="3383280"/>
            <a:ext cx="1920240" cy="365760"/>
          </a:xfrm>
          <a:prstGeom prst="rect">
            <a:avLst/>
          </a:prstGeom>
          <a:noFill/>
          <a:ln/>
        </p:spPr>
        <p:txBody>
          <a:bodyPr wrap="square" lIns="0" tIns="0" rIns="0" bIns="0" rtlCol="0" anchor="t"/>
          <a:lstStyle/>
          <a:p>
            <a:pPr algn="ctr" indent="0" marL="0">
              <a:buNone/>
            </a:pPr>
            <a:r>
              <a:rPr lang="en-US" sz="1000" i="1" dirty="0">
                <a:solidFill>
                  <a:srgbClr val="B3B3BA"/>
                </a:solidFill>
                <a:latin typeface="Calibri" pitchFamily="34" charset="0"/>
                <a:ea typeface="Calibri" pitchFamily="34" charset="-122"/>
                <a:cs typeface="Calibri" pitchFamily="34" charset="-120"/>
              </a:rPr>
              <a:t>la décision reste à l’État</a:t>
            </a:r>
            <a:endParaRPr lang="en-US" sz="1000" dirty="0"/>
          </a:p>
        </p:txBody>
      </p:sp>
      <p:sp>
        <p:nvSpPr>
          <p:cNvPr id="25" name="Text 23"/>
          <p:cNvSpPr txBox="1"/>
          <p:nvPr/>
        </p:nvSpPr>
        <p:spPr>
          <a:xfrm>
            <a:off x="6537960" y="3977640"/>
            <a:ext cx="4754880" cy="2011680"/>
          </a:xfrm>
          <a:prstGeom prst="rect">
            <a:avLst/>
          </a:prstGeom>
          <a:noFill/>
          <a:ln/>
        </p:spPr>
        <p:txBody>
          <a:bodyPr wrap="square" lIns="0" tIns="0" rIns="0" bIns="0" rtlCol="0" anchor="t"/>
          <a:lstStyle/>
          <a:p>
            <a:pPr indent="0" marL="0">
              <a:lnSpc>
                <a:spcPct val="108000"/>
              </a:lnSpc>
              <a:buNone/>
            </a:pPr>
            <a:r>
              <a:rPr lang="en-US" sz="1500" b="1" dirty="0">
                <a:solidFill>
                  <a:srgbClr val="FFFFFF"/>
                </a:solidFill>
                <a:latin typeface="Calibri" pitchFamily="34" charset="0"/>
                <a:ea typeface="Calibri" pitchFamily="34" charset="-122"/>
                <a:cs typeface="Calibri" pitchFamily="34" charset="-120"/>
              </a:rPr>
              <a:t>La déconcentration </a:t>
            </a:r>
            <a:pPr indent="0" marL="0">
              <a:lnSpc>
                <a:spcPct val="108000"/>
              </a:lnSpc>
              <a:buNone/>
            </a:pPr>
            <a:r>
              <a:rPr lang="en-US" sz="1500" dirty="0">
                <a:solidFill>
                  <a:srgbClr val="FFFFFF"/>
                </a:solidFill>
                <a:latin typeface="Calibri" pitchFamily="34" charset="0"/>
                <a:ea typeface="Calibri" pitchFamily="34" charset="-122"/>
                <a:cs typeface="Calibri" pitchFamily="34" charset="-120"/>
              </a:rPr>
              <a:t>consiste à confier l’exercice des compétences de l’État à ses représentants dans les territoires (préfets, sous-préfets, services déconcentrés), tout en conservant le pouvoir de décision au niveau de l’État.</a:t>
            </a:r>
            <a:endParaRPr lang="en-US" sz="1500" dirty="0"/>
          </a:p>
        </p:txBody>
      </p:sp>
      <p:sp>
        <p:nvSpPr>
          <p:cNvPr id="26" name="Text 24"/>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spc="100" kern="0" dirty="0">
                <a:solidFill>
                  <a:srgbClr val="8A8699"/>
                </a:solidFill>
                <a:latin typeface="Calibri" pitchFamily="34" charset="0"/>
                <a:ea typeface="Calibri" pitchFamily="34" charset="-122"/>
                <a:cs typeface="Calibri" pitchFamily="34" charset="-120"/>
              </a:rPr>
              <a:t>ENMA FORMATION  ·  Formation des élus municipaux 2026</a:t>
            </a:r>
            <a:endParaRPr lang="en-US" sz="900" dirty="0"/>
          </a:p>
        </p:txBody>
      </p:sp>
      <p:sp>
        <p:nvSpPr>
          <p:cNvPr id="27" name="Text 25"/>
          <p:cNvSpPr txBox="1"/>
          <p:nvPr/>
        </p:nvSpPr>
        <p:spPr>
          <a:xfrm>
            <a:off x="9692640" y="6400800"/>
            <a:ext cx="548640" cy="274320"/>
          </a:xfrm>
          <a:prstGeom prst="rect">
            <a:avLst/>
          </a:prstGeom>
          <a:noFill/>
          <a:ln/>
        </p:spPr>
        <p:txBody>
          <a:bodyPr wrap="square" lIns="0" tIns="0" rIns="0" bIns="0" rtlCol="0" anchor="ctr"/>
          <a:lstStyle/>
          <a:p>
            <a:pPr algn="r" indent="0" marL="0">
              <a:buNone/>
            </a:pPr>
            <a:r>
              <a:rPr lang="en-US" sz="900" dirty="0">
                <a:solidFill>
                  <a:srgbClr val="8A8699"/>
                </a:solidFill>
                <a:latin typeface="Calibri" pitchFamily="34" charset="0"/>
                <a:ea typeface="Calibri" pitchFamily="34" charset="-122"/>
                <a:cs typeface="Calibri" pitchFamily="34" charset="-120"/>
              </a:rPr>
              <a:t>40</a:t>
            </a:r>
            <a:endParaRPr lang="en-US" sz="900" dirty="0"/>
          </a:p>
        </p:txBody>
      </p:sp>
      <p:pic>
        <p:nvPicPr>
          <p:cNvPr id="28" name="Image 0" descr="preencoded.png">    </p:cNvPr>
          <p:cNvPicPr>
            <a:picLocks noChangeAspect="1"/>
          </p:cNvPicPr>
          <p:nvPr/>
        </p:nvPicPr>
        <p:blipFill>
          <a:blip r:embed="rId1"/>
          <a:stretch>
            <a:fillRect/>
          </a:stretch>
        </p:blipFill>
        <p:spPr>
          <a:xfrm>
            <a:off x="10469880" y="6309360"/>
            <a:ext cx="1170432" cy="484632"/>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B032B"/>
        </a:solidFill>
      </p:bgPr>
    </p:bg>
    <p:spTree>
      <p:nvGrpSpPr>
        <p:cNvPr id="1" name=""/>
        <p:cNvGrpSpPr/>
        <p:nvPr/>
      </p:nvGrpSpPr>
      <p:grpSpPr>
        <a:xfrm>
          <a:off x="0" y="0"/>
          <a:ext cx="0" cy="0"/>
          <a:chOff x="0" y="0"/>
          <a:chExt cx="0" cy="0"/>
        </a:xfrm>
      </p:grpSpPr>
      <p:sp>
        <p:nvSpPr>
          <p:cNvPr id="2" name="Shape 0"/>
          <p:cNvSpPr/>
          <p:nvPr/>
        </p:nvSpPr>
        <p:spPr>
          <a:xfrm>
            <a:off x="548640" y="438912"/>
            <a:ext cx="420624" cy="310896"/>
          </a:xfrm>
          <a:prstGeom prst="roundRect">
            <a:avLst>
              <a:gd name="adj" fmla="val 23529"/>
            </a:avLst>
          </a:prstGeom>
          <a:solidFill>
            <a:srgbClr val="FFF9C7"/>
          </a:solidFill>
          <a:ln/>
        </p:spPr>
      </p:sp>
      <p:sp>
        <p:nvSpPr>
          <p:cNvPr id="3" name="Text 1"/>
          <p:cNvSpPr txBox="1"/>
          <p:nvPr/>
        </p:nvSpPr>
        <p:spPr>
          <a:xfrm>
            <a:off x="548640" y="438912"/>
            <a:ext cx="420624" cy="310896"/>
          </a:xfrm>
          <a:prstGeom prst="rect">
            <a:avLst/>
          </a:prstGeom>
          <a:noFill/>
          <a:ln/>
        </p:spPr>
        <p:txBody>
          <a:bodyPr wrap="square" lIns="0" tIns="0" rIns="0" bIns="0" rtlCol="0" anchor="ctr"/>
          <a:lstStyle/>
          <a:p>
            <a:pPr algn="ctr" indent="0" marL="0">
              <a:buNone/>
            </a:pPr>
            <a:r>
              <a:rPr lang="en-US" sz="1100" b="1" dirty="0">
                <a:solidFill>
                  <a:srgbClr val="0B032B"/>
                </a:solidFill>
                <a:latin typeface="Calibri" pitchFamily="34" charset="0"/>
                <a:ea typeface="Calibri" pitchFamily="34" charset="-122"/>
                <a:cs typeface="Calibri" pitchFamily="34" charset="-120"/>
              </a:rPr>
              <a:t>05</a:t>
            </a:r>
            <a:endParaRPr lang="en-US" sz="1100" dirty="0"/>
          </a:p>
        </p:txBody>
      </p:sp>
      <p:sp>
        <p:nvSpPr>
          <p:cNvPr id="4" name="Text 2"/>
          <p:cNvSpPr txBox="1"/>
          <p:nvPr/>
        </p:nvSpPr>
        <p:spPr>
          <a:xfrm>
            <a:off x="1115568" y="438912"/>
            <a:ext cx="8229600" cy="310896"/>
          </a:xfrm>
          <a:prstGeom prst="rect">
            <a:avLst/>
          </a:prstGeom>
          <a:noFill/>
          <a:ln/>
        </p:spPr>
        <p:txBody>
          <a:bodyPr wrap="square" lIns="0" tIns="0" rIns="0" bIns="0" rtlCol="0" anchor="ctr"/>
          <a:lstStyle/>
          <a:p>
            <a:pPr indent="0" marL="0">
              <a:buNone/>
            </a:pPr>
            <a:r>
              <a:rPr lang="en-US" sz="1100" b="1" spc="200" kern="0" dirty="0">
                <a:solidFill>
                  <a:srgbClr val="FFF9C7"/>
                </a:solidFill>
                <a:latin typeface="Calibri" pitchFamily="34" charset="0"/>
                <a:ea typeface="Calibri" pitchFamily="34" charset="-122"/>
                <a:cs typeface="Calibri" pitchFamily="34" charset="-120"/>
              </a:rPr>
              <a:t>LES COMPÉTENCES DE L’ÉTAT</a:t>
            </a:r>
            <a:endParaRPr lang="en-US" sz="1100" dirty="0"/>
          </a:p>
        </p:txBody>
      </p:sp>
      <p:sp>
        <p:nvSpPr>
          <p:cNvPr id="5" name="Text 3"/>
          <p:cNvSpPr txBox="1"/>
          <p:nvPr/>
        </p:nvSpPr>
        <p:spPr>
          <a:xfrm>
            <a:off x="548640" y="841248"/>
            <a:ext cx="11064240" cy="685800"/>
          </a:xfrm>
          <a:prstGeom prst="rect">
            <a:avLst/>
          </a:prstGeom>
          <a:noFill/>
          <a:ln/>
        </p:spPr>
        <p:txBody>
          <a:bodyPr wrap="square" lIns="0" tIns="0" rIns="0" bIns="0" rtlCol="0" anchor="ctr">
            <a:normAutofit/>
          </a:bodyPr>
          <a:lstStyle/>
          <a:p>
            <a:pPr indent="0" marL="0">
              <a:buNone/>
            </a:pPr>
            <a:r>
              <a:rPr lang="en-US" sz="2800" b="1" dirty="0">
                <a:solidFill>
                  <a:srgbClr val="FFFFFF"/>
                </a:solidFill>
                <a:latin typeface="Calibri" pitchFamily="34" charset="0"/>
                <a:ea typeface="Calibri" pitchFamily="34" charset="-122"/>
                <a:cs typeface="Calibri" pitchFamily="34" charset="-120"/>
              </a:rPr>
              <a:t>À retenir</a:t>
            </a:r>
            <a:endParaRPr lang="en-US" sz="2800" dirty="0"/>
          </a:p>
        </p:txBody>
      </p:sp>
      <p:sp>
        <p:nvSpPr>
          <p:cNvPr id="6" name="Text 4"/>
          <p:cNvSpPr txBox="1"/>
          <p:nvPr/>
        </p:nvSpPr>
        <p:spPr>
          <a:xfrm>
            <a:off x="548640" y="1783080"/>
            <a:ext cx="11064240" cy="1554480"/>
          </a:xfrm>
          <a:prstGeom prst="rect">
            <a:avLst/>
          </a:prstGeom>
          <a:noFill/>
          <a:ln/>
        </p:spPr>
        <p:txBody>
          <a:bodyPr wrap="square" lIns="0" tIns="0" rIns="0" bIns="0" rtlCol="0" anchor="t"/>
          <a:lstStyle/>
          <a:p>
            <a:pPr indent="0" marL="0">
              <a:lnSpc>
                <a:spcPct val="110000"/>
              </a:lnSpc>
              <a:buNone/>
            </a:pPr>
            <a:r>
              <a:rPr lang="en-US" sz="1800" dirty="0">
                <a:solidFill>
                  <a:srgbClr val="FFFFFF"/>
                </a:solidFill>
                <a:latin typeface="Calibri" pitchFamily="34" charset="0"/>
                <a:ea typeface="Calibri" pitchFamily="34" charset="-122"/>
                <a:cs typeface="Calibri" pitchFamily="34" charset="-120"/>
              </a:rPr>
              <a:t>L’État demeure garant de l’unité de la République et de l’application des lois. Les collectivités territoriales exercent des compétences propres grâce à la décentralisation, tandis que les préfets assurent, au nom de l’État, la coordination des politiques publiques et le contrôle de la légalité des actes des collectivités.</a:t>
            </a:r>
            <a:endParaRPr lang="en-US" sz="1800" dirty="0"/>
          </a:p>
        </p:txBody>
      </p:sp>
      <p:sp>
        <p:nvSpPr>
          <p:cNvPr id="7" name="Shape 5"/>
          <p:cNvSpPr/>
          <p:nvPr/>
        </p:nvSpPr>
        <p:spPr>
          <a:xfrm>
            <a:off x="548640" y="3611880"/>
            <a:ext cx="3017520" cy="713232"/>
          </a:xfrm>
          <a:prstGeom prst="roundRect">
            <a:avLst>
              <a:gd name="adj" fmla="val 15385"/>
            </a:avLst>
          </a:prstGeom>
          <a:solidFill>
            <a:srgbClr val="FFF9C7"/>
          </a:solidFill>
          <a:ln/>
        </p:spPr>
      </p:sp>
      <p:sp>
        <p:nvSpPr>
          <p:cNvPr id="8" name="Text 6"/>
          <p:cNvSpPr txBox="1"/>
          <p:nvPr/>
        </p:nvSpPr>
        <p:spPr>
          <a:xfrm>
            <a:off x="548640" y="3611880"/>
            <a:ext cx="3017520" cy="713232"/>
          </a:xfrm>
          <a:prstGeom prst="rect">
            <a:avLst/>
          </a:prstGeom>
          <a:noFill/>
          <a:ln/>
        </p:spPr>
        <p:txBody>
          <a:bodyPr wrap="square" lIns="0" tIns="0" rIns="0" bIns="0" rtlCol="0" anchor="ctr"/>
          <a:lstStyle/>
          <a:p>
            <a:pPr algn="ctr" indent="0" marL="0">
              <a:buNone/>
            </a:pPr>
            <a:r>
              <a:rPr lang="en-US" sz="1800" b="1" dirty="0">
                <a:solidFill>
                  <a:srgbClr val="0B032B"/>
                </a:solidFill>
                <a:latin typeface="Calibri" pitchFamily="34" charset="0"/>
                <a:ea typeface="Calibri" pitchFamily="34" charset="-122"/>
                <a:cs typeface="Calibri" pitchFamily="34" charset="-120"/>
              </a:rPr>
              <a:t>Décentralisation</a:t>
            </a:r>
            <a:endParaRPr lang="en-US" sz="1800" dirty="0"/>
          </a:p>
        </p:txBody>
      </p:sp>
      <p:sp>
        <p:nvSpPr>
          <p:cNvPr id="9" name="Text 7"/>
          <p:cNvSpPr txBox="1"/>
          <p:nvPr/>
        </p:nvSpPr>
        <p:spPr>
          <a:xfrm>
            <a:off x="3657600" y="3611880"/>
            <a:ext cx="548640" cy="713232"/>
          </a:xfrm>
          <a:prstGeom prst="rect">
            <a:avLst/>
          </a:prstGeom>
          <a:noFill/>
          <a:ln/>
        </p:spPr>
        <p:txBody>
          <a:bodyPr wrap="square" lIns="0" tIns="0" rIns="0" bIns="0" rtlCol="0" anchor="ctr"/>
          <a:lstStyle/>
          <a:p>
            <a:pPr algn="ctr" indent="0" marL="0">
              <a:buNone/>
            </a:pPr>
            <a:r>
              <a:rPr lang="en-US" sz="3000" b="1" dirty="0">
                <a:solidFill>
                  <a:srgbClr val="FFF9C7"/>
                </a:solidFill>
                <a:latin typeface="Calibri" pitchFamily="34" charset="0"/>
                <a:ea typeface="Calibri" pitchFamily="34" charset="-122"/>
                <a:cs typeface="Calibri" pitchFamily="34" charset="-120"/>
              </a:rPr>
              <a:t>=</a:t>
            </a:r>
            <a:endParaRPr lang="en-US" sz="3000" dirty="0"/>
          </a:p>
        </p:txBody>
      </p:sp>
      <p:sp>
        <p:nvSpPr>
          <p:cNvPr id="10" name="Shape 8"/>
          <p:cNvSpPr/>
          <p:nvPr/>
        </p:nvSpPr>
        <p:spPr>
          <a:xfrm>
            <a:off x="4297680" y="3611880"/>
            <a:ext cx="7315200" cy="713232"/>
          </a:xfrm>
          <a:prstGeom prst="roundRect">
            <a:avLst>
              <a:gd name="adj" fmla="val 15385"/>
            </a:avLst>
          </a:prstGeom>
          <a:solidFill>
            <a:srgbClr val="1F1A4D"/>
          </a:solidFill>
          <a:ln/>
        </p:spPr>
      </p:sp>
      <p:sp>
        <p:nvSpPr>
          <p:cNvPr id="11" name="Text 9"/>
          <p:cNvSpPr txBox="1"/>
          <p:nvPr/>
        </p:nvSpPr>
        <p:spPr>
          <a:xfrm>
            <a:off x="4526280" y="3611880"/>
            <a:ext cx="6949440" cy="713232"/>
          </a:xfrm>
          <a:prstGeom prst="rect">
            <a:avLst/>
          </a:prstGeom>
          <a:noFill/>
          <a:ln/>
        </p:spPr>
        <p:txBody>
          <a:bodyPr wrap="square" lIns="0" tIns="0" rIns="0" bIns="0" rtlCol="0" anchor="ctr"/>
          <a:lstStyle/>
          <a:p>
            <a:pPr indent="0" marL="0">
              <a:buNone/>
            </a:pPr>
            <a:r>
              <a:rPr lang="en-US" sz="1550" dirty="0">
                <a:solidFill>
                  <a:srgbClr val="FFFFFF"/>
                </a:solidFill>
                <a:latin typeface="Calibri" pitchFamily="34" charset="0"/>
                <a:ea typeface="Calibri" pitchFamily="34" charset="-122"/>
                <a:cs typeface="Calibri" pitchFamily="34" charset="-120"/>
              </a:rPr>
              <a:t>transfert de compétences vers des élus locaux.</a:t>
            </a:r>
            <a:endParaRPr lang="en-US" sz="1550" dirty="0"/>
          </a:p>
        </p:txBody>
      </p:sp>
      <p:sp>
        <p:nvSpPr>
          <p:cNvPr id="12" name="Shape 10"/>
          <p:cNvSpPr/>
          <p:nvPr/>
        </p:nvSpPr>
        <p:spPr>
          <a:xfrm>
            <a:off x="548640" y="4480560"/>
            <a:ext cx="3017520" cy="713232"/>
          </a:xfrm>
          <a:prstGeom prst="roundRect">
            <a:avLst>
              <a:gd name="adj" fmla="val 15385"/>
            </a:avLst>
          </a:prstGeom>
          <a:solidFill>
            <a:srgbClr val="FFF9C7"/>
          </a:solidFill>
          <a:ln/>
        </p:spPr>
      </p:sp>
      <p:sp>
        <p:nvSpPr>
          <p:cNvPr id="13" name="Text 11"/>
          <p:cNvSpPr txBox="1"/>
          <p:nvPr/>
        </p:nvSpPr>
        <p:spPr>
          <a:xfrm>
            <a:off x="548640" y="4480560"/>
            <a:ext cx="3017520" cy="713232"/>
          </a:xfrm>
          <a:prstGeom prst="rect">
            <a:avLst/>
          </a:prstGeom>
          <a:noFill/>
          <a:ln/>
        </p:spPr>
        <p:txBody>
          <a:bodyPr wrap="square" lIns="0" tIns="0" rIns="0" bIns="0" rtlCol="0" anchor="ctr"/>
          <a:lstStyle/>
          <a:p>
            <a:pPr algn="ctr" indent="0" marL="0">
              <a:buNone/>
            </a:pPr>
            <a:r>
              <a:rPr lang="en-US" sz="1800" b="1" dirty="0">
                <a:solidFill>
                  <a:srgbClr val="0B032B"/>
                </a:solidFill>
                <a:latin typeface="Calibri" pitchFamily="34" charset="0"/>
                <a:ea typeface="Calibri" pitchFamily="34" charset="-122"/>
                <a:cs typeface="Calibri" pitchFamily="34" charset="-120"/>
              </a:rPr>
              <a:t>Déconcentration</a:t>
            </a:r>
            <a:endParaRPr lang="en-US" sz="1800" dirty="0"/>
          </a:p>
        </p:txBody>
      </p:sp>
      <p:sp>
        <p:nvSpPr>
          <p:cNvPr id="14" name="Text 12"/>
          <p:cNvSpPr txBox="1"/>
          <p:nvPr/>
        </p:nvSpPr>
        <p:spPr>
          <a:xfrm>
            <a:off x="3657600" y="4480560"/>
            <a:ext cx="548640" cy="713232"/>
          </a:xfrm>
          <a:prstGeom prst="rect">
            <a:avLst/>
          </a:prstGeom>
          <a:noFill/>
          <a:ln/>
        </p:spPr>
        <p:txBody>
          <a:bodyPr wrap="square" lIns="0" tIns="0" rIns="0" bIns="0" rtlCol="0" anchor="ctr"/>
          <a:lstStyle/>
          <a:p>
            <a:pPr algn="ctr" indent="0" marL="0">
              <a:buNone/>
            </a:pPr>
            <a:r>
              <a:rPr lang="en-US" sz="3000" b="1" dirty="0">
                <a:solidFill>
                  <a:srgbClr val="FFF9C7"/>
                </a:solidFill>
                <a:latin typeface="Calibri" pitchFamily="34" charset="0"/>
                <a:ea typeface="Calibri" pitchFamily="34" charset="-122"/>
                <a:cs typeface="Calibri" pitchFamily="34" charset="-120"/>
              </a:rPr>
              <a:t>=</a:t>
            </a:r>
            <a:endParaRPr lang="en-US" sz="3000" dirty="0"/>
          </a:p>
        </p:txBody>
      </p:sp>
      <p:sp>
        <p:nvSpPr>
          <p:cNvPr id="15" name="Shape 13"/>
          <p:cNvSpPr/>
          <p:nvPr/>
        </p:nvSpPr>
        <p:spPr>
          <a:xfrm>
            <a:off x="4297680" y="4480560"/>
            <a:ext cx="7315200" cy="713232"/>
          </a:xfrm>
          <a:prstGeom prst="roundRect">
            <a:avLst>
              <a:gd name="adj" fmla="val 15385"/>
            </a:avLst>
          </a:prstGeom>
          <a:solidFill>
            <a:srgbClr val="1F1A4D"/>
          </a:solidFill>
          <a:ln/>
        </p:spPr>
      </p:sp>
      <p:sp>
        <p:nvSpPr>
          <p:cNvPr id="16" name="Text 14"/>
          <p:cNvSpPr txBox="1"/>
          <p:nvPr/>
        </p:nvSpPr>
        <p:spPr>
          <a:xfrm>
            <a:off x="4526280" y="4480560"/>
            <a:ext cx="6949440" cy="713232"/>
          </a:xfrm>
          <a:prstGeom prst="rect">
            <a:avLst/>
          </a:prstGeom>
          <a:noFill/>
          <a:ln/>
        </p:spPr>
        <p:txBody>
          <a:bodyPr wrap="square" lIns="0" tIns="0" rIns="0" bIns="0" rtlCol="0" anchor="ctr"/>
          <a:lstStyle/>
          <a:p>
            <a:pPr indent="0" marL="0">
              <a:buNone/>
            </a:pPr>
            <a:r>
              <a:rPr lang="en-US" sz="1550" dirty="0">
                <a:solidFill>
                  <a:srgbClr val="FFFFFF"/>
                </a:solidFill>
                <a:latin typeface="Calibri" pitchFamily="34" charset="0"/>
                <a:ea typeface="Calibri" pitchFamily="34" charset="-122"/>
                <a:cs typeface="Calibri" pitchFamily="34" charset="-120"/>
              </a:rPr>
              <a:t>délégation de l’action de l’État à ses représentants (préfets).</a:t>
            </a:r>
            <a:endParaRPr lang="en-US" sz="1550" dirty="0"/>
          </a:p>
        </p:txBody>
      </p:sp>
      <p:sp>
        <p:nvSpPr>
          <p:cNvPr id="17" name="Shape 15"/>
          <p:cNvSpPr/>
          <p:nvPr/>
        </p:nvSpPr>
        <p:spPr>
          <a:xfrm>
            <a:off x="548640" y="5349240"/>
            <a:ext cx="3017520" cy="713232"/>
          </a:xfrm>
          <a:prstGeom prst="roundRect">
            <a:avLst>
              <a:gd name="adj" fmla="val 15385"/>
            </a:avLst>
          </a:prstGeom>
          <a:solidFill>
            <a:srgbClr val="FFF9C7"/>
          </a:solidFill>
          <a:ln/>
        </p:spPr>
      </p:sp>
      <p:sp>
        <p:nvSpPr>
          <p:cNvPr id="18" name="Text 16"/>
          <p:cNvSpPr txBox="1"/>
          <p:nvPr/>
        </p:nvSpPr>
        <p:spPr>
          <a:xfrm>
            <a:off x="548640" y="5349240"/>
            <a:ext cx="3017520" cy="713232"/>
          </a:xfrm>
          <a:prstGeom prst="rect">
            <a:avLst/>
          </a:prstGeom>
          <a:noFill/>
          <a:ln/>
        </p:spPr>
        <p:txBody>
          <a:bodyPr wrap="square" lIns="0" tIns="0" rIns="0" bIns="0" rtlCol="0" anchor="ctr"/>
          <a:lstStyle/>
          <a:p>
            <a:pPr algn="ctr" indent="0" marL="0">
              <a:buNone/>
            </a:pPr>
            <a:r>
              <a:rPr lang="en-US" sz="1800" b="1" dirty="0">
                <a:solidFill>
                  <a:srgbClr val="0B032B"/>
                </a:solidFill>
                <a:latin typeface="Calibri" pitchFamily="34" charset="0"/>
                <a:ea typeface="Calibri" pitchFamily="34" charset="-122"/>
                <a:cs typeface="Calibri" pitchFamily="34" charset="-120"/>
              </a:rPr>
              <a:t>État</a:t>
            </a:r>
            <a:endParaRPr lang="en-US" sz="1800" dirty="0"/>
          </a:p>
        </p:txBody>
      </p:sp>
      <p:sp>
        <p:nvSpPr>
          <p:cNvPr id="19" name="Text 17"/>
          <p:cNvSpPr txBox="1"/>
          <p:nvPr/>
        </p:nvSpPr>
        <p:spPr>
          <a:xfrm>
            <a:off x="3657600" y="5349240"/>
            <a:ext cx="548640" cy="713232"/>
          </a:xfrm>
          <a:prstGeom prst="rect">
            <a:avLst/>
          </a:prstGeom>
          <a:noFill/>
          <a:ln/>
        </p:spPr>
        <p:txBody>
          <a:bodyPr wrap="square" lIns="0" tIns="0" rIns="0" bIns="0" rtlCol="0" anchor="ctr"/>
          <a:lstStyle/>
          <a:p>
            <a:pPr algn="ctr" indent="0" marL="0">
              <a:buNone/>
            </a:pPr>
            <a:r>
              <a:rPr lang="en-US" sz="3000" b="1" dirty="0">
                <a:solidFill>
                  <a:srgbClr val="FFF9C7"/>
                </a:solidFill>
                <a:latin typeface="Calibri" pitchFamily="34" charset="0"/>
                <a:ea typeface="Calibri" pitchFamily="34" charset="-122"/>
                <a:cs typeface="Calibri" pitchFamily="34" charset="-120"/>
              </a:rPr>
              <a:t>=</a:t>
            </a:r>
            <a:endParaRPr lang="en-US" sz="3000" dirty="0"/>
          </a:p>
        </p:txBody>
      </p:sp>
      <p:sp>
        <p:nvSpPr>
          <p:cNvPr id="20" name="Shape 18"/>
          <p:cNvSpPr/>
          <p:nvPr/>
        </p:nvSpPr>
        <p:spPr>
          <a:xfrm>
            <a:off x="4297680" y="5349240"/>
            <a:ext cx="7315200" cy="713232"/>
          </a:xfrm>
          <a:prstGeom prst="roundRect">
            <a:avLst>
              <a:gd name="adj" fmla="val 15385"/>
            </a:avLst>
          </a:prstGeom>
          <a:solidFill>
            <a:srgbClr val="1F1A4D"/>
          </a:solidFill>
          <a:ln/>
        </p:spPr>
      </p:sp>
      <p:sp>
        <p:nvSpPr>
          <p:cNvPr id="21" name="Text 19"/>
          <p:cNvSpPr txBox="1"/>
          <p:nvPr/>
        </p:nvSpPr>
        <p:spPr>
          <a:xfrm>
            <a:off x="4526280" y="5349240"/>
            <a:ext cx="6949440" cy="713232"/>
          </a:xfrm>
          <a:prstGeom prst="rect">
            <a:avLst/>
          </a:prstGeom>
          <a:noFill/>
          <a:ln/>
        </p:spPr>
        <p:txBody>
          <a:bodyPr wrap="square" lIns="0" tIns="0" rIns="0" bIns="0" rtlCol="0" anchor="ctr"/>
          <a:lstStyle/>
          <a:p>
            <a:pPr indent="0" marL="0">
              <a:buNone/>
            </a:pPr>
            <a:r>
              <a:rPr lang="en-US" sz="1550" dirty="0">
                <a:solidFill>
                  <a:srgbClr val="FFFFFF"/>
                </a:solidFill>
                <a:latin typeface="Calibri" pitchFamily="34" charset="0"/>
                <a:ea typeface="Calibri" pitchFamily="34" charset="-122"/>
                <a:cs typeface="Calibri" pitchFamily="34" charset="-120"/>
              </a:rPr>
              <a:t>fixe les règles, garantit l’égalité devant la loi et contrôle la légalité des décisions locales.</a:t>
            </a:r>
            <a:endParaRPr lang="en-US" sz="1550" dirty="0"/>
          </a:p>
        </p:txBody>
      </p:sp>
      <p:sp>
        <p:nvSpPr>
          <p:cNvPr id="22" name="Text 20"/>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spc="100" kern="0" dirty="0">
                <a:solidFill>
                  <a:srgbClr val="B3B3BA"/>
                </a:solidFill>
                <a:latin typeface="Calibri" pitchFamily="34" charset="0"/>
                <a:ea typeface="Calibri" pitchFamily="34" charset="-122"/>
                <a:cs typeface="Calibri" pitchFamily="34" charset="-120"/>
              </a:rPr>
              <a:t>ENMA FORMATION  ·  Formation des élus municipaux 2026</a:t>
            </a:r>
            <a:endParaRPr lang="en-US" sz="900" dirty="0"/>
          </a:p>
        </p:txBody>
      </p:sp>
      <p:sp>
        <p:nvSpPr>
          <p:cNvPr id="23" name="Text 21"/>
          <p:cNvSpPr txBox="1"/>
          <p:nvPr/>
        </p:nvSpPr>
        <p:spPr>
          <a:xfrm>
            <a:off x="9692640" y="6400800"/>
            <a:ext cx="548640" cy="274320"/>
          </a:xfrm>
          <a:prstGeom prst="rect">
            <a:avLst/>
          </a:prstGeom>
          <a:noFill/>
          <a:ln/>
        </p:spPr>
        <p:txBody>
          <a:bodyPr wrap="square" lIns="0" tIns="0" rIns="0" bIns="0" rtlCol="0" anchor="ctr"/>
          <a:lstStyle/>
          <a:p>
            <a:pPr algn="r" indent="0" marL="0">
              <a:buNone/>
            </a:pPr>
            <a:r>
              <a:rPr lang="en-US" sz="900" dirty="0">
                <a:solidFill>
                  <a:srgbClr val="B3B3BA"/>
                </a:solidFill>
                <a:latin typeface="Calibri" pitchFamily="34" charset="0"/>
                <a:ea typeface="Calibri" pitchFamily="34" charset="-122"/>
                <a:cs typeface="Calibri" pitchFamily="34" charset="-120"/>
              </a:rPr>
              <a:t>41</a:t>
            </a:r>
            <a:endParaRPr lang="en-US" sz="900" dirty="0"/>
          </a:p>
        </p:txBody>
      </p:sp>
      <p:pic>
        <p:nvPicPr>
          <p:cNvPr id="24" name="Image 0" descr="preencoded.png">    </p:cNvPr>
          <p:cNvPicPr>
            <a:picLocks noChangeAspect="1"/>
          </p:cNvPicPr>
          <p:nvPr/>
        </p:nvPicPr>
        <p:blipFill>
          <a:blip r:embed="rId1"/>
          <a:stretch>
            <a:fillRect/>
          </a:stretch>
        </p:blipFill>
        <p:spPr>
          <a:xfrm>
            <a:off x="10469880" y="6309360"/>
            <a:ext cx="1170432" cy="484632"/>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B032B"/>
        </a:solidFill>
      </p:bgPr>
    </p:bg>
    <p:spTree>
      <p:nvGrpSpPr>
        <p:cNvPr id="1" name=""/>
        <p:cNvGrpSpPr/>
        <p:nvPr/>
      </p:nvGrpSpPr>
      <p:grpSpPr>
        <a:xfrm>
          <a:off x="0" y="0"/>
          <a:ext cx="0" cy="0"/>
          <a:chOff x="0" y="0"/>
          <a:chExt cx="0" cy="0"/>
        </a:xfrm>
      </p:grpSpPr>
      <p:sp>
        <p:nvSpPr>
          <p:cNvPr id="2" name="Text 0"/>
          <p:cNvSpPr txBox="1"/>
          <p:nvPr/>
        </p:nvSpPr>
        <p:spPr>
          <a:xfrm>
            <a:off x="548640" y="640080"/>
            <a:ext cx="4114800" cy="2286000"/>
          </a:xfrm>
          <a:prstGeom prst="rect">
            <a:avLst/>
          </a:prstGeom>
          <a:noFill/>
          <a:ln/>
        </p:spPr>
        <p:txBody>
          <a:bodyPr wrap="square" lIns="0" tIns="0" rIns="0" bIns="0" rtlCol="0" anchor="b"/>
          <a:lstStyle/>
          <a:p>
            <a:pPr indent="0" marL="0">
              <a:buNone/>
            </a:pPr>
            <a:r>
              <a:rPr lang="en-US" sz="15000" dirty="0">
                <a:solidFill>
                  <a:srgbClr val="FFF9C7"/>
                </a:solidFill>
                <a:latin typeface="Impact" pitchFamily="34" charset="0"/>
                <a:ea typeface="Impact" pitchFamily="34" charset="-122"/>
                <a:cs typeface="Impact" pitchFamily="34" charset="-120"/>
              </a:rPr>
              <a:t>06</a:t>
            </a:r>
            <a:endParaRPr lang="en-US" sz="15000" dirty="0"/>
          </a:p>
        </p:txBody>
      </p:sp>
      <p:sp>
        <p:nvSpPr>
          <p:cNvPr id="3" name="Text 1"/>
          <p:cNvSpPr txBox="1"/>
          <p:nvPr/>
        </p:nvSpPr>
        <p:spPr>
          <a:xfrm>
            <a:off x="594360" y="3017520"/>
            <a:ext cx="5486400" cy="320040"/>
          </a:xfrm>
          <a:prstGeom prst="rect">
            <a:avLst/>
          </a:prstGeom>
          <a:noFill/>
          <a:ln/>
        </p:spPr>
        <p:txBody>
          <a:bodyPr wrap="square" lIns="0" tIns="0" rIns="0" bIns="0" rtlCol="0" anchor="t"/>
          <a:lstStyle/>
          <a:p>
            <a:pPr indent="0" marL="0">
              <a:buNone/>
            </a:pPr>
            <a:r>
              <a:rPr lang="en-US" sz="1300" b="1" spc="400" kern="0" dirty="0">
                <a:solidFill>
                  <a:srgbClr val="FFF9C7"/>
                </a:solidFill>
                <a:latin typeface="Calibri" pitchFamily="34" charset="0"/>
                <a:ea typeface="Calibri" pitchFamily="34" charset="-122"/>
                <a:cs typeface="Calibri" pitchFamily="34" charset="-120"/>
              </a:rPr>
              <a:t>SÉQUENCE 06</a:t>
            </a:r>
            <a:endParaRPr lang="en-US" sz="1300" dirty="0"/>
          </a:p>
        </p:txBody>
      </p:sp>
      <p:sp>
        <p:nvSpPr>
          <p:cNvPr id="4" name="Text 2"/>
          <p:cNvSpPr txBox="1"/>
          <p:nvPr/>
        </p:nvSpPr>
        <p:spPr>
          <a:xfrm>
            <a:off x="548640" y="3401568"/>
            <a:ext cx="5486400" cy="1463040"/>
          </a:xfrm>
          <a:prstGeom prst="rect">
            <a:avLst/>
          </a:prstGeom>
          <a:noFill/>
          <a:ln/>
        </p:spPr>
        <p:txBody>
          <a:bodyPr wrap="square" lIns="0" tIns="0" rIns="0" bIns="0" rtlCol="0" anchor="t"/>
          <a:lstStyle/>
          <a:p>
            <a:pPr indent="0" marL="0">
              <a:buNone/>
            </a:pPr>
            <a:r>
              <a:rPr lang="en-US" sz="2600" b="1" dirty="0">
                <a:solidFill>
                  <a:srgbClr val="FFFFFF"/>
                </a:solidFill>
                <a:latin typeface="Calibri" pitchFamily="34" charset="0"/>
                <a:ea typeface="Calibri" pitchFamily="34" charset="-122"/>
                <a:cs typeface="Calibri" pitchFamily="34" charset="-120"/>
              </a:rPr>
              <a:t>Les relations avec les habitants, l’exemplarité et la prévention des conflits d’intérêts</a:t>
            </a:r>
            <a:endParaRPr lang="en-US" sz="2600" dirty="0"/>
          </a:p>
        </p:txBody>
      </p:sp>
      <p:sp>
        <p:nvSpPr>
          <p:cNvPr id="5" name="Text 3"/>
          <p:cNvSpPr txBox="1"/>
          <p:nvPr/>
        </p:nvSpPr>
        <p:spPr>
          <a:xfrm>
            <a:off x="548640" y="4937760"/>
            <a:ext cx="5486400" cy="640080"/>
          </a:xfrm>
          <a:prstGeom prst="rect">
            <a:avLst/>
          </a:prstGeom>
          <a:noFill/>
          <a:ln/>
        </p:spPr>
        <p:txBody>
          <a:bodyPr wrap="square" lIns="0" tIns="0" rIns="0" bIns="0" rtlCol="0" anchor="t">
            <a:normAutofit/>
          </a:bodyPr>
          <a:lstStyle/>
          <a:p>
            <a:pPr indent="0" marL="0">
              <a:buNone/>
            </a:pPr>
            <a:r>
              <a:rPr lang="en-US" sz="1600" dirty="0">
                <a:solidFill>
                  <a:srgbClr val="B3B3BA"/>
                </a:solidFill>
                <a:latin typeface="Calibri" pitchFamily="34" charset="0"/>
                <a:ea typeface="Calibri" pitchFamily="34" charset="-122"/>
                <a:cs typeface="Calibri" pitchFamily="34" charset="-120"/>
              </a:rPr>
              <a:t>Être à l’écoute, au service des citoyens… et irréprochable.</a:t>
            </a:r>
            <a:endParaRPr lang="en-US" sz="1600" dirty="0"/>
          </a:p>
        </p:txBody>
      </p:sp>
      <p:sp>
        <p:nvSpPr>
          <p:cNvPr id="6" name="Shape 4"/>
          <p:cNvSpPr/>
          <p:nvPr/>
        </p:nvSpPr>
        <p:spPr>
          <a:xfrm>
            <a:off x="548640" y="5623560"/>
            <a:ext cx="3017520" cy="384048"/>
          </a:xfrm>
          <a:prstGeom prst="roundRect">
            <a:avLst>
              <a:gd name="adj" fmla="val 50000"/>
            </a:avLst>
          </a:prstGeom>
          <a:solidFill>
            <a:srgbClr val="0B032B"/>
          </a:solidFill>
          <a:ln w="12700">
            <a:solidFill>
              <a:srgbClr val="FFF9C7"/>
            </a:solidFill>
            <a:prstDash val="solid"/>
          </a:ln>
        </p:spPr>
      </p:sp>
      <p:sp>
        <p:nvSpPr>
          <p:cNvPr id="7" name="Text 5"/>
          <p:cNvSpPr txBox="1"/>
          <p:nvPr/>
        </p:nvSpPr>
        <p:spPr>
          <a:xfrm>
            <a:off x="548640" y="5623560"/>
            <a:ext cx="3017520" cy="384048"/>
          </a:xfrm>
          <a:prstGeom prst="rect">
            <a:avLst/>
          </a:prstGeom>
          <a:noFill/>
          <a:ln/>
        </p:spPr>
        <p:txBody>
          <a:bodyPr wrap="square" lIns="0" tIns="0" rIns="0" bIns="0" rtlCol="0" anchor="ctr"/>
          <a:lstStyle/>
          <a:p>
            <a:pPr algn="ctr" indent="0" marL="0">
              <a:buNone/>
            </a:pPr>
            <a:r>
              <a:rPr lang="en-US" sz="1200" b="1" dirty="0">
                <a:solidFill>
                  <a:srgbClr val="FFF9C7"/>
                </a:solidFill>
                <a:latin typeface="Calibri" pitchFamily="34" charset="0"/>
                <a:ea typeface="Calibri" pitchFamily="34" charset="-122"/>
                <a:cs typeface="Calibri" pitchFamily="34" charset="-120"/>
              </a:rPr>
              <a:t>16h30 – 17h15  ·  45 min</a:t>
            </a:r>
            <a:endParaRPr lang="en-US" sz="1200" dirty="0"/>
          </a:p>
        </p:txBody>
      </p:sp>
      <p:sp>
        <p:nvSpPr>
          <p:cNvPr id="8" name="Shape 6"/>
          <p:cNvSpPr/>
          <p:nvPr/>
        </p:nvSpPr>
        <p:spPr>
          <a:xfrm>
            <a:off x="6263640" y="411480"/>
            <a:ext cx="5486400" cy="5486400"/>
          </a:xfrm>
          <a:prstGeom prst="ellipse">
            <a:avLst/>
          </a:prstGeom>
          <a:solidFill>
            <a:srgbClr val="0B032B"/>
          </a:solidFill>
          <a:ln w="12700">
            <a:solidFill>
              <a:srgbClr val="FFF9C7"/>
            </a:solidFill>
            <a:prstDash val="dash"/>
          </a:ln>
        </p:spPr>
      </p:sp>
      <p:sp>
        <p:nvSpPr>
          <p:cNvPr id="9" name="Shape 7"/>
          <p:cNvSpPr/>
          <p:nvPr/>
        </p:nvSpPr>
        <p:spPr>
          <a:xfrm>
            <a:off x="6583680" y="731520"/>
            <a:ext cx="4846320" cy="4846320"/>
          </a:xfrm>
          <a:prstGeom prst="ellipse">
            <a:avLst/>
          </a:prstGeom>
          <a:solidFill>
            <a:srgbClr val="FFF9C7"/>
          </a:solidFill>
          <a:ln/>
        </p:spPr>
      </p:sp>
      <p:pic>
        <p:nvPicPr>
          <p:cNvPr id="10" name="Image 0" descr="preencoded.png">    </p:cNvPr>
          <p:cNvPicPr>
            <a:picLocks noChangeAspect="1"/>
          </p:cNvPicPr>
          <p:nvPr/>
        </p:nvPicPr>
        <p:blipFill>
          <a:blip r:embed="rId1"/>
          <a:stretch>
            <a:fillRect/>
          </a:stretch>
        </p:blipFill>
        <p:spPr>
          <a:xfrm>
            <a:off x="7223760" y="1851660"/>
            <a:ext cx="3566160" cy="2606040"/>
          </a:xfrm>
          <a:prstGeom prst="rect">
            <a:avLst/>
          </a:prstGeom>
        </p:spPr>
      </p:pic>
      <p:sp>
        <p:nvSpPr>
          <p:cNvPr id="11" name="Text 8"/>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spc="100" kern="0" dirty="0">
                <a:solidFill>
                  <a:srgbClr val="B3B3BA"/>
                </a:solidFill>
                <a:latin typeface="Calibri" pitchFamily="34" charset="0"/>
                <a:ea typeface="Calibri" pitchFamily="34" charset="-122"/>
                <a:cs typeface="Calibri" pitchFamily="34" charset="-120"/>
              </a:rPr>
              <a:t>ENMA FORMATION  ·  Formation des élus municipaux 2026</a:t>
            </a:r>
            <a:endParaRPr lang="en-US" sz="900" dirty="0"/>
          </a:p>
        </p:txBody>
      </p:sp>
      <p:sp>
        <p:nvSpPr>
          <p:cNvPr id="12" name="Text 9"/>
          <p:cNvSpPr txBox="1"/>
          <p:nvPr/>
        </p:nvSpPr>
        <p:spPr>
          <a:xfrm>
            <a:off x="9692640" y="6400800"/>
            <a:ext cx="548640" cy="274320"/>
          </a:xfrm>
          <a:prstGeom prst="rect">
            <a:avLst/>
          </a:prstGeom>
          <a:noFill/>
          <a:ln/>
        </p:spPr>
        <p:txBody>
          <a:bodyPr wrap="square" lIns="0" tIns="0" rIns="0" bIns="0" rtlCol="0" anchor="ctr"/>
          <a:lstStyle/>
          <a:p>
            <a:pPr algn="r" indent="0" marL="0">
              <a:buNone/>
            </a:pPr>
            <a:r>
              <a:rPr lang="en-US" sz="900" dirty="0">
                <a:solidFill>
                  <a:srgbClr val="B3B3BA"/>
                </a:solidFill>
                <a:latin typeface="Calibri" pitchFamily="34" charset="0"/>
                <a:ea typeface="Calibri" pitchFamily="34" charset="-122"/>
                <a:cs typeface="Calibri" pitchFamily="34" charset="-120"/>
              </a:rPr>
              <a:t>42</a:t>
            </a:r>
            <a:endParaRPr lang="en-US" sz="900" dirty="0"/>
          </a:p>
        </p:txBody>
      </p:sp>
      <p:pic>
        <p:nvPicPr>
          <p:cNvPr id="13" name="Image 1" descr="preencoded.png">    </p:cNvPr>
          <p:cNvPicPr>
            <a:picLocks noChangeAspect="1"/>
          </p:cNvPicPr>
          <p:nvPr/>
        </p:nvPicPr>
        <p:blipFill>
          <a:blip r:embed="rId2"/>
          <a:stretch>
            <a:fillRect/>
          </a:stretch>
        </p:blipFill>
        <p:spPr>
          <a:xfrm>
            <a:off x="10469880" y="6309360"/>
            <a:ext cx="1170432" cy="484632"/>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420624" cy="310896"/>
          </a:xfrm>
          <a:prstGeom prst="roundRect">
            <a:avLst>
              <a:gd name="adj" fmla="val 23529"/>
            </a:avLst>
          </a:prstGeom>
          <a:solidFill>
            <a:srgbClr val="0B032B"/>
          </a:solidFill>
          <a:ln/>
        </p:spPr>
      </p:sp>
      <p:sp>
        <p:nvSpPr>
          <p:cNvPr id="3" name="Text 1"/>
          <p:cNvSpPr txBox="1"/>
          <p:nvPr/>
        </p:nvSpPr>
        <p:spPr>
          <a:xfrm>
            <a:off x="548640" y="438912"/>
            <a:ext cx="420624" cy="310896"/>
          </a:xfrm>
          <a:prstGeom prst="rect">
            <a:avLst/>
          </a:prstGeom>
          <a:noFill/>
          <a:ln/>
        </p:spPr>
        <p:txBody>
          <a:bodyPr wrap="square" lIns="0" tIns="0" rIns="0" bIns="0" rtlCol="0" anchor="ctr"/>
          <a:lstStyle/>
          <a:p>
            <a:pPr algn="ctr" indent="0" marL="0">
              <a:buNone/>
            </a:pPr>
            <a:r>
              <a:rPr lang="en-US" sz="1100" b="1" dirty="0">
                <a:solidFill>
                  <a:srgbClr val="FFF9C7"/>
                </a:solidFill>
                <a:latin typeface="Calibri" pitchFamily="34" charset="0"/>
                <a:ea typeface="Calibri" pitchFamily="34" charset="-122"/>
                <a:cs typeface="Calibri" pitchFamily="34" charset="-120"/>
              </a:rPr>
              <a:t>06</a:t>
            </a:r>
            <a:endParaRPr lang="en-US" sz="1100" dirty="0"/>
          </a:p>
        </p:txBody>
      </p:sp>
      <p:sp>
        <p:nvSpPr>
          <p:cNvPr id="4" name="Text 2"/>
          <p:cNvSpPr txBox="1"/>
          <p:nvPr/>
        </p:nvSpPr>
        <p:spPr>
          <a:xfrm>
            <a:off x="1115568" y="438912"/>
            <a:ext cx="8229600" cy="310896"/>
          </a:xfrm>
          <a:prstGeom prst="rect">
            <a:avLst/>
          </a:prstGeom>
          <a:noFill/>
          <a:ln/>
        </p:spPr>
        <p:txBody>
          <a:bodyPr wrap="square" lIns="0" tIns="0" rIns="0" bIns="0" rtlCol="0" anchor="ctr"/>
          <a:lstStyle/>
          <a:p>
            <a:pPr indent="0" marL="0">
              <a:buNone/>
            </a:pPr>
            <a:r>
              <a:rPr lang="en-US" sz="1100" b="1" spc="200" kern="0" dirty="0">
                <a:solidFill>
                  <a:srgbClr val="55516E"/>
                </a:solidFill>
                <a:latin typeface="Calibri" pitchFamily="34" charset="0"/>
                <a:ea typeface="Calibri" pitchFamily="34" charset="-122"/>
                <a:cs typeface="Calibri" pitchFamily="34" charset="-120"/>
              </a:rPr>
              <a:t>LES RELATIONS ENTRE LES ÉLUS ET LES HABITANTS</a:t>
            </a:r>
            <a:endParaRPr lang="en-US" sz="1100" dirty="0"/>
          </a:p>
        </p:txBody>
      </p:sp>
      <p:sp>
        <p:nvSpPr>
          <p:cNvPr id="5" name="Text 3"/>
          <p:cNvSpPr txBox="1"/>
          <p:nvPr/>
        </p:nvSpPr>
        <p:spPr>
          <a:xfrm>
            <a:off x="548640" y="841248"/>
            <a:ext cx="11064240" cy="685800"/>
          </a:xfrm>
          <a:prstGeom prst="rect">
            <a:avLst/>
          </a:prstGeom>
          <a:noFill/>
          <a:ln/>
        </p:spPr>
        <p:txBody>
          <a:bodyPr wrap="square" lIns="0" tIns="0" rIns="0" bIns="0" rtlCol="0" anchor="ctr">
            <a:normAutofit/>
          </a:bodyPr>
          <a:lstStyle/>
          <a:p>
            <a:pPr indent="0" marL="0">
              <a:buNone/>
            </a:pPr>
            <a:r>
              <a:rPr lang="en-US" sz="2600" b="1" dirty="0">
                <a:solidFill>
                  <a:srgbClr val="0B032B"/>
                </a:solidFill>
                <a:latin typeface="Calibri" pitchFamily="34" charset="0"/>
                <a:ea typeface="Calibri" pitchFamily="34" charset="-122"/>
                <a:cs typeface="Calibri" pitchFamily="34" charset="-120"/>
              </a:rPr>
              <a:t>Être élu, c’est avant tout être à l’écoute et au service des citoyens</a:t>
            </a:r>
            <a:endParaRPr lang="en-US" sz="2600" dirty="0"/>
          </a:p>
        </p:txBody>
      </p:sp>
      <p:sp>
        <p:nvSpPr>
          <p:cNvPr id="6" name="Shape 4"/>
          <p:cNvSpPr/>
          <p:nvPr/>
        </p:nvSpPr>
        <p:spPr>
          <a:xfrm>
            <a:off x="548640" y="1783080"/>
            <a:ext cx="4480560" cy="4343400"/>
          </a:xfrm>
          <a:prstGeom prst="roundRect">
            <a:avLst>
              <a:gd name="adj" fmla="val 2526"/>
            </a:avLst>
          </a:prstGeom>
          <a:solidFill>
            <a:srgbClr val="F3F2F8"/>
          </a:solidFill>
          <a:ln/>
        </p:spPr>
      </p:sp>
      <p:pic>
        <p:nvPicPr>
          <p:cNvPr id="7" name="Image 0" descr="preencoded.png">    </p:cNvPr>
          <p:cNvPicPr>
            <a:picLocks noChangeAspect="1"/>
          </p:cNvPicPr>
          <p:nvPr/>
        </p:nvPicPr>
        <p:blipFill>
          <a:blip r:embed="rId1"/>
          <a:stretch>
            <a:fillRect/>
          </a:stretch>
        </p:blipFill>
        <p:spPr>
          <a:xfrm>
            <a:off x="868680" y="1965960"/>
            <a:ext cx="3840480" cy="2806505"/>
          </a:xfrm>
          <a:prstGeom prst="rect">
            <a:avLst/>
          </a:prstGeom>
        </p:spPr>
      </p:pic>
      <p:sp>
        <p:nvSpPr>
          <p:cNvPr id="8" name="Text 5"/>
          <p:cNvSpPr txBox="1"/>
          <p:nvPr/>
        </p:nvSpPr>
        <p:spPr>
          <a:xfrm>
            <a:off x="868680" y="4754880"/>
            <a:ext cx="3931920" cy="365760"/>
          </a:xfrm>
          <a:prstGeom prst="rect">
            <a:avLst/>
          </a:prstGeom>
          <a:noFill/>
          <a:ln/>
        </p:spPr>
        <p:txBody>
          <a:bodyPr wrap="square" lIns="0" tIns="0" rIns="0" bIns="0" rtlCol="0" anchor="t"/>
          <a:lstStyle/>
          <a:p>
            <a:pPr indent="0" marL="0">
              <a:buNone/>
            </a:pPr>
            <a:r>
              <a:rPr lang="en-US" sz="1500" b="1" dirty="0">
                <a:solidFill>
                  <a:srgbClr val="0B032B"/>
                </a:solidFill>
                <a:latin typeface="Calibri" pitchFamily="34" charset="0"/>
                <a:ea typeface="Calibri" pitchFamily="34" charset="-122"/>
                <a:cs typeface="Calibri" pitchFamily="34" charset="-120"/>
              </a:rPr>
              <a:t>Un lien de proximité au quotidien</a:t>
            </a:r>
            <a:endParaRPr lang="en-US" sz="1500" dirty="0"/>
          </a:p>
        </p:txBody>
      </p:sp>
      <p:sp>
        <p:nvSpPr>
          <p:cNvPr id="9" name="Text 6"/>
          <p:cNvSpPr txBox="1"/>
          <p:nvPr/>
        </p:nvSpPr>
        <p:spPr>
          <a:xfrm>
            <a:off x="868680" y="5120640"/>
            <a:ext cx="3931920" cy="914400"/>
          </a:xfrm>
          <a:prstGeom prst="rect">
            <a:avLst/>
          </a:prstGeom>
          <a:noFill/>
          <a:ln/>
        </p:spPr>
        <p:txBody>
          <a:bodyPr wrap="square" lIns="0" tIns="0" rIns="0" bIns="0" rtlCol="0" anchor="t"/>
          <a:lstStyle/>
          <a:p>
            <a:pPr indent="0" marL="0">
              <a:buNone/>
            </a:pPr>
            <a:r>
              <a:rPr lang="en-US" sz="1250" dirty="0">
                <a:solidFill>
                  <a:srgbClr val="55516E"/>
                </a:solidFill>
                <a:latin typeface="Calibri" pitchFamily="34" charset="0"/>
                <a:ea typeface="Calibri" pitchFamily="34" charset="-122"/>
                <a:cs typeface="Calibri" pitchFamily="34" charset="-120"/>
              </a:rPr>
              <a:t>L’élu municipal est le premier interlocuteur des habitants. Il représente la commune, écoute les attentes, explique les décisions et favorise le dialogue.</a:t>
            </a:r>
            <a:endParaRPr lang="en-US" sz="1250" dirty="0"/>
          </a:p>
        </p:txBody>
      </p:sp>
      <p:sp>
        <p:nvSpPr>
          <p:cNvPr id="10" name="Text 7"/>
          <p:cNvSpPr txBox="1"/>
          <p:nvPr/>
        </p:nvSpPr>
        <p:spPr>
          <a:xfrm>
            <a:off x="5349240" y="1783080"/>
            <a:ext cx="4572000" cy="274320"/>
          </a:xfrm>
          <a:prstGeom prst="rect">
            <a:avLst/>
          </a:prstGeom>
          <a:noFill/>
          <a:ln/>
        </p:spPr>
        <p:txBody>
          <a:bodyPr wrap="square" lIns="0" tIns="0" rIns="0" bIns="0" rtlCol="0" anchor="t"/>
          <a:lstStyle/>
          <a:p>
            <a:pPr indent="0" marL="0">
              <a:buNone/>
            </a:pPr>
            <a:r>
              <a:rPr lang="en-US" sz="1200" b="1" spc="300" kern="0" dirty="0">
                <a:solidFill>
                  <a:srgbClr val="55516E"/>
                </a:solidFill>
                <a:latin typeface="Calibri" pitchFamily="34" charset="0"/>
                <a:ea typeface="Calibri" pitchFamily="34" charset="-122"/>
                <a:cs typeface="Calibri" pitchFamily="34" charset="-120"/>
              </a:rPr>
              <a:t>LES BONNES PRATIQUES</a:t>
            </a:r>
            <a:endParaRPr lang="en-US" sz="1200" dirty="0"/>
          </a:p>
        </p:txBody>
      </p:sp>
      <p:sp>
        <p:nvSpPr>
          <p:cNvPr id="11" name="Shape 8"/>
          <p:cNvSpPr/>
          <p:nvPr/>
        </p:nvSpPr>
        <p:spPr>
          <a:xfrm>
            <a:off x="5349240" y="2221992"/>
            <a:ext cx="530352" cy="530352"/>
          </a:xfrm>
          <a:prstGeom prst="ellipse">
            <a:avLst/>
          </a:prstGeom>
          <a:solidFill>
            <a:srgbClr val="0B032B"/>
          </a:solidFill>
          <a:ln/>
        </p:spPr>
      </p:sp>
      <p:pic>
        <p:nvPicPr>
          <p:cNvPr id="12" name="Image 1" descr="preencoded.png">    </p:cNvPr>
          <p:cNvPicPr>
            <a:picLocks noChangeAspect="1"/>
          </p:cNvPicPr>
          <p:nvPr/>
        </p:nvPicPr>
        <p:blipFill>
          <a:blip r:embed="rId2"/>
          <a:stretch>
            <a:fillRect/>
          </a:stretch>
        </p:blipFill>
        <p:spPr>
          <a:xfrm>
            <a:off x="5465917" y="2338669"/>
            <a:ext cx="296997" cy="296997"/>
          </a:xfrm>
          <a:prstGeom prst="rect">
            <a:avLst/>
          </a:prstGeom>
        </p:spPr>
      </p:pic>
      <p:sp>
        <p:nvSpPr>
          <p:cNvPr id="13" name="Text 9"/>
          <p:cNvSpPr txBox="1"/>
          <p:nvPr/>
        </p:nvSpPr>
        <p:spPr>
          <a:xfrm>
            <a:off x="6080760" y="2148840"/>
            <a:ext cx="5532120" cy="694944"/>
          </a:xfrm>
          <a:prstGeom prst="rect">
            <a:avLst/>
          </a:prstGeom>
          <a:noFill/>
          <a:ln/>
        </p:spPr>
        <p:txBody>
          <a:bodyPr wrap="square" lIns="0" tIns="0" rIns="0" bIns="0" rtlCol="0" anchor="ctr"/>
          <a:lstStyle/>
          <a:p>
            <a:pPr indent="0" marL="0">
              <a:buNone/>
            </a:pPr>
            <a:r>
              <a:rPr lang="en-US" sz="1450" dirty="0">
                <a:solidFill>
                  <a:srgbClr val="0B032B"/>
                </a:solidFill>
                <a:latin typeface="Calibri" pitchFamily="34" charset="0"/>
                <a:ea typeface="Calibri" pitchFamily="34" charset="-122"/>
                <a:cs typeface="Calibri" pitchFamily="34" charset="-120"/>
              </a:rPr>
              <a:t>Être disponible et à l’écoute des préoccupations des habitants.</a:t>
            </a:r>
            <a:endParaRPr lang="en-US" sz="1450" dirty="0"/>
          </a:p>
        </p:txBody>
      </p:sp>
      <p:sp>
        <p:nvSpPr>
          <p:cNvPr id="14" name="Shape 10"/>
          <p:cNvSpPr/>
          <p:nvPr/>
        </p:nvSpPr>
        <p:spPr>
          <a:xfrm>
            <a:off x="5349240" y="3026664"/>
            <a:ext cx="530352" cy="530352"/>
          </a:xfrm>
          <a:prstGeom prst="ellipse">
            <a:avLst/>
          </a:prstGeom>
          <a:solidFill>
            <a:srgbClr val="0B032B"/>
          </a:solidFill>
          <a:ln/>
        </p:spPr>
      </p:sp>
      <p:pic>
        <p:nvPicPr>
          <p:cNvPr id="15" name="Image 2" descr="preencoded.png">    </p:cNvPr>
          <p:cNvPicPr>
            <a:picLocks noChangeAspect="1"/>
          </p:cNvPicPr>
          <p:nvPr/>
        </p:nvPicPr>
        <p:blipFill>
          <a:blip r:embed="rId3"/>
          <a:stretch>
            <a:fillRect/>
          </a:stretch>
        </p:blipFill>
        <p:spPr>
          <a:xfrm>
            <a:off x="5465917" y="3143341"/>
            <a:ext cx="296997" cy="296997"/>
          </a:xfrm>
          <a:prstGeom prst="rect">
            <a:avLst/>
          </a:prstGeom>
        </p:spPr>
      </p:pic>
      <p:sp>
        <p:nvSpPr>
          <p:cNvPr id="16" name="Text 11"/>
          <p:cNvSpPr txBox="1"/>
          <p:nvPr/>
        </p:nvSpPr>
        <p:spPr>
          <a:xfrm>
            <a:off x="6080760" y="2953512"/>
            <a:ext cx="5532120" cy="694944"/>
          </a:xfrm>
          <a:prstGeom prst="rect">
            <a:avLst/>
          </a:prstGeom>
          <a:noFill/>
          <a:ln/>
        </p:spPr>
        <p:txBody>
          <a:bodyPr wrap="square" lIns="0" tIns="0" rIns="0" bIns="0" rtlCol="0" anchor="ctr"/>
          <a:lstStyle/>
          <a:p>
            <a:pPr indent="0" marL="0">
              <a:buNone/>
            </a:pPr>
            <a:r>
              <a:rPr lang="en-US" sz="1450" dirty="0">
                <a:solidFill>
                  <a:srgbClr val="0B032B"/>
                </a:solidFill>
                <a:latin typeface="Calibri" pitchFamily="34" charset="0"/>
                <a:ea typeface="Calibri" pitchFamily="34" charset="-122"/>
                <a:cs typeface="Calibri" pitchFamily="34" charset="-120"/>
              </a:rPr>
              <a:t>Communiquer avec transparence et pédagogie, même lorsque les décisions sont difficiles.</a:t>
            </a:r>
            <a:endParaRPr lang="en-US" sz="1450" dirty="0"/>
          </a:p>
        </p:txBody>
      </p:sp>
      <p:sp>
        <p:nvSpPr>
          <p:cNvPr id="17" name="Shape 12"/>
          <p:cNvSpPr/>
          <p:nvPr/>
        </p:nvSpPr>
        <p:spPr>
          <a:xfrm>
            <a:off x="5349240" y="3831336"/>
            <a:ext cx="530352" cy="530352"/>
          </a:xfrm>
          <a:prstGeom prst="ellipse">
            <a:avLst/>
          </a:prstGeom>
          <a:solidFill>
            <a:srgbClr val="0B032B"/>
          </a:solidFill>
          <a:ln/>
        </p:spPr>
      </p:sp>
      <p:pic>
        <p:nvPicPr>
          <p:cNvPr id="18" name="Image 3" descr="preencoded.png">    </p:cNvPr>
          <p:cNvPicPr>
            <a:picLocks noChangeAspect="1"/>
          </p:cNvPicPr>
          <p:nvPr/>
        </p:nvPicPr>
        <p:blipFill>
          <a:blip r:embed="rId4"/>
          <a:stretch>
            <a:fillRect/>
          </a:stretch>
        </p:blipFill>
        <p:spPr>
          <a:xfrm>
            <a:off x="5465917" y="3948013"/>
            <a:ext cx="296997" cy="296997"/>
          </a:xfrm>
          <a:prstGeom prst="rect">
            <a:avLst/>
          </a:prstGeom>
        </p:spPr>
      </p:pic>
      <p:sp>
        <p:nvSpPr>
          <p:cNvPr id="19" name="Text 13"/>
          <p:cNvSpPr txBox="1"/>
          <p:nvPr/>
        </p:nvSpPr>
        <p:spPr>
          <a:xfrm>
            <a:off x="6080760" y="3758184"/>
            <a:ext cx="5532120" cy="694944"/>
          </a:xfrm>
          <a:prstGeom prst="rect">
            <a:avLst/>
          </a:prstGeom>
          <a:noFill/>
          <a:ln/>
        </p:spPr>
        <p:txBody>
          <a:bodyPr wrap="square" lIns="0" tIns="0" rIns="0" bIns="0" rtlCol="0" anchor="ctr"/>
          <a:lstStyle/>
          <a:p>
            <a:pPr indent="0" marL="0">
              <a:buNone/>
            </a:pPr>
            <a:r>
              <a:rPr lang="en-US" sz="1450" dirty="0">
                <a:solidFill>
                  <a:srgbClr val="0B032B"/>
                </a:solidFill>
                <a:latin typeface="Calibri" pitchFamily="34" charset="0"/>
                <a:ea typeface="Calibri" pitchFamily="34" charset="-122"/>
                <a:cs typeface="Calibri" pitchFamily="34" charset="-120"/>
              </a:rPr>
              <a:t>Traiter chaque administré avec impartialité, équité et respect.</a:t>
            </a:r>
            <a:endParaRPr lang="en-US" sz="1450" dirty="0"/>
          </a:p>
        </p:txBody>
      </p:sp>
      <p:sp>
        <p:nvSpPr>
          <p:cNvPr id="20" name="Shape 14"/>
          <p:cNvSpPr/>
          <p:nvPr/>
        </p:nvSpPr>
        <p:spPr>
          <a:xfrm>
            <a:off x="5349240" y="4636008"/>
            <a:ext cx="530352" cy="530352"/>
          </a:xfrm>
          <a:prstGeom prst="ellipse">
            <a:avLst/>
          </a:prstGeom>
          <a:solidFill>
            <a:srgbClr val="0B032B"/>
          </a:solidFill>
          <a:ln/>
        </p:spPr>
      </p:sp>
      <p:pic>
        <p:nvPicPr>
          <p:cNvPr id="21" name="Image 4" descr="preencoded.png">    </p:cNvPr>
          <p:cNvPicPr>
            <a:picLocks noChangeAspect="1"/>
          </p:cNvPicPr>
          <p:nvPr/>
        </p:nvPicPr>
        <p:blipFill>
          <a:blip r:embed="rId5"/>
          <a:stretch>
            <a:fillRect/>
          </a:stretch>
        </p:blipFill>
        <p:spPr>
          <a:xfrm>
            <a:off x="5465917" y="4752685"/>
            <a:ext cx="296997" cy="296997"/>
          </a:xfrm>
          <a:prstGeom prst="rect">
            <a:avLst/>
          </a:prstGeom>
        </p:spPr>
      </p:pic>
      <p:sp>
        <p:nvSpPr>
          <p:cNvPr id="22" name="Text 15"/>
          <p:cNvSpPr txBox="1"/>
          <p:nvPr/>
        </p:nvSpPr>
        <p:spPr>
          <a:xfrm>
            <a:off x="6080760" y="4562856"/>
            <a:ext cx="5532120" cy="694944"/>
          </a:xfrm>
          <a:prstGeom prst="rect">
            <a:avLst/>
          </a:prstGeom>
          <a:noFill/>
          <a:ln/>
        </p:spPr>
        <p:txBody>
          <a:bodyPr wrap="square" lIns="0" tIns="0" rIns="0" bIns="0" rtlCol="0" anchor="ctr"/>
          <a:lstStyle/>
          <a:p>
            <a:pPr indent="0" marL="0">
              <a:buNone/>
            </a:pPr>
            <a:r>
              <a:rPr lang="en-US" sz="1450" dirty="0">
                <a:solidFill>
                  <a:srgbClr val="0B032B"/>
                </a:solidFill>
                <a:latin typeface="Calibri" pitchFamily="34" charset="0"/>
                <a:ea typeface="Calibri" pitchFamily="34" charset="-122"/>
                <a:cs typeface="Calibri" pitchFamily="34" charset="-120"/>
              </a:rPr>
              <a:t>Informer régulièrement sur les projets, les réalisations et les décisions municipales.</a:t>
            </a:r>
            <a:endParaRPr lang="en-US" sz="1450" dirty="0"/>
          </a:p>
        </p:txBody>
      </p:sp>
      <p:sp>
        <p:nvSpPr>
          <p:cNvPr id="23" name="Shape 16"/>
          <p:cNvSpPr/>
          <p:nvPr/>
        </p:nvSpPr>
        <p:spPr>
          <a:xfrm>
            <a:off x="5349240" y="5440680"/>
            <a:ext cx="530352" cy="530352"/>
          </a:xfrm>
          <a:prstGeom prst="ellipse">
            <a:avLst/>
          </a:prstGeom>
          <a:solidFill>
            <a:srgbClr val="0B032B"/>
          </a:solidFill>
          <a:ln/>
        </p:spPr>
      </p:sp>
      <p:pic>
        <p:nvPicPr>
          <p:cNvPr id="24" name="Image 5" descr="preencoded.png">    </p:cNvPr>
          <p:cNvPicPr>
            <a:picLocks noChangeAspect="1"/>
          </p:cNvPicPr>
          <p:nvPr/>
        </p:nvPicPr>
        <p:blipFill>
          <a:blip r:embed="rId6"/>
          <a:stretch>
            <a:fillRect/>
          </a:stretch>
        </p:blipFill>
        <p:spPr>
          <a:xfrm>
            <a:off x="5465917" y="5557357"/>
            <a:ext cx="296997" cy="296997"/>
          </a:xfrm>
          <a:prstGeom prst="rect">
            <a:avLst/>
          </a:prstGeom>
        </p:spPr>
      </p:pic>
      <p:sp>
        <p:nvSpPr>
          <p:cNvPr id="25" name="Text 17"/>
          <p:cNvSpPr txBox="1"/>
          <p:nvPr/>
        </p:nvSpPr>
        <p:spPr>
          <a:xfrm>
            <a:off x="6080760" y="5367528"/>
            <a:ext cx="5532120" cy="694944"/>
          </a:xfrm>
          <a:prstGeom prst="rect">
            <a:avLst/>
          </a:prstGeom>
          <a:noFill/>
          <a:ln/>
        </p:spPr>
        <p:txBody>
          <a:bodyPr wrap="square" lIns="0" tIns="0" rIns="0" bIns="0" rtlCol="0" anchor="ctr"/>
          <a:lstStyle/>
          <a:p>
            <a:pPr indent="0" marL="0">
              <a:buNone/>
            </a:pPr>
            <a:r>
              <a:rPr lang="en-US" sz="1450" dirty="0">
                <a:solidFill>
                  <a:srgbClr val="0B032B"/>
                </a:solidFill>
                <a:latin typeface="Calibri" pitchFamily="34" charset="0"/>
                <a:ea typeface="Calibri" pitchFamily="34" charset="-122"/>
                <a:cs typeface="Calibri" pitchFamily="34" charset="-120"/>
              </a:rPr>
              <a:t>Favoriser la participation citoyenne et le dialogue avec les associations, les commerçants et les acteurs locaux.</a:t>
            </a:r>
            <a:endParaRPr lang="en-US" sz="1450" dirty="0"/>
          </a:p>
        </p:txBody>
      </p:sp>
      <p:sp>
        <p:nvSpPr>
          <p:cNvPr id="26" name="Text 18"/>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spc="100" kern="0" dirty="0">
                <a:solidFill>
                  <a:srgbClr val="8A8699"/>
                </a:solidFill>
                <a:latin typeface="Calibri" pitchFamily="34" charset="0"/>
                <a:ea typeface="Calibri" pitchFamily="34" charset="-122"/>
                <a:cs typeface="Calibri" pitchFamily="34" charset="-120"/>
              </a:rPr>
              <a:t>ENMA FORMATION  ·  Formation des élus municipaux 2026</a:t>
            </a:r>
            <a:endParaRPr lang="en-US" sz="900" dirty="0"/>
          </a:p>
        </p:txBody>
      </p:sp>
      <p:sp>
        <p:nvSpPr>
          <p:cNvPr id="27" name="Text 19"/>
          <p:cNvSpPr txBox="1"/>
          <p:nvPr/>
        </p:nvSpPr>
        <p:spPr>
          <a:xfrm>
            <a:off x="9692640" y="6400800"/>
            <a:ext cx="548640" cy="274320"/>
          </a:xfrm>
          <a:prstGeom prst="rect">
            <a:avLst/>
          </a:prstGeom>
          <a:noFill/>
          <a:ln/>
        </p:spPr>
        <p:txBody>
          <a:bodyPr wrap="square" lIns="0" tIns="0" rIns="0" bIns="0" rtlCol="0" anchor="ctr"/>
          <a:lstStyle/>
          <a:p>
            <a:pPr algn="r" indent="0" marL="0">
              <a:buNone/>
            </a:pPr>
            <a:r>
              <a:rPr lang="en-US" sz="900" dirty="0">
                <a:solidFill>
                  <a:srgbClr val="8A8699"/>
                </a:solidFill>
                <a:latin typeface="Calibri" pitchFamily="34" charset="0"/>
                <a:ea typeface="Calibri" pitchFamily="34" charset="-122"/>
                <a:cs typeface="Calibri" pitchFamily="34" charset="-120"/>
              </a:rPr>
              <a:t>43</a:t>
            </a:r>
            <a:endParaRPr lang="en-US" sz="900" dirty="0"/>
          </a:p>
        </p:txBody>
      </p:sp>
      <p:pic>
        <p:nvPicPr>
          <p:cNvPr id="28" name="Image 6" descr="preencoded.png">    </p:cNvPr>
          <p:cNvPicPr>
            <a:picLocks noChangeAspect="1"/>
          </p:cNvPicPr>
          <p:nvPr/>
        </p:nvPicPr>
        <p:blipFill>
          <a:blip r:embed="rId7"/>
          <a:stretch>
            <a:fillRect/>
          </a:stretch>
        </p:blipFill>
        <p:spPr>
          <a:xfrm>
            <a:off x="10469880" y="6309360"/>
            <a:ext cx="1170432" cy="484632"/>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420624" cy="310896"/>
          </a:xfrm>
          <a:prstGeom prst="roundRect">
            <a:avLst>
              <a:gd name="adj" fmla="val 23529"/>
            </a:avLst>
          </a:prstGeom>
          <a:solidFill>
            <a:srgbClr val="0B032B"/>
          </a:solidFill>
          <a:ln/>
        </p:spPr>
      </p:sp>
      <p:sp>
        <p:nvSpPr>
          <p:cNvPr id="3" name="Text 1"/>
          <p:cNvSpPr txBox="1"/>
          <p:nvPr/>
        </p:nvSpPr>
        <p:spPr>
          <a:xfrm>
            <a:off x="548640" y="438912"/>
            <a:ext cx="420624" cy="310896"/>
          </a:xfrm>
          <a:prstGeom prst="rect">
            <a:avLst/>
          </a:prstGeom>
          <a:noFill/>
          <a:ln/>
        </p:spPr>
        <p:txBody>
          <a:bodyPr wrap="square" lIns="0" tIns="0" rIns="0" bIns="0" rtlCol="0" anchor="ctr"/>
          <a:lstStyle/>
          <a:p>
            <a:pPr algn="ctr" indent="0" marL="0">
              <a:buNone/>
            </a:pPr>
            <a:r>
              <a:rPr lang="en-US" sz="1100" b="1" dirty="0">
                <a:solidFill>
                  <a:srgbClr val="FFF9C7"/>
                </a:solidFill>
                <a:latin typeface="Calibri" pitchFamily="34" charset="0"/>
                <a:ea typeface="Calibri" pitchFamily="34" charset="-122"/>
                <a:cs typeface="Calibri" pitchFamily="34" charset="-120"/>
              </a:rPr>
              <a:t>06</a:t>
            </a:r>
            <a:endParaRPr lang="en-US" sz="1100" dirty="0"/>
          </a:p>
        </p:txBody>
      </p:sp>
      <p:sp>
        <p:nvSpPr>
          <p:cNvPr id="4" name="Text 2"/>
          <p:cNvSpPr txBox="1"/>
          <p:nvPr/>
        </p:nvSpPr>
        <p:spPr>
          <a:xfrm>
            <a:off x="1115568" y="438912"/>
            <a:ext cx="8229600" cy="310896"/>
          </a:xfrm>
          <a:prstGeom prst="rect">
            <a:avLst/>
          </a:prstGeom>
          <a:noFill/>
          <a:ln/>
        </p:spPr>
        <p:txBody>
          <a:bodyPr wrap="square" lIns="0" tIns="0" rIns="0" bIns="0" rtlCol="0" anchor="ctr"/>
          <a:lstStyle/>
          <a:p>
            <a:pPr indent="0" marL="0">
              <a:buNone/>
            </a:pPr>
            <a:r>
              <a:rPr lang="en-US" sz="1100" b="1" spc="200" kern="0" dirty="0">
                <a:solidFill>
                  <a:srgbClr val="55516E"/>
                </a:solidFill>
                <a:latin typeface="Calibri" pitchFamily="34" charset="0"/>
                <a:ea typeface="Calibri" pitchFamily="34" charset="-122"/>
                <a:cs typeface="Calibri" pitchFamily="34" charset="-120"/>
              </a:rPr>
              <a:t>LES RELATIONS ENTRE LES ÉLUS ET LES HABITANTS</a:t>
            </a:r>
            <a:endParaRPr lang="en-US" sz="1100" dirty="0"/>
          </a:p>
        </p:txBody>
      </p:sp>
      <p:sp>
        <p:nvSpPr>
          <p:cNvPr id="5" name="Text 3"/>
          <p:cNvSpPr txBox="1"/>
          <p:nvPr/>
        </p:nvSpPr>
        <p:spPr>
          <a:xfrm>
            <a:off x="548640" y="841248"/>
            <a:ext cx="11064240" cy="685800"/>
          </a:xfrm>
          <a:prstGeom prst="rect">
            <a:avLst/>
          </a:prstGeom>
          <a:noFill/>
          <a:ln/>
        </p:spPr>
        <p:txBody>
          <a:bodyPr wrap="square" lIns="0" tIns="0" rIns="0" bIns="0" rtlCol="0" anchor="ctr">
            <a:normAutofit/>
          </a:bodyPr>
          <a:lstStyle/>
          <a:p>
            <a:pPr indent="0" marL="0">
              <a:buNone/>
            </a:pPr>
            <a:r>
              <a:rPr lang="en-US" sz="2800" b="1" dirty="0">
                <a:solidFill>
                  <a:srgbClr val="0B032B"/>
                </a:solidFill>
                <a:latin typeface="Calibri" pitchFamily="34" charset="0"/>
                <a:ea typeface="Calibri" pitchFamily="34" charset="-122"/>
                <a:cs typeface="Calibri" pitchFamily="34" charset="-120"/>
              </a:rPr>
              <a:t>Les points de vigilance</a:t>
            </a:r>
            <a:endParaRPr lang="en-US" sz="2800" dirty="0"/>
          </a:p>
        </p:txBody>
      </p:sp>
      <p:sp>
        <p:nvSpPr>
          <p:cNvPr id="6" name="Shape 4"/>
          <p:cNvSpPr/>
          <p:nvPr/>
        </p:nvSpPr>
        <p:spPr>
          <a:xfrm>
            <a:off x="548640" y="1783080"/>
            <a:ext cx="2606040" cy="2514600"/>
          </a:xfrm>
          <a:prstGeom prst="roundRect">
            <a:avLst>
              <a:gd name="adj" fmla="val 4364"/>
            </a:avLst>
          </a:prstGeom>
          <a:solidFill>
            <a:srgbClr val="FFFFFF"/>
          </a:solidFill>
          <a:ln w="19050">
            <a:solidFill>
              <a:srgbClr val="E7E5F0"/>
            </a:solidFill>
            <a:prstDash val="solid"/>
          </a:ln>
        </p:spPr>
      </p:sp>
      <p:sp>
        <p:nvSpPr>
          <p:cNvPr id="7" name="Shape 5"/>
          <p:cNvSpPr/>
          <p:nvPr/>
        </p:nvSpPr>
        <p:spPr>
          <a:xfrm>
            <a:off x="777240" y="2011680"/>
            <a:ext cx="731520" cy="731520"/>
          </a:xfrm>
          <a:prstGeom prst="ellipse">
            <a:avLst/>
          </a:prstGeom>
          <a:solidFill>
            <a:srgbClr val="FDE6DF"/>
          </a:solidFill>
          <a:ln/>
        </p:spPr>
      </p:sp>
      <p:pic>
        <p:nvPicPr>
          <p:cNvPr id="8" name="Image 0" descr="preencoded.png">    </p:cNvPr>
          <p:cNvPicPr>
            <a:picLocks noChangeAspect="1"/>
          </p:cNvPicPr>
          <p:nvPr/>
        </p:nvPicPr>
        <p:blipFill>
          <a:blip r:embed="rId1"/>
          <a:stretch>
            <a:fillRect/>
          </a:stretch>
        </p:blipFill>
        <p:spPr>
          <a:xfrm>
            <a:off x="941832" y="2176272"/>
            <a:ext cx="402336" cy="402336"/>
          </a:xfrm>
          <a:prstGeom prst="rect">
            <a:avLst/>
          </a:prstGeom>
        </p:spPr>
      </p:pic>
      <p:sp>
        <p:nvSpPr>
          <p:cNvPr id="9" name="Text 6"/>
          <p:cNvSpPr txBox="1"/>
          <p:nvPr/>
        </p:nvSpPr>
        <p:spPr>
          <a:xfrm>
            <a:off x="777240" y="2926080"/>
            <a:ext cx="2194560" cy="1280160"/>
          </a:xfrm>
          <a:prstGeom prst="rect">
            <a:avLst/>
          </a:prstGeom>
          <a:noFill/>
          <a:ln/>
        </p:spPr>
        <p:txBody>
          <a:bodyPr wrap="square" lIns="0" tIns="0" rIns="0" bIns="0" rtlCol="0" anchor="t"/>
          <a:lstStyle/>
          <a:p>
            <a:pPr indent="0" marL="0">
              <a:buNone/>
            </a:pPr>
            <a:r>
              <a:rPr lang="en-US" sz="1500" b="1" dirty="0">
                <a:solidFill>
                  <a:srgbClr val="0B032B"/>
                </a:solidFill>
                <a:latin typeface="Calibri" pitchFamily="34" charset="0"/>
                <a:ea typeface="Calibri" pitchFamily="34" charset="-122"/>
                <a:cs typeface="Calibri" pitchFamily="34" charset="-120"/>
              </a:rPr>
              <a:t>Ne pas promettre ce qui ne pourra pas être réalisé.</a:t>
            </a:r>
            <a:endParaRPr lang="en-US" sz="1500" dirty="0"/>
          </a:p>
        </p:txBody>
      </p:sp>
      <p:sp>
        <p:nvSpPr>
          <p:cNvPr id="10" name="Shape 7"/>
          <p:cNvSpPr/>
          <p:nvPr/>
        </p:nvSpPr>
        <p:spPr>
          <a:xfrm>
            <a:off x="3355848" y="1783080"/>
            <a:ext cx="2606040" cy="2514600"/>
          </a:xfrm>
          <a:prstGeom prst="roundRect">
            <a:avLst>
              <a:gd name="adj" fmla="val 4364"/>
            </a:avLst>
          </a:prstGeom>
          <a:solidFill>
            <a:srgbClr val="FFFFFF"/>
          </a:solidFill>
          <a:ln w="19050">
            <a:solidFill>
              <a:srgbClr val="E7E5F0"/>
            </a:solidFill>
            <a:prstDash val="solid"/>
          </a:ln>
        </p:spPr>
      </p:sp>
      <p:sp>
        <p:nvSpPr>
          <p:cNvPr id="11" name="Shape 8"/>
          <p:cNvSpPr/>
          <p:nvPr/>
        </p:nvSpPr>
        <p:spPr>
          <a:xfrm>
            <a:off x="3584448" y="2011680"/>
            <a:ext cx="731520" cy="731520"/>
          </a:xfrm>
          <a:prstGeom prst="ellipse">
            <a:avLst/>
          </a:prstGeom>
          <a:solidFill>
            <a:srgbClr val="FDE6DF"/>
          </a:solidFill>
          <a:ln/>
        </p:spPr>
      </p:sp>
      <p:pic>
        <p:nvPicPr>
          <p:cNvPr id="12" name="Image 1" descr="preencoded.png">    </p:cNvPr>
          <p:cNvPicPr>
            <a:picLocks noChangeAspect="1"/>
          </p:cNvPicPr>
          <p:nvPr/>
        </p:nvPicPr>
        <p:blipFill>
          <a:blip r:embed="rId2"/>
          <a:stretch>
            <a:fillRect/>
          </a:stretch>
        </p:blipFill>
        <p:spPr>
          <a:xfrm>
            <a:off x="3749040" y="2176272"/>
            <a:ext cx="402336" cy="402336"/>
          </a:xfrm>
          <a:prstGeom prst="rect">
            <a:avLst/>
          </a:prstGeom>
        </p:spPr>
      </p:pic>
      <p:sp>
        <p:nvSpPr>
          <p:cNvPr id="13" name="Text 9"/>
          <p:cNvSpPr txBox="1"/>
          <p:nvPr/>
        </p:nvSpPr>
        <p:spPr>
          <a:xfrm>
            <a:off x="3584448" y="2926080"/>
            <a:ext cx="2194560" cy="1280160"/>
          </a:xfrm>
          <a:prstGeom prst="rect">
            <a:avLst/>
          </a:prstGeom>
          <a:noFill/>
          <a:ln/>
        </p:spPr>
        <p:txBody>
          <a:bodyPr wrap="square" lIns="0" tIns="0" rIns="0" bIns="0" rtlCol="0" anchor="t"/>
          <a:lstStyle/>
          <a:p>
            <a:pPr indent="0" marL="0">
              <a:buNone/>
            </a:pPr>
            <a:r>
              <a:rPr lang="en-US" sz="1500" b="1" dirty="0">
                <a:solidFill>
                  <a:srgbClr val="0B032B"/>
                </a:solidFill>
                <a:latin typeface="Calibri" pitchFamily="34" charset="0"/>
                <a:ea typeface="Calibri" pitchFamily="34" charset="-122"/>
                <a:cs typeface="Calibri" pitchFamily="34" charset="-120"/>
              </a:rPr>
              <a:t>Respecter la confidentialité des situations individuelles.</a:t>
            </a:r>
            <a:endParaRPr lang="en-US" sz="1500" dirty="0"/>
          </a:p>
        </p:txBody>
      </p:sp>
      <p:sp>
        <p:nvSpPr>
          <p:cNvPr id="14" name="Shape 10"/>
          <p:cNvSpPr/>
          <p:nvPr/>
        </p:nvSpPr>
        <p:spPr>
          <a:xfrm>
            <a:off x="6163056" y="1783080"/>
            <a:ext cx="2606040" cy="2514600"/>
          </a:xfrm>
          <a:prstGeom prst="roundRect">
            <a:avLst>
              <a:gd name="adj" fmla="val 4364"/>
            </a:avLst>
          </a:prstGeom>
          <a:solidFill>
            <a:srgbClr val="FFFFFF"/>
          </a:solidFill>
          <a:ln w="19050">
            <a:solidFill>
              <a:srgbClr val="E7E5F0"/>
            </a:solidFill>
            <a:prstDash val="solid"/>
          </a:ln>
        </p:spPr>
      </p:sp>
      <p:sp>
        <p:nvSpPr>
          <p:cNvPr id="15" name="Shape 11"/>
          <p:cNvSpPr/>
          <p:nvPr/>
        </p:nvSpPr>
        <p:spPr>
          <a:xfrm>
            <a:off x="6391656" y="2011680"/>
            <a:ext cx="731520" cy="731520"/>
          </a:xfrm>
          <a:prstGeom prst="ellipse">
            <a:avLst/>
          </a:prstGeom>
          <a:solidFill>
            <a:srgbClr val="FDE6DF"/>
          </a:solidFill>
          <a:ln/>
        </p:spPr>
      </p:sp>
      <p:pic>
        <p:nvPicPr>
          <p:cNvPr id="16" name="Image 2" descr="preencoded.png">    </p:cNvPr>
          <p:cNvPicPr>
            <a:picLocks noChangeAspect="1"/>
          </p:cNvPicPr>
          <p:nvPr/>
        </p:nvPicPr>
        <p:blipFill>
          <a:blip r:embed="rId3"/>
          <a:stretch>
            <a:fillRect/>
          </a:stretch>
        </p:blipFill>
        <p:spPr>
          <a:xfrm>
            <a:off x="6556248" y="2176272"/>
            <a:ext cx="402336" cy="402336"/>
          </a:xfrm>
          <a:prstGeom prst="rect">
            <a:avLst/>
          </a:prstGeom>
        </p:spPr>
      </p:pic>
      <p:sp>
        <p:nvSpPr>
          <p:cNvPr id="17" name="Text 12"/>
          <p:cNvSpPr txBox="1"/>
          <p:nvPr/>
        </p:nvSpPr>
        <p:spPr>
          <a:xfrm>
            <a:off x="6391656" y="2926080"/>
            <a:ext cx="2194560" cy="1280160"/>
          </a:xfrm>
          <a:prstGeom prst="rect">
            <a:avLst/>
          </a:prstGeom>
          <a:noFill/>
          <a:ln/>
        </p:spPr>
        <p:txBody>
          <a:bodyPr wrap="square" lIns="0" tIns="0" rIns="0" bIns="0" rtlCol="0" anchor="t"/>
          <a:lstStyle/>
          <a:p>
            <a:pPr indent="0" marL="0">
              <a:buNone/>
            </a:pPr>
            <a:r>
              <a:rPr lang="en-US" sz="1500" b="1" dirty="0">
                <a:solidFill>
                  <a:srgbClr val="0B032B"/>
                </a:solidFill>
                <a:latin typeface="Calibri" pitchFamily="34" charset="0"/>
                <a:ea typeface="Calibri" pitchFamily="34" charset="-122"/>
                <a:cs typeface="Calibri" pitchFamily="34" charset="-120"/>
              </a:rPr>
              <a:t>Distinguer les intérêts particuliers de l’intérêt général.</a:t>
            </a:r>
            <a:endParaRPr lang="en-US" sz="1500" dirty="0"/>
          </a:p>
        </p:txBody>
      </p:sp>
      <p:sp>
        <p:nvSpPr>
          <p:cNvPr id="18" name="Shape 13"/>
          <p:cNvSpPr/>
          <p:nvPr/>
        </p:nvSpPr>
        <p:spPr>
          <a:xfrm>
            <a:off x="8970264" y="1783080"/>
            <a:ext cx="2606040" cy="2514600"/>
          </a:xfrm>
          <a:prstGeom prst="roundRect">
            <a:avLst>
              <a:gd name="adj" fmla="val 4364"/>
            </a:avLst>
          </a:prstGeom>
          <a:solidFill>
            <a:srgbClr val="FFFFFF"/>
          </a:solidFill>
          <a:ln w="19050">
            <a:solidFill>
              <a:srgbClr val="E7E5F0"/>
            </a:solidFill>
            <a:prstDash val="solid"/>
          </a:ln>
        </p:spPr>
      </p:sp>
      <p:sp>
        <p:nvSpPr>
          <p:cNvPr id="19" name="Shape 14"/>
          <p:cNvSpPr/>
          <p:nvPr/>
        </p:nvSpPr>
        <p:spPr>
          <a:xfrm>
            <a:off x="9198864" y="2011680"/>
            <a:ext cx="731520" cy="731520"/>
          </a:xfrm>
          <a:prstGeom prst="ellipse">
            <a:avLst/>
          </a:prstGeom>
          <a:solidFill>
            <a:srgbClr val="FDE6DF"/>
          </a:solidFill>
          <a:ln/>
        </p:spPr>
      </p:sp>
      <p:pic>
        <p:nvPicPr>
          <p:cNvPr id="20" name="Image 3" descr="preencoded.png">    </p:cNvPr>
          <p:cNvPicPr>
            <a:picLocks noChangeAspect="1"/>
          </p:cNvPicPr>
          <p:nvPr/>
        </p:nvPicPr>
        <p:blipFill>
          <a:blip r:embed="rId4"/>
          <a:stretch>
            <a:fillRect/>
          </a:stretch>
        </p:blipFill>
        <p:spPr>
          <a:xfrm>
            <a:off x="9363456" y="2176272"/>
            <a:ext cx="402336" cy="402336"/>
          </a:xfrm>
          <a:prstGeom prst="rect">
            <a:avLst/>
          </a:prstGeom>
        </p:spPr>
      </p:pic>
      <p:sp>
        <p:nvSpPr>
          <p:cNvPr id="21" name="Text 15"/>
          <p:cNvSpPr txBox="1"/>
          <p:nvPr/>
        </p:nvSpPr>
        <p:spPr>
          <a:xfrm>
            <a:off x="9198864" y="2926080"/>
            <a:ext cx="2194560" cy="1280160"/>
          </a:xfrm>
          <a:prstGeom prst="rect">
            <a:avLst/>
          </a:prstGeom>
          <a:noFill/>
          <a:ln/>
        </p:spPr>
        <p:txBody>
          <a:bodyPr wrap="square" lIns="0" tIns="0" rIns="0" bIns="0" rtlCol="0" anchor="t"/>
          <a:lstStyle/>
          <a:p>
            <a:pPr indent="0" marL="0">
              <a:buNone/>
            </a:pPr>
            <a:r>
              <a:rPr lang="en-US" sz="1500" b="1" dirty="0">
                <a:solidFill>
                  <a:srgbClr val="0B032B"/>
                </a:solidFill>
                <a:latin typeface="Calibri" pitchFamily="34" charset="0"/>
                <a:ea typeface="Calibri" pitchFamily="34" charset="-122"/>
                <a:cs typeface="Calibri" pitchFamily="34" charset="-120"/>
              </a:rPr>
              <a:t>Garder une attitude respectueuse, y compris en cas de désaccord ou de tension.</a:t>
            </a:r>
            <a:endParaRPr lang="en-US" sz="1500" dirty="0"/>
          </a:p>
        </p:txBody>
      </p:sp>
      <p:sp>
        <p:nvSpPr>
          <p:cNvPr id="22" name="Shape 16"/>
          <p:cNvSpPr/>
          <p:nvPr/>
        </p:nvSpPr>
        <p:spPr>
          <a:xfrm>
            <a:off x="548640" y="4572000"/>
            <a:ext cx="11064240" cy="1554480"/>
          </a:xfrm>
          <a:prstGeom prst="roundRect">
            <a:avLst>
              <a:gd name="adj" fmla="val 8235"/>
            </a:avLst>
          </a:prstGeom>
          <a:solidFill>
            <a:srgbClr val="0B032B"/>
          </a:solidFill>
          <a:ln/>
        </p:spPr>
      </p:sp>
      <p:sp>
        <p:nvSpPr>
          <p:cNvPr id="23" name="Shape 17"/>
          <p:cNvSpPr/>
          <p:nvPr/>
        </p:nvSpPr>
        <p:spPr>
          <a:xfrm>
            <a:off x="804672" y="4828032"/>
            <a:ext cx="566928" cy="566928"/>
          </a:xfrm>
          <a:prstGeom prst="ellipse">
            <a:avLst/>
          </a:prstGeom>
          <a:solidFill>
            <a:srgbClr val="FFF9C7"/>
          </a:solidFill>
          <a:ln/>
        </p:spPr>
      </p:sp>
      <p:pic>
        <p:nvPicPr>
          <p:cNvPr id="24" name="Image 4" descr="preencoded.png">    </p:cNvPr>
          <p:cNvPicPr>
            <a:picLocks noChangeAspect="1"/>
          </p:cNvPicPr>
          <p:nvPr/>
        </p:nvPicPr>
        <p:blipFill>
          <a:blip r:embed="rId5"/>
          <a:stretch>
            <a:fillRect/>
          </a:stretch>
        </p:blipFill>
        <p:spPr>
          <a:xfrm>
            <a:off x="929396" y="4952756"/>
            <a:ext cx="317480" cy="317480"/>
          </a:xfrm>
          <a:prstGeom prst="rect">
            <a:avLst/>
          </a:prstGeom>
        </p:spPr>
      </p:pic>
      <p:sp>
        <p:nvSpPr>
          <p:cNvPr id="25" name="Text 18"/>
          <p:cNvSpPr txBox="1"/>
          <p:nvPr/>
        </p:nvSpPr>
        <p:spPr>
          <a:xfrm>
            <a:off x="1554480" y="4846320"/>
            <a:ext cx="9784080" cy="274320"/>
          </a:xfrm>
          <a:prstGeom prst="rect">
            <a:avLst/>
          </a:prstGeom>
          <a:noFill/>
          <a:ln/>
        </p:spPr>
        <p:txBody>
          <a:bodyPr wrap="square" lIns="0" tIns="0" rIns="0" bIns="0" rtlCol="0" anchor="t"/>
          <a:lstStyle/>
          <a:p>
            <a:pPr indent="0" marL="0">
              <a:buNone/>
            </a:pPr>
            <a:r>
              <a:rPr lang="en-US" sz="1100" b="1" spc="300" kern="0" dirty="0">
                <a:solidFill>
                  <a:srgbClr val="FFF9C7"/>
                </a:solidFill>
                <a:latin typeface="Calibri" pitchFamily="34" charset="0"/>
                <a:ea typeface="Calibri" pitchFamily="34" charset="-122"/>
                <a:cs typeface="Calibri" pitchFamily="34" charset="-120"/>
              </a:rPr>
              <a:t>À RETENIR</a:t>
            </a:r>
            <a:endParaRPr lang="en-US" sz="1100" dirty="0"/>
          </a:p>
        </p:txBody>
      </p:sp>
      <p:sp>
        <p:nvSpPr>
          <p:cNvPr id="26" name="Text 19"/>
          <p:cNvSpPr txBox="1"/>
          <p:nvPr/>
        </p:nvSpPr>
        <p:spPr>
          <a:xfrm>
            <a:off x="1554480" y="5157216"/>
            <a:ext cx="9784080" cy="768096"/>
          </a:xfrm>
          <a:prstGeom prst="rect">
            <a:avLst/>
          </a:prstGeom>
          <a:noFill/>
          <a:ln/>
        </p:spPr>
        <p:txBody>
          <a:bodyPr wrap="square" lIns="0" tIns="0" rIns="0" bIns="0" rtlCol="0" anchor="t">
            <a:normAutofit/>
          </a:bodyPr>
          <a:lstStyle/>
          <a:p>
            <a:pPr indent="0" marL="0">
              <a:lnSpc>
                <a:spcPct val="105000"/>
              </a:lnSpc>
              <a:buNone/>
            </a:pPr>
            <a:r>
              <a:rPr lang="en-US" sz="1500" dirty="0">
                <a:solidFill>
                  <a:srgbClr val="FFFFFF"/>
                </a:solidFill>
                <a:latin typeface="Calibri" pitchFamily="34" charset="0"/>
                <a:ea typeface="Calibri" pitchFamily="34" charset="-122"/>
                <a:cs typeface="Calibri" pitchFamily="34" charset="-120"/>
              </a:rPr>
              <a:t>La confiance des habitants se construit par l’écoute, la disponibilité, la transparence et la cohérence entre les engagements pris et les actions menées. Un élu de proximité est avant tout un élu accessible, exemplaire et au service de l’intérêt général.</a:t>
            </a:r>
            <a:endParaRPr lang="en-US" sz="1500" dirty="0"/>
          </a:p>
        </p:txBody>
      </p:sp>
      <p:sp>
        <p:nvSpPr>
          <p:cNvPr id="27" name="Text 20"/>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spc="100" kern="0" dirty="0">
                <a:solidFill>
                  <a:srgbClr val="8A8699"/>
                </a:solidFill>
                <a:latin typeface="Calibri" pitchFamily="34" charset="0"/>
                <a:ea typeface="Calibri" pitchFamily="34" charset="-122"/>
                <a:cs typeface="Calibri" pitchFamily="34" charset="-120"/>
              </a:rPr>
              <a:t>ENMA FORMATION  ·  Formation des élus municipaux 2026</a:t>
            </a:r>
            <a:endParaRPr lang="en-US" sz="900" dirty="0"/>
          </a:p>
        </p:txBody>
      </p:sp>
      <p:sp>
        <p:nvSpPr>
          <p:cNvPr id="28" name="Text 21"/>
          <p:cNvSpPr txBox="1"/>
          <p:nvPr/>
        </p:nvSpPr>
        <p:spPr>
          <a:xfrm>
            <a:off x="9692640" y="6400800"/>
            <a:ext cx="548640" cy="274320"/>
          </a:xfrm>
          <a:prstGeom prst="rect">
            <a:avLst/>
          </a:prstGeom>
          <a:noFill/>
          <a:ln/>
        </p:spPr>
        <p:txBody>
          <a:bodyPr wrap="square" lIns="0" tIns="0" rIns="0" bIns="0" rtlCol="0" anchor="ctr"/>
          <a:lstStyle/>
          <a:p>
            <a:pPr algn="r" indent="0" marL="0">
              <a:buNone/>
            </a:pPr>
            <a:r>
              <a:rPr lang="en-US" sz="900" dirty="0">
                <a:solidFill>
                  <a:srgbClr val="8A8699"/>
                </a:solidFill>
                <a:latin typeface="Calibri" pitchFamily="34" charset="0"/>
                <a:ea typeface="Calibri" pitchFamily="34" charset="-122"/>
                <a:cs typeface="Calibri" pitchFamily="34" charset="-120"/>
              </a:rPr>
              <a:t>44</a:t>
            </a:r>
            <a:endParaRPr lang="en-US" sz="900" dirty="0"/>
          </a:p>
        </p:txBody>
      </p:sp>
      <p:pic>
        <p:nvPicPr>
          <p:cNvPr id="29" name="Image 5" descr="preencoded.png">    </p:cNvPr>
          <p:cNvPicPr>
            <a:picLocks noChangeAspect="1"/>
          </p:cNvPicPr>
          <p:nvPr/>
        </p:nvPicPr>
        <p:blipFill>
          <a:blip r:embed="rId6"/>
          <a:stretch>
            <a:fillRect/>
          </a:stretch>
        </p:blipFill>
        <p:spPr>
          <a:xfrm>
            <a:off x="10469880" y="6309360"/>
            <a:ext cx="1170432" cy="484632"/>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420624" cy="310896"/>
          </a:xfrm>
          <a:prstGeom prst="roundRect">
            <a:avLst>
              <a:gd name="adj" fmla="val 23529"/>
            </a:avLst>
          </a:prstGeom>
          <a:solidFill>
            <a:srgbClr val="0B032B"/>
          </a:solidFill>
          <a:ln/>
        </p:spPr>
      </p:sp>
      <p:sp>
        <p:nvSpPr>
          <p:cNvPr id="3" name="Text 1"/>
          <p:cNvSpPr txBox="1"/>
          <p:nvPr/>
        </p:nvSpPr>
        <p:spPr>
          <a:xfrm>
            <a:off x="548640" y="438912"/>
            <a:ext cx="420624" cy="310896"/>
          </a:xfrm>
          <a:prstGeom prst="rect">
            <a:avLst/>
          </a:prstGeom>
          <a:noFill/>
          <a:ln/>
        </p:spPr>
        <p:txBody>
          <a:bodyPr wrap="square" lIns="0" tIns="0" rIns="0" bIns="0" rtlCol="0" anchor="ctr"/>
          <a:lstStyle/>
          <a:p>
            <a:pPr algn="ctr" indent="0" marL="0">
              <a:buNone/>
            </a:pPr>
            <a:r>
              <a:rPr lang="en-US" sz="1100" b="1" dirty="0">
                <a:solidFill>
                  <a:srgbClr val="FFF9C7"/>
                </a:solidFill>
                <a:latin typeface="Calibri" pitchFamily="34" charset="0"/>
                <a:ea typeface="Calibri" pitchFamily="34" charset="-122"/>
                <a:cs typeface="Calibri" pitchFamily="34" charset="-120"/>
              </a:rPr>
              <a:t>06</a:t>
            </a:r>
            <a:endParaRPr lang="en-US" sz="1100" dirty="0"/>
          </a:p>
        </p:txBody>
      </p:sp>
      <p:sp>
        <p:nvSpPr>
          <p:cNvPr id="4" name="Text 2"/>
          <p:cNvSpPr txBox="1"/>
          <p:nvPr/>
        </p:nvSpPr>
        <p:spPr>
          <a:xfrm>
            <a:off x="1115568" y="438912"/>
            <a:ext cx="8229600" cy="310896"/>
          </a:xfrm>
          <a:prstGeom prst="rect">
            <a:avLst/>
          </a:prstGeom>
          <a:noFill/>
          <a:ln/>
        </p:spPr>
        <p:txBody>
          <a:bodyPr wrap="square" lIns="0" tIns="0" rIns="0" bIns="0" rtlCol="0" anchor="ctr"/>
          <a:lstStyle/>
          <a:p>
            <a:pPr indent="0" marL="0">
              <a:buNone/>
            </a:pPr>
            <a:r>
              <a:rPr lang="en-US" sz="1100" b="1" spc="200" kern="0" dirty="0">
                <a:solidFill>
                  <a:srgbClr val="55516E"/>
                </a:solidFill>
                <a:latin typeface="Calibri" pitchFamily="34" charset="0"/>
                <a:ea typeface="Calibri" pitchFamily="34" charset="-122"/>
                <a:cs typeface="Calibri" pitchFamily="34" charset="-120"/>
              </a:rPr>
              <a:t>L’EXEMPLARITÉ DES ÉLUS ET LA PRÉVENTION DES CONFLITS D’INTÉRÊTS</a:t>
            </a:r>
            <a:endParaRPr lang="en-US" sz="1100" dirty="0"/>
          </a:p>
        </p:txBody>
      </p:sp>
      <p:sp>
        <p:nvSpPr>
          <p:cNvPr id="5" name="Text 3"/>
          <p:cNvSpPr txBox="1"/>
          <p:nvPr/>
        </p:nvSpPr>
        <p:spPr>
          <a:xfrm>
            <a:off x="548640" y="841248"/>
            <a:ext cx="11064240" cy="685800"/>
          </a:xfrm>
          <a:prstGeom prst="rect">
            <a:avLst/>
          </a:prstGeom>
          <a:noFill/>
          <a:ln/>
        </p:spPr>
        <p:txBody>
          <a:bodyPr wrap="square" lIns="0" tIns="0" rIns="0" bIns="0" rtlCol="0" anchor="ctr">
            <a:normAutofit/>
          </a:bodyPr>
          <a:lstStyle/>
          <a:p>
            <a:pPr indent="0" marL="0">
              <a:buNone/>
            </a:pPr>
            <a:r>
              <a:rPr lang="en-US" sz="2600" b="1" dirty="0">
                <a:solidFill>
                  <a:srgbClr val="0B032B"/>
                </a:solidFill>
                <a:latin typeface="Calibri" pitchFamily="34" charset="0"/>
                <a:ea typeface="Calibri" pitchFamily="34" charset="-122"/>
                <a:cs typeface="Calibri" pitchFamily="34" charset="-120"/>
              </a:rPr>
              <a:t>Une exigence au service de la confiance des citoyens</a:t>
            </a:r>
            <a:endParaRPr lang="en-US" sz="2600" dirty="0"/>
          </a:p>
        </p:txBody>
      </p:sp>
      <p:sp>
        <p:nvSpPr>
          <p:cNvPr id="6" name="Text 4"/>
          <p:cNvSpPr txBox="1"/>
          <p:nvPr/>
        </p:nvSpPr>
        <p:spPr>
          <a:xfrm>
            <a:off x="548640" y="1737360"/>
            <a:ext cx="5943600" cy="411480"/>
          </a:xfrm>
          <a:prstGeom prst="rect">
            <a:avLst/>
          </a:prstGeom>
          <a:noFill/>
          <a:ln/>
        </p:spPr>
        <p:txBody>
          <a:bodyPr wrap="square" lIns="0" tIns="0" rIns="0" bIns="0" rtlCol="0" anchor="t"/>
          <a:lstStyle/>
          <a:p>
            <a:pPr indent="0" marL="0">
              <a:buNone/>
            </a:pPr>
            <a:r>
              <a:rPr lang="en-US" sz="1800" b="1" dirty="0">
                <a:solidFill>
                  <a:srgbClr val="0B032B"/>
                </a:solidFill>
                <a:latin typeface="Calibri" pitchFamily="34" charset="0"/>
                <a:ea typeface="Calibri" pitchFamily="34" charset="-122"/>
                <a:cs typeface="Calibri" pitchFamily="34" charset="-120"/>
              </a:rPr>
              <a:t>L’élu est dépositaire de l’intérêt général</a:t>
            </a:r>
            <a:endParaRPr lang="en-US" sz="1800" dirty="0"/>
          </a:p>
        </p:txBody>
      </p:sp>
      <p:sp>
        <p:nvSpPr>
          <p:cNvPr id="7" name="Text 5"/>
          <p:cNvSpPr txBox="1"/>
          <p:nvPr/>
        </p:nvSpPr>
        <p:spPr>
          <a:xfrm>
            <a:off x="548640" y="2148840"/>
            <a:ext cx="5943600" cy="365760"/>
          </a:xfrm>
          <a:prstGeom prst="rect">
            <a:avLst/>
          </a:prstGeom>
          <a:noFill/>
          <a:ln/>
        </p:spPr>
        <p:txBody>
          <a:bodyPr wrap="square" lIns="0" tIns="0" rIns="0" bIns="0" rtlCol="0" anchor="t"/>
          <a:lstStyle/>
          <a:p>
            <a:pPr indent="0" marL="0">
              <a:buNone/>
            </a:pPr>
            <a:r>
              <a:rPr lang="en-US" sz="1400" dirty="0">
                <a:solidFill>
                  <a:srgbClr val="55516E"/>
                </a:solidFill>
                <a:latin typeface="Calibri" pitchFamily="34" charset="0"/>
                <a:ea typeface="Calibri" pitchFamily="34" charset="-122"/>
                <a:cs typeface="Calibri" pitchFamily="34" charset="-120"/>
              </a:rPr>
              <a:t>L’exercice d’un mandat municipal implique un comportement exemplaire fondé sur :</a:t>
            </a:r>
            <a:endParaRPr lang="en-US" sz="1400" dirty="0"/>
          </a:p>
        </p:txBody>
      </p:sp>
      <p:pic>
        <p:nvPicPr>
          <p:cNvPr id="8" name="Image 0" descr="preencoded.png">    </p:cNvPr>
          <p:cNvPicPr>
            <a:picLocks noChangeAspect="1"/>
          </p:cNvPicPr>
          <p:nvPr/>
        </p:nvPicPr>
        <p:blipFill>
          <a:blip r:embed="rId1"/>
          <a:stretch>
            <a:fillRect/>
          </a:stretch>
        </p:blipFill>
        <p:spPr>
          <a:xfrm>
            <a:off x="548640" y="2743200"/>
            <a:ext cx="5760720" cy="3571646"/>
          </a:xfrm>
          <a:prstGeom prst="rect">
            <a:avLst/>
          </a:prstGeom>
        </p:spPr>
      </p:pic>
      <p:sp>
        <p:nvSpPr>
          <p:cNvPr id="9" name="Shape 6"/>
          <p:cNvSpPr/>
          <p:nvPr/>
        </p:nvSpPr>
        <p:spPr>
          <a:xfrm>
            <a:off x="980237" y="4314724"/>
            <a:ext cx="1133856" cy="1188720"/>
          </a:xfrm>
          <a:prstGeom prst="roundRect">
            <a:avLst>
              <a:gd name="adj" fmla="val 6452"/>
            </a:avLst>
          </a:prstGeom>
          <a:solidFill>
            <a:srgbClr val="0B032B"/>
          </a:solidFill>
          <a:ln/>
        </p:spPr>
      </p:sp>
      <p:sp>
        <p:nvSpPr>
          <p:cNvPr id="10" name="Text 7"/>
          <p:cNvSpPr txBox="1"/>
          <p:nvPr/>
        </p:nvSpPr>
        <p:spPr>
          <a:xfrm>
            <a:off x="1016813" y="4314724"/>
            <a:ext cx="1060704" cy="1188720"/>
          </a:xfrm>
          <a:prstGeom prst="rect">
            <a:avLst/>
          </a:prstGeom>
          <a:noFill/>
          <a:ln/>
        </p:spPr>
        <p:txBody>
          <a:bodyPr wrap="square" lIns="0" tIns="0" rIns="0" bIns="0" rtlCol="0" anchor="ctr">
            <a:normAutofit/>
          </a:bodyPr>
          <a:lstStyle/>
          <a:p>
            <a:pPr algn="ctr" indent="0" marL="0">
              <a:buNone/>
            </a:pPr>
            <a:r>
              <a:rPr lang="en-US" sz="1150" b="1" dirty="0">
                <a:solidFill>
                  <a:srgbClr val="FFF9C7"/>
                </a:solidFill>
                <a:latin typeface="Calibri" pitchFamily="34" charset="0"/>
                <a:ea typeface="Calibri" pitchFamily="34" charset="-122"/>
                <a:cs typeface="Calibri" pitchFamily="34" charset="-120"/>
              </a:rPr>
              <a:t>L’intégrité et la probité.</a:t>
            </a:r>
            <a:endParaRPr lang="en-US" sz="1150" dirty="0"/>
          </a:p>
        </p:txBody>
      </p:sp>
      <p:sp>
        <p:nvSpPr>
          <p:cNvPr id="11" name="Shape 8"/>
          <p:cNvSpPr/>
          <p:nvPr/>
        </p:nvSpPr>
        <p:spPr>
          <a:xfrm>
            <a:off x="2247595" y="4314724"/>
            <a:ext cx="1133856" cy="1188720"/>
          </a:xfrm>
          <a:prstGeom prst="roundRect">
            <a:avLst>
              <a:gd name="adj" fmla="val 6452"/>
            </a:avLst>
          </a:prstGeom>
          <a:solidFill>
            <a:srgbClr val="0B032B"/>
          </a:solidFill>
          <a:ln/>
        </p:spPr>
      </p:sp>
      <p:sp>
        <p:nvSpPr>
          <p:cNvPr id="12" name="Text 9"/>
          <p:cNvSpPr txBox="1"/>
          <p:nvPr/>
        </p:nvSpPr>
        <p:spPr>
          <a:xfrm>
            <a:off x="2284171" y="4314724"/>
            <a:ext cx="1060704" cy="1188720"/>
          </a:xfrm>
          <a:prstGeom prst="rect">
            <a:avLst/>
          </a:prstGeom>
          <a:noFill/>
          <a:ln/>
        </p:spPr>
        <p:txBody>
          <a:bodyPr wrap="square" lIns="0" tIns="0" rIns="0" bIns="0" rtlCol="0" anchor="ctr">
            <a:normAutofit/>
          </a:bodyPr>
          <a:lstStyle/>
          <a:p>
            <a:pPr algn="ctr" indent="0" marL="0">
              <a:buNone/>
            </a:pPr>
            <a:r>
              <a:rPr lang="en-US" sz="1150" b="1" dirty="0">
                <a:solidFill>
                  <a:srgbClr val="FFF9C7"/>
                </a:solidFill>
                <a:latin typeface="Calibri" pitchFamily="34" charset="0"/>
                <a:ea typeface="Calibri" pitchFamily="34" charset="-122"/>
                <a:cs typeface="Calibri" pitchFamily="34" charset="-120"/>
              </a:rPr>
              <a:t>L’impartialité et l’objectivité.</a:t>
            </a:r>
            <a:endParaRPr lang="en-US" sz="1150" dirty="0"/>
          </a:p>
        </p:txBody>
      </p:sp>
      <p:sp>
        <p:nvSpPr>
          <p:cNvPr id="13" name="Shape 10"/>
          <p:cNvSpPr/>
          <p:nvPr/>
        </p:nvSpPr>
        <p:spPr>
          <a:xfrm>
            <a:off x="3514954" y="4314724"/>
            <a:ext cx="1133856" cy="1188720"/>
          </a:xfrm>
          <a:prstGeom prst="roundRect">
            <a:avLst>
              <a:gd name="adj" fmla="val 6452"/>
            </a:avLst>
          </a:prstGeom>
          <a:solidFill>
            <a:srgbClr val="0B032B"/>
          </a:solidFill>
          <a:ln/>
        </p:spPr>
      </p:sp>
      <p:sp>
        <p:nvSpPr>
          <p:cNvPr id="14" name="Text 11"/>
          <p:cNvSpPr txBox="1"/>
          <p:nvPr/>
        </p:nvSpPr>
        <p:spPr>
          <a:xfrm>
            <a:off x="3551530" y="4314724"/>
            <a:ext cx="1060704" cy="1188720"/>
          </a:xfrm>
          <a:prstGeom prst="rect">
            <a:avLst/>
          </a:prstGeom>
          <a:noFill/>
          <a:ln/>
        </p:spPr>
        <p:txBody>
          <a:bodyPr wrap="square" lIns="0" tIns="0" rIns="0" bIns="0" rtlCol="0" anchor="ctr">
            <a:normAutofit/>
          </a:bodyPr>
          <a:lstStyle/>
          <a:p>
            <a:pPr algn="ctr" indent="0" marL="0">
              <a:buNone/>
            </a:pPr>
            <a:r>
              <a:rPr lang="en-US" sz="1150" b="1" dirty="0">
                <a:solidFill>
                  <a:srgbClr val="FFF9C7"/>
                </a:solidFill>
                <a:latin typeface="Calibri" pitchFamily="34" charset="0"/>
                <a:ea typeface="Calibri" pitchFamily="34" charset="-122"/>
                <a:cs typeface="Calibri" pitchFamily="34" charset="-120"/>
              </a:rPr>
              <a:t>La transparence dans les décisions.</a:t>
            </a:r>
            <a:endParaRPr lang="en-US" sz="1150" dirty="0"/>
          </a:p>
        </p:txBody>
      </p:sp>
      <p:sp>
        <p:nvSpPr>
          <p:cNvPr id="15" name="Shape 12"/>
          <p:cNvSpPr/>
          <p:nvPr/>
        </p:nvSpPr>
        <p:spPr>
          <a:xfrm>
            <a:off x="4782312" y="4314724"/>
            <a:ext cx="1133856" cy="1188720"/>
          </a:xfrm>
          <a:prstGeom prst="roundRect">
            <a:avLst>
              <a:gd name="adj" fmla="val 6452"/>
            </a:avLst>
          </a:prstGeom>
          <a:solidFill>
            <a:srgbClr val="0B032B"/>
          </a:solidFill>
          <a:ln/>
        </p:spPr>
      </p:sp>
      <p:sp>
        <p:nvSpPr>
          <p:cNvPr id="16" name="Text 13"/>
          <p:cNvSpPr txBox="1"/>
          <p:nvPr/>
        </p:nvSpPr>
        <p:spPr>
          <a:xfrm>
            <a:off x="4818888" y="4314724"/>
            <a:ext cx="1060704" cy="1188720"/>
          </a:xfrm>
          <a:prstGeom prst="rect">
            <a:avLst/>
          </a:prstGeom>
          <a:noFill/>
          <a:ln/>
        </p:spPr>
        <p:txBody>
          <a:bodyPr wrap="square" lIns="0" tIns="0" rIns="0" bIns="0" rtlCol="0" anchor="ctr">
            <a:normAutofit/>
          </a:bodyPr>
          <a:lstStyle/>
          <a:p>
            <a:pPr algn="ctr" indent="0" marL="0">
              <a:buNone/>
            </a:pPr>
            <a:r>
              <a:rPr lang="en-US" sz="1150" b="1" dirty="0">
                <a:solidFill>
                  <a:srgbClr val="FFF9C7"/>
                </a:solidFill>
                <a:latin typeface="Calibri" pitchFamily="34" charset="0"/>
                <a:ea typeface="Calibri" pitchFamily="34" charset="-122"/>
                <a:cs typeface="Calibri" pitchFamily="34" charset="-120"/>
              </a:rPr>
              <a:t>Le respect des lois et des principes républicains.</a:t>
            </a:r>
            <a:endParaRPr lang="en-US" sz="1150" dirty="0"/>
          </a:p>
        </p:txBody>
      </p:sp>
      <p:sp>
        <p:nvSpPr>
          <p:cNvPr id="17" name="Shape 14"/>
          <p:cNvSpPr/>
          <p:nvPr/>
        </p:nvSpPr>
        <p:spPr>
          <a:xfrm>
            <a:off x="6766560" y="1783080"/>
            <a:ext cx="4873752" cy="4343400"/>
          </a:xfrm>
          <a:prstGeom prst="roundRect">
            <a:avLst>
              <a:gd name="adj" fmla="val 2526"/>
            </a:avLst>
          </a:prstGeom>
          <a:solidFill>
            <a:srgbClr val="0B032B"/>
          </a:solidFill>
          <a:ln/>
        </p:spPr>
      </p:sp>
      <p:sp>
        <p:nvSpPr>
          <p:cNvPr id="18" name="Shape 15"/>
          <p:cNvSpPr/>
          <p:nvPr/>
        </p:nvSpPr>
        <p:spPr>
          <a:xfrm>
            <a:off x="7040880" y="2057400"/>
            <a:ext cx="731520" cy="731520"/>
          </a:xfrm>
          <a:prstGeom prst="ellipse">
            <a:avLst/>
          </a:prstGeom>
          <a:solidFill>
            <a:srgbClr val="FFF9C7"/>
          </a:solidFill>
          <a:ln/>
        </p:spPr>
      </p:sp>
      <p:pic>
        <p:nvPicPr>
          <p:cNvPr id="19" name="Image 1" descr="preencoded.png">    </p:cNvPr>
          <p:cNvPicPr>
            <a:picLocks noChangeAspect="1"/>
          </p:cNvPicPr>
          <p:nvPr/>
        </p:nvPicPr>
        <p:blipFill>
          <a:blip r:embed="rId2"/>
          <a:stretch>
            <a:fillRect/>
          </a:stretch>
        </p:blipFill>
        <p:spPr>
          <a:xfrm>
            <a:off x="7201814" y="2218334"/>
            <a:ext cx="409651" cy="409651"/>
          </a:xfrm>
          <a:prstGeom prst="rect">
            <a:avLst/>
          </a:prstGeom>
        </p:spPr>
      </p:pic>
      <p:sp>
        <p:nvSpPr>
          <p:cNvPr id="20" name="Text 16"/>
          <p:cNvSpPr txBox="1"/>
          <p:nvPr/>
        </p:nvSpPr>
        <p:spPr>
          <a:xfrm>
            <a:off x="7955280" y="2057400"/>
            <a:ext cx="3474720" cy="731520"/>
          </a:xfrm>
          <a:prstGeom prst="rect">
            <a:avLst/>
          </a:prstGeom>
          <a:noFill/>
          <a:ln/>
        </p:spPr>
        <p:txBody>
          <a:bodyPr wrap="square" lIns="0" tIns="0" rIns="0" bIns="0" rtlCol="0" anchor="ctr"/>
          <a:lstStyle/>
          <a:p>
            <a:pPr indent="0" marL="0">
              <a:buNone/>
            </a:pPr>
            <a:r>
              <a:rPr lang="en-US" sz="1700" b="1" dirty="0">
                <a:solidFill>
                  <a:srgbClr val="FFF9C7"/>
                </a:solidFill>
                <a:latin typeface="Calibri" pitchFamily="34" charset="0"/>
                <a:ea typeface="Calibri" pitchFamily="34" charset="-122"/>
                <a:cs typeface="Calibri" pitchFamily="34" charset="-120"/>
              </a:rPr>
              <a:t>Le conflit d’intérêts : de quoi s’agit-il ?</a:t>
            </a:r>
            <a:endParaRPr lang="en-US" sz="1700" dirty="0"/>
          </a:p>
        </p:txBody>
      </p:sp>
      <p:sp>
        <p:nvSpPr>
          <p:cNvPr id="21" name="Text 17"/>
          <p:cNvSpPr txBox="1"/>
          <p:nvPr/>
        </p:nvSpPr>
        <p:spPr>
          <a:xfrm>
            <a:off x="7086600" y="3017520"/>
            <a:ext cx="4297680" cy="2011680"/>
          </a:xfrm>
          <a:prstGeom prst="rect">
            <a:avLst/>
          </a:prstGeom>
          <a:noFill/>
          <a:ln/>
        </p:spPr>
        <p:txBody>
          <a:bodyPr wrap="square" lIns="0" tIns="0" rIns="0" bIns="0" rtlCol="0" anchor="t"/>
          <a:lstStyle/>
          <a:p>
            <a:pPr indent="0" marL="0">
              <a:lnSpc>
                <a:spcPct val="110000"/>
              </a:lnSpc>
              <a:buNone/>
            </a:pPr>
            <a:r>
              <a:rPr lang="en-US" sz="1600" dirty="0">
                <a:solidFill>
                  <a:srgbClr val="FFFFFF"/>
                </a:solidFill>
                <a:latin typeface="Calibri" pitchFamily="34" charset="0"/>
                <a:ea typeface="Calibri" pitchFamily="34" charset="-122"/>
                <a:cs typeface="Calibri" pitchFamily="34" charset="-120"/>
              </a:rPr>
              <a:t>Il existe un conflit d’intérêts lorsqu’un élu détient un intérêt personnel, familial, professionnel ou financier susceptible d’influencer, ou de paraître influencer, l’exercice impartial de ses fonctions.</a:t>
            </a:r>
            <a:endParaRPr lang="en-US" sz="1600" dirty="0"/>
          </a:p>
        </p:txBody>
      </p:sp>
      <p:sp>
        <p:nvSpPr>
          <p:cNvPr id="22" name="Shape 18"/>
          <p:cNvSpPr/>
          <p:nvPr/>
        </p:nvSpPr>
        <p:spPr>
          <a:xfrm>
            <a:off x="7086600" y="5349240"/>
            <a:ext cx="1005840" cy="365760"/>
          </a:xfrm>
          <a:prstGeom prst="roundRect">
            <a:avLst>
              <a:gd name="adj" fmla="val 50000"/>
            </a:avLst>
          </a:prstGeom>
          <a:solidFill>
            <a:srgbClr val="1F1A4D"/>
          </a:solidFill>
          <a:ln/>
        </p:spPr>
      </p:sp>
      <p:sp>
        <p:nvSpPr>
          <p:cNvPr id="23" name="Text 19"/>
          <p:cNvSpPr txBox="1"/>
          <p:nvPr/>
        </p:nvSpPr>
        <p:spPr>
          <a:xfrm>
            <a:off x="7086600" y="5349240"/>
            <a:ext cx="1005840" cy="365760"/>
          </a:xfrm>
          <a:prstGeom prst="rect">
            <a:avLst/>
          </a:prstGeom>
          <a:noFill/>
          <a:ln/>
        </p:spPr>
        <p:txBody>
          <a:bodyPr wrap="square" lIns="0" tIns="0" rIns="0" bIns="0" rtlCol="0" anchor="ctr"/>
          <a:lstStyle/>
          <a:p>
            <a:pPr algn="ctr" indent="0" marL="0">
              <a:buNone/>
            </a:pPr>
            <a:r>
              <a:rPr lang="en-US" sz="1050" b="1" dirty="0">
                <a:solidFill>
                  <a:srgbClr val="FFF9C7"/>
                </a:solidFill>
                <a:latin typeface="Calibri" pitchFamily="34" charset="0"/>
                <a:ea typeface="Calibri" pitchFamily="34" charset="-122"/>
                <a:cs typeface="Calibri" pitchFamily="34" charset="-120"/>
              </a:rPr>
              <a:t>personnel</a:t>
            </a:r>
            <a:endParaRPr lang="en-US" sz="1050" dirty="0"/>
          </a:p>
        </p:txBody>
      </p:sp>
      <p:sp>
        <p:nvSpPr>
          <p:cNvPr id="24" name="Shape 20"/>
          <p:cNvSpPr/>
          <p:nvPr/>
        </p:nvSpPr>
        <p:spPr>
          <a:xfrm>
            <a:off x="8183880" y="5349240"/>
            <a:ext cx="1005840" cy="365760"/>
          </a:xfrm>
          <a:prstGeom prst="roundRect">
            <a:avLst>
              <a:gd name="adj" fmla="val 50000"/>
            </a:avLst>
          </a:prstGeom>
          <a:solidFill>
            <a:srgbClr val="1F1A4D"/>
          </a:solidFill>
          <a:ln/>
        </p:spPr>
      </p:sp>
      <p:sp>
        <p:nvSpPr>
          <p:cNvPr id="25" name="Text 21"/>
          <p:cNvSpPr txBox="1"/>
          <p:nvPr/>
        </p:nvSpPr>
        <p:spPr>
          <a:xfrm>
            <a:off x="8183880" y="5349240"/>
            <a:ext cx="1005840" cy="365760"/>
          </a:xfrm>
          <a:prstGeom prst="rect">
            <a:avLst/>
          </a:prstGeom>
          <a:noFill/>
          <a:ln/>
        </p:spPr>
        <p:txBody>
          <a:bodyPr wrap="square" lIns="0" tIns="0" rIns="0" bIns="0" rtlCol="0" anchor="ctr"/>
          <a:lstStyle/>
          <a:p>
            <a:pPr algn="ctr" indent="0" marL="0">
              <a:buNone/>
            </a:pPr>
            <a:r>
              <a:rPr lang="en-US" sz="1050" b="1" dirty="0">
                <a:solidFill>
                  <a:srgbClr val="FFF9C7"/>
                </a:solidFill>
                <a:latin typeface="Calibri" pitchFamily="34" charset="0"/>
                <a:ea typeface="Calibri" pitchFamily="34" charset="-122"/>
                <a:cs typeface="Calibri" pitchFamily="34" charset="-120"/>
              </a:rPr>
              <a:t>familial</a:t>
            </a:r>
            <a:endParaRPr lang="en-US" sz="1050" dirty="0"/>
          </a:p>
        </p:txBody>
      </p:sp>
      <p:sp>
        <p:nvSpPr>
          <p:cNvPr id="26" name="Shape 22"/>
          <p:cNvSpPr/>
          <p:nvPr/>
        </p:nvSpPr>
        <p:spPr>
          <a:xfrm>
            <a:off x="9281160" y="5349240"/>
            <a:ext cx="1005840" cy="365760"/>
          </a:xfrm>
          <a:prstGeom prst="roundRect">
            <a:avLst>
              <a:gd name="adj" fmla="val 50000"/>
            </a:avLst>
          </a:prstGeom>
          <a:solidFill>
            <a:srgbClr val="1F1A4D"/>
          </a:solidFill>
          <a:ln/>
        </p:spPr>
      </p:sp>
      <p:sp>
        <p:nvSpPr>
          <p:cNvPr id="27" name="Text 23"/>
          <p:cNvSpPr txBox="1"/>
          <p:nvPr/>
        </p:nvSpPr>
        <p:spPr>
          <a:xfrm>
            <a:off x="9281160" y="5349240"/>
            <a:ext cx="1005840" cy="365760"/>
          </a:xfrm>
          <a:prstGeom prst="rect">
            <a:avLst/>
          </a:prstGeom>
          <a:noFill/>
          <a:ln/>
        </p:spPr>
        <p:txBody>
          <a:bodyPr wrap="square" lIns="0" tIns="0" rIns="0" bIns="0" rtlCol="0" anchor="ctr"/>
          <a:lstStyle/>
          <a:p>
            <a:pPr algn="ctr" indent="0" marL="0">
              <a:buNone/>
            </a:pPr>
            <a:r>
              <a:rPr lang="en-US" sz="1050" b="1" dirty="0">
                <a:solidFill>
                  <a:srgbClr val="FFF9C7"/>
                </a:solidFill>
                <a:latin typeface="Calibri" pitchFamily="34" charset="0"/>
                <a:ea typeface="Calibri" pitchFamily="34" charset="-122"/>
                <a:cs typeface="Calibri" pitchFamily="34" charset="-120"/>
              </a:rPr>
              <a:t>professionnel</a:t>
            </a:r>
            <a:endParaRPr lang="en-US" sz="1050" dirty="0"/>
          </a:p>
        </p:txBody>
      </p:sp>
      <p:sp>
        <p:nvSpPr>
          <p:cNvPr id="28" name="Shape 24"/>
          <p:cNvSpPr/>
          <p:nvPr/>
        </p:nvSpPr>
        <p:spPr>
          <a:xfrm>
            <a:off x="10378440" y="5349240"/>
            <a:ext cx="1005840" cy="365760"/>
          </a:xfrm>
          <a:prstGeom prst="roundRect">
            <a:avLst>
              <a:gd name="adj" fmla="val 50000"/>
            </a:avLst>
          </a:prstGeom>
          <a:solidFill>
            <a:srgbClr val="1F1A4D"/>
          </a:solidFill>
          <a:ln/>
        </p:spPr>
      </p:sp>
      <p:sp>
        <p:nvSpPr>
          <p:cNvPr id="29" name="Text 25"/>
          <p:cNvSpPr txBox="1"/>
          <p:nvPr/>
        </p:nvSpPr>
        <p:spPr>
          <a:xfrm>
            <a:off x="10378440" y="5349240"/>
            <a:ext cx="1005840" cy="365760"/>
          </a:xfrm>
          <a:prstGeom prst="rect">
            <a:avLst/>
          </a:prstGeom>
          <a:noFill/>
          <a:ln/>
        </p:spPr>
        <p:txBody>
          <a:bodyPr wrap="square" lIns="0" tIns="0" rIns="0" bIns="0" rtlCol="0" anchor="ctr"/>
          <a:lstStyle/>
          <a:p>
            <a:pPr algn="ctr" indent="0" marL="0">
              <a:buNone/>
            </a:pPr>
            <a:r>
              <a:rPr lang="en-US" sz="1050" b="1" dirty="0">
                <a:solidFill>
                  <a:srgbClr val="FFF9C7"/>
                </a:solidFill>
                <a:latin typeface="Calibri" pitchFamily="34" charset="0"/>
                <a:ea typeface="Calibri" pitchFamily="34" charset="-122"/>
                <a:cs typeface="Calibri" pitchFamily="34" charset="-120"/>
              </a:rPr>
              <a:t>financier</a:t>
            </a:r>
            <a:endParaRPr lang="en-US" sz="1050" dirty="0"/>
          </a:p>
        </p:txBody>
      </p:sp>
      <p:sp>
        <p:nvSpPr>
          <p:cNvPr id="30" name="Text 26"/>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spc="100" kern="0" dirty="0">
                <a:solidFill>
                  <a:srgbClr val="8A8699"/>
                </a:solidFill>
                <a:latin typeface="Calibri" pitchFamily="34" charset="0"/>
                <a:ea typeface="Calibri" pitchFamily="34" charset="-122"/>
                <a:cs typeface="Calibri" pitchFamily="34" charset="-120"/>
              </a:rPr>
              <a:t>ENMA FORMATION  ·  Formation des élus municipaux 2026</a:t>
            </a:r>
            <a:endParaRPr lang="en-US" sz="900" dirty="0"/>
          </a:p>
        </p:txBody>
      </p:sp>
      <p:sp>
        <p:nvSpPr>
          <p:cNvPr id="31" name="Text 27"/>
          <p:cNvSpPr txBox="1"/>
          <p:nvPr/>
        </p:nvSpPr>
        <p:spPr>
          <a:xfrm>
            <a:off x="9692640" y="6400800"/>
            <a:ext cx="548640" cy="274320"/>
          </a:xfrm>
          <a:prstGeom prst="rect">
            <a:avLst/>
          </a:prstGeom>
          <a:noFill/>
          <a:ln/>
        </p:spPr>
        <p:txBody>
          <a:bodyPr wrap="square" lIns="0" tIns="0" rIns="0" bIns="0" rtlCol="0" anchor="ctr"/>
          <a:lstStyle/>
          <a:p>
            <a:pPr algn="r" indent="0" marL="0">
              <a:buNone/>
            </a:pPr>
            <a:r>
              <a:rPr lang="en-US" sz="900" dirty="0">
                <a:solidFill>
                  <a:srgbClr val="8A8699"/>
                </a:solidFill>
                <a:latin typeface="Calibri" pitchFamily="34" charset="0"/>
                <a:ea typeface="Calibri" pitchFamily="34" charset="-122"/>
                <a:cs typeface="Calibri" pitchFamily="34" charset="-120"/>
              </a:rPr>
              <a:t>45</a:t>
            </a:r>
            <a:endParaRPr lang="en-US" sz="900" dirty="0"/>
          </a:p>
        </p:txBody>
      </p:sp>
      <p:pic>
        <p:nvPicPr>
          <p:cNvPr id="32" name="Image 2" descr="preencoded.png">    </p:cNvPr>
          <p:cNvPicPr>
            <a:picLocks noChangeAspect="1"/>
          </p:cNvPicPr>
          <p:nvPr/>
        </p:nvPicPr>
        <p:blipFill>
          <a:blip r:embed="rId3"/>
          <a:stretch>
            <a:fillRect/>
          </a:stretch>
        </p:blipFill>
        <p:spPr>
          <a:xfrm>
            <a:off x="10469880" y="6309360"/>
            <a:ext cx="1170432" cy="484632"/>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420624" cy="310896"/>
          </a:xfrm>
          <a:prstGeom prst="roundRect">
            <a:avLst>
              <a:gd name="adj" fmla="val 23529"/>
            </a:avLst>
          </a:prstGeom>
          <a:solidFill>
            <a:srgbClr val="0B032B"/>
          </a:solidFill>
          <a:ln/>
        </p:spPr>
      </p:sp>
      <p:sp>
        <p:nvSpPr>
          <p:cNvPr id="3" name="Text 1"/>
          <p:cNvSpPr txBox="1"/>
          <p:nvPr/>
        </p:nvSpPr>
        <p:spPr>
          <a:xfrm>
            <a:off x="548640" y="438912"/>
            <a:ext cx="420624" cy="310896"/>
          </a:xfrm>
          <a:prstGeom prst="rect">
            <a:avLst/>
          </a:prstGeom>
          <a:noFill/>
          <a:ln/>
        </p:spPr>
        <p:txBody>
          <a:bodyPr wrap="square" lIns="0" tIns="0" rIns="0" bIns="0" rtlCol="0" anchor="ctr"/>
          <a:lstStyle/>
          <a:p>
            <a:pPr algn="ctr" indent="0" marL="0">
              <a:buNone/>
            </a:pPr>
            <a:r>
              <a:rPr lang="en-US" sz="1100" b="1" dirty="0">
                <a:solidFill>
                  <a:srgbClr val="FFF9C7"/>
                </a:solidFill>
                <a:latin typeface="Calibri" pitchFamily="34" charset="0"/>
                <a:ea typeface="Calibri" pitchFamily="34" charset="-122"/>
                <a:cs typeface="Calibri" pitchFamily="34" charset="-120"/>
              </a:rPr>
              <a:t>06</a:t>
            </a:r>
            <a:endParaRPr lang="en-US" sz="1100" dirty="0"/>
          </a:p>
        </p:txBody>
      </p:sp>
      <p:sp>
        <p:nvSpPr>
          <p:cNvPr id="4" name="Text 2"/>
          <p:cNvSpPr txBox="1"/>
          <p:nvPr/>
        </p:nvSpPr>
        <p:spPr>
          <a:xfrm>
            <a:off x="1115568" y="438912"/>
            <a:ext cx="8229600" cy="310896"/>
          </a:xfrm>
          <a:prstGeom prst="rect">
            <a:avLst/>
          </a:prstGeom>
          <a:noFill/>
          <a:ln/>
        </p:spPr>
        <p:txBody>
          <a:bodyPr wrap="square" lIns="0" tIns="0" rIns="0" bIns="0" rtlCol="0" anchor="ctr"/>
          <a:lstStyle/>
          <a:p>
            <a:pPr indent="0" marL="0">
              <a:buNone/>
            </a:pPr>
            <a:r>
              <a:rPr lang="en-US" sz="1100" b="1" spc="200" kern="0" dirty="0">
                <a:solidFill>
                  <a:srgbClr val="55516E"/>
                </a:solidFill>
                <a:latin typeface="Calibri" pitchFamily="34" charset="0"/>
                <a:ea typeface="Calibri" pitchFamily="34" charset="-122"/>
                <a:cs typeface="Calibri" pitchFamily="34" charset="-120"/>
              </a:rPr>
              <a:t>L’EXEMPLARITÉ DES ÉLUS ET LA PRÉVENTION DES CONFLITS D’INTÉRÊTS</a:t>
            </a:r>
            <a:endParaRPr lang="en-US" sz="1100" dirty="0"/>
          </a:p>
        </p:txBody>
      </p:sp>
      <p:sp>
        <p:nvSpPr>
          <p:cNvPr id="5" name="Text 3"/>
          <p:cNvSpPr txBox="1"/>
          <p:nvPr/>
        </p:nvSpPr>
        <p:spPr>
          <a:xfrm>
            <a:off x="548640" y="841248"/>
            <a:ext cx="11064240" cy="685800"/>
          </a:xfrm>
          <a:prstGeom prst="rect">
            <a:avLst/>
          </a:prstGeom>
          <a:noFill/>
          <a:ln/>
        </p:spPr>
        <p:txBody>
          <a:bodyPr wrap="square" lIns="0" tIns="0" rIns="0" bIns="0" rtlCol="0" anchor="ctr">
            <a:normAutofit/>
          </a:bodyPr>
          <a:lstStyle/>
          <a:p>
            <a:pPr indent="0" marL="0">
              <a:buNone/>
            </a:pPr>
            <a:r>
              <a:rPr lang="en-US" sz="2600" b="1" dirty="0">
                <a:solidFill>
                  <a:srgbClr val="0B032B"/>
                </a:solidFill>
                <a:latin typeface="Calibri" pitchFamily="34" charset="0"/>
                <a:ea typeface="Calibri" pitchFamily="34" charset="-122"/>
                <a:cs typeface="Calibri" pitchFamily="34" charset="-120"/>
              </a:rPr>
              <a:t>Exemples et bons réflexes</a:t>
            </a:r>
            <a:endParaRPr lang="en-US" sz="2600" dirty="0"/>
          </a:p>
        </p:txBody>
      </p:sp>
      <p:sp>
        <p:nvSpPr>
          <p:cNvPr id="6" name="Text 4"/>
          <p:cNvSpPr txBox="1"/>
          <p:nvPr/>
        </p:nvSpPr>
        <p:spPr>
          <a:xfrm>
            <a:off x="548640" y="1783080"/>
            <a:ext cx="3657600" cy="274320"/>
          </a:xfrm>
          <a:prstGeom prst="rect">
            <a:avLst/>
          </a:prstGeom>
          <a:noFill/>
          <a:ln/>
        </p:spPr>
        <p:txBody>
          <a:bodyPr wrap="square" lIns="0" tIns="0" rIns="0" bIns="0" rtlCol="0" anchor="t"/>
          <a:lstStyle/>
          <a:p>
            <a:pPr indent="0" marL="0">
              <a:buNone/>
            </a:pPr>
            <a:r>
              <a:rPr lang="en-US" sz="1200" b="1" spc="300" kern="0" dirty="0">
                <a:solidFill>
                  <a:srgbClr val="55516E"/>
                </a:solidFill>
                <a:latin typeface="Calibri" pitchFamily="34" charset="0"/>
                <a:ea typeface="Calibri" pitchFamily="34" charset="-122"/>
                <a:cs typeface="Calibri" pitchFamily="34" charset="-120"/>
              </a:rPr>
              <a:t>EXEMPLES</a:t>
            </a:r>
            <a:endParaRPr lang="en-US" sz="1200" dirty="0"/>
          </a:p>
        </p:txBody>
      </p:sp>
      <p:sp>
        <p:nvSpPr>
          <p:cNvPr id="7" name="Shape 5"/>
          <p:cNvSpPr/>
          <p:nvPr/>
        </p:nvSpPr>
        <p:spPr>
          <a:xfrm>
            <a:off x="548640" y="2148840"/>
            <a:ext cx="5486400" cy="749808"/>
          </a:xfrm>
          <a:prstGeom prst="roundRect">
            <a:avLst>
              <a:gd name="adj" fmla="val 14634"/>
            </a:avLst>
          </a:prstGeom>
          <a:solidFill>
            <a:srgbClr val="FDE6DF"/>
          </a:solidFill>
          <a:ln/>
        </p:spPr>
      </p:sp>
      <p:pic>
        <p:nvPicPr>
          <p:cNvPr id="8" name="Image 0" descr="preencoded.png">    </p:cNvPr>
          <p:cNvPicPr>
            <a:picLocks noChangeAspect="1"/>
          </p:cNvPicPr>
          <p:nvPr/>
        </p:nvPicPr>
        <p:blipFill>
          <a:blip r:embed="rId1"/>
          <a:stretch>
            <a:fillRect/>
          </a:stretch>
        </p:blipFill>
        <p:spPr>
          <a:xfrm>
            <a:off x="731520" y="2322576"/>
            <a:ext cx="402336" cy="402336"/>
          </a:xfrm>
          <a:prstGeom prst="rect">
            <a:avLst/>
          </a:prstGeom>
        </p:spPr>
      </p:pic>
      <p:sp>
        <p:nvSpPr>
          <p:cNvPr id="9" name="Text 6"/>
          <p:cNvSpPr txBox="1"/>
          <p:nvPr/>
        </p:nvSpPr>
        <p:spPr>
          <a:xfrm>
            <a:off x="1325880" y="2148840"/>
            <a:ext cx="4572000" cy="749808"/>
          </a:xfrm>
          <a:prstGeom prst="rect">
            <a:avLst/>
          </a:prstGeom>
          <a:noFill/>
          <a:ln/>
        </p:spPr>
        <p:txBody>
          <a:bodyPr wrap="square" lIns="0" tIns="0" rIns="0" bIns="0" rtlCol="0" anchor="ctr"/>
          <a:lstStyle/>
          <a:p>
            <a:pPr indent="0" marL="0">
              <a:buNone/>
            </a:pPr>
            <a:r>
              <a:rPr lang="en-US" sz="1350" dirty="0">
                <a:solidFill>
                  <a:srgbClr val="0B032B"/>
                </a:solidFill>
                <a:latin typeface="Calibri" pitchFamily="34" charset="0"/>
                <a:ea typeface="Calibri" pitchFamily="34" charset="-122"/>
                <a:cs typeface="Calibri" pitchFamily="34" charset="-120"/>
              </a:rPr>
              <a:t>Participer au vote d’une délibération concernant une entreprise dont l’élu ou un proche est dirigeant.</a:t>
            </a:r>
            <a:endParaRPr lang="en-US" sz="1350" dirty="0"/>
          </a:p>
        </p:txBody>
      </p:sp>
      <p:sp>
        <p:nvSpPr>
          <p:cNvPr id="10" name="Shape 7"/>
          <p:cNvSpPr/>
          <p:nvPr/>
        </p:nvSpPr>
        <p:spPr>
          <a:xfrm>
            <a:off x="548640" y="3017520"/>
            <a:ext cx="5486400" cy="749808"/>
          </a:xfrm>
          <a:prstGeom prst="roundRect">
            <a:avLst>
              <a:gd name="adj" fmla="val 14634"/>
            </a:avLst>
          </a:prstGeom>
          <a:solidFill>
            <a:srgbClr val="FDE6DF"/>
          </a:solidFill>
          <a:ln/>
        </p:spPr>
      </p:sp>
      <p:pic>
        <p:nvPicPr>
          <p:cNvPr id="11" name="Image 1" descr="preencoded.png">    </p:cNvPr>
          <p:cNvPicPr>
            <a:picLocks noChangeAspect="1"/>
          </p:cNvPicPr>
          <p:nvPr/>
        </p:nvPicPr>
        <p:blipFill>
          <a:blip r:embed="rId2"/>
          <a:stretch>
            <a:fillRect/>
          </a:stretch>
        </p:blipFill>
        <p:spPr>
          <a:xfrm>
            <a:off x="731520" y="3191256"/>
            <a:ext cx="402336" cy="402336"/>
          </a:xfrm>
          <a:prstGeom prst="rect">
            <a:avLst/>
          </a:prstGeom>
        </p:spPr>
      </p:pic>
      <p:sp>
        <p:nvSpPr>
          <p:cNvPr id="12" name="Text 8"/>
          <p:cNvSpPr txBox="1"/>
          <p:nvPr/>
        </p:nvSpPr>
        <p:spPr>
          <a:xfrm>
            <a:off x="1325880" y="3017520"/>
            <a:ext cx="4572000" cy="749808"/>
          </a:xfrm>
          <a:prstGeom prst="rect">
            <a:avLst/>
          </a:prstGeom>
          <a:noFill/>
          <a:ln/>
        </p:spPr>
        <p:txBody>
          <a:bodyPr wrap="square" lIns="0" tIns="0" rIns="0" bIns="0" rtlCol="0" anchor="ctr"/>
          <a:lstStyle/>
          <a:p>
            <a:pPr indent="0" marL="0">
              <a:buNone/>
            </a:pPr>
            <a:r>
              <a:rPr lang="en-US" sz="1350" dirty="0">
                <a:solidFill>
                  <a:srgbClr val="0B032B"/>
                </a:solidFill>
                <a:latin typeface="Calibri" pitchFamily="34" charset="0"/>
                <a:ea typeface="Calibri" pitchFamily="34" charset="-122"/>
                <a:cs typeface="Calibri" pitchFamily="34" charset="-120"/>
              </a:rPr>
              <a:t>Prendre part à une décision relative à un terrain lui appartenant.</a:t>
            </a:r>
            <a:endParaRPr lang="en-US" sz="1350" dirty="0"/>
          </a:p>
        </p:txBody>
      </p:sp>
      <p:sp>
        <p:nvSpPr>
          <p:cNvPr id="13" name="Shape 9"/>
          <p:cNvSpPr/>
          <p:nvPr/>
        </p:nvSpPr>
        <p:spPr>
          <a:xfrm>
            <a:off x="548640" y="3886200"/>
            <a:ext cx="5486400" cy="749808"/>
          </a:xfrm>
          <a:prstGeom prst="roundRect">
            <a:avLst>
              <a:gd name="adj" fmla="val 14634"/>
            </a:avLst>
          </a:prstGeom>
          <a:solidFill>
            <a:srgbClr val="FDE6DF"/>
          </a:solidFill>
          <a:ln/>
        </p:spPr>
      </p:sp>
      <p:pic>
        <p:nvPicPr>
          <p:cNvPr id="14" name="Image 2" descr="preencoded.png">    </p:cNvPr>
          <p:cNvPicPr>
            <a:picLocks noChangeAspect="1"/>
          </p:cNvPicPr>
          <p:nvPr/>
        </p:nvPicPr>
        <p:blipFill>
          <a:blip r:embed="rId3"/>
          <a:stretch>
            <a:fillRect/>
          </a:stretch>
        </p:blipFill>
        <p:spPr>
          <a:xfrm>
            <a:off x="731520" y="4059936"/>
            <a:ext cx="402336" cy="402336"/>
          </a:xfrm>
          <a:prstGeom prst="rect">
            <a:avLst/>
          </a:prstGeom>
        </p:spPr>
      </p:pic>
      <p:sp>
        <p:nvSpPr>
          <p:cNvPr id="15" name="Text 10"/>
          <p:cNvSpPr txBox="1"/>
          <p:nvPr/>
        </p:nvSpPr>
        <p:spPr>
          <a:xfrm>
            <a:off x="1325880" y="3886200"/>
            <a:ext cx="4572000" cy="749808"/>
          </a:xfrm>
          <a:prstGeom prst="rect">
            <a:avLst/>
          </a:prstGeom>
          <a:noFill/>
          <a:ln/>
        </p:spPr>
        <p:txBody>
          <a:bodyPr wrap="square" lIns="0" tIns="0" rIns="0" bIns="0" rtlCol="0" anchor="ctr"/>
          <a:lstStyle/>
          <a:p>
            <a:pPr indent="0" marL="0">
              <a:buNone/>
            </a:pPr>
            <a:r>
              <a:rPr lang="en-US" sz="1350" dirty="0">
                <a:solidFill>
                  <a:srgbClr val="0B032B"/>
                </a:solidFill>
                <a:latin typeface="Calibri" pitchFamily="34" charset="0"/>
                <a:ea typeface="Calibri" pitchFamily="34" charset="-122"/>
                <a:cs typeface="Calibri" pitchFamily="34" charset="-120"/>
              </a:rPr>
              <a:t>Intervenir dans un recrutement concernant un membre de sa famille.</a:t>
            </a:r>
            <a:endParaRPr lang="en-US" sz="1350" dirty="0"/>
          </a:p>
        </p:txBody>
      </p:sp>
      <p:sp>
        <p:nvSpPr>
          <p:cNvPr id="16" name="Shape 11"/>
          <p:cNvSpPr/>
          <p:nvPr/>
        </p:nvSpPr>
        <p:spPr>
          <a:xfrm>
            <a:off x="6355080" y="1783080"/>
            <a:ext cx="5285232" cy="2834640"/>
          </a:xfrm>
          <a:prstGeom prst="roundRect">
            <a:avLst>
              <a:gd name="adj" fmla="val 3871"/>
            </a:avLst>
          </a:prstGeom>
          <a:solidFill>
            <a:srgbClr val="F3F2F8"/>
          </a:solidFill>
          <a:ln/>
        </p:spPr>
      </p:sp>
      <p:pic>
        <p:nvPicPr>
          <p:cNvPr id="17" name="Image 3" descr="preencoded.png">    </p:cNvPr>
          <p:cNvPicPr>
            <a:picLocks noChangeAspect="1"/>
          </p:cNvPicPr>
          <p:nvPr/>
        </p:nvPicPr>
        <p:blipFill>
          <a:blip r:embed="rId4"/>
          <a:stretch>
            <a:fillRect/>
          </a:stretch>
        </p:blipFill>
        <p:spPr>
          <a:xfrm>
            <a:off x="7223760" y="1920240"/>
            <a:ext cx="3566160" cy="2292531"/>
          </a:xfrm>
          <a:prstGeom prst="rect">
            <a:avLst/>
          </a:prstGeom>
        </p:spPr>
      </p:pic>
      <p:sp>
        <p:nvSpPr>
          <p:cNvPr id="18" name="Text 12"/>
          <p:cNvSpPr txBox="1"/>
          <p:nvPr/>
        </p:nvSpPr>
        <p:spPr>
          <a:xfrm>
            <a:off x="6583680" y="4224528"/>
            <a:ext cx="4846320" cy="365760"/>
          </a:xfrm>
          <a:prstGeom prst="rect">
            <a:avLst/>
          </a:prstGeom>
          <a:noFill/>
          <a:ln/>
        </p:spPr>
        <p:txBody>
          <a:bodyPr wrap="square" lIns="0" tIns="0" rIns="0" bIns="0" rtlCol="0" anchor="t"/>
          <a:lstStyle/>
          <a:p>
            <a:pPr algn="ctr" indent="0" marL="0">
              <a:buNone/>
            </a:pPr>
            <a:r>
              <a:rPr lang="en-US" sz="1200" i="1" dirty="0">
                <a:solidFill>
                  <a:srgbClr val="55516E"/>
                </a:solidFill>
                <a:latin typeface="Calibri" pitchFamily="34" charset="0"/>
                <a:ea typeface="Calibri" pitchFamily="34" charset="-122"/>
                <a:cs typeface="Calibri" pitchFamily="34" charset="-120"/>
              </a:rPr>
              <a:t>Se déporter : ne pas siéger au moment du débat et du vote.</a:t>
            </a:r>
            <a:endParaRPr lang="en-US" sz="1200" dirty="0"/>
          </a:p>
        </p:txBody>
      </p:sp>
      <p:sp>
        <p:nvSpPr>
          <p:cNvPr id="19" name="Text 13"/>
          <p:cNvSpPr txBox="1"/>
          <p:nvPr/>
        </p:nvSpPr>
        <p:spPr>
          <a:xfrm>
            <a:off x="548640" y="4846320"/>
            <a:ext cx="3657600" cy="274320"/>
          </a:xfrm>
          <a:prstGeom prst="rect">
            <a:avLst/>
          </a:prstGeom>
          <a:noFill/>
          <a:ln/>
        </p:spPr>
        <p:txBody>
          <a:bodyPr wrap="square" lIns="0" tIns="0" rIns="0" bIns="0" rtlCol="0" anchor="t"/>
          <a:lstStyle/>
          <a:p>
            <a:pPr indent="0" marL="0">
              <a:buNone/>
            </a:pPr>
            <a:r>
              <a:rPr lang="en-US" sz="1200" b="1" spc="300" kern="0" dirty="0">
                <a:solidFill>
                  <a:srgbClr val="55516E"/>
                </a:solidFill>
                <a:latin typeface="Calibri" pitchFamily="34" charset="0"/>
                <a:ea typeface="Calibri" pitchFamily="34" charset="-122"/>
                <a:cs typeface="Calibri" pitchFamily="34" charset="-120"/>
              </a:rPr>
              <a:t>LES BONS RÉFLEXES</a:t>
            </a:r>
            <a:endParaRPr lang="en-US" sz="1200" dirty="0"/>
          </a:p>
        </p:txBody>
      </p:sp>
      <p:sp>
        <p:nvSpPr>
          <p:cNvPr id="20" name="Shape 14"/>
          <p:cNvSpPr/>
          <p:nvPr/>
        </p:nvSpPr>
        <p:spPr>
          <a:xfrm>
            <a:off x="548640" y="5166360"/>
            <a:ext cx="3474720" cy="1051560"/>
          </a:xfrm>
          <a:prstGeom prst="roundRect">
            <a:avLst>
              <a:gd name="adj" fmla="val 10435"/>
            </a:avLst>
          </a:prstGeom>
          <a:solidFill>
            <a:srgbClr val="0B032B"/>
          </a:solidFill>
          <a:ln/>
        </p:spPr>
      </p:sp>
      <p:sp>
        <p:nvSpPr>
          <p:cNvPr id="21" name="Text 15"/>
          <p:cNvSpPr txBox="1"/>
          <p:nvPr/>
        </p:nvSpPr>
        <p:spPr>
          <a:xfrm>
            <a:off x="685800" y="5257800"/>
            <a:ext cx="457200" cy="868680"/>
          </a:xfrm>
          <a:prstGeom prst="rect">
            <a:avLst/>
          </a:prstGeom>
          <a:noFill/>
          <a:ln/>
        </p:spPr>
        <p:txBody>
          <a:bodyPr wrap="square" lIns="0" tIns="0" rIns="0" bIns="0" rtlCol="0" anchor="ctr"/>
          <a:lstStyle/>
          <a:p>
            <a:pPr indent="0" marL="0">
              <a:buNone/>
            </a:pPr>
            <a:r>
              <a:rPr lang="en-US" sz="3000" dirty="0">
                <a:solidFill>
                  <a:srgbClr val="FFF9C7"/>
                </a:solidFill>
                <a:latin typeface="Impact" pitchFamily="34" charset="0"/>
                <a:ea typeface="Impact" pitchFamily="34" charset="-122"/>
                <a:cs typeface="Impact" pitchFamily="34" charset="-120"/>
              </a:rPr>
              <a:t>1</a:t>
            </a:r>
            <a:endParaRPr lang="en-US" sz="3000" dirty="0"/>
          </a:p>
        </p:txBody>
      </p:sp>
      <p:sp>
        <p:nvSpPr>
          <p:cNvPr id="22" name="Text 16"/>
          <p:cNvSpPr txBox="1"/>
          <p:nvPr/>
        </p:nvSpPr>
        <p:spPr>
          <a:xfrm>
            <a:off x="1188720" y="5212080"/>
            <a:ext cx="2743200" cy="960120"/>
          </a:xfrm>
          <a:prstGeom prst="rect">
            <a:avLst/>
          </a:prstGeom>
          <a:noFill/>
          <a:ln/>
        </p:spPr>
        <p:txBody>
          <a:bodyPr wrap="square" lIns="0" tIns="0" rIns="0" bIns="0" rtlCol="0" anchor="ctr">
            <a:normAutofit/>
          </a:bodyPr>
          <a:lstStyle/>
          <a:p>
            <a:pPr indent="0" marL="0">
              <a:buNone/>
            </a:pPr>
            <a:r>
              <a:rPr lang="en-US" sz="1150" b="1" dirty="0">
                <a:solidFill>
                  <a:srgbClr val="FFF9C7"/>
                </a:solidFill>
                <a:latin typeface="Calibri" pitchFamily="34" charset="0"/>
                <a:ea typeface="Calibri" pitchFamily="34" charset="-122"/>
                <a:cs typeface="Calibri" pitchFamily="34" charset="-120"/>
              </a:rPr>
              <a:t>Déclarer : </a:t>
            </a:r>
            <a:pPr indent="0" marL="0">
              <a:buNone/>
            </a:pPr>
            <a:r>
              <a:rPr lang="en-US" sz="1150" dirty="0">
                <a:solidFill>
                  <a:srgbClr val="FFFFFF"/>
                </a:solidFill>
                <a:latin typeface="Calibri" pitchFamily="34" charset="0"/>
                <a:ea typeface="Calibri" pitchFamily="34" charset="-122"/>
                <a:cs typeface="Calibri" pitchFamily="34" charset="-120"/>
              </a:rPr>
              <a:t>toute situation pouvant créer un conflit d’intérêts.</a:t>
            </a:r>
            <a:endParaRPr lang="en-US" sz="1150" dirty="0"/>
          </a:p>
        </p:txBody>
      </p:sp>
      <p:sp>
        <p:nvSpPr>
          <p:cNvPr id="23" name="Shape 17"/>
          <p:cNvSpPr/>
          <p:nvPr/>
        </p:nvSpPr>
        <p:spPr>
          <a:xfrm>
            <a:off x="4059936" y="5550408"/>
            <a:ext cx="182880" cy="292608"/>
          </a:xfrm>
          <a:prstGeom prst="chevron">
            <a:avLst/>
          </a:prstGeom>
          <a:solidFill>
            <a:srgbClr val="0B032B"/>
          </a:solidFill>
          <a:ln/>
        </p:spPr>
      </p:sp>
      <p:sp>
        <p:nvSpPr>
          <p:cNvPr id="24" name="Shape 18"/>
          <p:cNvSpPr/>
          <p:nvPr/>
        </p:nvSpPr>
        <p:spPr>
          <a:xfrm>
            <a:off x="4297680" y="5166360"/>
            <a:ext cx="3474720" cy="1051560"/>
          </a:xfrm>
          <a:prstGeom prst="roundRect">
            <a:avLst>
              <a:gd name="adj" fmla="val 10435"/>
            </a:avLst>
          </a:prstGeom>
          <a:solidFill>
            <a:srgbClr val="0B032B"/>
          </a:solidFill>
          <a:ln/>
        </p:spPr>
      </p:sp>
      <p:sp>
        <p:nvSpPr>
          <p:cNvPr id="25" name="Text 19"/>
          <p:cNvSpPr txBox="1"/>
          <p:nvPr/>
        </p:nvSpPr>
        <p:spPr>
          <a:xfrm>
            <a:off x="4434840" y="5257800"/>
            <a:ext cx="457200" cy="868680"/>
          </a:xfrm>
          <a:prstGeom prst="rect">
            <a:avLst/>
          </a:prstGeom>
          <a:noFill/>
          <a:ln/>
        </p:spPr>
        <p:txBody>
          <a:bodyPr wrap="square" lIns="0" tIns="0" rIns="0" bIns="0" rtlCol="0" anchor="ctr"/>
          <a:lstStyle/>
          <a:p>
            <a:pPr indent="0" marL="0">
              <a:buNone/>
            </a:pPr>
            <a:r>
              <a:rPr lang="en-US" sz="3000" dirty="0">
                <a:solidFill>
                  <a:srgbClr val="FFF9C7"/>
                </a:solidFill>
                <a:latin typeface="Impact" pitchFamily="34" charset="0"/>
                <a:ea typeface="Impact" pitchFamily="34" charset="-122"/>
                <a:cs typeface="Impact" pitchFamily="34" charset="-120"/>
              </a:rPr>
              <a:t>2</a:t>
            </a:r>
            <a:endParaRPr lang="en-US" sz="3000" dirty="0"/>
          </a:p>
        </p:txBody>
      </p:sp>
      <p:sp>
        <p:nvSpPr>
          <p:cNvPr id="26" name="Text 20"/>
          <p:cNvSpPr txBox="1"/>
          <p:nvPr/>
        </p:nvSpPr>
        <p:spPr>
          <a:xfrm>
            <a:off x="4937760" y="5212080"/>
            <a:ext cx="2743200" cy="960120"/>
          </a:xfrm>
          <a:prstGeom prst="rect">
            <a:avLst/>
          </a:prstGeom>
          <a:noFill/>
          <a:ln/>
        </p:spPr>
        <p:txBody>
          <a:bodyPr wrap="square" lIns="0" tIns="0" rIns="0" bIns="0" rtlCol="0" anchor="ctr">
            <a:normAutofit/>
          </a:bodyPr>
          <a:lstStyle/>
          <a:p>
            <a:pPr indent="0" marL="0">
              <a:buNone/>
            </a:pPr>
            <a:r>
              <a:rPr lang="en-US" sz="1150" b="1" dirty="0">
                <a:solidFill>
                  <a:srgbClr val="FFF9C7"/>
                </a:solidFill>
                <a:latin typeface="Calibri" pitchFamily="34" charset="0"/>
                <a:ea typeface="Calibri" pitchFamily="34" charset="-122"/>
                <a:cs typeface="Calibri" pitchFamily="34" charset="-120"/>
              </a:rPr>
              <a:t>Se déporter : </a:t>
            </a:r>
            <a:pPr indent="0" marL="0">
              <a:buNone/>
            </a:pPr>
            <a:r>
              <a:rPr lang="en-US" sz="1150" dirty="0">
                <a:solidFill>
                  <a:srgbClr val="FFFFFF"/>
                </a:solidFill>
                <a:latin typeface="Calibri" pitchFamily="34" charset="0"/>
                <a:ea typeface="Calibri" pitchFamily="34" charset="-122"/>
                <a:cs typeface="Calibri" pitchFamily="34" charset="-120"/>
              </a:rPr>
              <a:t>ne pas participer aux débats, ni au vote lorsqu’un intérêt personnel est en jeu.</a:t>
            </a:r>
            <a:endParaRPr lang="en-US" sz="1150" dirty="0"/>
          </a:p>
        </p:txBody>
      </p:sp>
      <p:sp>
        <p:nvSpPr>
          <p:cNvPr id="27" name="Shape 21"/>
          <p:cNvSpPr/>
          <p:nvPr/>
        </p:nvSpPr>
        <p:spPr>
          <a:xfrm>
            <a:off x="7808976" y="5550408"/>
            <a:ext cx="182880" cy="292608"/>
          </a:xfrm>
          <a:prstGeom prst="chevron">
            <a:avLst/>
          </a:prstGeom>
          <a:solidFill>
            <a:srgbClr val="0B032B"/>
          </a:solidFill>
          <a:ln/>
        </p:spPr>
      </p:sp>
      <p:sp>
        <p:nvSpPr>
          <p:cNvPr id="28" name="Shape 22"/>
          <p:cNvSpPr/>
          <p:nvPr/>
        </p:nvSpPr>
        <p:spPr>
          <a:xfrm>
            <a:off x="8046720" y="5166360"/>
            <a:ext cx="3474720" cy="1051560"/>
          </a:xfrm>
          <a:prstGeom prst="roundRect">
            <a:avLst>
              <a:gd name="adj" fmla="val 10435"/>
            </a:avLst>
          </a:prstGeom>
          <a:solidFill>
            <a:srgbClr val="0B032B"/>
          </a:solidFill>
          <a:ln/>
        </p:spPr>
      </p:sp>
      <p:sp>
        <p:nvSpPr>
          <p:cNvPr id="29" name="Text 23"/>
          <p:cNvSpPr txBox="1"/>
          <p:nvPr/>
        </p:nvSpPr>
        <p:spPr>
          <a:xfrm>
            <a:off x="8183880" y="5257800"/>
            <a:ext cx="457200" cy="868680"/>
          </a:xfrm>
          <a:prstGeom prst="rect">
            <a:avLst/>
          </a:prstGeom>
          <a:noFill/>
          <a:ln/>
        </p:spPr>
        <p:txBody>
          <a:bodyPr wrap="square" lIns="0" tIns="0" rIns="0" bIns="0" rtlCol="0" anchor="ctr"/>
          <a:lstStyle/>
          <a:p>
            <a:pPr indent="0" marL="0">
              <a:buNone/>
            </a:pPr>
            <a:r>
              <a:rPr lang="en-US" sz="3000" dirty="0">
                <a:solidFill>
                  <a:srgbClr val="FFF9C7"/>
                </a:solidFill>
                <a:latin typeface="Impact" pitchFamily="34" charset="0"/>
                <a:ea typeface="Impact" pitchFamily="34" charset="-122"/>
                <a:cs typeface="Impact" pitchFamily="34" charset="-120"/>
              </a:rPr>
              <a:t>3</a:t>
            </a:r>
            <a:endParaRPr lang="en-US" sz="3000" dirty="0"/>
          </a:p>
        </p:txBody>
      </p:sp>
      <p:sp>
        <p:nvSpPr>
          <p:cNvPr id="30" name="Text 24"/>
          <p:cNvSpPr txBox="1"/>
          <p:nvPr/>
        </p:nvSpPr>
        <p:spPr>
          <a:xfrm>
            <a:off x="8686800" y="5212080"/>
            <a:ext cx="2743200" cy="960120"/>
          </a:xfrm>
          <a:prstGeom prst="rect">
            <a:avLst/>
          </a:prstGeom>
          <a:noFill/>
          <a:ln/>
        </p:spPr>
        <p:txBody>
          <a:bodyPr wrap="square" lIns="0" tIns="0" rIns="0" bIns="0" rtlCol="0" anchor="ctr">
            <a:normAutofit/>
          </a:bodyPr>
          <a:lstStyle/>
          <a:p>
            <a:pPr indent="0" marL="0">
              <a:buNone/>
            </a:pPr>
            <a:r>
              <a:rPr lang="en-US" sz="1150" b="1" dirty="0">
                <a:solidFill>
                  <a:srgbClr val="FFF9C7"/>
                </a:solidFill>
                <a:latin typeface="Calibri" pitchFamily="34" charset="0"/>
                <a:ea typeface="Calibri" pitchFamily="34" charset="-122"/>
                <a:cs typeface="Calibri" pitchFamily="34" charset="-120"/>
              </a:rPr>
              <a:t>Demander conseil : </a:t>
            </a:r>
            <a:pPr indent="0" marL="0">
              <a:buNone/>
            </a:pPr>
            <a:r>
              <a:rPr lang="en-US" sz="1150" dirty="0">
                <a:solidFill>
                  <a:srgbClr val="FFFFFF"/>
                </a:solidFill>
                <a:latin typeface="Calibri" pitchFamily="34" charset="0"/>
                <a:ea typeface="Calibri" pitchFamily="34" charset="-122"/>
                <a:cs typeface="Calibri" pitchFamily="34" charset="-120"/>
              </a:rPr>
              <a:t>au secrétaire général de mairie, au centre de gestion ou au contrôle de légalité de la préfecture en cas de doute.</a:t>
            </a:r>
            <a:endParaRPr lang="en-US" sz="1150" dirty="0"/>
          </a:p>
        </p:txBody>
      </p:sp>
      <p:sp>
        <p:nvSpPr>
          <p:cNvPr id="31" name="Text 25"/>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spc="100" kern="0" dirty="0">
                <a:solidFill>
                  <a:srgbClr val="8A8699"/>
                </a:solidFill>
                <a:latin typeface="Calibri" pitchFamily="34" charset="0"/>
                <a:ea typeface="Calibri" pitchFamily="34" charset="-122"/>
                <a:cs typeface="Calibri" pitchFamily="34" charset="-120"/>
              </a:rPr>
              <a:t>ENMA FORMATION  ·  Formation des élus municipaux 2026</a:t>
            </a:r>
            <a:endParaRPr lang="en-US" sz="900" dirty="0"/>
          </a:p>
        </p:txBody>
      </p:sp>
      <p:sp>
        <p:nvSpPr>
          <p:cNvPr id="32" name="Text 26"/>
          <p:cNvSpPr txBox="1"/>
          <p:nvPr/>
        </p:nvSpPr>
        <p:spPr>
          <a:xfrm>
            <a:off x="9692640" y="6400800"/>
            <a:ext cx="548640" cy="274320"/>
          </a:xfrm>
          <a:prstGeom prst="rect">
            <a:avLst/>
          </a:prstGeom>
          <a:noFill/>
          <a:ln/>
        </p:spPr>
        <p:txBody>
          <a:bodyPr wrap="square" lIns="0" tIns="0" rIns="0" bIns="0" rtlCol="0" anchor="ctr"/>
          <a:lstStyle/>
          <a:p>
            <a:pPr algn="r" indent="0" marL="0">
              <a:buNone/>
            </a:pPr>
            <a:r>
              <a:rPr lang="en-US" sz="900" dirty="0">
                <a:solidFill>
                  <a:srgbClr val="8A8699"/>
                </a:solidFill>
                <a:latin typeface="Calibri" pitchFamily="34" charset="0"/>
                <a:ea typeface="Calibri" pitchFamily="34" charset="-122"/>
                <a:cs typeface="Calibri" pitchFamily="34" charset="-120"/>
              </a:rPr>
              <a:t>46</a:t>
            </a:r>
            <a:endParaRPr lang="en-US" sz="900" dirty="0"/>
          </a:p>
        </p:txBody>
      </p:sp>
      <p:pic>
        <p:nvPicPr>
          <p:cNvPr id="33" name="Image 4" descr="preencoded.png">    </p:cNvPr>
          <p:cNvPicPr>
            <a:picLocks noChangeAspect="1"/>
          </p:cNvPicPr>
          <p:nvPr/>
        </p:nvPicPr>
        <p:blipFill>
          <a:blip r:embed="rId5"/>
          <a:stretch>
            <a:fillRect/>
          </a:stretch>
        </p:blipFill>
        <p:spPr>
          <a:xfrm>
            <a:off x="10469880" y="6309360"/>
            <a:ext cx="1170432" cy="484632"/>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420624" cy="310896"/>
          </a:xfrm>
          <a:prstGeom prst="roundRect">
            <a:avLst>
              <a:gd name="adj" fmla="val 23529"/>
            </a:avLst>
          </a:prstGeom>
          <a:solidFill>
            <a:srgbClr val="0B032B"/>
          </a:solidFill>
          <a:ln/>
        </p:spPr>
      </p:sp>
      <p:sp>
        <p:nvSpPr>
          <p:cNvPr id="3" name="Text 1"/>
          <p:cNvSpPr txBox="1"/>
          <p:nvPr/>
        </p:nvSpPr>
        <p:spPr>
          <a:xfrm>
            <a:off x="548640" y="438912"/>
            <a:ext cx="420624" cy="310896"/>
          </a:xfrm>
          <a:prstGeom prst="rect">
            <a:avLst/>
          </a:prstGeom>
          <a:noFill/>
          <a:ln/>
        </p:spPr>
        <p:txBody>
          <a:bodyPr wrap="square" lIns="0" tIns="0" rIns="0" bIns="0" rtlCol="0" anchor="ctr"/>
          <a:lstStyle/>
          <a:p>
            <a:pPr algn="ctr" indent="0" marL="0">
              <a:buNone/>
            </a:pPr>
            <a:r>
              <a:rPr lang="en-US" sz="1100" b="1" dirty="0">
                <a:solidFill>
                  <a:srgbClr val="FFF9C7"/>
                </a:solidFill>
                <a:latin typeface="Calibri" pitchFamily="34" charset="0"/>
                <a:ea typeface="Calibri" pitchFamily="34" charset="-122"/>
                <a:cs typeface="Calibri" pitchFamily="34" charset="-120"/>
              </a:rPr>
              <a:t>06</a:t>
            </a:r>
            <a:endParaRPr lang="en-US" sz="1100" dirty="0"/>
          </a:p>
        </p:txBody>
      </p:sp>
      <p:sp>
        <p:nvSpPr>
          <p:cNvPr id="4" name="Text 2"/>
          <p:cNvSpPr txBox="1"/>
          <p:nvPr/>
        </p:nvSpPr>
        <p:spPr>
          <a:xfrm>
            <a:off x="1115568" y="438912"/>
            <a:ext cx="8229600" cy="310896"/>
          </a:xfrm>
          <a:prstGeom prst="rect">
            <a:avLst/>
          </a:prstGeom>
          <a:noFill/>
          <a:ln/>
        </p:spPr>
        <p:txBody>
          <a:bodyPr wrap="square" lIns="0" tIns="0" rIns="0" bIns="0" rtlCol="0" anchor="ctr"/>
          <a:lstStyle/>
          <a:p>
            <a:pPr indent="0" marL="0">
              <a:buNone/>
            </a:pPr>
            <a:r>
              <a:rPr lang="en-US" sz="1100" b="1" spc="200" kern="0" dirty="0">
                <a:solidFill>
                  <a:srgbClr val="55516E"/>
                </a:solidFill>
                <a:latin typeface="Calibri" pitchFamily="34" charset="0"/>
                <a:ea typeface="Calibri" pitchFamily="34" charset="-122"/>
                <a:cs typeface="Calibri" pitchFamily="34" charset="-120"/>
              </a:rPr>
              <a:t>L’EXEMPLARITÉ DES ÉLUS ET LA PRÉVENTION DES CONFLITS D’INTÉRÊTS</a:t>
            </a:r>
            <a:endParaRPr lang="en-US" sz="1100" dirty="0"/>
          </a:p>
        </p:txBody>
      </p:sp>
      <p:sp>
        <p:nvSpPr>
          <p:cNvPr id="5" name="Text 3"/>
          <p:cNvSpPr txBox="1"/>
          <p:nvPr/>
        </p:nvSpPr>
        <p:spPr>
          <a:xfrm>
            <a:off x="548640" y="841248"/>
            <a:ext cx="11064240" cy="685800"/>
          </a:xfrm>
          <a:prstGeom prst="rect">
            <a:avLst/>
          </a:prstGeom>
          <a:noFill/>
          <a:ln/>
        </p:spPr>
        <p:txBody>
          <a:bodyPr wrap="square" lIns="0" tIns="0" rIns="0" bIns="0" rtlCol="0" anchor="ctr">
            <a:normAutofit/>
          </a:bodyPr>
          <a:lstStyle/>
          <a:p>
            <a:pPr indent="0" marL="0">
              <a:buNone/>
            </a:pPr>
            <a:r>
              <a:rPr lang="en-US" sz="2600" b="1" dirty="0">
                <a:solidFill>
                  <a:srgbClr val="0B032B"/>
                </a:solidFill>
                <a:latin typeface="Calibri" pitchFamily="34" charset="0"/>
                <a:ea typeface="Calibri" pitchFamily="34" charset="-122"/>
                <a:cs typeface="Calibri" pitchFamily="34" charset="-120"/>
              </a:rPr>
              <a:t>Les risques encourus</a:t>
            </a:r>
            <a:endParaRPr lang="en-US" sz="2600" dirty="0"/>
          </a:p>
        </p:txBody>
      </p:sp>
      <p:sp>
        <p:nvSpPr>
          <p:cNvPr id="6" name="Shape 4"/>
          <p:cNvSpPr/>
          <p:nvPr/>
        </p:nvSpPr>
        <p:spPr>
          <a:xfrm>
            <a:off x="548640" y="1783080"/>
            <a:ext cx="2606040" cy="2377440"/>
          </a:xfrm>
          <a:prstGeom prst="roundRect">
            <a:avLst>
              <a:gd name="adj" fmla="val 4615"/>
            </a:avLst>
          </a:prstGeom>
          <a:solidFill>
            <a:srgbClr val="F3F2F8"/>
          </a:solidFill>
          <a:ln/>
        </p:spPr>
      </p:sp>
      <p:sp>
        <p:nvSpPr>
          <p:cNvPr id="7" name="Shape 5"/>
          <p:cNvSpPr/>
          <p:nvPr/>
        </p:nvSpPr>
        <p:spPr>
          <a:xfrm>
            <a:off x="777240" y="2011680"/>
            <a:ext cx="731520" cy="731520"/>
          </a:xfrm>
          <a:prstGeom prst="ellipse">
            <a:avLst/>
          </a:prstGeom>
          <a:solidFill>
            <a:srgbClr val="FDE6DF"/>
          </a:solidFill>
          <a:ln/>
        </p:spPr>
      </p:sp>
      <p:pic>
        <p:nvPicPr>
          <p:cNvPr id="8" name="Image 0" descr="preencoded.png">    </p:cNvPr>
          <p:cNvPicPr>
            <a:picLocks noChangeAspect="1"/>
          </p:cNvPicPr>
          <p:nvPr/>
        </p:nvPicPr>
        <p:blipFill>
          <a:blip r:embed="rId1"/>
          <a:stretch>
            <a:fillRect/>
          </a:stretch>
        </p:blipFill>
        <p:spPr>
          <a:xfrm>
            <a:off x="941832" y="2176272"/>
            <a:ext cx="402336" cy="402336"/>
          </a:xfrm>
          <a:prstGeom prst="rect">
            <a:avLst/>
          </a:prstGeom>
        </p:spPr>
      </p:pic>
      <p:sp>
        <p:nvSpPr>
          <p:cNvPr id="9" name="Text 6"/>
          <p:cNvSpPr txBox="1"/>
          <p:nvPr/>
        </p:nvSpPr>
        <p:spPr>
          <a:xfrm>
            <a:off x="777240" y="2880360"/>
            <a:ext cx="2194560" cy="1188720"/>
          </a:xfrm>
          <a:prstGeom prst="rect">
            <a:avLst/>
          </a:prstGeom>
          <a:noFill/>
          <a:ln/>
        </p:spPr>
        <p:txBody>
          <a:bodyPr wrap="square" lIns="0" tIns="0" rIns="0" bIns="0" rtlCol="0" anchor="t"/>
          <a:lstStyle/>
          <a:p>
            <a:pPr indent="0" marL="0">
              <a:buNone/>
            </a:pPr>
            <a:r>
              <a:rPr lang="en-US" sz="1500" b="1" dirty="0">
                <a:solidFill>
                  <a:srgbClr val="0B032B"/>
                </a:solidFill>
                <a:latin typeface="Calibri" pitchFamily="34" charset="0"/>
                <a:ea typeface="Calibri" pitchFamily="34" charset="-122"/>
                <a:cs typeface="Calibri" pitchFamily="34" charset="-120"/>
              </a:rPr>
              <a:t>Annulation de la décision prise.</a:t>
            </a:r>
            <a:endParaRPr lang="en-US" sz="1500" dirty="0"/>
          </a:p>
        </p:txBody>
      </p:sp>
      <p:sp>
        <p:nvSpPr>
          <p:cNvPr id="10" name="Shape 7"/>
          <p:cNvSpPr/>
          <p:nvPr/>
        </p:nvSpPr>
        <p:spPr>
          <a:xfrm>
            <a:off x="3355848" y="1783080"/>
            <a:ext cx="2606040" cy="2377440"/>
          </a:xfrm>
          <a:prstGeom prst="roundRect">
            <a:avLst>
              <a:gd name="adj" fmla="val 4615"/>
            </a:avLst>
          </a:prstGeom>
          <a:solidFill>
            <a:srgbClr val="F3F2F8"/>
          </a:solidFill>
          <a:ln/>
        </p:spPr>
      </p:sp>
      <p:sp>
        <p:nvSpPr>
          <p:cNvPr id="11" name="Shape 8"/>
          <p:cNvSpPr/>
          <p:nvPr/>
        </p:nvSpPr>
        <p:spPr>
          <a:xfrm>
            <a:off x="3584448" y="2011680"/>
            <a:ext cx="731520" cy="731520"/>
          </a:xfrm>
          <a:prstGeom prst="ellipse">
            <a:avLst/>
          </a:prstGeom>
          <a:solidFill>
            <a:srgbClr val="FDE6DF"/>
          </a:solidFill>
          <a:ln/>
        </p:spPr>
      </p:sp>
      <p:pic>
        <p:nvPicPr>
          <p:cNvPr id="12" name="Image 1" descr="preencoded.png">    </p:cNvPr>
          <p:cNvPicPr>
            <a:picLocks noChangeAspect="1"/>
          </p:cNvPicPr>
          <p:nvPr/>
        </p:nvPicPr>
        <p:blipFill>
          <a:blip r:embed="rId2"/>
          <a:stretch>
            <a:fillRect/>
          </a:stretch>
        </p:blipFill>
        <p:spPr>
          <a:xfrm>
            <a:off x="3749040" y="2176272"/>
            <a:ext cx="402336" cy="402336"/>
          </a:xfrm>
          <a:prstGeom prst="rect">
            <a:avLst/>
          </a:prstGeom>
        </p:spPr>
      </p:pic>
      <p:sp>
        <p:nvSpPr>
          <p:cNvPr id="13" name="Text 9"/>
          <p:cNvSpPr txBox="1"/>
          <p:nvPr/>
        </p:nvSpPr>
        <p:spPr>
          <a:xfrm>
            <a:off x="3584448" y="2880360"/>
            <a:ext cx="2194560" cy="1188720"/>
          </a:xfrm>
          <a:prstGeom prst="rect">
            <a:avLst/>
          </a:prstGeom>
          <a:noFill/>
          <a:ln/>
        </p:spPr>
        <p:txBody>
          <a:bodyPr wrap="square" lIns="0" tIns="0" rIns="0" bIns="0" rtlCol="0" anchor="t"/>
          <a:lstStyle/>
          <a:p>
            <a:pPr indent="0" marL="0">
              <a:buNone/>
            </a:pPr>
            <a:r>
              <a:rPr lang="en-US" sz="1500" b="1" dirty="0">
                <a:solidFill>
                  <a:srgbClr val="0B032B"/>
                </a:solidFill>
                <a:latin typeface="Calibri" pitchFamily="34" charset="0"/>
                <a:ea typeface="Calibri" pitchFamily="34" charset="-122"/>
                <a:cs typeface="Calibri" pitchFamily="34" charset="-120"/>
              </a:rPr>
              <a:t>Mise en cause de la responsabilité de l’élu.</a:t>
            </a:r>
            <a:endParaRPr lang="en-US" sz="1500" dirty="0"/>
          </a:p>
        </p:txBody>
      </p:sp>
      <p:sp>
        <p:nvSpPr>
          <p:cNvPr id="14" name="Shape 10"/>
          <p:cNvSpPr/>
          <p:nvPr/>
        </p:nvSpPr>
        <p:spPr>
          <a:xfrm>
            <a:off x="6163056" y="1783080"/>
            <a:ext cx="2606040" cy="2377440"/>
          </a:xfrm>
          <a:prstGeom prst="roundRect">
            <a:avLst>
              <a:gd name="adj" fmla="val 4615"/>
            </a:avLst>
          </a:prstGeom>
          <a:solidFill>
            <a:srgbClr val="0B032B"/>
          </a:solidFill>
          <a:ln/>
        </p:spPr>
      </p:sp>
      <p:sp>
        <p:nvSpPr>
          <p:cNvPr id="15" name="Shape 11"/>
          <p:cNvSpPr/>
          <p:nvPr/>
        </p:nvSpPr>
        <p:spPr>
          <a:xfrm>
            <a:off x="6391656" y="2011680"/>
            <a:ext cx="731520" cy="731520"/>
          </a:xfrm>
          <a:prstGeom prst="ellipse">
            <a:avLst/>
          </a:prstGeom>
          <a:solidFill>
            <a:srgbClr val="E4572E"/>
          </a:solidFill>
          <a:ln/>
        </p:spPr>
      </p:sp>
      <p:pic>
        <p:nvPicPr>
          <p:cNvPr id="16" name="Image 2" descr="preencoded.png">    </p:cNvPr>
          <p:cNvPicPr>
            <a:picLocks noChangeAspect="1"/>
          </p:cNvPicPr>
          <p:nvPr/>
        </p:nvPicPr>
        <p:blipFill>
          <a:blip r:embed="rId3"/>
          <a:stretch>
            <a:fillRect/>
          </a:stretch>
        </p:blipFill>
        <p:spPr>
          <a:xfrm>
            <a:off x="6556248" y="2176272"/>
            <a:ext cx="402336" cy="402336"/>
          </a:xfrm>
          <a:prstGeom prst="rect">
            <a:avLst/>
          </a:prstGeom>
        </p:spPr>
      </p:pic>
      <p:sp>
        <p:nvSpPr>
          <p:cNvPr id="17" name="Text 12"/>
          <p:cNvSpPr txBox="1"/>
          <p:nvPr/>
        </p:nvSpPr>
        <p:spPr>
          <a:xfrm>
            <a:off x="6391656" y="2880360"/>
            <a:ext cx="2194560" cy="118872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Sanctions pénales, notamment en cas de prise illégale d’intérêts.</a:t>
            </a:r>
            <a:endParaRPr lang="en-US" sz="1500" dirty="0"/>
          </a:p>
        </p:txBody>
      </p:sp>
      <p:sp>
        <p:nvSpPr>
          <p:cNvPr id="18" name="Shape 13"/>
          <p:cNvSpPr/>
          <p:nvPr/>
        </p:nvSpPr>
        <p:spPr>
          <a:xfrm>
            <a:off x="8970264" y="1783080"/>
            <a:ext cx="2606040" cy="2377440"/>
          </a:xfrm>
          <a:prstGeom prst="roundRect">
            <a:avLst>
              <a:gd name="adj" fmla="val 4615"/>
            </a:avLst>
          </a:prstGeom>
          <a:solidFill>
            <a:srgbClr val="F3F2F8"/>
          </a:solidFill>
          <a:ln/>
        </p:spPr>
      </p:sp>
      <p:sp>
        <p:nvSpPr>
          <p:cNvPr id="19" name="Shape 14"/>
          <p:cNvSpPr/>
          <p:nvPr/>
        </p:nvSpPr>
        <p:spPr>
          <a:xfrm>
            <a:off x="9198864" y="2011680"/>
            <a:ext cx="731520" cy="731520"/>
          </a:xfrm>
          <a:prstGeom prst="ellipse">
            <a:avLst/>
          </a:prstGeom>
          <a:solidFill>
            <a:srgbClr val="FDE6DF"/>
          </a:solidFill>
          <a:ln/>
        </p:spPr>
      </p:sp>
      <p:pic>
        <p:nvPicPr>
          <p:cNvPr id="20" name="Image 3" descr="preencoded.png">    </p:cNvPr>
          <p:cNvPicPr>
            <a:picLocks noChangeAspect="1"/>
          </p:cNvPicPr>
          <p:nvPr/>
        </p:nvPicPr>
        <p:blipFill>
          <a:blip r:embed="rId4"/>
          <a:stretch>
            <a:fillRect/>
          </a:stretch>
        </p:blipFill>
        <p:spPr>
          <a:xfrm>
            <a:off x="9363456" y="2176272"/>
            <a:ext cx="402336" cy="402336"/>
          </a:xfrm>
          <a:prstGeom prst="rect">
            <a:avLst/>
          </a:prstGeom>
        </p:spPr>
      </p:pic>
      <p:sp>
        <p:nvSpPr>
          <p:cNvPr id="21" name="Text 15"/>
          <p:cNvSpPr txBox="1"/>
          <p:nvPr/>
        </p:nvSpPr>
        <p:spPr>
          <a:xfrm>
            <a:off x="9198864" y="2880360"/>
            <a:ext cx="2194560" cy="1188720"/>
          </a:xfrm>
          <a:prstGeom prst="rect">
            <a:avLst/>
          </a:prstGeom>
          <a:noFill/>
          <a:ln/>
        </p:spPr>
        <p:txBody>
          <a:bodyPr wrap="square" lIns="0" tIns="0" rIns="0" bIns="0" rtlCol="0" anchor="t"/>
          <a:lstStyle/>
          <a:p>
            <a:pPr indent="0" marL="0">
              <a:buNone/>
            </a:pPr>
            <a:r>
              <a:rPr lang="en-US" sz="1500" b="1" dirty="0">
                <a:solidFill>
                  <a:srgbClr val="0B032B"/>
                </a:solidFill>
                <a:latin typeface="Calibri" pitchFamily="34" charset="0"/>
                <a:ea typeface="Calibri" pitchFamily="34" charset="-122"/>
                <a:cs typeface="Calibri" pitchFamily="34" charset="-120"/>
              </a:rPr>
              <a:t>Perte de la confiance des citoyens et atteinte à l’image de la collectivité.</a:t>
            </a:r>
            <a:endParaRPr lang="en-US" sz="1500" dirty="0"/>
          </a:p>
        </p:txBody>
      </p:sp>
      <p:sp>
        <p:nvSpPr>
          <p:cNvPr id="22" name="Shape 16"/>
          <p:cNvSpPr/>
          <p:nvPr/>
        </p:nvSpPr>
        <p:spPr>
          <a:xfrm>
            <a:off x="548640" y="4434840"/>
            <a:ext cx="11064240" cy="1691640"/>
          </a:xfrm>
          <a:prstGeom prst="roundRect">
            <a:avLst>
              <a:gd name="adj" fmla="val 7568"/>
            </a:avLst>
          </a:prstGeom>
          <a:solidFill>
            <a:srgbClr val="0B032B"/>
          </a:solidFill>
          <a:ln/>
        </p:spPr>
      </p:sp>
      <p:sp>
        <p:nvSpPr>
          <p:cNvPr id="23" name="Shape 17"/>
          <p:cNvSpPr/>
          <p:nvPr/>
        </p:nvSpPr>
        <p:spPr>
          <a:xfrm>
            <a:off x="804672" y="4690872"/>
            <a:ext cx="566928" cy="566928"/>
          </a:xfrm>
          <a:prstGeom prst="ellipse">
            <a:avLst/>
          </a:prstGeom>
          <a:solidFill>
            <a:srgbClr val="FFF9C7"/>
          </a:solidFill>
          <a:ln/>
        </p:spPr>
      </p:sp>
      <p:pic>
        <p:nvPicPr>
          <p:cNvPr id="24" name="Image 4" descr="preencoded.png">    </p:cNvPr>
          <p:cNvPicPr>
            <a:picLocks noChangeAspect="1"/>
          </p:cNvPicPr>
          <p:nvPr/>
        </p:nvPicPr>
        <p:blipFill>
          <a:blip r:embed="rId5"/>
          <a:stretch>
            <a:fillRect/>
          </a:stretch>
        </p:blipFill>
        <p:spPr>
          <a:xfrm>
            <a:off x="929396" y="4815596"/>
            <a:ext cx="317480" cy="317480"/>
          </a:xfrm>
          <a:prstGeom prst="rect">
            <a:avLst/>
          </a:prstGeom>
        </p:spPr>
      </p:pic>
      <p:sp>
        <p:nvSpPr>
          <p:cNvPr id="25" name="Text 18"/>
          <p:cNvSpPr txBox="1"/>
          <p:nvPr/>
        </p:nvSpPr>
        <p:spPr>
          <a:xfrm>
            <a:off x="1554480" y="4709160"/>
            <a:ext cx="9784080" cy="274320"/>
          </a:xfrm>
          <a:prstGeom prst="rect">
            <a:avLst/>
          </a:prstGeom>
          <a:noFill/>
          <a:ln/>
        </p:spPr>
        <p:txBody>
          <a:bodyPr wrap="square" lIns="0" tIns="0" rIns="0" bIns="0" rtlCol="0" anchor="t"/>
          <a:lstStyle/>
          <a:p>
            <a:pPr indent="0" marL="0">
              <a:buNone/>
            </a:pPr>
            <a:r>
              <a:rPr lang="en-US" sz="1100" b="1" spc="300" kern="0" dirty="0">
                <a:solidFill>
                  <a:srgbClr val="FFF9C7"/>
                </a:solidFill>
                <a:latin typeface="Calibri" pitchFamily="34" charset="0"/>
                <a:ea typeface="Calibri" pitchFamily="34" charset="-122"/>
                <a:cs typeface="Calibri" pitchFamily="34" charset="-120"/>
              </a:rPr>
              <a:t>À RETENIR</a:t>
            </a:r>
            <a:endParaRPr lang="en-US" sz="1100" dirty="0"/>
          </a:p>
        </p:txBody>
      </p:sp>
      <p:sp>
        <p:nvSpPr>
          <p:cNvPr id="26" name="Text 19"/>
          <p:cNvSpPr txBox="1"/>
          <p:nvPr/>
        </p:nvSpPr>
        <p:spPr>
          <a:xfrm>
            <a:off x="1554480" y="5020056"/>
            <a:ext cx="9784080" cy="905256"/>
          </a:xfrm>
          <a:prstGeom prst="rect">
            <a:avLst/>
          </a:prstGeom>
          <a:noFill/>
          <a:ln/>
        </p:spPr>
        <p:txBody>
          <a:bodyPr wrap="square" lIns="0" tIns="0" rIns="0" bIns="0" rtlCol="0" anchor="t">
            <a:normAutofit/>
          </a:bodyPr>
          <a:lstStyle/>
          <a:p>
            <a:pPr indent="0" marL="0">
              <a:lnSpc>
                <a:spcPct val="105000"/>
              </a:lnSpc>
              <a:buNone/>
            </a:pPr>
            <a:r>
              <a:rPr lang="en-US" sz="1600" dirty="0">
                <a:solidFill>
                  <a:srgbClr val="FFFFFF"/>
                </a:solidFill>
                <a:latin typeface="Calibri" pitchFamily="34" charset="0"/>
                <a:ea typeface="Calibri" pitchFamily="34" charset="-122"/>
                <a:cs typeface="Calibri" pitchFamily="34" charset="-120"/>
              </a:rPr>
              <a:t>L’exemplarité ne consiste pas seulement à respecter la loi, mais aussi à préserver la confiance des citoyens. En cas de doute sur un possible conflit d’intérêts, le bon réflexe est simple : s’abstenir de participer à la décision et solliciter un avis.</a:t>
            </a:r>
            <a:endParaRPr lang="en-US" sz="1600" dirty="0"/>
          </a:p>
        </p:txBody>
      </p:sp>
      <p:sp>
        <p:nvSpPr>
          <p:cNvPr id="27" name="Text 20"/>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spc="100" kern="0" dirty="0">
                <a:solidFill>
                  <a:srgbClr val="8A8699"/>
                </a:solidFill>
                <a:latin typeface="Calibri" pitchFamily="34" charset="0"/>
                <a:ea typeface="Calibri" pitchFamily="34" charset="-122"/>
                <a:cs typeface="Calibri" pitchFamily="34" charset="-120"/>
              </a:rPr>
              <a:t>ENMA FORMATION  ·  Formation des élus municipaux 2026</a:t>
            </a:r>
            <a:endParaRPr lang="en-US" sz="900" dirty="0"/>
          </a:p>
        </p:txBody>
      </p:sp>
      <p:sp>
        <p:nvSpPr>
          <p:cNvPr id="28" name="Text 21"/>
          <p:cNvSpPr txBox="1"/>
          <p:nvPr/>
        </p:nvSpPr>
        <p:spPr>
          <a:xfrm>
            <a:off x="9692640" y="6400800"/>
            <a:ext cx="548640" cy="274320"/>
          </a:xfrm>
          <a:prstGeom prst="rect">
            <a:avLst/>
          </a:prstGeom>
          <a:noFill/>
          <a:ln/>
        </p:spPr>
        <p:txBody>
          <a:bodyPr wrap="square" lIns="0" tIns="0" rIns="0" bIns="0" rtlCol="0" anchor="ctr"/>
          <a:lstStyle/>
          <a:p>
            <a:pPr algn="r" indent="0" marL="0">
              <a:buNone/>
            </a:pPr>
            <a:r>
              <a:rPr lang="en-US" sz="900" dirty="0">
                <a:solidFill>
                  <a:srgbClr val="8A8699"/>
                </a:solidFill>
                <a:latin typeface="Calibri" pitchFamily="34" charset="0"/>
                <a:ea typeface="Calibri" pitchFamily="34" charset="-122"/>
                <a:cs typeface="Calibri" pitchFamily="34" charset="-120"/>
              </a:rPr>
              <a:t>47</a:t>
            </a:r>
            <a:endParaRPr lang="en-US" sz="900" dirty="0"/>
          </a:p>
        </p:txBody>
      </p:sp>
      <p:pic>
        <p:nvPicPr>
          <p:cNvPr id="29" name="Image 5" descr="preencoded.png">    </p:cNvPr>
          <p:cNvPicPr>
            <a:picLocks noChangeAspect="1"/>
          </p:cNvPicPr>
          <p:nvPr/>
        </p:nvPicPr>
        <p:blipFill>
          <a:blip r:embed="rId6"/>
          <a:stretch>
            <a:fillRect/>
          </a:stretch>
        </p:blipFill>
        <p:spPr>
          <a:xfrm>
            <a:off x="10469880" y="6309360"/>
            <a:ext cx="1170432" cy="484632"/>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B032B"/>
        </a:solidFill>
      </p:bgPr>
    </p:bg>
    <p:spTree>
      <p:nvGrpSpPr>
        <p:cNvPr id="1" name=""/>
        <p:cNvGrpSpPr/>
        <p:nvPr/>
      </p:nvGrpSpPr>
      <p:grpSpPr>
        <a:xfrm>
          <a:off x="0" y="0"/>
          <a:ext cx="0" cy="0"/>
          <a:chOff x="0" y="0"/>
          <a:chExt cx="0" cy="0"/>
        </a:xfrm>
      </p:grpSpPr>
      <p:sp>
        <p:nvSpPr>
          <p:cNvPr id="2" name="Text 0"/>
          <p:cNvSpPr txBox="1"/>
          <p:nvPr/>
        </p:nvSpPr>
        <p:spPr>
          <a:xfrm>
            <a:off x="548640" y="640080"/>
            <a:ext cx="4114800" cy="2286000"/>
          </a:xfrm>
          <a:prstGeom prst="rect">
            <a:avLst/>
          </a:prstGeom>
          <a:noFill/>
          <a:ln/>
        </p:spPr>
        <p:txBody>
          <a:bodyPr wrap="square" lIns="0" tIns="0" rIns="0" bIns="0" rtlCol="0" anchor="b"/>
          <a:lstStyle/>
          <a:p>
            <a:pPr indent="0" marL="0">
              <a:buNone/>
            </a:pPr>
            <a:r>
              <a:rPr lang="en-US" sz="15000" dirty="0">
                <a:solidFill>
                  <a:srgbClr val="FFF9C7"/>
                </a:solidFill>
                <a:latin typeface="Impact" pitchFamily="34" charset="0"/>
                <a:ea typeface="Impact" pitchFamily="34" charset="-122"/>
                <a:cs typeface="Impact" pitchFamily="34" charset="-120"/>
              </a:rPr>
              <a:t>07</a:t>
            </a:r>
            <a:endParaRPr lang="en-US" sz="15000" dirty="0"/>
          </a:p>
        </p:txBody>
      </p:sp>
      <p:sp>
        <p:nvSpPr>
          <p:cNvPr id="3" name="Text 1"/>
          <p:cNvSpPr txBox="1"/>
          <p:nvPr/>
        </p:nvSpPr>
        <p:spPr>
          <a:xfrm>
            <a:off x="594360" y="3017520"/>
            <a:ext cx="5486400" cy="320040"/>
          </a:xfrm>
          <a:prstGeom prst="rect">
            <a:avLst/>
          </a:prstGeom>
          <a:noFill/>
          <a:ln/>
        </p:spPr>
        <p:txBody>
          <a:bodyPr wrap="square" lIns="0" tIns="0" rIns="0" bIns="0" rtlCol="0" anchor="t"/>
          <a:lstStyle/>
          <a:p>
            <a:pPr indent="0" marL="0">
              <a:buNone/>
            </a:pPr>
            <a:r>
              <a:rPr lang="en-US" sz="1300" b="1" spc="400" kern="0" dirty="0">
                <a:solidFill>
                  <a:srgbClr val="FFF9C7"/>
                </a:solidFill>
                <a:latin typeface="Calibri" pitchFamily="34" charset="0"/>
                <a:ea typeface="Calibri" pitchFamily="34" charset="-122"/>
                <a:cs typeface="Calibri" pitchFamily="34" charset="-120"/>
              </a:rPr>
              <a:t>CONCLUSION</a:t>
            </a:r>
            <a:endParaRPr lang="en-US" sz="1300" dirty="0"/>
          </a:p>
        </p:txBody>
      </p:sp>
      <p:sp>
        <p:nvSpPr>
          <p:cNvPr id="4" name="Text 2"/>
          <p:cNvSpPr txBox="1"/>
          <p:nvPr/>
        </p:nvSpPr>
        <p:spPr>
          <a:xfrm>
            <a:off x="548640" y="3401568"/>
            <a:ext cx="5486400" cy="1463040"/>
          </a:xfrm>
          <a:prstGeom prst="rect">
            <a:avLst/>
          </a:prstGeom>
          <a:noFill/>
          <a:ln/>
        </p:spPr>
        <p:txBody>
          <a:bodyPr wrap="square" lIns="0" tIns="0" rIns="0" bIns="0"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Être élu local : un engagement au service des habitants</a:t>
            </a:r>
            <a:endParaRPr lang="en-US" sz="3000" dirty="0"/>
          </a:p>
        </p:txBody>
      </p:sp>
      <p:sp>
        <p:nvSpPr>
          <p:cNvPr id="5" name="Text 3"/>
          <p:cNvSpPr txBox="1"/>
          <p:nvPr/>
        </p:nvSpPr>
        <p:spPr>
          <a:xfrm>
            <a:off x="548640" y="4937760"/>
            <a:ext cx="5486400" cy="640080"/>
          </a:xfrm>
          <a:prstGeom prst="rect">
            <a:avLst/>
          </a:prstGeom>
          <a:noFill/>
          <a:ln/>
        </p:spPr>
        <p:txBody>
          <a:bodyPr wrap="square" lIns="0" tIns="0" rIns="0" bIns="0" rtlCol="0" anchor="t">
            <a:normAutofit/>
          </a:bodyPr>
          <a:lstStyle/>
          <a:p>
            <a:pPr indent="0" marL="0">
              <a:buNone/>
            </a:pPr>
            <a:r>
              <a:rPr lang="en-US" sz="1600" dirty="0">
                <a:solidFill>
                  <a:srgbClr val="B3B3BA"/>
                </a:solidFill>
                <a:latin typeface="Calibri" pitchFamily="34" charset="0"/>
                <a:ea typeface="Calibri" pitchFamily="34" charset="-122"/>
                <a:cs typeface="Calibri" pitchFamily="34" charset="-120"/>
              </a:rPr>
              <a:t>Au terme de cette formation, une conviction demeure : le mandat d’élu municipal est certainement le plus beau des mandats.</a:t>
            </a:r>
            <a:endParaRPr lang="en-US" sz="1600" dirty="0"/>
          </a:p>
        </p:txBody>
      </p:sp>
      <p:sp>
        <p:nvSpPr>
          <p:cNvPr id="6" name="Shape 4"/>
          <p:cNvSpPr/>
          <p:nvPr/>
        </p:nvSpPr>
        <p:spPr>
          <a:xfrm>
            <a:off x="548640" y="5623560"/>
            <a:ext cx="3017520" cy="384048"/>
          </a:xfrm>
          <a:prstGeom prst="roundRect">
            <a:avLst>
              <a:gd name="adj" fmla="val 50000"/>
            </a:avLst>
          </a:prstGeom>
          <a:solidFill>
            <a:srgbClr val="0B032B"/>
          </a:solidFill>
          <a:ln w="12700">
            <a:solidFill>
              <a:srgbClr val="FFF9C7"/>
            </a:solidFill>
            <a:prstDash val="solid"/>
          </a:ln>
        </p:spPr>
      </p:sp>
      <p:sp>
        <p:nvSpPr>
          <p:cNvPr id="7" name="Text 5"/>
          <p:cNvSpPr txBox="1"/>
          <p:nvPr/>
        </p:nvSpPr>
        <p:spPr>
          <a:xfrm>
            <a:off x="548640" y="5623560"/>
            <a:ext cx="3017520" cy="384048"/>
          </a:xfrm>
          <a:prstGeom prst="rect">
            <a:avLst/>
          </a:prstGeom>
          <a:noFill/>
          <a:ln/>
        </p:spPr>
        <p:txBody>
          <a:bodyPr wrap="square" lIns="0" tIns="0" rIns="0" bIns="0" rtlCol="0" anchor="ctr"/>
          <a:lstStyle/>
          <a:p>
            <a:pPr algn="ctr" indent="0" marL="0">
              <a:buNone/>
            </a:pPr>
            <a:r>
              <a:rPr lang="en-US" sz="1200" b="1" dirty="0">
                <a:solidFill>
                  <a:srgbClr val="FFF9C7"/>
                </a:solidFill>
                <a:latin typeface="Calibri" pitchFamily="34" charset="0"/>
                <a:ea typeface="Calibri" pitchFamily="34" charset="-122"/>
                <a:cs typeface="Calibri" pitchFamily="34" charset="-120"/>
              </a:rPr>
              <a:t>17h15 – 17h45  ·  30 min</a:t>
            </a:r>
            <a:endParaRPr lang="en-US" sz="1200" dirty="0"/>
          </a:p>
        </p:txBody>
      </p:sp>
      <p:sp>
        <p:nvSpPr>
          <p:cNvPr id="8" name="Shape 6"/>
          <p:cNvSpPr/>
          <p:nvPr/>
        </p:nvSpPr>
        <p:spPr>
          <a:xfrm>
            <a:off x="6263640" y="411480"/>
            <a:ext cx="5486400" cy="5486400"/>
          </a:xfrm>
          <a:prstGeom prst="ellipse">
            <a:avLst/>
          </a:prstGeom>
          <a:solidFill>
            <a:srgbClr val="0B032B"/>
          </a:solidFill>
          <a:ln w="12700">
            <a:solidFill>
              <a:srgbClr val="FFF9C7"/>
            </a:solidFill>
            <a:prstDash val="dash"/>
          </a:ln>
        </p:spPr>
      </p:sp>
      <p:sp>
        <p:nvSpPr>
          <p:cNvPr id="9" name="Shape 7"/>
          <p:cNvSpPr/>
          <p:nvPr/>
        </p:nvSpPr>
        <p:spPr>
          <a:xfrm>
            <a:off x="6583680" y="731520"/>
            <a:ext cx="4846320" cy="4846320"/>
          </a:xfrm>
          <a:prstGeom prst="ellipse">
            <a:avLst/>
          </a:prstGeom>
          <a:solidFill>
            <a:srgbClr val="0B032B"/>
          </a:solidFill>
          <a:ln/>
        </p:spPr>
      </p:sp>
      <p:pic>
        <p:nvPicPr>
          <p:cNvPr id="10" name="Image 0" descr="preencoded.png">    </p:cNvPr>
          <p:cNvPicPr>
            <a:picLocks noChangeAspect="1"/>
          </p:cNvPicPr>
          <p:nvPr/>
        </p:nvPicPr>
        <p:blipFill>
          <a:blip r:embed="rId1"/>
          <a:stretch>
            <a:fillRect/>
          </a:stretch>
        </p:blipFill>
        <p:spPr>
          <a:xfrm>
            <a:off x="6995160" y="1411224"/>
            <a:ext cx="4023360" cy="3486912"/>
          </a:xfrm>
          <a:prstGeom prst="rect">
            <a:avLst/>
          </a:prstGeom>
        </p:spPr>
      </p:pic>
      <p:sp>
        <p:nvSpPr>
          <p:cNvPr id="11" name="Text 8"/>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spc="100" kern="0" dirty="0">
                <a:solidFill>
                  <a:srgbClr val="B3B3BA"/>
                </a:solidFill>
                <a:latin typeface="Calibri" pitchFamily="34" charset="0"/>
                <a:ea typeface="Calibri" pitchFamily="34" charset="-122"/>
                <a:cs typeface="Calibri" pitchFamily="34" charset="-120"/>
              </a:rPr>
              <a:t>ENMA FORMATION  ·  Formation des élus municipaux 2026</a:t>
            </a:r>
            <a:endParaRPr lang="en-US" sz="900" dirty="0"/>
          </a:p>
        </p:txBody>
      </p:sp>
      <p:sp>
        <p:nvSpPr>
          <p:cNvPr id="12" name="Text 9"/>
          <p:cNvSpPr txBox="1"/>
          <p:nvPr/>
        </p:nvSpPr>
        <p:spPr>
          <a:xfrm>
            <a:off x="9692640" y="6400800"/>
            <a:ext cx="548640" cy="274320"/>
          </a:xfrm>
          <a:prstGeom prst="rect">
            <a:avLst/>
          </a:prstGeom>
          <a:noFill/>
          <a:ln/>
        </p:spPr>
        <p:txBody>
          <a:bodyPr wrap="square" lIns="0" tIns="0" rIns="0" bIns="0" rtlCol="0" anchor="ctr"/>
          <a:lstStyle/>
          <a:p>
            <a:pPr algn="r" indent="0" marL="0">
              <a:buNone/>
            </a:pPr>
            <a:r>
              <a:rPr lang="en-US" sz="900" dirty="0">
                <a:solidFill>
                  <a:srgbClr val="B3B3BA"/>
                </a:solidFill>
                <a:latin typeface="Calibri" pitchFamily="34" charset="0"/>
                <a:ea typeface="Calibri" pitchFamily="34" charset="-122"/>
                <a:cs typeface="Calibri" pitchFamily="34" charset="-120"/>
              </a:rPr>
              <a:t>48</a:t>
            </a:r>
            <a:endParaRPr lang="en-US" sz="900" dirty="0"/>
          </a:p>
        </p:txBody>
      </p:sp>
      <p:pic>
        <p:nvPicPr>
          <p:cNvPr id="13" name="Image 1" descr="preencoded.png">    </p:cNvPr>
          <p:cNvPicPr>
            <a:picLocks noChangeAspect="1"/>
          </p:cNvPicPr>
          <p:nvPr/>
        </p:nvPicPr>
        <p:blipFill>
          <a:blip r:embed="rId2"/>
          <a:stretch>
            <a:fillRect/>
          </a:stretch>
        </p:blipFill>
        <p:spPr>
          <a:xfrm>
            <a:off x="10469880" y="6309360"/>
            <a:ext cx="1170432" cy="484632"/>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420624" cy="310896"/>
          </a:xfrm>
          <a:prstGeom prst="roundRect">
            <a:avLst>
              <a:gd name="adj" fmla="val 23529"/>
            </a:avLst>
          </a:prstGeom>
          <a:solidFill>
            <a:srgbClr val="0B032B"/>
          </a:solidFill>
          <a:ln/>
        </p:spPr>
      </p:sp>
      <p:sp>
        <p:nvSpPr>
          <p:cNvPr id="3" name="Text 1"/>
          <p:cNvSpPr txBox="1"/>
          <p:nvPr/>
        </p:nvSpPr>
        <p:spPr>
          <a:xfrm>
            <a:off x="548640" y="438912"/>
            <a:ext cx="420624" cy="310896"/>
          </a:xfrm>
          <a:prstGeom prst="rect">
            <a:avLst/>
          </a:prstGeom>
          <a:noFill/>
          <a:ln/>
        </p:spPr>
        <p:txBody>
          <a:bodyPr wrap="square" lIns="0" tIns="0" rIns="0" bIns="0" rtlCol="0" anchor="ctr"/>
          <a:lstStyle/>
          <a:p>
            <a:pPr algn="ctr" indent="0" marL="0">
              <a:buNone/>
            </a:pPr>
            <a:r>
              <a:rPr lang="en-US" sz="1100" b="1" dirty="0">
                <a:solidFill>
                  <a:srgbClr val="FFF9C7"/>
                </a:solidFill>
                <a:latin typeface="Calibri" pitchFamily="34" charset="0"/>
                <a:ea typeface="Calibri" pitchFamily="34" charset="-122"/>
                <a:cs typeface="Calibri" pitchFamily="34" charset="-120"/>
              </a:rPr>
              <a:t>07</a:t>
            </a:r>
            <a:endParaRPr lang="en-US" sz="1100" dirty="0"/>
          </a:p>
        </p:txBody>
      </p:sp>
      <p:sp>
        <p:nvSpPr>
          <p:cNvPr id="4" name="Text 2"/>
          <p:cNvSpPr txBox="1"/>
          <p:nvPr/>
        </p:nvSpPr>
        <p:spPr>
          <a:xfrm>
            <a:off x="1115568" y="438912"/>
            <a:ext cx="8229600" cy="310896"/>
          </a:xfrm>
          <a:prstGeom prst="rect">
            <a:avLst/>
          </a:prstGeom>
          <a:noFill/>
          <a:ln/>
        </p:spPr>
        <p:txBody>
          <a:bodyPr wrap="square" lIns="0" tIns="0" rIns="0" bIns="0" rtlCol="0" anchor="ctr"/>
          <a:lstStyle/>
          <a:p>
            <a:pPr indent="0" marL="0">
              <a:buNone/>
            </a:pPr>
            <a:r>
              <a:rPr lang="en-US" sz="1100" b="1" spc="200" kern="0" dirty="0">
                <a:solidFill>
                  <a:srgbClr val="55516E"/>
                </a:solidFill>
                <a:latin typeface="Calibri" pitchFamily="34" charset="0"/>
                <a:ea typeface="Calibri" pitchFamily="34" charset="-122"/>
                <a:cs typeface="Calibri" pitchFamily="34" charset="-120"/>
              </a:rPr>
              <a:t>CONCLUSION</a:t>
            </a:r>
            <a:endParaRPr lang="en-US" sz="1100" dirty="0"/>
          </a:p>
        </p:txBody>
      </p:sp>
      <p:sp>
        <p:nvSpPr>
          <p:cNvPr id="5" name="Text 3"/>
          <p:cNvSpPr txBox="1"/>
          <p:nvPr/>
        </p:nvSpPr>
        <p:spPr>
          <a:xfrm>
            <a:off x="548640" y="841248"/>
            <a:ext cx="11064240" cy="685800"/>
          </a:xfrm>
          <a:prstGeom prst="rect">
            <a:avLst/>
          </a:prstGeom>
          <a:noFill/>
          <a:ln/>
        </p:spPr>
        <p:txBody>
          <a:bodyPr wrap="square" lIns="0" tIns="0" rIns="0" bIns="0" rtlCol="0" anchor="ctr">
            <a:normAutofit/>
          </a:bodyPr>
          <a:lstStyle/>
          <a:p>
            <a:pPr indent="0" marL="0">
              <a:buNone/>
            </a:pPr>
            <a:r>
              <a:rPr lang="en-US" sz="2800" b="1" dirty="0">
                <a:solidFill>
                  <a:srgbClr val="0B032B"/>
                </a:solidFill>
                <a:latin typeface="Calibri" pitchFamily="34" charset="0"/>
                <a:ea typeface="Calibri" pitchFamily="34" charset="-122"/>
                <a:cs typeface="Calibri" pitchFamily="34" charset="-120"/>
              </a:rPr>
              <a:t>L’action municipale se voit, se vit et améliore le quotidien</a:t>
            </a:r>
            <a:endParaRPr lang="en-US" sz="2800" dirty="0"/>
          </a:p>
        </p:txBody>
      </p:sp>
      <p:sp>
        <p:nvSpPr>
          <p:cNvPr id="6" name="Text 4"/>
          <p:cNvSpPr txBox="1"/>
          <p:nvPr/>
        </p:nvSpPr>
        <p:spPr>
          <a:xfrm>
            <a:off x="548640" y="1737360"/>
            <a:ext cx="11064240" cy="822960"/>
          </a:xfrm>
          <a:prstGeom prst="rect">
            <a:avLst/>
          </a:prstGeom>
          <a:noFill/>
          <a:ln/>
        </p:spPr>
        <p:txBody>
          <a:bodyPr wrap="square" lIns="0" tIns="0" rIns="0" bIns="0" rtlCol="0" anchor="t"/>
          <a:lstStyle/>
          <a:p>
            <a:pPr indent="0" marL="0">
              <a:lnSpc>
                <a:spcPct val="108000"/>
              </a:lnSpc>
              <a:buNone/>
            </a:pPr>
            <a:r>
              <a:rPr lang="en-US" sz="1600" dirty="0">
                <a:solidFill>
                  <a:srgbClr val="55516E"/>
                </a:solidFill>
                <a:latin typeface="Calibri" pitchFamily="34" charset="0"/>
                <a:ea typeface="Calibri" pitchFamily="34" charset="-122"/>
                <a:cs typeface="Calibri" pitchFamily="34" charset="-120"/>
              </a:rPr>
              <a:t>C’est le mandat de la proximité, de l’écoute et de l’action concrète. Chaque jour, les élus sont au contact des habitants, de leurs attentes, de leurs difficultés, mais aussi de leurs réussites et de leurs espoirs.</a:t>
            </a:r>
            <a:endParaRPr lang="en-US" sz="1600" dirty="0"/>
          </a:p>
        </p:txBody>
      </p:sp>
      <p:sp>
        <p:nvSpPr>
          <p:cNvPr id="7" name="Shape 5"/>
          <p:cNvSpPr/>
          <p:nvPr/>
        </p:nvSpPr>
        <p:spPr>
          <a:xfrm>
            <a:off x="548640" y="2697480"/>
            <a:ext cx="2084832" cy="2148840"/>
          </a:xfrm>
          <a:prstGeom prst="roundRect">
            <a:avLst>
              <a:gd name="adj" fmla="val 5263"/>
            </a:avLst>
          </a:prstGeom>
          <a:solidFill>
            <a:srgbClr val="F3F2F8"/>
          </a:solidFill>
          <a:ln/>
        </p:spPr>
      </p:sp>
      <p:pic>
        <p:nvPicPr>
          <p:cNvPr id="8" name="Image 0" descr="preencoded.png">    </p:cNvPr>
          <p:cNvPicPr>
            <a:picLocks noChangeAspect="1"/>
          </p:cNvPicPr>
          <p:nvPr/>
        </p:nvPicPr>
        <p:blipFill>
          <a:blip r:embed="rId1"/>
          <a:stretch>
            <a:fillRect/>
          </a:stretch>
        </p:blipFill>
        <p:spPr>
          <a:xfrm>
            <a:off x="950976" y="2788920"/>
            <a:ext cx="1280160" cy="1280160"/>
          </a:xfrm>
          <a:prstGeom prst="rect">
            <a:avLst/>
          </a:prstGeom>
        </p:spPr>
      </p:pic>
      <p:sp>
        <p:nvSpPr>
          <p:cNvPr id="9" name="Text 6"/>
          <p:cNvSpPr txBox="1"/>
          <p:nvPr/>
        </p:nvSpPr>
        <p:spPr>
          <a:xfrm>
            <a:off x="640080" y="4206240"/>
            <a:ext cx="1901952" cy="502920"/>
          </a:xfrm>
          <a:prstGeom prst="rect">
            <a:avLst/>
          </a:prstGeom>
          <a:noFill/>
          <a:ln/>
        </p:spPr>
        <p:txBody>
          <a:bodyPr wrap="square" lIns="0" tIns="0" rIns="0" bIns="0" rtlCol="0" anchor="ctr"/>
          <a:lstStyle/>
          <a:p>
            <a:pPr algn="ctr" indent="0" marL="0">
              <a:buNone/>
            </a:pPr>
            <a:r>
              <a:rPr lang="en-US" sz="1350" b="1" dirty="0">
                <a:solidFill>
                  <a:srgbClr val="0B032B"/>
                </a:solidFill>
                <a:latin typeface="Calibri" pitchFamily="34" charset="0"/>
                <a:ea typeface="Calibri" pitchFamily="34" charset="-122"/>
                <a:cs typeface="Calibri" pitchFamily="34" charset="-120"/>
              </a:rPr>
              <a:t>une école rénovée</a:t>
            </a:r>
            <a:endParaRPr lang="en-US" sz="1350" dirty="0"/>
          </a:p>
        </p:txBody>
      </p:sp>
      <p:sp>
        <p:nvSpPr>
          <p:cNvPr id="10" name="Shape 7"/>
          <p:cNvSpPr/>
          <p:nvPr/>
        </p:nvSpPr>
        <p:spPr>
          <a:xfrm>
            <a:off x="2798064" y="2697480"/>
            <a:ext cx="2084832" cy="2148840"/>
          </a:xfrm>
          <a:prstGeom prst="roundRect">
            <a:avLst>
              <a:gd name="adj" fmla="val 5263"/>
            </a:avLst>
          </a:prstGeom>
          <a:solidFill>
            <a:srgbClr val="FFF9C7"/>
          </a:solidFill>
          <a:ln/>
        </p:spPr>
      </p:sp>
      <p:pic>
        <p:nvPicPr>
          <p:cNvPr id="11" name="Image 1" descr="preencoded.png">    </p:cNvPr>
          <p:cNvPicPr>
            <a:picLocks noChangeAspect="1"/>
          </p:cNvPicPr>
          <p:nvPr/>
        </p:nvPicPr>
        <p:blipFill>
          <a:blip r:embed="rId2"/>
          <a:stretch>
            <a:fillRect/>
          </a:stretch>
        </p:blipFill>
        <p:spPr>
          <a:xfrm>
            <a:off x="3200400" y="2788920"/>
            <a:ext cx="1280160" cy="1280160"/>
          </a:xfrm>
          <a:prstGeom prst="rect">
            <a:avLst/>
          </a:prstGeom>
        </p:spPr>
      </p:pic>
      <p:sp>
        <p:nvSpPr>
          <p:cNvPr id="12" name="Text 8"/>
          <p:cNvSpPr txBox="1"/>
          <p:nvPr/>
        </p:nvSpPr>
        <p:spPr>
          <a:xfrm>
            <a:off x="2889504" y="4206240"/>
            <a:ext cx="1901952" cy="502920"/>
          </a:xfrm>
          <a:prstGeom prst="rect">
            <a:avLst/>
          </a:prstGeom>
          <a:noFill/>
          <a:ln/>
        </p:spPr>
        <p:txBody>
          <a:bodyPr wrap="square" lIns="0" tIns="0" rIns="0" bIns="0" rtlCol="0" anchor="ctr"/>
          <a:lstStyle/>
          <a:p>
            <a:pPr algn="ctr" indent="0" marL="0">
              <a:buNone/>
            </a:pPr>
            <a:r>
              <a:rPr lang="en-US" sz="1350" b="1" dirty="0">
                <a:solidFill>
                  <a:srgbClr val="0B032B"/>
                </a:solidFill>
                <a:latin typeface="Calibri" pitchFamily="34" charset="0"/>
                <a:ea typeface="Calibri" pitchFamily="34" charset="-122"/>
                <a:cs typeface="Calibri" pitchFamily="34" charset="-120"/>
              </a:rPr>
              <a:t>une voirie sécurisée</a:t>
            </a:r>
            <a:endParaRPr lang="en-US" sz="1350" dirty="0"/>
          </a:p>
        </p:txBody>
      </p:sp>
      <p:sp>
        <p:nvSpPr>
          <p:cNvPr id="13" name="Shape 9"/>
          <p:cNvSpPr/>
          <p:nvPr/>
        </p:nvSpPr>
        <p:spPr>
          <a:xfrm>
            <a:off x="5047488" y="2697480"/>
            <a:ext cx="2084832" cy="2148840"/>
          </a:xfrm>
          <a:prstGeom prst="roundRect">
            <a:avLst>
              <a:gd name="adj" fmla="val 5263"/>
            </a:avLst>
          </a:prstGeom>
          <a:solidFill>
            <a:srgbClr val="F3F2F8"/>
          </a:solidFill>
          <a:ln/>
        </p:spPr>
      </p:sp>
      <p:pic>
        <p:nvPicPr>
          <p:cNvPr id="14" name="Image 2" descr="preencoded.png">    </p:cNvPr>
          <p:cNvPicPr>
            <a:picLocks noChangeAspect="1"/>
          </p:cNvPicPr>
          <p:nvPr/>
        </p:nvPicPr>
        <p:blipFill>
          <a:blip r:embed="rId3"/>
          <a:stretch>
            <a:fillRect/>
          </a:stretch>
        </p:blipFill>
        <p:spPr>
          <a:xfrm>
            <a:off x="5449824" y="2788920"/>
            <a:ext cx="1280160" cy="1280160"/>
          </a:xfrm>
          <a:prstGeom prst="rect">
            <a:avLst/>
          </a:prstGeom>
        </p:spPr>
      </p:pic>
      <p:sp>
        <p:nvSpPr>
          <p:cNvPr id="15" name="Text 10"/>
          <p:cNvSpPr txBox="1"/>
          <p:nvPr/>
        </p:nvSpPr>
        <p:spPr>
          <a:xfrm>
            <a:off x="5138928" y="4206240"/>
            <a:ext cx="1901952" cy="502920"/>
          </a:xfrm>
          <a:prstGeom prst="rect">
            <a:avLst/>
          </a:prstGeom>
          <a:noFill/>
          <a:ln/>
        </p:spPr>
        <p:txBody>
          <a:bodyPr wrap="square" lIns="0" tIns="0" rIns="0" bIns="0" rtlCol="0" anchor="ctr"/>
          <a:lstStyle/>
          <a:p>
            <a:pPr algn="ctr" indent="0" marL="0">
              <a:buNone/>
            </a:pPr>
            <a:r>
              <a:rPr lang="en-US" sz="1350" b="1" dirty="0">
                <a:solidFill>
                  <a:srgbClr val="0B032B"/>
                </a:solidFill>
                <a:latin typeface="Calibri" pitchFamily="34" charset="0"/>
                <a:ea typeface="Calibri" pitchFamily="34" charset="-122"/>
                <a:cs typeface="Calibri" pitchFamily="34" charset="-120"/>
              </a:rPr>
              <a:t>une association soutenue</a:t>
            </a:r>
            <a:endParaRPr lang="en-US" sz="1350" dirty="0"/>
          </a:p>
        </p:txBody>
      </p:sp>
      <p:sp>
        <p:nvSpPr>
          <p:cNvPr id="16" name="Shape 11"/>
          <p:cNvSpPr/>
          <p:nvPr/>
        </p:nvSpPr>
        <p:spPr>
          <a:xfrm>
            <a:off x="7296912" y="2697480"/>
            <a:ext cx="2084832" cy="2148840"/>
          </a:xfrm>
          <a:prstGeom prst="roundRect">
            <a:avLst>
              <a:gd name="adj" fmla="val 5263"/>
            </a:avLst>
          </a:prstGeom>
          <a:solidFill>
            <a:srgbClr val="FFF9C7"/>
          </a:solidFill>
          <a:ln/>
        </p:spPr>
      </p:sp>
      <p:pic>
        <p:nvPicPr>
          <p:cNvPr id="17" name="Image 3" descr="preencoded.png">    </p:cNvPr>
          <p:cNvPicPr>
            <a:picLocks noChangeAspect="1"/>
          </p:cNvPicPr>
          <p:nvPr/>
        </p:nvPicPr>
        <p:blipFill>
          <a:blip r:embed="rId4"/>
          <a:stretch>
            <a:fillRect/>
          </a:stretch>
        </p:blipFill>
        <p:spPr>
          <a:xfrm>
            <a:off x="7699248" y="2788920"/>
            <a:ext cx="1280160" cy="1280160"/>
          </a:xfrm>
          <a:prstGeom prst="rect">
            <a:avLst/>
          </a:prstGeom>
        </p:spPr>
      </p:pic>
      <p:sp>
        <p:nvSpPr>
          <p:cNvPr id="18" name="Text 12"/>
          <p:cNvSpPr txBox="1"/>
          <p:nvPr/>
        </p:nvSpPr>
        <p:spPr>
          <a:xfrm>
            <a:off x="7388352" y="4206240"/>
            <a:ext cx="1901952" cy="502920"/>
          </a:xfrm>
          <a:prstGeom prst="rect">
            <a:avLst/>
          </a:prstGeom>
          <a:noFill/>
          <a:ln/>
        </p:spPr>
        <p:txBody>
          <a:bodyPr wrap="square" lIns="0" tIns="0" rIns="0" bIns="0" rtlCol="0" anchor="ctr"/>
          <a:lstStyle/>
          <a:p>
            <a:pPr algn="ctr" indent="0" marL="0">
              <a:buNone/>
            </a:pPr>
            <a:r>
              <a:rPr lang="en-US" sz="1350" b="1" dirty="0">
                <a:solidFill>
                  <a:srgbClr val="0B032B"/>
                </a:solidFill>
                <a:latin typeface="Calibri" pitchFamily="34" charset="0"/>
                <a:ea typeface="Calibri" pitchFamily="34" charset="-122"/>
                <a:cs typeface="Calibri" pitchFamily="34" charset="-120"/>
              </a:rPr>
              <a:t>un commerce accompagné</a:t>
            </a:r>
            <a:endParaRPr lang="en-US" sz="1350" dirty="0"/>
          </a:p>
        </p:txBody>
      </p:sp>
      <p:sp>
        <p:nvSpPr>
          <p:cNvPr id="19" name="Shape 13"/>
          <p:cNvSpPr/>
          <p:nvPr/>
        </p:nvSpPr>
        <p:spPr>
          <a:xfrm>
            <a:off x="9546336" y="2697480"/>
            <a:ext cx="2084832" cy="2148840"/>
          </a:xfrm>
          <a:prstGeom prst="roundRect">
            <a:avLst>
              <a:gd name="adj" fmla="val 5263"/>
            </a:avLst>
          </a:prstGeom>
          <a:solidFill>
            <a:srgbClr val="F3F2F8"/>
          </a:solidFill>
          <a:ln/>
        </p:spPr>
      </p:sp>
      <p:pic>
        <p:nvPicPr>
          <p:cNvPr id="20" name="Image 4" descr="preencoded.png">    </p:cNvPr>
          <p:cNvPicPr>
            <a:picLocks noChangeAspect="1"/>
          </p:cNvPicPr>
          <p:nvPr/>
        </p:nvPicPr>
        <p:blipFill>
          <a:blip r:embed="rId5"/>
          <a:stretch>
            <a:fillRect/>
          </a:stretch>
        </p:blipFill>
        <p:spPr>
          <a:xfrm>
            <a:off x="9948672" y="2788920"/>
            <a:ext cx="1280160" cy="1280160"/>
          </a:xfrm>
          <a:prstGeom prst="rect">
            <a:avLst/>
          </a:prstGeom>
        </p:spPr>
      </p:pic>
      <p:sp>
        <p:nvSpPr>
          <p:cNvPr id="21" name="Text 14"/>
          <p:cNvSpPr txBox="1"/>
          <p:nvPr/>
        </p:nvSpPr>
        <p:spPr>
          <a:xfrm>
            <a:off x="9637776" y="4206240"/>
            <a:ext cx="1901952" cy="502920"/>
          </a:xfrm>
          <a:prstGeom prst="rect">
            <a:avLst/>
          </a:prstGeom>
          <a:noFill/>
          <a:ln/>
        </p:spPr>
        <p:txBody>
          <a:bodyPr wrap="square" lIns="0" tIns="0" rIns="0" bIns="0" rtlCol="0" anchor="ctr"/>
          <a:lstStyle/>
          <a:p>
            <a:pPr algn="ctr" indent="0" marL="0">
              <a:buNone/>
            </a:pPr>
            <a:r>
              <a:rPr lang="en-US" sz="1350" b="1" dirty="0">
                <a:solidFill>
                  <a:srgbClr val="0B032B"/>
                </a:solidFill>
                <a:latin typeface="Calibri" pitchFamily="34" charset="0"/>
                <a:ea typeface="Calibri" pitchFamily="34" charset="-122"/>
                <a:cs typeface="Calibri" pitchFamily="34" charset="-120"/>
              </a:rPr>
              <a:t>un espace public réaménagé…</a:t>
            </a:r>
            <a:endParaRPr lang="en-US" sz="1350" dirty="0"/>
          </a:p>
        </p:txBody>
      </p:sp>
      <p:sp>
        <p:nvSpPr>
          <p:cNvPr id="22" name="Text 15"/>
          <p:cNvSpPr txBox="1"/>
          <p:nvPr/>
        </p:nvSpPr>
        <p:spPr>
          <a:xfrm>
            <a:off x="548640" y="5029200"/>
            <a:ext cx="11064240" cy="1097280"/>
          </a:xfrm>
          <a:prstGeom prst="rect">
            <a:avLst/>
          </a:prstGeom>
          <a:noFill/>
          <a:ln/>
        </p:spPr>
        <p:txBody>
          <a:bodyPr wrap="square" lIns="0" tIns="0" rIns="0" bIns="0" rtlCol="0" anchor="t"/>
          <a:lstStyle/>
          <a:p>
            <a:pPr indent="0" marL="0">
              <a:lnSpc>
                <a:spcPct val="108000"/>
              </a:lnSpc>
              <a:buNone/>
            </a:pPr>
            <a:r>
              <a:rPr lang="en-US" sz="1500" dirty="0">
                <a:solidFill>
                  <a:srgbClr val="0B032B"/>
                </a:solidFill>
                <a:latin typeface="Calibri" pitchFamily="34" charset="0"/>
                <a:ea typeface="Calibri" pitchFamily="34" charset="-122"/>
                <a:cs typeface="Calibri" pitchFamily="34" charset="-120"/>
              </a:rPr>
              <a:t>À l’échelle d’une commune, les décisions prises ont un impact direct et visible. Mais être élu, c’est aussi accepter des responsabilités importantes : décider dans l’intérêt général, parfois faire des choix difficiles, expliquer ses décisions et rester fidèle aux valeurs de la République.</a:t>
            </a:r>
            <a:endParaRPr lang="en-US" sz="1500" dirty="0"/>
          </a:p>
        </p:txBody>
      </p:sp>
      <p:sp>
        <p:nvSpPr>
          <p:cNvPr id="23" name="Text 16"/>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spc="100" kern="0" dirty="0">
                <a:solidFill>
                  <a:srgbClr val="8A8699"/>
                </a:solidFill>
                <a:latin typeface="Calibri" pitchFamily="34" charset="0"/>
                <a:ea typeface="Calibri" pitchFamily="34" charset="-122"/>
                <a:cs typeface="Calibri" pitchFamily="34" charset="-120"/>
              </a:rPr>
              <a:t>ENMA FORMATION  ·  Formation des élus municipaux 2026</a:t>
            </a:r>
            <a:endParaRPr lang="en-US" sz="900" dirty="0"/>
          </a:p>
        </p:txBody>
      </p:sp>
      <p:sp>
        <p:nvSpPr>
          <p:cNvPr id="24" name="Text 17"/>
          <p:cNvSpPr txBox="1"/>
          <p:nvPr/>
        </p:nvSpPr>
        <p:spPr>
          <a:xfrm>
            <a:off x="9692640" y="6400800"/>
            <a:ext cx="548640" cy="274320"/>
          </a:xfrm>
          <a:prstGeom prst="rect">
            <a:avLst/>
          </a:prstGeom>
          <a:noFill/>
          <a:ln/>
        </p:spPr>
        <p:txBody>
          <a:bodyPr wrap="square" lIns="0" tIns="0" rIns="0" bIns="0" rtlCol="0" anchor="ctr"/>
          <a:lstStyle/>
          <a:p>
            <a:pPr algn="r" indent="0" marL="0">
              <a:buNone/>
            </a:pPr>
            <a:r>
              <a:rPr lang="en-US" sz="900" dirty="0">
                <a:solidFill>
                  <a:srgbClr val="8A8699"/>
                </a:solidFill>
                <a:latin typeface="Calibri" pitchFamily="34" charset="0"/>
                <a:ea typeface="Calibri" pitchFamily="34" charset="-122"/>
                <a:cs typeface="Calibri" pitchFamily="34" charset="-120"/>
              </a:rPr>
              <a:t>49</a:t>
            </a:r>
            <a:endParaRPr lang="en-US" sz="900" dirty="0"/>
          </a:p>
        </p:txBody>
      </p:sp>
      <p:pic>
        <p:nvPicPr>
          <p:cNvPr id="25" name="Image 5" descr="preencoded.png">    </p:cNvPr>
          <p:cNvPicPr>
            <a:picLocks noChangeAspect="1"/>
          </p:cNvPicPr>
          <p:nvPr/>
        </p:nvPicPr>
        <p:blipFill>
          <a:blip r:embed="rId6"/>
          <a:stretch>
            <a:fillRect/>
          </a:stretch>
        </p:blipFill>
        <p:spPr>
          <a:xfrm>
            <a:off x="10469880" y="6309360"/>
            <a:ext cx="1170432" cy="484632"/>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420624" cy="310896"/>
          </a:xfrm>
          <a:prstGeom prst="roundRect">
            <a:avLst>
              <a:gd name="adj" fmla="val 23529"/>
            </a:avLst>
          </a:prstGeom>
          <a:solidFill>
            <a:srgbClr val="0B032B"/>
          </a:solidFill>
          <a:ln/>
        </p:spPr>
      </p:sp>
      <p:sp>
        <p:nvSpPr>
          <p:cNvPr id="3" name="Text 1"/>
          <p:cNvSpPr txBox="1"/>
          <p:nvPr/>
        </p:nvSpPr>
        <p:spPr>
          <a:xfrm>
            <a:off x="548640" y="438912"/>
            <a:ext cx="420624" cy="310896"/>
          </a:xfrm>
          <a:prstGeom prst="rect">
            <a:avLst/>
          </a:prstGeom>
          <a:noFill/>
          <a:ln/>
        </p:spPr>
        <p:txBody>
          <a:bodyPr wrap="square" lIns="0" tIns="0" rIns="0" bIns="0" rtlCol="0" anchor="ctr"/>
          <a:lstStyle/>
          <a:p>
            <a:pPr algn="ctr" indent="0" marL="0">
              <a:buNone/>
            </a:pPr>
            <a:r>
              <a:rPr lang="en-US" sz="1100" b="1" dirty="0">
                <a:solidFill>
                  <a:srgbClr val="FFF9C7"/>
                </a:solidFill>
                <a:latin typeface="Calibri" pitchFamily="34" charset="0"/>
                <a:ea typeface="Calibri" pitchFamily="34" charset="-122"/>
                <a:cs typeface="Calibri" pitchFamily="34" charset="-120"/>
              </a:rPr>
              <a:t>07</a:t>
            </a:r>
            <a:endParaRPr lang="en-US" sz="1100" dirty="0"/>
          </a:p>
        </p:txBody>
      </p:sp>
      <p:sp>
        <p:nvSpPr>
          <p:cNvPr id="4" name="Text 2"/>
          <p:cNvSpPr txBox="1"/>
          <p:nvPr/>
        </p:nvSpPr>
        <p:spPr>
          <a:xfrm>
            <a:off x="1115568" y="438912"/>
            <a:ext cx="8229600" cy="310896"/>
          </a:xfrm>
          <a:prstGeom prst="rect">
            <a:avLst/>
          </a:prstGeom>
          <a:noFill/>
          <a:ln/>
        </p:spPr>
        <p:txBody>
          <a:bodyPr wrap="square" lIns="0" tIns="0" rIns="0" bIns="0" rtlCol="0" anchor="ctr"/>
          <a:lstStyle/>
          <a:p>
            <a:pPr indent="0" marL="0">
              <a:buNone/>
            </a:pPr>
            <a:r>
              <a:rPr lang="en-US" sz="1100" b="1" spc="200" kern="0" dirty="0">
                <a:solidFill>
                  <a:srgbClr val="55516E"/>
                </a:solidFill>
                <a:latin typeface="Calibri" pitchFamily="34" charset="0"/>
                <a:ea typeface="Calibri" pitchFamily="34" charset="-122"/>
                <a:cs typeface="Calibri" pitchFamily="34" charset="-120"/>
              </a:rPr>
              <a:t>CONCLUSION</a:t>
            </a:r>
            <a:endParaRPr lang="en-US" sz="1100" dirty="0"/>
          </a:p>
        </p:txBody>
      </p:sp>
      <p:sp>
        <p:nvSpPr>
          <p:cNvPr id="5" name="Text 3"/>
          <p:cNvSpPr txBox="1"/>
          <p:nvPr/>
        </p:nvSpPr>
        <p:spPr>
          <a:xfrm>
            <a:off x="548640" y="841248"/>
            <a:ext cx="11064240" cy="685800"/>
          </a:xfrm>
          <a:prstGeom prst="rect">
            <a:avLst/>
          </a:prstGeom>
          <a:noFill/>
          <a:ln/>
        </p:spPr>
        <p:txBody>
          <a:bodyPr wrap="square" lIns="0" tIns="0" rIns="0" bIns="0" rtlCol="0" anchor="ctr">
            <a:normAutofit/>
          </a:bodyPr>
          <a:lstStyle/>
          <a:p>
            <a:pPr indent="0" marL="0">
              <a:buNone/>
            </a:pPr>
            <a:r>
              <a:rPr lang="en-US" sz="2800" b="1" dirty="0">
                <a:solidFill>
                  <a:srgbClr val="0B032B"/>
                </a:solidFill>
                <a:latin typeface="Calibri" pitchFamily="34" charset="0"/>
                <a:ea typeface="Calibri" pitchFamily="34" charset="-122"/>
                <a:cs typeface="Calibri" pitchFamily="34" charset="-120"/>
              </a:rPr>
              <a:t>Les clés d’un mandat réussi</a:t>
            </a:r>
            <a:endParaRPr lang="en-US" sz="2800" dirty="0"/>
          </a:p>
        </p:txBody>
      </p:sp>
      <p:sp>
        <p:nvSpPr>
          <p:cNvPr id="6" name="Shape 4"/>
          <p:cNvSpPr/>
          <p:nvPr/>
        </p:nvSpPr>
        <p:spPr>
          <a:xfrm>
            <a:off x="1042416" y="1828800"/>
            <a:ext cx="1097280" cy="1097280"/>
          </a:xfrm>
          <a:prstGeom prst="ellipse">
            <a:avLst/>
          </a:prstGeom>
          <a:solidFill>
            <a:srgbClr val="0B032B"/>
          </a:solidFill>
          <a:ln/>
        </p:spPr>
      </p:sp>
      <p:pic>
        <p:nvPicPr>
          <p:cNvPr id="7" name="Image 0" descr="preencoded.png">    </p:cNvPr>
          <p:cNvPicPr>
            <a:picLocks noChangeAspect="1"/>
          </p:cNvPicPr>
          <p:nvPr/>
        </p:nvPicPr>
        <p:blipFill>
          <a:blip r:embed="rId1"/>
          <a:stretch>
            <a:fillRect/>
          </a:stretch>
        </p:blipFill>
        <p:spPr>
          <a:xfrm>
            <a:off x="1316736" y="2103120"/>
            <a:ext cx="548640" cy="548640"/>
          </a:xfrm>
          <a:prstGeom prst="rect">
            <a:avLst/>
          </a:prstGeom>
        </p:spPr>
      </p:pic>
      <p:sp>
        <p:nvSpPr>
          <p:cNvPr id="8" name="Shape 5"/>
          <p:cNvSpPr/>
          <p:nvPr/>
        </p:nvSpPr>
        <p:spPr>
          <a:xfrm>
            <a:off x="1527048" y="2926080"/>
            <a:ext cx="128016" cy="640080"/>
          </a:xfrm>
          <a:prstGeom prst="rect">
            <a:avLst/>
          </a:prstGeom>
          <a:solidFill>
            <a:srgbClr val="0B032B"/>
          </a:solidFill>
          <a:ln/>
        </p:spPr>
      </p:sp>
      <p:sp>
        <p:nvSpPr>
          <p:cNvPr id="9" name="Shape 6"/>
          <p:cNvSpPr/>
          <p:nvPr/>
        </p:nvSpPr>
        <p:spPr>
          <a:xfrm>
            <a:off x="1655064" y="3291840"/>
            <a:ext cx="201168" cy="91440"/>
          </a:xfrm>
          <a:prstGeom prst="rect">
            <a:avLst/>
          </a:prstGeom>
          <a:solidFill>
            <a:srgbClr val="0B032B"/>
          </a:solidFill>
          <a:ln/>
        </p:spPr>
      </p:sp>
      <p:sp>
        <p:nvSpPr>
          <p:cNvPr id="10" name="Shape 7"/>
          <p:cNvSpPr/>
          <p:nvPr/>
        </p:nvSpPr>
        <p:spPr>
          <a:xfrm>
            <a:off x="1655064" y="3474720"/>
            <a:ext cx="128016" cy="91440"/>
          </a:xfrm>
          <a:prstGeom prst="rect">
            <a:avLst/>
          </a:prstGeom>
          <a:solidFill>
            <a:srgbClr val="0B032B"/>
          </a:solidFill>
          <a:ln/>
        </p:spPr>
      </p:sp>
      <p:sp>
        <p:nvSpPr>
          <p:cNvPr id="11" name="Shape 8"/>
          <p:cNvSpPr/>
          <p:nvPr/>
        </p:nvSpPr>
        <p:spPr>
          <a:xfrm>
            <a:off x="548640" y="3749040"/>
            <a:ext cx="2084832" cy="1920240"/>
          </a:xfrm>
          <a:prstGeom prst="roundRect">
            <a:avLst>
              <a:gd name="adj" fmla="val 5714"/>
            </a:avLst>
          </a:prstGeom>
          <a:solidFill>
            <a:srgbClr val="F3F2F8"/>
          </a:solidFill>
          <a:ln/>
        </p:spPr>
      </p:sp>
      <p:sp>
        <p:nvSpPr>
          <p:cNvPr id="12" name="Text 9"/>
          <p:cNvSpPr txBox="1"/>
          <p:nvPr/>
        </p:nvSpPr>
        <p:spPr>
          <a:xfrm>
            <a:off x="731520" y="3886200"/>
            <a:ext cx="1737360" cy="1645920"/>
          </a:xfrm>
          <a:prstGeom prst="rect">
            <a:avLst/>
          </a:prstGeom>
          <a:noFill/>
          <a:ln/>
        </p:spPr>
        <p:txBody>
          <a:bodyPr wrap="square" lIns="0" tIns="0" rIns="0" bIns="0" rtlCol="0" anchor="ctr"/>
          <a:lstStyle/>
          <a:p>
            <a:pPr algn="ctr" indent="0" marL="0">
              <a:buNone/>
            </a:pPr>
            <a:r>
              <a:rPr lang="en-US" sz="1500" b="1" dirty="0">
                <a:solidFill>
                  <a:srgbClr val="0B032B"/>
                </a:solidFill>
                <a:latin typeface="Calibri" pitchFamily="34" charset="0"/>
                <a:ea typeface="Calibri" pitchFamily="34" charset="-122"/>
                <a:cs typeface="Calibri" pitchFamily="34" charset="-120"/>
              </a:rPr>
              <a:t>Agir toujours dans l’intérêt général.</a:t>
            </a:r>
            <a:endParaRPr lang="en-US" sz="1500" dirty="0"/>
          </a:p>
        </p:txBody>
      </p:sp>
      <p:sp>
        <p:nvSpPr>
          <p:cNvPr id="13" name="Shape 10"/>
          <p:cNvSpPr/>
          <p:nvPr/>
        </p:nvSpPr>
        <p:spPr>
          <a:xfrm>
            <a:off x="3291840" y="1828800"/>
            <a:ext cx="1097280" cy="1097280"/>
          </a:xfrm>
          <a:prstGeom prst="ellipse">
            <a:avLst/>
          </a:prstGeom>
          <a:solidFill>
            <a:srgbClr val="0B032B"/>
          </a:solidFill>
          <a:ln/>
        </p:spPr>
      </p:sp>
      <p:pic>
        <p:nvPicPr>
          <p:cNvPr id="14" name="Image 1" descr="preencoded.png">    </p:cNvPr>
          <p:cNvPicPr>
            <a:picLocks noChangeAspect="1"/>
          </p:cNvPicPr>
          <p:nvPr/>
        </p:nvPicPr>
        <p:blipFill>
          <a:blip r:embed="rId2"/>
          <a:stretch>
            <a:fillRect/>
          </a:stretch>
        </p:blipFill>
        <p:spPr>
          <a:xfrm>
            <a:off x="3566160" y="2103120"/>
            <a:ext cx="548640" cy="548640"/>
          </a:xfrm>
          <a:prstGeom prst="rect">
            <a:avLst/>
          </a:prstGeom>
        </p:spPr>
      </p:pic>
      <p:sp>
        <p:nvSpPr>
          <p:cNvPr id="15" name="Shape 11"/>
          <p:cNvSpPr/>
          <p:nvPr/>
        </p:nvSpPr>
        <p:spPr>
          <a:xfrm>
            <a:off x="3776472" y="2926080"/>
            <a:ext cx="128016" cy="640080"/>
          </a:xfrm>
          <a:prstGeom prst="rect">
            <a:avLst/>
          </a:prstGeom>
          <a:solidFill>
            <a:srgbClr val="0B032B"/>
          </a:solidFill>
          <a:ln/>
        </p:spPr>
      </p:sp>
      <p:sp>
        <p:nvSpPr>
          <p:cNvPr id="16" name="Shape 12"/>
          <p:cNvSpPr/>
          <p:nvPr/>
        </p:nvSpPr>
        <p:spPr>
          <a:xfrm>
            <a:off x="3904488" y="3291840"/>
            <a:ext cx="201168" cy="91440"/>
          </a:xfrm>
          <a:prstGeom prst="rect">
            <a:avLst/>
          </a:prstGeom>
          <a:solidFill>
            <a:srgbClr val="0B032B"/>
          </a:solidFill>
          <a:ln/>
        </p:spPr>
      </p:sp>
      <p:sp>
        <p:nvSpPr>
          <p:cNvPr id="17" name="Shape 13"/>
          <p:cNvSpPr/>
          <p:nvPr/>
        </p:nvSpPr>
        <p:spPr>
          <a:xfrm>
            <a:off x="3904488" y="3474720"/>
            <a:ext cx="128016" cy="91440"/>
          </a:xfrm>
          <a:prstGeom prst="rect">
            <a:avLst/>
          </a:prstGeom>
          <a:solidFill>
            <a:srgbClr val="0B032B"/>
          </a:solidFill>
          <a:ln/>
        </p:spPr>
      </p:sp>
      <p:sp>
        <p:nvSpPr>
          <p:cNvPr id="18" name="Shape 14"/>
          <p:cNvSpPr/>
          <p:nvPr/>
        </p:nvSpPr>
        <p:spPr>
          <a:xfrm>
            <a:off x="2798064" y="3749040"/>
            <a:ext cx="2084832" cy="1920240"/>
          </a:xfrm>
          <a:prstGeom prst="roundRect">
            <a:avLst>
              <a:gd name="adj" fmla="val 5714"/>
            </a:avLst>
          </a:prstGeom>
          <a:solidFill>
            <a:srgbClr val="F3F2F8"/>
          </a:solidFill>
          <a:ln/>
        </p:spPr>
      </p:sp>
      <p:sp>
        <p:nvSpPr>
          <p:cNvPr id="19" name="Text 15"/>
          <p:cNvSpPr txBox="1"/>
          <p:nvPr/>
        </p:nvSpPr>
        <p:spPr>
          <a:xfrm>
            <a:off x="2980944" y="3886200"/>
            <a:ext cx="1737360" cy="1645920"/>
          </a:xfrm>
          <a:prstGeom prst="rect">
            <a:avLst/>
          </a:prstGeom>
          <a:noFill/>
          <a:ln/>
        </p:spPr>
        <p:txBody>
          <a:bodyPr wrap="square" lIns="0" tIns="0" rIns="0" bIns="0" rtlCol="0" anchor="ctr"/>
          <a:lstStyle/>
          <a:p>
            <a:pPr algn="ctr" indent="0" marL="0">
              <a:buNone/>
            </a:pPr>
            <a:r>
              <a:rPr lang="en-US" sz="1500" b="1" dirty="0">
                <a:solidFill>
                  <a:srgbClr val="0B032B"/>
                </a:solidFill>
                <a:latin typeface="Calibri" pitchFamily="34" charset="0"/>
                <a:ea typeface="Calibri" pitchFamily="34" charset="-122"/>
                <a:cs typeface="Calibri" pitchFamily="34" charset="-120"/>
              </a:rPr>
              <a:t>Préserver la cohésion et la solidarité de l’équipe municipale.</a:t>
            </a:r>
            <a:endParaRPr lang="en-US" sz="1500" dirty="0"/>
          </a:p>
        </p:txBody>
      </p:sp>
      <p:sp>
        <p:nvSpPr>
          <p:cNvPr id="20" name="Shape 16"/>
          <p:cNvSpPr/>
          <p:nvPr/>
        </p:nvSpPr>
        <p:spPr>
          <a:xfrm>
            <a:off x="5541264" y="1828800"/>
            <a:ext cx="1097280" cy="1097280"/>
          </a:xfrm>
          <a:prstGeom prst="ellipse">
            <a:avLst/>
          </a:prstGeom>
          <a:solidFill>
            <a:srgbClr val="0B032B"/>
          </a:solidFill>
          <a:ln/>
        </p:spPr>
      </p:sp>
      <p:pic>
        <p:nvPicPr>
          <p:cNvPr id="21" name="Image 2" descr="preencoded.png">    </p:cNvPr>
          <p:cNvPicPr>
            <a:picLocks noChangeAspect="1"/>
          </p:cNvPicPr>
          <p:nvPr/>
        </p:nvPicPr>
        <p:blipFill>
          <a:blip r:embed="rId3"/>
          <a:stretch>
            <a:fillRect/>
          </a:stretch>
        </p:blipFill>
        <p:spPr>
          <a:xfrm>
            <a:off x="5815584" y="2103120"/>
            <a:ext cx="548640" cy="548640"/>
          </a:xfrm>
          <a:prstGeom prst="rect">
            <a:avLst/>
          </a:prstGeom>
        </p:spPr>
      </p:pic>
      <p:sp>
        <p:nvSpPr>
          <p:cNvPr id="22" name="Shape 17"/>
          <p:cNvSpPr/>
          <p:nvPr/>
        </p:nvSpPr>
        <p:spPr>
          <a:xfrm>
            <a:off x="6025896" y="2926080"/>
            <a:ext cx="128016" cy="640080"/>
          </a:xfrm>
          <a:prstGeom prst="rect">
            <a:avLst/>
          </a:prstGeom>
          <a:solidFill>
            <a:srgbClr val="0B032B"/>
          </a:solidFill>
          <a:ln/>
        </p:spPr>
      </p:sp>
      <p:sp>
        <p:nvSpPr>
          <p:cNvPr id="23" name="Shape 18"/>
          <p:cNvSpPr/>
          <p:nvPr/>
        </p:nvSpPr>
        <p:spPr>
          <a:xfrm>
            <a:off x="6153912" y="3291840"/>
            <a:ext cx="201168" cy="91440"/>
          </a:xfrm>
          <a:prstGeom prst="rect">
            <a:avLst/>
          </a:prstGeom>
          <a:solidFill>
            <a:srgbClr val="0B032B"/>
          </a:solidFill>
          <a:ln/>
        </p:spPr>
      </p:sp>
      <p:sp>
        <p:nvSpPr>
          <p:cNvPr id="24" name="Shape 19"/>
          <p:cNvSpPr/>
          <p:nvPr/>
        </p:nvSpPr>
        <p:spPr>
          <a:xfrm>
            <a:off x="6153912" y="3474720"/>
            <a:ext cx="128016" cy="91440"/>
          </a:xfrm>
          <a:prstGeom prst="rect">
            <a:avLst/>
          </a:prstGeom>
          <a:solidFill>
            <a:srgbClr val="0B032B"/>
          </a:solidFill>
          <a:ln/>
        </p:spPr>
      </p:sp>
      <p:sp>
        <p:nvSpPr>
          <p:cNvPr id="25" name="Shape 20"/>
          <p:cNvSpPr/>
          <p:nvPr/>
        </p:nvSpPr>
        <p:spPr>
          <a:xfrm>
            <a:off x="5047488" y="3749040"/>
            <a:ext cx="2084832" cy="1920240"/>
          </a:xfrm>
          <a:prstGeom prst="roundRect">
            <a:avLst>
              <a:gd name="adj" fmla="val 5714"/>
            </a:avLst>
          </a:prstGeom>
          <a:solidFill>
            <a:srgbClr val="F3F2F8"/>
          </a:solidFill>
          <a:ln/>
        </p:spPr>
      </p:sp>
      <p:sp>
        <p:nvSpPr>
          <p:cNvPr id="26" name="Text 21"/>
          <p:cNvSpPr txBox="1"/>
          <p:nvPr/>
        </p:nvSpPr>
        <p:spPr>
          <a:xfrm>
            <a:off x="5230368" y="3886200"/>
            <a:ext cx="1737360" cy="1645920"/>
          </a:xfrm>
          <a:prstGeom prst="rect">
            <a:avLst/>
          </a:prstGeom>
          <a:noFill/>
          <a:ln/>
        </p:spPr>
        <p:txBody>
          <a:bodyPr wrap="square" lIns="0" tIns="0" rIns="0" bIns="0" rtlCol="0" anchor="ctr"/>
          <a:lstStyle/>
          <a:p>
            <a:pPr algn="ctr" indent="0" marL="0">
              <a:buNone/>
            </a:pPr>
            <a:r>
              <a:rPr lang="en-US" sz="1500" b="1" dirty="0">
                <a:solidFill>
                  <a:srgbClr val="0B032B"/>
                </a:solidFill>
                <a:latin typeface="Calibri" pitchFamily="34" charset="0"/>
                <a:ea typeface="Calibri" pitchFamily="34" charset="-122"/>
                <a:cs typeface="Calibri" pitchFamily="34" charset="-120"/>
              </a:rPr>
              <a:t>Être à l’écoute des habitants tout en assumant les décisions prises.</a:t>
            </a:r>
            <a:endParaRPr lang="en-US" sz="1500" dirty="0"/>
          </a:p>
        </p:txBody>
      </p:sp>
      <p:sp>
        <p:nvSpPr>
          <p:cNvPr id="27" name="Shape 22"/>
          <p:cNvSpPr/>
          <p:nvPr/>
        </p:nvSpPr>
        <p:spPr>
          <a:xfrm>
            <a:off x="7790688" y="1828800"/>
            <a:ext cx="1097280" cy="1097280"/>
          </a:xfrm>
          <a:prstGeom prst="ellipse">
            <a:avLst/>
          </a:prstGeom>
          <a:solidFill>
            <a:srgbClr val="0B032B"/>
          </a:solidFill>
          <a:ln/>
        </p:spPr>
      </p:sp>
      <p:pic>
        <p:nvPicPr>
          <p:cNvPr id="28" name="Image 3" descr="preencoded.png">    </p:cNvPr>
          <p:cNvPicPr>
            <a:picLocks noChangeAspect="1"/>
          </p:cNvPicPr>
          <p:nvPr/>
        </p:nvPicPr>
        <p:blipFill>
          <a:blip r:embed="rId4"/>
          <a:stretch>
            <a:fillRect/>
          </a:stretch>
        </p:blipFill>
        <p:spPr>
          <a:xfrm>
            <a:off x="8065008" y="2103120"/>
            <a:ext cx="548640" cy="548640"/>
          </a:xfrm>
          <a:prstGeom prst="rect">
            <a:avLst/>
          </a:prstGeom>
        </p:spPr>
      </p:pic>
      <p:sp>
        <p:nvSpPr>
          <p:cNvPr id="29" name="Shape 23"/>
          <p:cNvSpPr/>
          <p:nvPr/>
        </p:nvSpPr>
        <p:spPr>
          <a:xfrm>
            <a:off x="8275320" y="2926080"/>
            <a:ext cx="128016" cy="640080"/>
          </a:xfrm>
          <a:prstGeom prst="rect">
            <a:avLst/>
          </a:prstGeom>
          <a:solidFill>
            <a:srgbClr val="0B032B"/>
          </a:solidFill>
          <a:ln/>
        </p:spPr>
      </p:sp>
      <p:sp>
        <p:nvSpPr>
          <p:cNvPr id="30" name="Shape 24"/>
          <p:cNvSpPr/>
          <p:nvPr/>
        </p:nvSpPr>
        <p:spPr>
          <a:xfrm>
            <a:off x="8403336" y="3291840"/>
            <a:ext cx="201168" cy="91440"/>
          </a:xfrm>
          <a:prstGeom prst="rect">
            <a:avLst/>
          </a:prstGeom>
          <a:solidFill>
            <a:srgbClr val="0B032B"/>
          </a:solidFill>
          <a:ln/>
        </p:spPr>
      </p:sp>
      <p:sp>
        <p:nvSpPr>
          <p:cNvPr id="31" name="Shape 25"/>
          <p:cNvSpPr/>
          <p:nvPr/>
        </p:nvSpPr>
        <p:spPr>
          <a:xfrm>
            <a:off x="8403336" y="3474720"/>
            <a:ext cx="128016" cy="91440"/>
          </a:xfrm>
          <a:prstGeom prst="rect">
            <a:avLst/>
          </a:prstGeom>
          <a:solidFill>
            <a:srgbClr val="0B032B"/>
          </a:solidFill>
          <a:ln/>
        </p:spPr>
      </p:sp>
      <p:sp>
        <p:nvSpPr>
          <p:cNvPr id="32" name="Shape 26"/>
          <p:cNvSpPr/>
          <p:nvPr/>
        </p:nvSpPr>
        <p:spPr>
          <a:xfrm>
            <a:off x="7296912" y="3749040"/>
            <a:ext cx="2084832" cy="1920240"/>
          </a:xfrm>
          <a:prstGeom prst="roundRect">
            <a:avLst>
              <a:gd name="adj" fmla="val 5714"/>
            </a:avLst>
          </a:prstGeom>
          <a:solidFill>
            <a:srgbClr val="F3F2F8"/>
          </a:solidFill>
          <a:ln/>
        </p:spPr>
      </p:sp>
      <p:sp>
        <p:nvSpPr>
          <p:cNvPr id="33" name="Text 27"/>
          <p:cNvSpPr txBox="1"/>
          <p:nvPr/>
        </p:nvSpPr>
        <p:spPr>
          <a:xfrm>
            <a:off x="7479792" y="3886200"/>
            <a:ext cx="1737360" cy="1645920"/>
          </a:xfrm>
          <a:prstGeom prst="rect">
            <a:avLst/>
          </a:prstGeom>
          <a:noFill/>
          <a:ln/>
        </p:spPr>
        <p:txBody>
          <a:bodyPr wrap="square" lIns="0" tIns="0" rIns="0" bIns="0" rtlCol="0" anchor="ctr"/>
          <a:lstStyle/>
          <a:p>
            <a:pPr algn="ctr" indent="0" marL="0">
              <a:buNone/>
            </a:pPr>
            <a:r>
              <a:rPr lang="en-US" sz="1500" b="1" dirty="0">
                <a:solidFill>
                  <a:srgbClr val="0B032B"/>
                </a:solidFill>
                <a:latin typeface="Calibri" pitchFamily="34" charset="0"/>
                <a:ea typeface="Calibri" pitchFamily="34" charset="-122"/>
                <a:cs typeface="Calibri" pitchFamily="34" charset="-120"/>
              </a:rPr>
              <a:t>Faire preuve d’exemplarité, d’éthique et de respect.</a:t>
            </a:r>
            <a:endParaRPr lang="en-US" sz="1500" dirty="0"/>
          </a:p>
        </p:txBody>
      </p:sp>
      <p:sp>
        <p:nvSpPr>
          <p:cNvPr id="34" name="Shape 28"/>
          <p:cNvSpPr/>
          <p:nvPr/>
        </p:nvSpPr>
        <p:spPr>
          <a:xfrm>
            <a:off x="10040112" y="1828800"/>
            <a:ext cx="1097280" cy="1097280"/>
          </a:xfrm>
          <a:prstGeom prst="ellipse">
            <a:avLst/>
          </a:prstGeom>
          <a:solidFill>
            <a:srgbClr val="FFF9C7"/>
          </a:solidFill>
          <a:ln w="25400">
            <a:solidFill>
              <a:srgbClr val="0B032B"/>
            </a:solidFill>
            <a:prstDash val="solid"/>
          </a:ln>
        </p:spPr>
      </p:sp>
      <p:pic>
        <p:nvPicPr>
          <p:cNvPr id="35" name="Image 4" descr="preencoded.png">    </p:cNvPr>
          <p:cNvPicPr>
            <a:picLocks noChangeAspect="1"/>
          </p:cNvPicPr>
          <p:nvPr/>
        </p:nvPicPr>
        <p:blipFill>
          <a:blip r:embed="rId5"/>
          <a:stretch>
            <a:fillRect/>
          </a:stretch>
        </p:blipFill>
        <p:spPr>
          <a:xfrm>
            <a:off x="10314432" y="2103120"/>
            <a:ext cx="548640" cy="548640"/>
          </a:xfrm>
          <a:prstGeom prst="rect">
            <a:avLst/>
          </a:prstGeom>
        </p:spPr>
      </p:pic>
      <p:sp>
        <p:nvSpPr>
          <p:cNvPr id="36" name="Shape 29"/>
          <p:cNvSpPr/>
          <p:nvPr/>
        </p:nvSpPr>
        <p:spPr>
          <a:xfrm>
            <a:off x="10524744" y="2926080"/>
            <a:ext cx="128016" cy="640080"/>
          </a:xfrm>
          <a:prstGeom prst="rect">
            <a:avLst/>
          </a:prstGeom>
          <a:solidFill>
            <a:srgbClr val="0B032B"/>
          </a:solidFill>
          <a:ln/>
        </p:spPr>
      </p:sp>
      <p:sp>
        <p:nvSpPr>
          <p:cNvPr id="37" name="Shape 30"/>
          <p:cNvSpPr/>
          <p:nvPr/>
        </p:nvSpPr>
        <p:spPr>
          <a:xfrm>
            <a:off x="10652760" y="3291840"/>
            <a:ext cx="201168" cy="91440"/>
          </a:xfrm>
          <a:prstGeom prst="rect">
            <a:avLst/>
          </a:prstGeom>
          <a:solidFill>
            <a:srgbClr val="0B032B"/>
          </a:solidFill>
          <a:ln/>
        </p:spPr>
      </p:sp>
      <p:sp>
        <p:nvSpPr>
          <p:cNvPr id="38" name="Shape 31"/>
          <p:cNvSpPr/>
          <p:nvPr/>
        </p:nvSpPr>
        <p:spPr>
          <a:xfrm>
            <a:off x="10652760" y="3474720"/>
            <a:ext cx="128016" cy="91440"/>
          </a:xfrm>
          <a:prstGeom prst="rect">
            <a:avLst/>
          </a:prstGeom>
          <a:solidFill>
            <a:srgbClr val="0B032B"/>
          </a:solidFill>
          <a:ln/>
        </p:spPr>
      </p:sp>
      <p:sp>
        <p:nvSpPr>
          <p:cNvPr id="39" name="Shape 32"/>
          <p:cNvSpPr/>
          <p:nvPr/>
        </p:nvSpPr>
        <p:spPr>
          <a:xfrm>
            <a:off x="9546336" y="3749040"/>
            <a:ext cx="2084832" cy="1920240"/>
          </a:xfrm>
          <a:prstGeom prst="roundRect">
            <a:avLst>
              <a:gd name="adj" fmla="val 5714"/>
            </a:avLst>
          </a:prstGeom>
          <a:solidFill>
            <a:srgbClr val="F3F2F8"/>
          </a:solidFill>
          <a:ln/>
        </p:spPr>
      </p:sp>
      <p:sp>
        <p:nvSpPr>
          <p:cNvPr id="40" name="Text 33"/>
          <p:cNvSpPr txBox="1"/>
          <p:nvPr/>
        </p:nvSpPr>
        <p:spPr>
          <a:xfrm>
            <a:off x="9729216" y="3886200"/>
            <a:ext cx="1737360" cy="1645920"/>
          </a:xfrm>
          <a:prstGeom prst="rect">
            <a:avLst/>
          </a:prstGeom>
          <a:noFill/>
          <a:ln/>
        </p:spPr>
        <p:txBody>
          <a:bodyPr wrap="square" lIns="0" tIns="0" rIns="0" bIns="0" rtlCol="0" anchor="ctr"/>
          <a:lstStyle/>
          <a:p>
            <a:pPr algn="ctr" indent="0" marL="0">
              <a:buNone/>
            </a:pPr>
            <a:r>
              <a:rPr lang="en-US" sz="1500" b="1" dirty="0">
                <a:solidFill>
                  <a:srgbClr val="0B032B"/>
                </a:solidFill>
                <a:latin typeface="Calibri" pitchFamily="34" charset="0"/>
                <a:ea typeface="Calibri" pitchFamily="34" charset="-122"/>
                <a:cs typeface="Calibri" pitchFamily="34" charset="-120"/>
              </a:rPr>
              <a:t>Garder le cap fixé par le programme municipal.</a:t>
            </a:r>
            <a:endParaRPr lang="en-US" sz="1500" dirty="0"/>
          </a:p>
        </p:txBody>
      </p:sp>
      <p:sp>
        <p:nvSpPr>
          <p:cNvPr id="41" name="Text 34"/>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spc="100" kern="0" dirty="0">
                <a:solidFill>
                  <a:srgbClr val="8A8699"/>
                </a:solidFill>
                <a:latin typeface="Calibri" pitchFamily="34" charset="0"/>
                <a:ea typeface="Calibri" pitchFamily="34" charset="-122"/>
                <a:cs typeface="Calibri" pitchFamily="34" charset="-120"/>
              </a:rPr>
              <a:t>ENMA FORMATION  ·  Formation des élus municipaux 2026</a:t>
            </a:r>
            <a:endParaRPr lang="en-US" sz="900" dirty="0"/>
          </a:p>
        </p:txBody>
      </p:sp>
      <p:sp>
        <p:nvSpPr>
          <p:cNvPr id="42" name="Text 35"/>
          <p:cNvSpPr txBox="1"/>
          <p:nvPr/>
        </p:nvSpPr>
        <p:spPr>
          <a:xfrm>
            <a:off x="9692640" y="6400800"/>
            <a:ext cx="548640" cy="274320"/>
          </a:xfrm>
          <a:prstGeom prst="rect">
            <a:avLst/>
          </a:prstGeom>
          <a:noFill/>
          <a:ln/>
        </p:spPr>
        <p:txBody>
          <a:bodyPr wrap="square" lIns="0" tIns="0" rIns="0" bIns="0" rtlCol="0" anchor="ctr"/>
          <a:lstStyle/>
          <a:p>
            <a:pPr algn="r" indent="0" marL="0">
              <a:buNone/>
            </a:pPr>
            <a:r>
              <a:rPr lang="en-US" sz="900" dirty="0">
                <a:solidFill>
                  <a:srgbClr val="8A8699"/>
                </a:solidFill>
                <a:latin typeface="Calibri" pitchFamily="34" charset="0"/>
                <a:ea typeface="Calibri" pitchFamily="34" charset="-122"/>
                <a:cs typeface="Calibri" pitchFamily="34" charset="-120"/>
              </a:rPr>
              <a:t>50</a:t>
            </a:r>
            <a:endParaRPr lang="en-US" sz="900" dirty="0"/>
          </a:p>
        </p:txBody>
      </p:sp>
      <p:pic>
        <p:nvPicPr>
          <p:cNvPr id="43" name="Image 5" descr="preencoded.png">    </p:cNvPr>
          <p:cNvPicPr>
            <a:picLocks noChangeAspect="1"/>
          </p:cNvPicPr>
          <p:nvPr/>
        </p:nvPicPr>
        <p:blipFill>
          <a:blip r:embed="rId6"/>
          <a:stretch>
            <a:fillRect/>
          </a:stretch>
        </p:blipFill>
        <p:spPr>
          <a:xfrm>
            <a:off x="10469880" y="6309360"/>
            <a:ext cx="1170432" cy="484632"/>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B032B"/>
        </a:solidFill>
      </p:bgPr>
    </p:bg>
    <p:spTree>
      <p:nvGrpSpPr>
        <p:cNvPr id="1" name=""/>
        <p:cNvGrpSpPr/>
        <p:nvPr/>
      </p:nvGrpSpPr>
      <p:grpSpPr>
        <a:xfrm>
          <a:off x="0" y="0"/>
          <a:ext cx="0" cy="0"/>
          <a:chOff x="0" y="0"/>
          <a:chExt cx="0" cy="0"/>
        </a:xfrm>
      </p:grpSpPr>
      <p:sp>
        <p:nvSpPr>
          <p:cNvPr id="2" name="Shape 0"/>
          <p:cNvSpPr/>
          <p:nvPr/>
        </p:nvSpPr>
        <p:spPr>
          <a:xfrm>
            <a:off x="548640" y="438912"/>
            <a:ext cx="420624" cy="310896"/>
          </a:xfrm>
          <a:prstGeom prst="roundRect">
            <a:avLst>
              <a:gd name="adj" fmla="val 23529"/>
            </a:avLst>
          </a:prstGeom>
          <a:solidFill>
            <a:srgbClr val="FFF9C7"/>
          </a:solidFill>
          <a:ln/>
        </p:spPr>
      </p:sp>
      <p:sp>
        <p:nvSpPr>
          <p:cNvPr id="3" name="Text 1"/>
          <p:cNvSpPr txBox="1"/>
          <p:nvPr/>
        </p:nvSpPr>
        <p:spPr>
          <a:xfrm>
            <a:off x="548640" y="438912"/>
            <a:ext cx="420624" cy="310896"/>
          </a:xfrm>
          <a:prstGeom prst="rect">
            <a:avLst/>
          </a:prstGeom>
          <a:noFill/>
          <a:ln/>
        </p:spPr>
        <p:txBody>
          <a:bodyPr wrap="square" lIns="0" tIns="0" rIns="0" bIns="0" rtlCol="0" anchor="ctr"/>
          <a:lstStyle/>
          <a:p>
            <a:pPr algn="ctr" indent="0" marL="0">
              <a:buNone/>
            </a:pPr>
            <a:r>
              <a:rPr lang="en-US" sz="1100" b="1" dirty="0">
                <a:solidFill>
                  <a:srgbClr val="0B032B"/>
                </a:solidFill>
                <a:latin typeface="Calibri" pitchFamily="34" charset="0"/>
                <a:ea typeface="Calibri" pitchFamily="34" charset="-122"/>
                <a:cs typeface="Calibri" pitchFamily="34" charset="-120"/>
              </a:rPr>
              <a:t>07</a:t>
            </a:r>
            <a:endParaRPr lang="en-US" sz="1100" dirty="0"/>
          </a:p>
        </p:txBody>
      </p:sp>
      <p:sp>
        <p:nvSpPr>
          <p:cNvPr id="4" name="Text 2"/>
          <p:cNvSpPr txBox="1"/>
          <p:nvPr/>
        </p:nvSpPr>
        <p:spPr>
          <a:xfrm>
            <a:off x="1115568" y="438912"/>
            <a:ext cx="8229600" cy="310896"/>
          </a:xfrm>
          <a:prstGeom prst="rect">
            <a:avLst/>
          </a:prstGeom>
          <a:noFill/>
          <a:ln/>
        </p:spPr>
        <p:txBody>
          <a:bodyPr wrap="square" lIns="0" tIns="0" rIns="0" bIns="0" rtlCol="0" anchor="ctr"/>
          <a:lstStyle/>
          <a:p>
            <a:pPr indent="0" marL="0">
              <a:buNone/>
            </a:pPr>
            <a:r>
              <a:rPr lang="en-US" sz="1100" b="1" spc="200" kern="0" dirty="0">
                <a:solidFill>
                  <a:srgbClr val="FFF9C7"/>
                </a:solidFill>
                <a:latin typeface="Calibri" pitchFamily="34" charset="0"/>
                <a:ea typeface="Calibri" pitchFamily="34" charset="-122"/>
                <a:cs typeface="Calibri" pitchFamily="34" charset="-120"/>
              </a:rPr>
              <a:t>CONCLUSION</a:t>
            </a:r>
            <a:endParaRPr lang="en-US" sz="1100" dirty="0"/>
          </a:p>
        </p:txBody>
      </p:sp>
      <p:sp>
        <p:nvSpPr>
          <p:cNvPr id="5" name="Text 3"/>
          <p:cNvSpPr txBox="1"/>
          <p:nvPr/>
        </p:nvSpPr>
        <p:spPr>
          <a:xfrm>
            <a:off x="548640" y="841248"/>
            <a:ext cx="11064240" cy="685800"/>
          </a:xfrm>
          <a:prstGeom prst="rect">
            <a:avLst/>
          </a:prstGeom>
          <a:noFill/>
          <a:ln/>
        </p:spPr>
        <p:txBody>
          <a:bodyPr wrap="square" lIns="0" tIns="0" rIns="0" bIns="0" rtlCol="0" anchor="ctr">
            <a:normAutofit/>
          </a:bodyPr>
          <a:lstStyle/>
          <a:p>
            <a:pPr indent="0" marL="0">
              <a:buNone/>
            </a:pPr>
            <a:r>
              <a:rPr lang="en-US" sz="2800" b="1" dirty="0">
                <a:solidFill>
                  <a:srgbClr val="FFFFFF"/>
                </a:solidFill>
                <a:latin typeface="Calibri" pitchFamily="34" charset="0"/>
                <a:ea typeface="Calibri" pitchFamily="34" charset="-122"/>
                <a:cs typeface="Calibri" pitchFamily="34" charset="-120"/>
              </a:rPr>
              <a:t>Un mandat est un marathon, pas un sprint</a:t>
            </a:r>
            <a:endParaRPr lang="en-US" sz="2800" dirty="0"/>
          </a:p>
        </p:txBody>
      </p:sp>
      <p:pic>
        <p:nvPicPr>
          <p:cNvPr id="6" name="Image 0" descr="preencoded.png">    </p:cNvPr>
          <p:cNvPicPr>
            <a:picLocks noChangeAspect="1"/>
          </p:cNvPicPr>
          <p:nvPr/>
        </p:nvPicPr>
        <p:blipFill>
          <a:blip r:embed="rId1"/>
          <a:stretch>
            <a:fillRect/>
          </a:stretch>
        </p:blipFill>
        <p:spPr>
          <a:xfrm>
            <a:off x="1280160" y="1417320"/>
            <a:ext cx="9601200" cy="3456432"/>
          </a:xfrm>
          <a:prstGeom prst="rect">
            <a:avLst/>
          </a:prstGeom>
        </p:spPr>
      </p:pic>
      <p:sp>
        <p:nvSpPr>
          <p:cNvPr id="7" name="Text 4"/>
          <p:cNvSpPr txBox="1"/>
          <p:nvPr/>
        </p:nvSpPr>
        <p:spPr>
          <a:xfrm>
            <a:off x="1399032" y="3593592"/>
            <a:ext cx="914400" cy="274320"/>
          </a:xfrm>
          <a:prstGeom prst="rect">
            <a:avLst/>
          </a:prstGeom>
          <a:noFill/>
          <a:ln/>
        </p:spPr>
        <p:txBody>
          <a:bodyPr wrap="square" lIns="0" tIns="0" rIns="0" bIns="0" rtlCol="0" anchor="t"/>
          <a:lstStyle/>
          <a:p>
            <a:pPr algn="ctr" indent="0" marL="0">
              <a:buNone/>
            </a:pPr>
            <a:r>
              <a:rPr lang="en-US" sz="1200" b="1" dirty="0">
                <a:solidFill>
                  <a:srgbClr val="B3B3BA"/>
                </a:solidFill>
                <a:latin typeface="Calibri" pitchFamily="34" charset="0"/>
                <a:ea typeface="Calibri" pitchFamily="34" charset="-122"/>
                <a:cs typeface="Calibri" pitchFamily="34" charset="-120"/>
              </a:rPr>
              <a:t>2026</a:t>
            </a:r>
            <a:endParaRPr lang="en-US" sz="1200" dirty="0"/>
          </a:p>
        </p:txBody>
      </p:sp>
      <p:sp>
        <p:nvSpPr>
          <p:cNvPr id="8" name="Text 5"/>
          <p:cNvSpPr txBox="1"/>
          <p:nvPr/>
        </p:nvSpPr>
        <p:spPr>
          <a:xfrm>
            <a:off x="2807208" y="4171756"/>
            <a:ext cx="914400" cy="274320"/>
          </a:xfrm>
          <a:prstGeom prst="rect">
            <a:avLst/>
          </a:prstGeom>
          <a:noFill/>
          <a:ln/>
        </p:spPr>
        <p:txBody>
          <a:bodyPr wrap="square" lIns="0" tIns="0" rIns="0" bIns="0" rtlCol="0" anchor="t"/>
          <a:lstStyle/>
          <a:p>
            <a:pPr algn="ctr" indent="0" marL="0">
              <a:buNone/>
            </a:pPr>
            <a:r>
              <a:rPr lang="en-US" sz="1200" b="1" dirty="0">
                <a:solidFill>
                  <a:srgbClr val="B3B3BA"/>
                </a:solidFill>
                <a:latin typeface="Calibri" pitchFamily="34" charset="0"/>
                <a:ea typeface="Calibri" pitchFamily="34" charset="-122"/>
                <a:cs typeface="Calibri" pitchFamily="34" charset="-120"/>
              </a:rPr>
              <a:t>2027</a:t>
            </a:r>
            <a:endParaRPr lang="en-US" sz="1200" dirty="0"/>
          </a:p>
        </p:txBody>
      </p:sp>
      <p:sp>
        <p:nvSpPr>
          <p:cNvPr id="9" name="Text 6"/>
          <p:cNvSpPr txBox="1"/>
          <p:nvPr/>
        </p:nvSpPr>
        <p:spPr>
          <a:xfrm>
            <a:off x="4215384" y="4034778"/>
            <a:ext cx="914400" cy="274320"/>
          </a:xfrm>
          <a:prstGeom prst="rect">
            <a:avLst/>
          </a:prstGeom>
          <a:noFill/>
          <a:ln/>
        </p:spPr>
        <p:txBody>
          <a:bodyPr wrap="square" lIns="0" tIns="0" rIns="0" bIns="0" rtlCol="0" anchor="t"/>
          <a:lstStyle/>
          <a:p>
            <a:pPr algn="ctr" indent="0" marL="0">
              <a:buNone/>
            </a:pPr>
            <a:r>
              <a:rPr lang="en-US" sz="1200" b="1" dirty="0">
                <a:solidFill>
                  <a:srgbClr val="B3B3BA"/>
                </a:solidFill>
                <a:latin typeface="Calibri" pitchFamily="34" charset="0"/>
                <a:ea typeface="Calibri" pitchFamily="34" charset="-122"/>
                <a:cs typeface="Calibri" pitchFamily="34" charset="-120"/>
              </a:rPr>
              <a:t>2028</a:t>
            </a:r>
            <a:endParaRPr lang="en-US" sz="1200" dirty="0"/>
          </a:p>
        </p:txBody>
      </p:sp>
      <p:sp>
        <p:nvSpPr>
          <p:cNvPr id="10" name="Text 7"/>
          <p:cNvSpPr txBox="1"/>
          <p:nvPr/>
        </p:nvSpPr>
        <p:spPr>
          <a:xfrm>
            <a:off x="5623560" y="3422252"/>
            <a:ext cx="914400" cy="274320"/>
          </a:xfrm>
          <a:prstGeom prst="rect">
            <a:avLst/>
          </a:prstGeom>
          <a:noFill/>
          <a:ln/>
        </p:spPr>
        <p:txBody>
          <a:bodyPr wrap="square" lIns="0" tIns="0" rIns="0" bIns="0" rtlCol="0" anchor="t"/>
          <a:lstStyle/>
          <a:p>
            <a:pPr algn="ctr" indent="0" marL="0">
              <a:buNone/>
            </a:pPr>
            <a:r>
              <a:rPr lang="en-US" sz="1200" b="1" dirty="0">
                <a:solidFill>
                  <a:srgbClr val="B3B3BA"/>
                </a:solidFill>
                <a:latin typeface="Calibri" pitchFamily="34" charset="0"/>
                <a:ea typeface="Calibri" pitchFamily="34" charset="-122"/>
                <a:cs typeface="Calibri" pitchFamily="34" charset="-120"/>
              </a:rPr>
              <a:t>2029</a:t>
            </a:r>
            <a:endParaRPr lang="en-US" sz="1200" dirty="0"/>
          </a:p>
        </p:txBody>
      </p:sp>
      <p:sp>
        <p:nvSpPr>
          <p:cNvPr id="11" name="Text 8"/>
          <p:cNvSpPr txBox="1"/>
          <p:nvPr/>
        </p:nvSpPr>
        <p:spPr>
          <a:xfrm>
            <a:off x="7031736" y="3081150"/>
            <a:ext cx="914400" cy="274320"/>
          </a:xfrm>
          <a:prstGeom prst="rect">
            <a:avLst/>
          </a:prstGeom>
          <a:noFill/>
          <a:ln/>
        </p:spPr>
        <p:txBody>
          <a:bodyPr wrap="square" lIns="0" tIns="0" rIns="0" bIns="0" rtlCol="0" anchor="t"/>
          <a:lstStyle/>
          <a:p>
            <a:pPr algn="ctr" indent="0" marL="0">
              <a:buNone/>
            </a:pPr>
            <a:r>
              <a:rPr lang="en-US" sz="1200" b="1" dirty="0">
                <a:solidFill>
                  <a:srgbClr val="B3B3BA"/>
                </a:solidFill>
                <a:latin typeface="Calibri" pitchFamily="34" charset="0"/>
                <a:ea typeface="Calibri" pitchFamily="34" charset="-122"/>
                <a:cs typeface="Calibri" pitchFamily="34" charset="-120"/>
              </a:rPr>
              <a:t>2030</a:t>
            </a:r>
            <a:endParaRPr lang="en-US" sz="1200" dirty="0"/>
          </a:p>
        </p:txBody>
      </p:sp>
      <p:sp>
        <p:nvSpPr>
          <p:cNvPr id="12" name="Text 9"/>
          <p:cNvSpPr txBox="1"/>
          <p:nvPr/>
        </p:nvSpPr>
        <p:spPr>
          <a:xfrm>
            <a:off x="8439912" y="3355562"/>
            <a:ext cx="914400" cy="274320"/>
          </a:xfrm>
          <a:prstGeom prst="rect">
            <a:avLst/>
          </a:prstGeom>
          <a:noFill/>
          <a:ln/>
        </p:spPr>
        <p:txBody>
          <a:bodyPr wrap="square" lIns="0" tIns="0" rIns="0" bIns="0" rtlCol="0" anchor="t"/>
          <a:lstStyle/>
          <a:p>
            <a:pPr algn="ctr" indent="0" marL="0">
              <a:buNone/>
            </a:pPr>
            <a:r>
              <a:rPr lang="en-US" sz="1200" b="1" dirty="0">
                <a:solidFill>
                  <a:srgbClr val="B3B3BA"/>
                </a:solidFill>
                <a:latin typeface="Calibri" pitchFamily="34" charset="0"/>
                <a:ea typeface="Calibri" pitchFamily="34" charset="-122"/>
                <a:cs typeface="Calibri" pitchFamily="34" charset="-120"/>
              </a:rPr>
              <a:t>2031</a:t>
            </a:r>
            <a:endParaRPr lang="en-US" sz="1200" dirty="0"/>
          </a:p>
        </p:txBody>
      </p:sp>
      <p:sp>
        <p:nvSpPr>
          <p:cNvPr id="13" name="Text 10"/>
          <p:cNvSpPr txBox="1"/>
          <p:nvPr/>
        </p:nvSpPr>
        <p:spPr>
          <a:xfrm>
            <a:off x="9848088" y="3850369"/>
            <a:ext cx="914400" cy="274320"/>
          </a:xfrm>
          <a:prstGeom prst="rect">
            <a:avLst/>
          </a:prstGeom>
          <a:noFill/>
          <a:ln/>
        </p:spPr>
        <p:txBody>
          <a:bodyPr wrap="square" lIns="0" tIns="0" rIns="0" bIns="0" rtlCol="0" anchor="t"/>
          <a:lstStyle/>
          <a:p>
            <a:pPr algn="ctr" indent="0" marL="0">
              <a:buNone/>
            </a:pPr>
            <a:r>
              <a:rPr lang="en-US" sz="1200" b="1" dirty="0">
                <a:solidFill>
                  <a:srgbClr val="FFF9C7"/>
                </a:solidFill>
                <a:latin typeface="Calibri" pitchFamily="34" charset="0"/>
                <a:ea typeface="Calibri" pitchFamily="34" charset="-122"/>
                <a:cs typeface="Calibri" pitchFamily="34" charset="-120"/>
              </a:rPr>
              <a:t>2032</a:t>
            </a:r>
            <a:endParaRPr lang="en-US" sz="1200" dirty="0"/>
          </a:p>
        </p:txBody>
      </p:sp>
      <p:sp>
        <p:nvSpPr>
          <p:cNvPr id="14" name="Text 11"/>
          <p:cNvSpPr txBox="1"/>
          <p:nvPr/>
        </p:nvSpPr>
        <p:spPr>
          <a:xfrm>
            <a:off x="548640" y="4846320"/>
            <a:ext cx="5120640" cy="1371600"/>
          </a:xfrm>
          <a:prstGeom prst="rect">
            <a:avLst/>
          </a:prstGeom>
          <a:noFill/>
          <a:ln/>
        </p:spPr>
        <p:txBody>
          <a:bodyPr wrap="square" lIns="0" tIns="0" rIns="0" bIns="0" rtlCol="0" anchor="t"/>
          <a:lstStyle/>
          <a:p>
            <a:pPr indent="0" marL="0">
              <a:lnSpc>
                <a:spcPct val="108000"/>
              </a:lnSpc>
              <a:buNone/>
            </a:pPr>
            <a:r>
              <a:rPr lang="en-US" sz="1450" dirty="0">
                <a:solidFill>
                  <a:srgbClr val="FFFFFF"/>
                </a:solidFill>
                <a:latin typeface="Calibri" pitchFamily="34" charset="0"/>
                <a:ea typeface="Calibri" pitchFamily="34" charset="-122"/>
                <a:cs typeface="Calibri" pitchFamily="34" charset="-120"/>
              </a:rPr>
              <a:t>Les six années d’un mandat demandent de la patience, de la persévérance et de la constance. Les projets les plus ambitieux nécessitent du temps, du dialogue et un travail collectif.</a:t>
            </a:r>
            <a:endParaRPr lang="en-US" sz="1450" dirty="0"/>
          </a:p>
        </p:txBody>
      </p:sp>
      <p:sp>
        <p:nvSpPr>
          <p:cNvPr id="15" name="Text 12"/>
          <p:cNvSpPr txBox="1"/>
          <p:nvPr/>
        </p:nvSpPr>
        <p:spPr>
          <a:xfrm>
            <a:off x="5943600" y="4846320"/>
            <a:ext cx="5696712" cy="1417320"/>
          </a:xfrm>
          <a:prstGeom prst="rect">
            <a:avLst/>
          </a:prstGeom>
          <a:noFill/>
          <a:ln/>
        </p:spPr>
        <p:txBody>
          <a:bodyPr wrap="square" lIns="0" tIns="0" rIns="0" bIns="0" rtlCol="0" anchor="t">
            <a:normAutofit/>
          </a:bodyPr>
          <a:lstStyle/>
          <a:p>
            <a:pPr indent="0" marL="0">
              <a:buNone/>
            </a:pPr>
            <a:r>
              <a:rPr lang="en-US" sz="1150" dirty="0">
                <a:solidFill>
                  <a:srgbClr val="B3B3BA"/>
                </a:solidFill>
                <a:latin typeface="Calibri" pitchFamily="34" charset="0"/>
                <a:ea typeface="Calibri" pitchFamily="34" charset="-122"/>
                <a:cs typeface="Calibri" pitchFamily="34" charset="-120"/>
              </a:rPr>
              <a:t>La réussite d’une municipalité repose avant tout sur une équipe soudée, qui partage une vision commune et avance dans la même direction. Les débats ont toute leur place avant les décisions ; une fois celles-ci prises, la solidarité de l’équipe est un facteur essentiel de crédibilité et d’efficacité. Soutenir l’action du maire et de l’équipe municipale, dans le respect des rôles de chacun, contribue à la stabilité et à la réussite du projet communal présenté aux électeurs.</a:t>
            </a:r>
            <a:endParaRPr lang="en-US" sz="1150" dirty="0"/>
          </a:p>
        </p:txBody>
      </p:sp>
      <p:sp>
        <p:nvSpPr>
          <p:cNvPr id="16" name="Text 13"/>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spc="100" kern="0" dirty="0">
                <a:solidFill>
                  <a:srgbClr val="B3B3BA"/>
                </a:solidFill>
                <a:latin typeface="Calibri" pitchFamily="34" charset="0"/>
                <a:ea typeface="Calibri" pitchFamily="34" charset="-122"/>
                <a:cs typeface="Calibri" pitchFamily="34" charset="-120"/>
              </a:rPr>
              <a:t>ENMA FORMATION  ·  Formation des élus municipaux 2026</a:t>
            </a:r>
            <a:endParaRPr lang="en-US" sz="900" dirty="0"/>
          </a:p>
        </p:txBody>
      </p:sp>
      <p:sp>
        <p:nvSpPr>
          <p:cNvPr id="17" name="Text 14"/>
          <p:cNvSpPr txBox="1"/>
          <p:nvPr/>
        </p:nvSpPr>
        <p:spPr>
          <a:xfrm>
            <a:off x="9692640" y="6400800"/>
            <a:ext cx="548640" cy="274320"/>
          </a:xfrm>
          <a:prstGeom prst="rect">
            <a:avLst/>
          </a:prstGeom>
          <a:noFill/>
          <a:ln/>
        </p:spPr>
        <p:txBody>
          <a:bodyPr wrap="square" lIns="0" tIns="0" rIns="0" bIns="0" rtlCol="0" anchor="ctr"/>
          <a:lstStyle/>
          <a:p>
            <a:pPr algn="r" indent="0" marL="0">
              <a:buNone/>
            </a:pPr>
            <a:r>
              <a:rPr lang="en-US" sz="900" dirty="0">
                <a:solidFill>
                  <a:srgbClr val="B3B3BA"/>
                </a:solidFill>
                <a:latin typeface="Calibri" pitchFamily="34" charset="0"/>
                <a:ea typeface="Calibri" pitchFamily="34" charset="-122"/>
                <a:cs typeface="Calibri" pitchFamily="34" charset="-120"/>
              </a:rPr>
              <a:t>51</a:t>
            </a:r>
            <a:endParaRPr lang="en-US" sz="900" dirty="0"/>
          </a:p>
        </p:txBody>
      </p:sp>
      <p:pic>
        <p:nvPicPr>
          <p:cNvPr id="18" name="Image 1" descr="preencoded.png">    </p:cNvPr>
          <p:cNvPicPr>
            <a:picLocks noChangeAspect="1"/>
          </p:cNvPicPr>
          <p:nvPr/>
        </p:nvPicPr>
        <p:blipFill>
          <a:blip r:embed="rId2"/>
          <a:stretch>
            <a:fillRect/>
          </a:stretch>
        </p:blipFill>
        <p:spPr>
          <a:xfrm>
            <a:off x="10469880" y="6309360"/>
            <a:ext cx="1170432" cy="484632"/>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B032B"/>
        </a:solidFill>
      </p:bgPr>
    </p:bg>
    <p:spTree>
      <p:nvGrpSpPr>
        <p:cNvPr id="1" name=""/>
        <p:cNvGrpSpPr/>
        <p:nvPr/>
      </p:nvGrpSpPr>
      <p:grpSpPr>
        <a:xfrm>
          <a:off x="0" y="0"/>
          <a:ext cx="0" cy="0"/>
          <a:chOff x="0" y="0"/>
          <a:chExt cx="0" cy="0"/>
        </a:xfrm>
      </p:grpSpPr>
      <p:sp>
        <p:nvSpPr>
          <p:cNvPr id="2" name="Text 0"/>
          <p:cNvSpPr txBox="1"/>
          <p:nvPr/>
        </p:nvSpPr>
        <p:spPr>
          <a:xfrm>
            <a:off x="548640" y="640080"/>
            <a:ext cx="4114800" cy="2286000"/>
          </a:xfrm>
          <a:prstGeom prst="rect">
            <a:avLst/>
          </a:prstGeom>
          <a:noFill/>
          <a:ln/>
        </p:spPr>
        <p:txBody>
          <a:bodyPr wrap="square" lIns="0" tIns="0" rIns="0" bIns="0" rtlCol="0" anchor="b"/>
          <a:lstStyle/>
          <a:p>
            <a:pPr indent="0" marL="0">
              <a:buNone/>
            </a:pPr>
            <a:r>
              <a:rPr lang="en-US" sz="15000" dirty="0">
                <a:solidFill>
                  <a:srgbClr val="FFF9C7"/>
                </a:solidFill>
                <a:latin typeface="Impact" pitchFamily="34" charset="0"/>
                <a:ea typeface="Impact" pitchFamily="34" charset="-122"/>
                <a:cs typeface="Impact" pitchFamily="34" charset="-120"/>
              </a:rPr>
              <a:t>08</a:t>
            </a:r>
            <a:endParaRPr lang="en-US" sz="15000" dirty="0"/>
          </a:p>
        </p:txBody>
      </p:sp>
      <p:sp>
        <p:nvSpPr>
          <p:cNvPr id="3" name="Text 1"/>
          <p:cNvSpPr txBox="1"/>
          <p:nvPr/>
        </p:nvSpPr>
        <p:spPr>
          <a:xfrm>
            <a:off x="594360" y="3017520"/>
            <a:ext cx="5486400" cy="320040"/>
          </a:xfrm>
          <a:prstGeom prst="rect">
            <a:avLst/>
          </a:prstGeom>
          <a:noFill/>
          <a:ln/>
        </p:spPr>
        <p:txBody>
          <a:bodyPr wrap="square" lIns="0" tIns="0" rIns="0" bIns="0" rtlCol="0" anchor="t"/>
          <a:lstStyle/>
          <a:p>
            <a:pPr indent="0" marL="0">
              <a:buNone/>
            </a:pPr>
            <a:r>
              <a:rPr lang="en-US" sz="1300" b="1" spc="400" kern="0" dirty="0">
                <a:solidFill>
                  <a:srgbClr val="FFF9C7"/>
                </a:solidFill>
                <a:latin typeface="Calibri" pitchFamily="34" charset="0"/>
                <a:ea typeface="Calibri" pitchFamily="34" charset="-122"/>
                <a:cs typeface="Calibri" pitchFamily="34" charset="-120"/>
              </a:rPr>
              <a:t>MISES EN SITUATION &amp; RETOURS D’EXPÉRIENCE</a:t>
            </a:r>
            <a:endParaRPr lang="en-US" sz="1300" dirty="0"/>
          </a:p>
        </p:txBody>
      </p:sp>
      <p:sp>
        <p:nvSpPr>
          <p:cNvPr id="4" name="Text 2"/>
          <p:cNvSpPr txBox="1"/>
          <p:nvPr/>
        </p:nvSpPr>
        <p:spPr>
          <a:xfrm>
            <a:off x="548640" y="3401568"/>
            <a:ext cx="5486400" cy="1463040"/>
          </a:xfrm>
          <a:prstGeom prst="rect">
            <a:avLst/>
          </a:prstGeom>
          <a:noFill/>
          <a:ln/>
        </p:spPr>
        <p:txBody>
          <a:bodyPr wrap="square" lIns="0" tIns="0" rIns="0" bIns="0"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Des cas pratiques vécus aux évolutions du programme</a:t>
            </a:r>
            <a:endParaRPr lang="en-US" sz="3000" dirty="0"/>
          </a:p>
        </p:txBody>
      </p:sp>
      <p:sp>
        <p:nvSpPr>
          <p:cNvPr id="5" name="Text 3"/>
          <p:cNvSpPr txBox="1"/>
          <p:nvPr/>
        </p:nvSpPr>
        <p:spPr>
          <a:xfrm>
            <a:off x="548640" y="4937760"/>
            <a:ext cx="5486400" cy="640080"/>
          </a:xfrm>
          <a:prstGeom prst="rect">
            <a:avLst/>
          </a:prstGeom>
          <a:noFill/>
          <a:ln/>
        </p:spPr>
        <p:txBody>
          <a:bodyPr wrap="square" lIns="0" tIns="0" rIns="0" bIns="0" rtlCol="0" anchor="t">
            <a:normAutofit/>
          </a:bodyPr>
          <a:lstStyle/>
          <a:p>
            <a:pPr indent="0" marL="0">
              <a:buNone/>
            </a:pPr>
            <a:r>
              <a:rPr lang="en-US" sz="1600" dirty="0">
                <a:solidFill>
                  <a:srgbClr val="B3B3BA"/>
                </a:solidFill>
                <a:latin typeface="Calibri" pitchFamily="34" charset="0"/>
                <a:ea typeface="Calibri" pitchFamily="34" charset="-122"/>
                <a:cs typeface="Calibri" pitchFamily="34" charset="-120"/>
              </a:rPr>
              <a:t>16 mises en situation jouées par les élus, ce qu’elles ont révélé, et comment nous avons ajusté la formation.</a:t>
            </a:r>
            <a:endParaRPr lang="en-US" sz="1600" dirty="0"/>
          </a:p>
        </p:txBody>
      </p:sp>
      <p:sp>
        <p:nvSpPr>
          <p:cNvPr id="6" name="Shape 4"/>
          <p:cNvSpPr/>
          <p:nvPr/>
        </p:nvSpPr>
        <p:spPr>
          <a:xfrm>
            <a:off x="548640" y="5623560"/>
            <a:ext cx="3017520" cy="384048"/>
          </a:xfrm>
          <a:prstGeom prst="roundRect">
            <a:avLst>
              <a:gd name="adj" fmla="val 50000"/>
            </a:avLst>
          </a:prstGeom>
          <a:solidFill>
            <a:srgbClr val="0B032B"/>
          </a:solidFill>
          <a:ln w="12700">
            <a:solidFill>
              <a:srgbClr val="FFF9C7"/>
            </a:solidFill>
            <a:prstDash val="solid"/>
          </a:ln>
        </p:spPr>
      </p:sp>
      <p:sp>
        <p:nvSpPr>
          <p:cNvPr id="7" name="Text 5"/>
          <p:cNvSpPr txBox="1"/>
          <p:nvPr/>
        </p:nvSpPr>
        <p:spPr>
          <a:xfrm>
            <a:off x="548640" y="5623560"/>
            <a:ext cx="3017520" cy="384048"/>
          </a:xfrm>
          <a:prstGeom prst="rect">
            <a:avLst/>
          </a:prstGeom>
          <a:noFill/>
          <a:ln/>
        </p:spPr>
        <p:txBody>
          <a:bodyPr wrap="square" lIns="0" tIns="0" rIns="0" bIns="0" rtlCol="0" anchor="ctr"/>
          <a:lstStyle/>
          <a:p>
            <a:pPr algn="ctr" indent="0" marL="0">
              <a:buNone/>
            </a:pPr>
            <a:r>
              <a:rPr lang="en-US" sz="1200" b="1" dirty="0">
                <a:solidFill>
                  <a:srgbClr val="FFF9C7"/>
                </a:solidFill>
                <a:latin typeface="Calibri" pitchFamily="34" charset="0"/>
                <a:ea typeface="Calibri" pitchFamily="34" charset="-122"/>
                <a:cs typeface="Calibri" pitchFamily="34" charset="-120"/>
              </a:rPr>
              <a:t>Sessions de septembre 2026</a:t>
            </a:r>
            <a:endParaRPr lang="en-US" sz="1200" dirty="0"/>
          </a:p>
        </p:txBody>
      </p:sp>
      <p:sp>
        <p:nvSpPr>
          <p:cNvPr id="8" name="Shape 6"/>
          <p:cNvSpPr/>
          <p:nvPr/>
        </p:nvSpPr>
        <p:spPr>
          <a:xfrm>
            <a:off x="6263640" y="411480"/>
            <a:ext cx="5486400" cy="5486400"/>
          </a:xfrm>
          <a:prstGeom prst="ellipse">
            <a:avLst/>
          </a:prstGeom>
          <a:solidFill>
            <a:srgbClr val="0B032B"/>
          </a:solidFill>
          <a:ln w="12700">
            <a:solidFill>
              <a:srgbClr val="FFF9C7"/>
            </a:solidFill>
            <a:prstDash val="dash"/>
          </a:ln>
        </p:spPr>
      </p:sp>
      <p:sp>
        <p:nvSpPr>
          <p:cNvPr id="9" name="Shape 7"/>
          <p:cNvSpPr/>
          <p:nvPr/>
        </p:nvSpPr>
        <p:spPr>
          <a:xfrm>
            <a:off x="6583680" y="731520"/>
            <a:ext cx="4846320" cy="4846320"/>
          </a:xfrm>
          <a:prstGeom prst="ellipse">
            <a:avLst/>
          </a:prstGeom>
          <a:solidFill>
            <a:srgbClr val="FFF9C7"/>
          </a:solidFill>
          <a:ln/>
        </p:spPr>
      </p:sp>
      <p:pic>
        <p:nvPicPr>
          <p:cNvPr id="10" name="Image 0" descr="preencoded.png">    </p:cNvPr>
          <p:cNvPicPr>
            <a:picLocks noChangeAspect="1"/>
          </p:cNvPicPr>
          <p:nvPr/>
        </p:nvPicPr>
        <p:blipFill>
          <a:blip r:embed="rId1"/>
          <a:stretch>
            <a:fillRect/>
          </a:stretch>
        </p:blipFill>
        <p:spPr>
          <a:xfrm>
            <a:off x="7360920" y="1753897"/>
            <a:ext cx="3291840" cy="2801566"/>
          </a:xfrm>
          <a:prstGeom prst="rect">
            <a:avLst/>
          </a:prstGeom>
        </p:spPr>
      </p:pic>
      <p:sp>
        <p:nvSpPr>
          <p:cNvPr id="11" name="Text 8"/>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spc="100" kern="0" dirty="0">
                <a:solidFill>
                  <a:srgbClr val="B3B3BA"/>
                </a:solidFill>
                <a:latin typeface="Calibri" pitchFamily="34" charset="0"/>
                <a:ea typeface="Calibri" pitchFamily="34" charset="-122"/>
                <a:cs typeface="Calibri" pitchFamily="34" charset="-120"/>
              </a:rPr>
              <a:t>ENMA FORMATION  ·  Formation des élus municipaux 2026</a:t>
            </a:r>
            <a:endParaRPr lang="en-US" sz="900" dirty="0"/>
          </a:p>
        </p:txBody>
      </p:sp>
      <p:sp>
        <p:nvSpPr>
          <p:cNvPr id="12" name="Text 9"/>
          <p:cNvSpPr txBox="1"/>
          <p:nvPr/>
        </p:nvSpPr>
        <p:spPr>
          <a:xfrm>
            <a:off x="9692640" y="6400800"/>
            <a:ext cx="548640" cy="274320"/>
          </a:xfrm>
          <a:prstGeom prst="rect">
            <a:avLst/>
          </a:prstGeom>
          <a:noFill/>
          <a:ln/>
        </p:spPr>
        <p:txBody>
          <a:bodyPr wrap="square" lIns="0" tIns="0" rIns="0" bIns="0" rtlCol="0" anchor="ctr"/>
          <a:lstStyle/>
          <a:p>
            <a:pPr algn="r" indent="0" marL="0">
              <a:buNone/>
            </a:pPr>
            <a:r>
              <a:rPr lang="en-US" sz="900" dirty="0">
                <a:solidFill>
                  <a:srgbClr val="B3B3BA"/>
                </a:solidFill>
                <a:latin typeface="Calibri" pitchFamily="34" charset="0"/>
                <a:ea typeface="Calibri" pitchFamily="34" charset="-122"/>
                <a:cs typeface="Calibri" pitchFamily="34" charset="-120"/>
              </a:rPr>
              <a:t>52</a:t>
            </a:r>
            <a:endParaRPr lang="en-US" sz="900" dirty="0"/>
          </a:p>
        </p:txBody>
      </p:sp>
      <p:pic>
        <p:nvPicPr>
          <p:cNvPr id="13" name="Image 1" descr="preencoded.png">    </p:cNvPr>
          <p:cNvPicPr>
            <a:picLocks noChangeAspect="1"/>
          </p:cNvPicPr>
          <p:nvPr/>
        </p:nvPicPr>
        <p:blipFill>
          <a:blip r:embed="rId2"/>
          <a:stretch>
            <a:fillRect/>
          </a:stretch>
        </p:blipFill>
        <p:spPr>
          <a:xfrm>
            <a:off x="10469880" y="6309360"/>
            <a:ext cx="1170432" cy="484632"/>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420624" cy="310896"/>
          </a:xfrm>
          <a:prstGeom prst="roundRect">
            <a:avLst>
              <a:gd name="adj" fmla="val 23529"/>
            </a:avLst>
          </a:prstGeom>
          <a:solidFill>
            <a:srgbClr val="0B032B"/>
          </a:solidFill>
          <a:ln/>
        </p:spPr>
      </p:sp>
      <p:sp>
        <p:nvSpPr>
          <p:cNvPr id="3" name="Text 1"/>
          <p:cNvSpPr txBox="1"/>
          <p:nvPr/>
        </p:nvSpPr>
        <p:spPr>
          <a:xfrm>
            <a:off x="548640" y="438912"/>
            <a:ext cx="420624" cy="310896"/>
          </a:xfrm>
          <a:prstGeom prst="rect">
            <a:avLst/>
          </a:prstGeom>
          <a:noFill/>
          <a:ln/>
        </p:spPr>
        <p:txBody>
          <a:bodyPr wrap="square" lIns="0" tIns="0" rIns="0" bIns="0" rtlCol="0" anchor="ctr"/>
          <a:lstStyle/>
          <a:p>
            <a:pPr algn="ctr" indent="0" marL="0">
              <a:buNone/>
            </a:pPr>
            <a:r>
              <a:rPr lang="en-US" sz="1100" b="1" dirty="0">
                <a:solidFill>
                  <a:srgbClr val="FFF9C7"/>
                </a:solidFill>
                <a:latin typeface="Calibri" pitchFamily="34" charset="0"/>
                <a:ea typeface="Calibri" pitchFamily="34" charset="-122"/>
                <a:cs typeface="Calibri" pitchFamily="34" charset="-120"/>
              </a:rPr>
              <a:t>08</a:t>
            </a:r>
            <a:endParaRPr lang="en-US" sz="1100" dirty="0"/>
          </a:p>
        </p:txBody>
      </p:sp>
      <p:sp>
        <p:nvSpPr>
          <p:cNvPr id="4" name="Text 2"/>
          <p:cNvSpPr txBox="1"/>
          <p:nvPr/>
        </p:nvSpPr>
        <p:spPr>
          <a:xfrm>
            <a:off x="1115568" y="438912"/>
            <a:ext cx="8229600" cy="310896"/>
          </a:xfrm>
          <a:prstGeom prst="rect">
            <a:avLst/>
          </a:prstGeom>
          <a:noFill/>
          <a:ln/>
        </p:spPr>
        <p:txBody>
          <a:bodyPr wrap="square" lIns="0" tIns="0" rIns="0" bIns="0" rtlCol="0" anchor="ctr"/>
          <a:lstStyle/>
          <a:p>
            <a:pPr indent="0" marL="0">
              <a:buNone/>
            </a:pPr>
            <a:r>
              <a:rPr lang="en-US" sz="1100" b="1" spc="200" kern="0" dirty="0">
                <a:solidFill>
                  <a:srgbClr val="55516E"/>
                </a:solidFill>
                <a:latin typeface="Calibri" pitchFamily="34" charset="0"/>
                <a:ea typeface="Calibri" pitchFamily="34" charset="-122"/>
                <a:cs typeface="Calibri" pitchFamily="34" charset="-120"/>
              </a:rPr>
              <a:t>MISES EN SITUATION</a:t>
            </a:r>
            <a:endParaRPr lang="en-US" sz="1100" dirty="0"/>
          </a:p>
        </p:txBody>
      </p:sp>
      <p:sp>
        <p:nvSpPr>
          <p:cNvPr id="5" name="Text 3"/>
          <p:cNvSpPr txBox="1"/>
          <p:nvPr/>
        </p:nvSpPr>
        <p:spPr>
          <a:xfrm>
            <a:off x="548640" y="841248"/>
            <a:ext cx="11064240" cy="685800"/>
          </a:xfrm>
          <a:prstGeom prst="rect">
            <a:avLst/>
          </a:prstGeom>
          <a:noFill/>
          <a:ln/>
        </p:spPr>
        <p:txBody>
          <a:bodyPr wrap="square" lIns="0" tIns="0" rIns="0" bIns="0" rtlCol="0" anchor="ctr">
            <a:normAutofit/>
          </a:bodyPr>
          <a:lstStyle/>
          <a:p>
            <a:pPr indent="0" marL="0">
              <a:buNone/>
            </a:pPr>
            <a:r>
              <a:rPr lang="en-US" sz="2800" b="1" dirty="0">
                <a:solidFill>
                  <a:srgbClr val="0B032B"/>
                </a:solidFill>
                <a:latin typeface="Calibri" pitchFamily="34" charset="0"/>
                <a:ea typeface="Calibri" pitchFamily="34" charset="-122"/>
                <a:cs typeface="Calibri" pitchFamily="34" charset="-120"/>
              </a:rPr>
              <a:t>16 mises en situation, 4 blocs, un même format</a:t>
            </a:r>
            <a:endParaRPr lang="en-US" sz="2800" dirty="0"/>
          </a:p>
        </p:txBody>
      </p:sp>
      <p:sp>
        <p:nvSpPr>
          <p:cNvPr id="6" name="Shape 4"/>
          <p:cNvSpPr/>
          <p:nvPr/>
        </p:nvSpPr>
        <p:spPr>
          <a:xfrm>
            <a:off x="548640" y="1783080"/>
            <a:ext cx="2606040" cy="2788920"/>
          </a:xfrm>
          <a:prstGeom prst="roundRect">
            <a:avLst>
              <a:gd name="adj" fmla="val 4211"/>
            </a:avLst>
          </a:prstGeom>
          <a:solidFill>
            <a:srgbClr val="F3F2F8"/>
          </a:solidFill>
          <a:ln/>
        </p:spPr>
      </p:sp>
      <p:sp>
        <p:nvSpPr>
          <p:cNvPr id="7" name="Shape 5"/>
          <p:cNvSpPr/>
          <p:nvPr/>
        </p:nvSpPr>
        <p:spPr>
          <a:xfrm>
            <a:off x="777240" y="2011680"/>
            <a:ext cx="640080" cy="640080"/>
          </a:xfrm>
          <a:prstGeom prst="ellipse">
            <a:avLst/>
          </a:prstGeom>
          <a:solidFill>
            <a:srgbClr val="0B032B"/>
          </a:solidFill>
          <a:ln/>
        </p:spPr>
      </p:sp>
      <p:pic>
        <p:nvPicPr>
          <p:cNvPr id="8" name="Image 0" descr="preencoded.png">    </p:cNvPr>
          <p:cNvPicPr>
            <a:picLocks noChangeAspect="1"/>
          </p:cNvPicPr>
          <p:nvPr/>
        </p:nvPicPr>
        <p:blipFill>
          <a:blip r:embed="rId1"/>
          <a:stretch>
            <a:fillRect/>
          </a:stretch>
        </p:blipFill>
        <p:spPr>
          <a:xfrm>
            <a:off x="918058" y="2152498"/>
            <a:ext cx="358445" cy="358445"/>
          </a:xfrm>
          <a:prstGeom prst="rect">
            <a:avLst/>
          </a:prstGeom>
        </p:spPr>
      </p:pic>
      <p:sp>
        <p:nvSpPr>
          <p:cNvPr id="9" name="Text 6"/>
          <p:cNvSpPr txBox="1"/>
          <p:nvPr/>
        </p:nvSpPr>
        <p:spPr>
          <a:xfrm>
            <a:off x="1920240" y="2057400"/>
            <a:ext cx="1051560" cy="548640"/>
          </a:xfrm>
          <a:prstGeom prst="rect">
            <a:avLst/>
          </a:prstGeom>
          <a:noFill/>
          <a:ln/>
        </p:spPr>
        <p:txBody>
          <a:bodyPr wrap="square" lIns="0" tIns="0" rIns="0" bIns="0" rtlCol="0" anchor="t"/>
          <a:lstStyle/>
          <a:p>
            <a:pPr algn="r" indent="0" marL="0">
              <a:buNone/>
            </a:pPr>
            <a:r>
              <a:rPr lang="en-US" sz="2200" dirty="0">
                <a:solidFill>
                  <a:srgbClr val="0B032B"/>
                </a:solidFill>
                <a:latin typeface="Impact" pitchFamily="34" charset="0"/>
                <a:ea typeface="Impact" pitchFamily="34" charset="-122"/>
                <a:cs typeface="Impact" pitchFamily="34" charset="-120"/>
              </a:rPr>
              <a:t>4 cas</a:t>
            </a:r>
            <a:endParaRPr lang="en-US" sz="2200" dirty="0"/>
          </a:p>
        </p:txBody>
      </p:sp>
      <p:sp>
        <p:nvSpPr>
          <p:cNvPr id="10" name="Text 7"/>
          <p:cNvSpPr txBox="1"/>
          <p:nvPr/>
        </p:nvSpPr>
        <p:spPr>
          <a:xfrm>
            <a:off x="777240" y="2788920"/>
            <a:ext cx="2194560" cy="274320"/>
          </a:xfrm>
          <a:prstGeom prst="rect">
            <a:avLst/>
          </a:prstGeom>
          <a:noFill/>
          <a:ln/>
        </p:spPr>
        <p:txBody>
          <a:bodyPr wrap="square" lIns="0" tIns="0" rIns="0" bIns="0" rtlCol="0" anchor="t"/>
          <a:lstStyle/>
          <a:p>
            <a:pPr indent="0" marL="0">
              <a:buNone/>
            </a:pPr>
            <a:r>
              <a:rPr lang="en-US" sz="1100" b="1" spc="300" kern="0" dirty="0">
                <a:solidFill>
                  <a:srgbClr val="55516E"/>
                </a:solidFill>
                <a:latin typeface="Calibri" pitchFamily="34" charset="0"/>
                <a:ea typeface="Calibri" pitchFamily="34" charset="-122"/>
                <a:cs typeface="Calibri" pitchFamily="34" charset="-120"/>
              </a:rPr>
              <a:t>BLOC 1</a:t>
            </a:r>
            <a:endParaRPr lang="en-US" sz="1100" dirty="0"/>
          </a:p>
        </p:txBody>
      </p:sp>
      <p:sp>
        <p:nvSpPr>
          <p:cNvPr id="11" name="Text 8"/>
          <p:cNvSpPr txBox="1"/>
          <p:nvPr/>
        </p:nvSpPr>
        <p:spPr>
          <a:xfrm>
            <a:off x="777240" y="3063240"/>
            <a:ext cx="2194560" cy="566928"/>
          </a:xfrm>
          <a:prstGeom prst="rect">
            <a:avLst/>
          </a:prstGeom>
          <a:noFill/>
          <a:ln/>
        </p:spPr>
        <p:txBody>
          <a:bodyPr wrap="square" lIns="0" tIns="0" rIns="0" bIns="0" rtlCol="0" anchor="t"/>
          <a:lstStyle/>
          <a:p>
            <a:pPr indent="0" marL="0">
              <a:buNone/>
            </a:pPr>
            <a:r>
              <a:rPr lang="en-US" sz="1600" b="1" dirty="0">
                <a:solidFill>
                  <a:srgbClr val="0B032B"/>
                </a:solidFill>
                <a:latin typeface="Calibri" pitchFamily="34" charset="0"/>
                <a:ea typeface="Calibri" pitchFamily="34" charset="-122"/>
                <a:cs typeface="Calibri" pitchFamily="34" charset="-120"/>
              </a:rPr>
              <a:t>Gérer les conflits</a:t>
            </a:r>
            <a:endParaRPr lang="en-US" sz="1600" dirty="0"/>
          </a:p>
        </p:txBody>
      </p:sp>
      <p:sp>
        <p:nvSpPr>
          <p:cNvPr id="12" name="Text 9"/>
          <p:cNvSpPr txBox="1"/>
          <p:nvPr/>
        </p:nvSpPr>
        <p:spPr>
          <a:xfrm>
            <a:off x="777240" y="3657600"/>
            <a:ext cx="2194560" cy="822960"/>
          </a:xfrm>
          <a:prstGeom prst="rect">
            <a:avLst/>
          </a:prstGeom>
          <a:noFill/>
          <a:ln/>
        </p:spPr>
        <p:txBody>
          <a:bodyPr wrap="square" lIns="0" tIns="0" rIns="0" bIns="0" rtlCol="0" anchor="t">
            <a:normAutofit/>
          </a:bodyPr>
          <a:lstStyle/>
          <a:p>
            <a:pPr indent="0" marL="0">
              <a:buNone/>
            </a:pPr>
            <a:r>
              <a:rPr lang="en-US" sz="1150" dirty="0">
                <a:solidFill>
                  <a:srgbClr val="55516E"/>
                </a:solidFill>
                <a:latin typeface="Calibri" pitchFamily="34" charset="0"/>
                <a:ea typeface="Calibri" pitchFamily="34" charset="-122"/>
                <a:cs typeface="Calibri" pitchFamily="34" charset="-120"/>
              </a:rPr>
              <a:t>Conseil qui dérape, habitant en colère, adjoint contre agent, fronde dans la majorité.</a:t>
            </a:r>
            <a:endParaRPr lang="en-US" sz="1150" dirty="0"/>
          </a:p>
        </p:txBody>
      </p:sp>
      <p:sp>
        <p:nvSpPr>
          <p:cNvPr id="13" name="Shape 10"/>
          <p:cNvSpPr/>
          <p:nvPr/>
        </p:nvSpPr>
        <p:spPr>
          <a:xfrm>
            <a:off x="3355848" y="1783080"/>
            <a:ext cx="2606040" cy="2788920"/>
          </a:xfrm>
          <a:prstGeom prst="roundRect">
            <a:avLst>
              <a:gd name="adj" fmla="val 4211"/>
            </a:avLst>
          </a:prstGeom>
          <a:solidFill>
            <a:srgbClr val="F3F2F8"/>
          </a:solidFill>
          <a:ln/>
        </p:spPr>
      </p:sp>
      <p:sp>
        <p:nvSpPr>
          <p:cNvPr id="14" name="Shape 11"/>
          <p:cNvSpPr/>
          <p:nvPr/>
        </p:nvSpPr>
        <p:spPr>
          <a:xfrm>
            <a:off x="3584448" y="2011680"/>
            <a:ext cx="640080" cy="640080"/>
          </a:xfrm>
          <a:prstGeom prst="ellipse">
            <a:avLst/>
          </a:prstGeom>
          <a:solidFill>
            <a:srgbClr val="0B032B"/>
          </a:solidFill>
          <a:ln/>
        </p:spPr>
      </p:sp>
      <p:pic>
        <p:nvPicPr>
          <p:cNvPr id="15" name="Image 1" descr="preencoded.png">    </p:cNvPr>
          <p:cNvPicPr>
            <a:picLocks noChangeAspect="1"/>
          </p:cNvPicPr>
          <p:nvPr/>
        </p:nvPicPr>
        <p:blipFill>
          <a:blip r:embed="rId2"/>
          <a:stretch>
            <a:fillRect/>
          </a:stretch>
        </p:blipFill>
        <p:spPr>
          <a:xfrm>
            <a:off x="3725266" y="2152498"/>
            <a:ext cx="358445" cy="358445"/>
          </a:xfrm>
          <a:prstGeom prst="rect">
            <a:avLst/>
          </a:prstGeom>
        </p:spPr>
      </p:pic>
      <p:sp>
        <p:nvSpPr>
          <p:cNvPr id="16" name="Text 12"/>
          <p:cNvSpPr txBox="1"/>
          <p:nvPr/>
        </p:nvSpPr>
        <p:spPr>
          <a:xfrm>
            <a:off x="4727448" y="2057400"/>
            <a:ext cx="1051560" cy="548640"/>
          </a:xfrm>
          <a:prstGeom prst="rect">
            <a:avLst/>
          </a:prstGeom>
          <a:noFill/>
          <a:ln/>
        </p:spPr>
        <p:txBody>
          <a:bodyPr wrap="square" lIns="0" tIns="0" rIns="0" bIns="0" rtlCol="0" anchor="t"/>
          <a:lstStyle/>
          <a:p>
            <a:pPr algn="r" indent="0" marL="0">
              <a:buNone/>
            </a:pPr>
            <a:r>
              <a:rPr lang="en-US" sz="2200" dirty="0">
                <a:solidFill>
                  <a:srgbClr val="0B032B"/>
                </a:solidFill>
                <a:latin typeface="Impact" pitchFamily="34" charset="0"/>
                <a:ea typeface="Impact" pitchFamily="34" charset="-122"/>
                <a:cs typeface="Impact" pitchFamily="34" charset="-120"/>
              </a:rPr>
              <a:t>4 cas</a:t>
            </a:r>
            <a:endParaRPr lang="en-US" sz="2200" dirty="0"/>
          </a:p>
        </p:txBody>
      </p:sp>
      <p:sp>
        <p:nvSpPr>
          <p:cNvPr id="17" name="Text 13"/>
          <p:cNvSpPr txBox="1"/>
          <p:nvPr/>
        </p:nvSpPr>
        <p:spPr>
          <a:xfrm>
            <a:off x="3584448" y="2788920"/>
            <a:ext cx="2194560" cy="274320"/>
          </a:xfrm>
          <a:prstGeom prst="rect">
            <a:avLst/>
          </a:prstGeom>
          <a:noFill/>
          <a:ln/>
        </p:spPr>
        <p:txBody>
          <a:bodyPr wrap="square" lIns="0" tIns="0" rIns="0" bIns="0" rtlCol="0" anchor="t"/>
          <a:lstStyle/>
          <a:p>
            <a:pPr indent="0" marL="0">
              <a:buNone/>
            </a:pPr>
            <a:r>
              <a:rPr lang="en-US" sz="1100" b="1" spc="300" kern="0" dirty="0">
                <a:solidFill>
                  <a:srgbClr val="55516E"/>
                </a:solidFill>
                <a:latin typeface="Calibri" pitchFamily="34" charset="0"/>
                <a:ea typeface="Calibri" pitchFamily="34" charset="-122"/>
                <a:cs typeface="Calibri" pitchFamily="34" charset="-120"/>
              </a:rPr>
              <a:t>BLOC 2</a:t>
            </a:r>
            <a:endParaRPr lang="en-US" sz="1100" dirty="0"/>
          </a:p>
        </p:txBody>
      </p:sp>
      <p:sp>
        <p:nvSpPr>
          <p:cNvPr id="18" name="Text 14"/>
          <p:cNvSpPr txBox="1"/>
          <p:nvPr/>
        </p:nvSpPr>
        <p:spPr>
          <a:xfrm>
            <a:off x="3584448" y="3063240"/>
            <a:ext cx="2194560" cy="566928"/>
          </a:xfrm>
          <a:prstGeom prst="rect">
            <a:avLst/>
          </a:prstGeom>
          <a:noFill/>
          <a:ln/>
        </p:spPr>
        <p:txBody>
          <a:bodyPr wrap="square" lIns="0" tIns="0" rIns="0" bIns="0" rtlCol="0" anchor="t"/>
          <a:lstStyle/>
          <a:p>
            <a:pPr indent="0" marL="0">
              <a:buNone/>
            </a:pPr>
            <a:r>
              <a:rPr lang="en-US" sz="1600" b="1" dirty="0">
                <a:solidFill>
                  <a:srgbClr val="0B032B"/>
                </a:solidFill>
                <a:latin typeface="Calibri" pitchFamily="34" charset="0"/>
                <a:ea typeface="Calibri" pitchFamily="34" charset="-122"/>
                <a:cs typeface="Calibri" pitchFamily="34" charset="-120"/>
              </a:rPr>
              <a:t>Organiser les services</a:t>
            </a:r>
            <a:endParaRPr lang="en-US" sz="1600" dirty="0"/>
          </a:p>
        </p:txBody>
      </p:sp>
      <p:sp>
        <p:nvSpPr>
          <p:cNvPr id="19" name="Text 15"/>
          <p:cNvSpPr txBox="1"/>
          <p:nvPr/>
        </p:nvSpPr>
        <p:spPr>
          <a:xfrm>
            <a:off x="3584448" y="3657600"/>
            <a:ext cx="2194560" cy="822960"/>
          </a:xfrm>
          <a:prstGeom prst="rect">
            <a:avLst/>
          </a:prstGeom>
          <a:noFill/>
          <a:ln/>
        </p:spPr>
        <p:txBody>
          <a:bodyPr wrap="square" lIns="0" tIns="0" rIns="0" bIns="0" rtlCol="0" anchor="t">
            <a:normAutofit/>
          </a:bodyPr>
          <a:lstStyle/>
          <a:p>
            <a:pPr indent="0" marL="0">
              <a:buNone/>
            </a:pPr>
            <a:r>
              <a:rPr lang="en-US" sz="1150" dirty="0">
                <a:solidFill>
                  <a:srgbClr val="55516E"/>
                </a:solidFill>
                <a:latin typeface="Calibri" pitchFamily="34" charset="0"/>
                <a:ea typeface="Calibri" pitchFamily="34" charset="-122"/>
                <a:cs typeface="Calibri" pitchFamily="34" charset="-120"/>
              </a:rPr>
              <a:t>Consigne directe à un agent, arbitrage entre adjoints, continuité du service, recrutement.</a:t>
            </a:r>
            <a:endParaRPr lang="en-US" sz="1150" dirty="0"/>
          </a:p>
        </p:txBody>
      </p:sp>
      <p:sp>
        <p:nvSpPr>
          <p:cNvPr id="20" name="Shape 16"/>
          <p:cNvSpPr/>
          <p:nvPr/>
        </p:nvSpPr>
        <p:spPr>
          <a:xfrm>
            <a:off x="6163056" y="1783080"/>
            <a:ext cx="2606040" cy="2788920"/>
          </a:xfrm>
          <a:prstGeom prst="roundRect">
            <a:avLst>
              <a:gd name="adj" fmla="val 4211"/>
            </a:avLst>
          </a:prstGeom>
          <a:solidFill>
            <a:srgbClr val="F3F2F8"/>
          </a:solidFill>
          <a:ln/>
        </p:spPr>
      </p:sp>
      <p:sp>
        <p:nvSpPr>
          <p:cNvPr id="21" name="Shape 17"/>
          <p:cNvSpPr/>
          <p:nvPr/>
        </p:nvSpPr>
        <p:spPr>
          <a:xfrm>
            <a:off x="6391656" y="2011680"/>
            <a:ext cx="640080" cy="640080"/>
          </a:xfrm>
          <a:prstGeom prst="ellipse">
            <a:avLst/>
          </a:prstGeom>
          <a:solidFill>
            <a:srgbClr val="0B032B"/>
          </a:solidFill>
          <a:ln/>
        </p:spPr>
      </p:sp>
      <p:pic>
        <p:nvPicPr>
          <p:cNvPr id="22" name="Image 2" descr="preencoded.png">    </p:cNvPr>
          <p:cNvPicPr>
            <a:picLocks noChangeAspect="1"/>
          </p:cNvPicPr>
          <p:nvPr/>
        </p:nvPicPr>
        <p:blipFill>
          <a:blip r:embed="rId3"/>
          <a:stretch>
            <a:fillRect/>
          </a:stretch>
        </p:blipFill>
        <p:spPr>
          <a:xfrm>
            <a:off x="6532474" y="2152498"/>
            <a:ext cx="358445" cy="358445"/>
          </a:xfrm>
          <a:prstGeom prst="rect">
            <a:avLst/>
          </a:prstGeom>
        </p:spPr>
      </p:pic>
      <p:sp>
        <p:nvSpPr>
          <p:cNvPr id="23" name="Text 18"/>
          <p:cNvSpPr txBox="1"/>
          <p:nvPr/>
        </p:nvSpPr>
        <p:spPr>
          <a:xfrm>
            <a:off x="7534656" y="2057400"/>
            <a:ext cx="1051560" cy="548640"/>
          </a:xfrm>
          <a:prstGeom prst="rect">
            <a:avLst/>
          </a:prstGeom>
          <a:noFill/>
          <a:ln/>
        </p:spPr>
        <p:txBody>
          <a:bodyPr wrap="square" lIns="0" tIns="0" rIns="0" bIns="0" rtlCol="0" anchor="t"/>
          <a:lstStyle/>
          <a:p>
            <a:pPr algn="r" indent="0" marL="0">
              <a:buNone/>
            </a:pPr>
            <a:r>
              <a:rPr lang="en-US" sz="2200" dirty="0">
                <a:solidFill>
                  <a:srgbClr val="0B032B"/>
                </a:solidFill>
                <a:latin typeface="Impact" pitchFamily="34" charset="0"/>
                <a:ea typeface="Impact" pitchFamily="34" charset="-122"/>
                <a:cs typeface="Impact" pitchFamily="34" charset="-120"/>
              </a:rPr>
              <a:t>3 cas</a:t>
            </a:r>
            <a:endParaRPr lang="en-US" sz="2200" dirty="0"/>
          </a:p>
        </p:txBody>
      </p:sp>
      <p:sp>
        <p:nvSpPr>
          <p:cNvPr id="24" name="Text 19"/>
          <p:cNvSpPr txBox="1"/>
          <p:nvPr/>
        </p:nvSpPr>
        <p:spPr>
          <a:xfrm>
            <a:off x="6391656" y="2788920"/>
            <a:ext cx="2194560" cy="274320"/>
          </a:xfrm>
          <a:prstGeom prst="rect">
            <a:avLst/>
          </a:prstGeom>
          <a:noFill/>
          <a:ln/>
        </p:spPr>
        <p:txBody>
          <a:bodyPr wrap="square" lIns="0" tIns="0" rIns="0" bIns="0" rtlCol="0" anchor="t"/>
          <a:lstStyle/>
          <a:p>
            <a:pPr indent="0" marL="0">
              <a:buNone/>
            </a:pPr>
            <a:r>
              <a:rPr lang="en-US" sz="1100" b="1" spc="300" kern="0" dirty="0">
                <a:solidFill>
                  <a:srgbClr val="55516E"/>
                </a:solidFill>
                <a:latin typeface="Calibri" pitchFamily="34" charset="0"/>
                <a:ea typeface="Calibri" pitchFamily="34" charset="-122"/>
                <a:cs typeface="Calibri" pitchFamily="34" charset="-120"/>
              </a:rPr>
              <a:t>BLOC 3</a:t>
            </a:r>
            <a:endParaRPr lang="en-US" sz="1100" dirty="0"/>
          </a:p>
        </p:txBody>
      </p:sp>
      <p:sp>
        <p:nvSpPr>
          <p:cNvPr id="25" name="Text 20"/>
          <p:cNvSpPr txBox="1"/>
          <p:nvPr/>
        </p:nvSpPr>
        <p:spPr>
          <a:xfrm>
            <a:off x="6391656" y="3063240"/>
            <a:ext cx="2194560" cy="566928"/>
          </a:xfrm>
          <a:prstGeom prst="rect">
            <a:avLst/>
          </a:prstGeom>
          <a:noFill/>
          <a:ln/>
        </p:spPr>
        <p:txBody>
          <a:bodyPr wrap="square" lIns="0" tIns="0" rIns="0" bIns="0" rtlCol="0" anchor="t"/>
          <a:lstStyle/>
          <a:p>
            <a:pPr indent="0" marL="0">
              <a:buNone/>
            </a:pPr>
            <a:r>
              <a:rPr lang="en-US" sz="1600" b="1" dirty="0">
                <a:solidFill>
                  <a:srgbClr val="0B032B"/>
                </a:solidFill>
                <a:latin typeface="Calibri" pitchFamily="34" charset="0"/>
                <a:ea typeface="Calibri" pitchFamily="34" charset="-122"/>
                <a:cs typeface="Calibri" pitchFamily="34" charset="-120"/>
              </a:rPr>
              <a:t>Structurer l’équipe</a:t>
            </a:r>
            <a:endParaRPr lang="en-US" sz="1600" dirty="0"/>
          </a:p>
        </p:txBody>
      </p:sp>
      <p:sp>
        <p:nvSpPr>
          <p:cNvPr id="26" name="Text 21"/>
          <p:cNvSpPr txBox="1"/>
          <p:nvPr/>
        </p:nvSpPr>
        <p:spPr>
          <a:xfrm>
            <a:off x="6391656" y="3657600"/>
            <a:ext cx="2194560" cy="822960"/>
          </a:xfrm>
          <a:prstGeom prst="rect">
            <a:avLst/>
          </a:prstGeom>
          <a:noFill/>
          <a:ln/>
        </p:spPr>
        <p:txBody>
          <a:bodyPr wrap="square" lIns="0" tIns="0" rIns="0" bIns="0" rtlCol="0" anchor="t">
            <a:normAutofit/>
          </a:bodyPr>
          <a:lstStyle/>
          <a:p>
            <a:pPr indent="0" marL="0">
              <a:buNone/>
            </a:pPr>
            <a:r>
              <a:rPr lang="en-US" sz="1150" dirty="0">
                <a:solidFill>
                  <a:srgbClr val="55516E"/>
                </a:solidFill>
                <a:latin typeface="Calibri" pitchFamily="34" charset="0"/>
                <a:ea typeface="Calibri" pitchFamily="34" charset="-122"/>
                <a:cs typeface="Calibri" pitchFamily="34" charset="-120"/>
              </a:rPr>
              <a:t>Délégations, conseiller délégué qui déborde, délégué communautaire.</a:t>
            </a:r>
            <a:endParaRPr lang="en-US" sz="1150" dirty="0"/>
          </a:p>
        </p:txBody>
      </p:sp>
      <p:sp>
        <p:nvSpPr>
          <p:cNvPr id="27" name="Shape 22"/>
          <p:cNvSpPr/>
          <p:nvPr/>
        </p:nvSpPr>
        <p:spPr>
          <a:xfrm>
            <a:off x="8970264" y="1783080"/>
            <a:ext cx="2606040" cy="2788920"/>
          </a:xfrm>
          <a:prstGeom prst="roundRect">
            <a:avLst>
              <a:gd name="adj" fmla="val 4211"/>
            </a:avLst>
          </a:prstGeom>
          <a:solidFill>
            <a:srgbClr val="0B032B"/>
          </a:solidFill>
          <a:ln/>
        </p:spPr>
      </p:sp>
      <p:sp>
        <p:nvSpPr>
          <p:cNvPr id="28" name="Shape 23"/>
          <p:cNvSpPr/>
          <p:nvPr/>
        </p:nvSpPr>
        <p:spPr>
          <a:xfrm>
            <a:off x="9198864" y="2011680"/>
            <a:ext cx="640080" cy="640080"/>
          </a:xfrm>
          <a:prstGeom prst="ellipse">
            <a:avLst/>
          </a:prstGeom>
          <a:solidFill>
            <a:srgbClr val="FFF9C7"/>
          </a:solidFill>
          <a:ln/>
        </p:spPr>
      </p:sp>
      <p:pic>
        <p:nvPicPr>
          <p:cNvPr id="29" name="Image 3" descr="preencoded.png">    </p:cNvPr>
          <p:cNvPicPr>
            <a:picLocks noChangeAspect="1"/>
          </p:cNvPicPr>
          <p:nvPr/>
        </p:nvPicPr>
        <p:blipFill>
          <a:blip r:embed="rId4"/>
          <a:stretch>
            <a:fillRect/>
          </a:stretch>
        </p:blipFill>
        <p:spPr>
          <a:xfrm>
            <a:off x="9339682" y="2152498"/>
            <a:ext cx="358445" cy="358445"/>
          </a:xfrm>
          <a:prstGeom prst="rect">
            <a:avLst/>
          </a:prstGeom>
        </p:spPr>
      </p:pic>
      <p:sp>
        <p:nvSpPr>
          <p:cNvPr id="30" name="Text 24"/>
          <p:cNvSpPr txBox="1"/>
          <p:nvPr/>
        </p:nvSpPr>
        <p:spPr>
          <a:xfrm>
            <a:off x="10341864" y="2057400"/>
            <a:ext cx="1051560" cy="548640"/>
          </a:xfrm>
          <a:prstGeom prst="rect">
            <a:avLst/>
          </a:prstGeom>
          <a:noFill/>
          <a:ln/>
        </p:spPr>
        <p:txBody>
          <a:bodyPr wrap="square" lIns="0" tIns="0" rIns="0" bIns="0" rtlCol="0" anchor="t"/>
          <a:lstStyle/>
          <a:p>
            <a:pPr algn="r" indent="0" marL="0">
              <a:buNone/>
            </a:pPr>
            <a:r>
              <a:rPr lang="en-US" sz="2200" dirty="0">
                <a:solidFill>
                  <a:srgbClr val="FFF9C7"/>
                </a:solidFill>
                <a:latin typeface="Impact" pitchFamily="34" charset="0"/>
                <a:ea typeface="Impact" pitchFamily="34" charset="-122"/>
                <a:cs typeface="Impact" pitchFamily="34" charset="-120"/>
              </a:rPr>
              <a:t>5 cas</a:t>
            </a:r>
            <a:endParaRPr lang="en-US" sz="2200" dirty="0"/>
          </a:p>
        </p:txBody>
      </p:sp>
      <p:sp>
        <p:nvSpPr>
          <p:cNvPr id="31" name="Text 25"/>
          <p:cNvSpPr txBox="1"/>
          <p:nvPr/>
        </p:nvSpPr>
        <p:spPr>
          <a:xfrm>
            <a:off x="9198864" y="2788920"/>
            <a:ext cx="2194560" cy="274320"/>
          </a:xfrm>
          <a:prstGeom prst="rect">
            <a:avLst/>
          </a:prstGeom>
          <a:noFill/>
          <a:ln/>
        </p:spPr>
        <p:txBody>
          <a:bodyPr wrap="square" lIns="0" tIns="0" rIns="0" bIns="0" rtlCol="0" anchor="t"/>
          <a:lstStyle/>
          <a:p>
            <a:pPr indent="0" marL="0">
              <a:buNone/>
            </a:pPr>
            <a:r>
              <a:rPr lang="en-US" sz="1100" b="1" spc="300" kern="0" dirty="0">
                <a:solidFill>
                  <a:srgbClr val="FFF9C7"/>
                </a:solidFill>
                <a:latin typeface="Calibri" pitchFamily="34" charset="0"/>
                <a:ea typeface="Calibri" pitchFamily="34" charset="-122"/>
                <a:cs typeface="Calibri" pitchFamily="34" charset="-120"/>
              </a:rPr>
              <a:t>BLOC 4</a:t>
            </a:r>
            <a:endParaRPr lang="en-US" sz="1100" dirty="0"/>
          </a:p>
        </p:txBody>
      </p:sp>
      <p:sp>
        <p:nvSpPr>
          <p:cNvPr id="32" name="Text 26"/>
          <p:cNvSpPr txBox="1"/>
          <p:nvPr/>
        </p:nvSpPr>
        <p:spPr>
          <a:xfrm>
            <a:off x="9198864" y="3063240"/>
            <a:ext cx="2194560" cy="566928"/>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Prévenir les conflits d’intérêts</a:t>
            </a:r>
            <a:endParaRPr lang="en-US" sz="1600" dirty="0"/>
          </a:p>
        </p:txBody>
      </p:sp>
      <p:sp>
        <p:nvSpPr>
          <p:cNvPr id="33" name="Text 27"/>
          <p:cNvSpPr txBox="1"/>
          <p:nvPr/>
        </p:nvSpPr>
        <p:spPr>
          <a:xfrm>
            <a:off x="9198864" y="3657600"/>
            <a:ext cx="2194560" cy="822960"/>
          </a:xfrm>
          <a:prstGeom prst="rect">
            <a:avLst/>
          </a:prstGeom>
          <a:noFill/>
          <a:ln/>
        </p:spPr>
        <p:txBody>
          <a:bodyPr wrap="square" lIns="0" tIns="0" rIns="0" bIns="0" rtlCol="0" anchor="t">
            <a:normAutofit/>
          </a:bodyPr>
          <a:lstStyle/>
          <a:p>
            <a:pPr indent="0" marL="0">
              <a:buNone/>
            </a:pPr>
            <a:r>
              <a:rPr lang="en-US" sz="1150" dirty="0">
                <a:solidFill>
                  <a:srgbClr val="B3B3BA"/>
                </a:solidFill>
                <a:latin typeface="Calibri" pitchFamily="34" charset="0"/>
                <a:ea typeface="Calibri" pitchFamily="34" charset="-122"/>
                <a:cs typeface="Calibri" pitchFamily="34" charset="-120"/>
              </a:rPr>
              <a:t>Marché, terrain constructible, recrutement familial, subvention, invitation.</a:t>
            </a:r>
            <a:endParaRPr lang="en-US" sz="1150" dirty="0"/>
          </a:p>
        </p:txBody>
      </p:sp>
      <p:sp>
        <p:nvSpPr>
          <p:cNvPr id="34" name="Text 28"/>
          <p:cNvSpPr txBox="1"/>
          <p:nvPr/>
        </p:nvSpPr>
        <p:spPr>
          <a:xfrm>
            <a:off x="548640" y="4846320"/>
            <a:ext cx="10972800" cy="274320"/>
          </a:xfrm>
          <a:prstGeom prst="rect">
            <a:avLst/>
          </a:prstGeom>
          <a:noFill/>
          <a:ln/>
        </p:spPr>
        <p:txBody>
          <a:bodyPr wrap="square" lIns="0" tIns="0" rIns="0" bIns="0" rtlCol="0" anchor="t"/>
          <a:lstStyle/>
          <a:p>
            <a:pPr indent="0" marL="0">
              <a:buNone/>
            </a:pPr>
            <a:r>
              <a:rPr lang="en-US" sz="1100" b="1" spc="200" kern="0" dirty="0">
                <a:solidFill>
                  <a:srgbClr val="55516E"/>
                </a:solidFill>
                <a:latin typeface="Calibri" pitchFamily="34" charset="0"/>
                <a:ea typeface="Calibri" pitchFamily="34" charset="-122"/>
                <a:cs typeface="Calibri" pitchFamily="34" charset="-120"/>
              </a:rPr>
              <a:t>DÉROULÉ D’UN CAS · 20 À 25 MIN · EN TRIO : ÉLU, INTERLOCUTEUR, OBSERVATEUR</a:t>
            </a:r>
            <a:endParaRPr lang="en-US" sz="1100" dirty="0"/>
          </a:p>
        </p:txBody>
      </p:sp>
      <p:sp>
        <p:nvSpPr>
          <p:cNvPr id="35" name="Shape 29"/>
          <p:cNvSpPr/>
          <p:nvPr/>
        </p:nvSpPr>
        <p:spPr>
          <a:xfrm>
            <a:off x="548640" y="5212080"/>
            <a:ext cx="1388298" cy="868680"/>
          </a:xfrm>
          <a:prstGeom prst="roundRect">
            <a:avLst>
              <a:gd name="adj" fmla="val 8421"/>
            </a:avLst>
          </a:prstGeom>
          <a:solidFill>
            <a:srgbClr val="E7E5F0"/>
          </a:solidFill>
          <a:ln/>
        </p:spPr>
      </p:sp>
      <p:sp>
        <p:nvSpPr>
          <p:cNvPr id="36" name="Text 30"/>
          <p:cNvSpPr txBox="1"/>
          <p:nvPr/>
        </p:nvSpPr>
        <p:spPr>
          <a:xfrm>
            <a:off x="685800" y="5285232"/>
            <a:ext cx="1113978" cy="365760"/>
          </a:xfrm>
          <a:prstGeom prst="rect">
            <a:avLst/>
          </a:prstGeom>
          <a:noFill/>
          <a:ln/>
        </p:spPr>
        <p:txBody>
          <a:bodyPr wrap="square" lIns="0" tIns="0" rIns="0" bIns="0" rtlCol="0" anchor="t"/>
          <a:lstStyle/>
          <a:p>
            <a:pPr indent="0" marL="0">
              <a:buNone/>
            </a:pPr>
            <a:r>
              <a:rPr lang="en-US" sz="1300" b="1" dirty="0">
                <a:solidFill>
                  <a:srgbClr val="0B032B"/>
                </a:solidFill>
                <a:latin typeface="Calibri" pitchFamily="34" charset="0"/>
                <a:ea typeface="Calibri" pitchFamily="34" charset="-122"/>
                <a:cs typeface="Calibri" pitchFamily="34" charset="-120"/>
              </a:rPr>
              <a:t>Lecture</a:t>
            </a:r>
            <a:endParaRPr lang="en-US" sz="1300" dirty="0"/>
          </a:p>
        </p:txBody>
      </p:sp>
      <p:sp>
        <p:nvSpPr>
          <p:cNvPr id="37" name="Text 31"/>
          <p:cNvSpPr txBox="1"/>
          <p:nvPr/>
        </p:nvSpPr>
        <p:spPr>
          <a:xfrm>
            <a:off x="685800" y="5650992"/>
            <a:ext cx="1113978" cy="320040"/>
          </a:xfrm>
          <a:prstGeom prst="rect">
            <a:avLst/>
          </a:prstGeom>
          <a:noFill/>
          <a:ln/>
        </p:spPr>
        <p:txBody>
          <a:bodyPr wrap="square" lIns="0" tIns="0" rIns="0" bIns="0" rtlCol="0" anchor="t"/>
          <a:lstStyle/>
          <a:p>
            <a:pPr indent="0" marL="0">
              <a:buNone/>
            </a:pPr>
            <a:r>
              <a:rPr lang="en-US" sz="1150" dirty="0">
                <a:solidFill>
                  <a:srgbClr val="55516E"/>
                </a:solidFill>
                <a:latin typeface="Calibri" pitchFamily="34" charset="0"/>
                <a:ea typeface="Calibri" pitchFamily="34" charset="-122"/>
                <a:cs typeface="Calibri" pitchFamily="34" charset="-120"/>
              </a:rPr>
              <a:t>3 min</a:t>
            </a:r>
            <a:endParaRPr lang="en-US" sz="1150" dirty="0"/>
          </a:p>
        </p:txBody>
      </p:sp>
      <p:sp>
        <p:nvSpPr>
          <p:cNvPr id="38" name="Shape 32"/>
          <p:cNvSpPr/>
          <p:nvPr/>
        </p:nvSpPr>
        <p:spPr>
          <a:xfrm>
            <a:off x="1991802" y="5212080"/>
            <a:ext cx="4274621" cy="868680"/>
          </a:xfrm>
          <a:prstGeom prst="roundRect">
            <a:avLst>
              <a:gd name="adj" fmla="val 8421"/>
            </a:avLst>
          </a:prstGeom>
          <a:solidFill>
            <a:srgbClr val="0B032B"/>
          </a:solidFill>
          <a:ln/>
        </p:spPr>
      </p:sp>
      <p:sp>
        <p:nvSpPr>
          <p:cNvPr id="39" name="Text 33"/>
          <p:cNvSpPr txBox="1"/>
          <p:nvPr/>
        </p:nvSpPr>
        <p:spPr>
          <a:xfrm>
            <a:off x="2128962" y="5285232"/>
            <a:ext cx="4000301" cy="365760"/>
          </a:xfrm>
          <a:prstGeom prst="rect">
            <a:avLst/>
          </a:prstGeom>
          <a:noFill/>
          <a:ln/>
        </p:spPr>
        <p:txBody>
          <a:bodyPr wrap="square" lIns="0" tIns="0" rIns="0" bIns="0" rtlCol="0" anchor="t"/>
          <a:lstStyle/>
          <a:p>
            <a:pPr indent="0" marL="0">
              <a:buNone/>
            </a:pPr>
            <a:r>
              <a:rPr lang="en-US" sz="1300" b="1" dirty="0">
                <a:solidFill>
                  <a:srgbClr val="FFF9C7"/>
                </a:solidFill>
                <a:latin typeface="Calibri" pitchFamily="34" charset="0"/>
                <a:ea typeface="Calibri" pitchFamily="34" charset="-122"/>
                <a:cs typeface="Calibri" pitchFamily="34" charset="-120"/>
              </a:rPr>
              <a:t>Jeu de rôle</a:t>
            </a:r>
            <a:endParaRPr lang="en-US" sz="1300" dirty="0"/>
          </a:p>
        </p:txBody>
      </p:sp>
      <p:sp>
        <p:nvSpPr>
          <p:cNvPr id="40" name="Text 34"/>
          <p:cNvSpPr txBox="1"/>
          <p:nvPr/>
        </p:nvSpPr>
        <p:spPr>
          <a:xfrm>
            <a:off x="2128962" y="5650992"/>
            <a:ext cx="4000301" cy="32004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7 à 10 min</a:t>
            </a:r>
            <a:endParaRPr lang="en-US" sz="1150" dirty="0"/>
          </a:p>
        </p:txBody>
      </p:sp>
      <p:sp>
        <p:nvSpPr>
          <p:cNvPr id="41" name="Shape 35"/>
          <p:cNvSpPr/>
          <p:nvPr/>
        </p:nvSpPr>
        <p:spPr>
          <a:xfrm>
            <a:off x="6321287" y="5212080"/>
            <a:ext cx="2350406" cy="868680"/>
          </a:xfrm>
          <a:prstGeom prst="roundRect">
            <a:avLst>
              <a:gd name="adj" fmla="val 8421"/>
            </a:avLst>
          </a:prstGeom>
          <a:solidFill>
            <a:srgbClr val="FFF9C7"/>
          </a:solidFill>
          <a:ln/>
        </p:spPr>
      </p:sp>
      <p:sp>
        <p:nvSpPr>
          <p:cNvPr id="42" name="Text 36"/>
          <p:cNvSpPr txBox="1"/>
          <p:nvPr/>
        </p:nvSpPr>
        <p:spPr>
          <a:xfrm>
            <a:off x="6458447" y="5285232"/>
            <a:ext cx="2076086" cy="365760"/>
          </a:xfrm>
          <a:prstGeom prst="rect">
            <a:avLst/>
          </a:prstGeom>
          <a:noFill/>
          <a:ln/>
        </p:spPr>
        <p:txBody>
          <a:bodyPr wrap="square" lIns="0" tIns="0" rIns="0" bIns="0" rtlCol="0" anchor="t"/>
          <a:lstStyle/>
          <a:p>
            <a:pPr indent="0" marL="0">
              <a:buNone/>
            </a:pPr>
            <a:r>
              <a:rPr lang="en-US" sz="1300" b="1" dirty="0">
                <a:solidFill>
                  <a:srgbClr val="0B032B"/>
                </a:solidFill>
                <a:latin typeface="Calibri" pitchFamily="34" charset="0"/>
                <a:ea typeface="Calibri" pitchFamily="34" charset="-122"/>
                <a:cs typeface="Calibri" pitchFamily="34" charset="-120"/>
              </a:rPr>
              <a:t>Retour de l’observateur</a:t>
            </a:r>
            <a:endParaRPr lang="en-US" sz="1300" dirty="0"/>
          </a:p>
        </p:txBody>
      </p:sp>
      <p:sp>
        <p:nvSpPr>
          <p:cNvPr id="43" name="Text 37"/>
          <p:cNvSpPr txBox="1"/>
          <p:nvPr/>
        </p:nvSpPr>
        <p:spPr>
          <a:xfrm>
            <a:off x="6458447" y="5650992"/>
            <a:ext cx="2076086" cy="320040"/>
          </a:xfrm>
          <a:prstGeom prst="rect">
            <a:avLst/>
          </a:prstGeom>
          <a:noFill/>
          <a:ln/>
        </p:spPr>
        <p:txBody>
          <a:bodyPr wrap="square" lIns="0" tIns="0" rIns="0" bIns="0" rtlCol="0" anchor="t"/>
          <a:lstStyle/>
          <a:p>
            <a:pPr indent="0" marL="0">
              <a:buNone/>
            </a:pPr>
            <a:r>
              <a:rPr lang="en-US" sz="1150" dirty="0">
                <a:solidFill>
                  <a:srgbClr val="55516E"/>
                </a:solidFill>
                <a:latin typeface="Calibri" pitchFamily="34" charset="0"/>
                <a:ea typeface="Calibri" pitchFamily="34" charset="-122"/>
                <a:cs typeface="Calibri" pitchFamily="34" charset="-120"/>
              </a:rPr>
              <a:t>5 min</a:t>
            </a:r>
            <a:endParaRPr lang="en-US" sz="1150" dirty="0"/>
          </a:p>
        </p:txBody>
      </p:sp>
      <p:sp>
        <p:nvSpPr>
          <p:cNvPr id="44" name="Shape 38"/>
          <p:cNvSpPr/>
          <p:nvPr/>
        </p:nvSpPr>
        <p:spPr>
          <a:xfrm>
            <a:off x="8726557" y="5212080"/>
            <a:ext cx="2831459" cy="868680"/>
          </a:xfrm>
          <a:prstGeom prst="roundRect">
            <a:avLst>
              <a:gd name="adj" fmla="val 8421"/>
            </a:avLst>
          </a:prstGeom>
          <a:solidFill>
            <a:srgbClr val="F3F2F8"/>
          </a:solidFill>
          <a:ln/>
        </p:spPr>
      </p:sp>
      <p:sp>
        <p:nvSpPr>
          <p:cNvPr id="45" name="Text 39"/>
          <p:cNvSpPr txBox="1"/>
          <p:nvPr/>
        </p:nvSpPr>
        <p:spPr>
          <a:xfrm>
            <a:off x="8863717" y="5285232"/>
            <a:ext cx="2557139" cy="365760"/>
          </a:xfrm>
          <a:prstGeom prst="rect">
            <a:avLst/>
          </a:prstGeom>
          <a:noFill/>
          <a:ln/>
        </p:spPr>
        <p:txBody>
          <a:bodyPr wrap="square" lIns="0" tIns="0" rIns="0" bIns="0" rtlCol="0" anchor="t"/>
          <a:lstStyle/>
          <a:p>
            <a:pPr indent="0" marL="0">
              <a:buNone/>
            </a:pPr>
            <a:r>
              <a:rPr lang="en-US" sz="1300" b="1" dirty="0">
                <a:solidFill>
                  <a:srgbClr val="0B032B"/>
                </a:solidFill>
                <a:latin typeface="Calibri" pitchFamily="34" charset="0"/>
                <a:ea typeface="Calibri" pitchFamily="34" charset="-122"/>
                <a:cs typeface="Calibri" pitchFamily="34" charset="-120"/>
              </a:rPr>
              <a:t>Mise en commun</a:t>
            </a:r>
            <a:endParaRPr lang="en-US" sz="1300" dirty="0"/>
          </a:p>
        </p:txBody>
      </p:sp>
      <p:sp>
        <p:nvSpPr>
          <p:cNvPr id="46" name="Text 40"/>
          <p:cNvSpPr txBox="1"/>
          <p:nvPr/>
        </p:nvSpPr>
        <p:spPr>
          <a:xfrm>
            <a:off x="8863717" y="5650992"/>
            <a:ext cx="2557139" cy="320040"/>
          </a:xfrm>
          <a:prstGeom prst="rect">
            <a:avLst/>
          </a:prstGeom>
          <a:noFill/>
          <a:ln/>
        </p:spPr>
        <p:txBody>
          <a:bodyPr wrap="square" lIns="0" tIns="0" rIns="0" bIns="0" rtlCol="0" anchor="t"/>
          <a:lstStyle/>
          <a:p>
            <a:pPr indent="0" marL="0">
              <a:buNone/>
            </a:pPr>
            <a:r>
              <a:rPr lang="en-US" sz="1150" dirty="0">
                <a:solidFill>
                  <a:srgbClr val="55516E"/>
                </a:solidFill>
                <a:latin typeface="Calibri" pitchFamily="34" charset="0"/>
                <a:ea typeface="Calibri" pitchFamily="34" charset="-122"/>
                <a:cs typeface="Calibri" pitchFamily="34" charset="-120"/>
              </a:rPr>
              <a:t>5 à 7 min</a:t>
            </a:r>
            <a:endParaRPr lang="en-US" sz="1150" dirty="0"/>
          </a:p>
        </p:txBody>
      </p:sp>
      <p:sp>
        <p:nvSpPr>
          <p:cNvPr id="47" name="Text 41"/>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spc="100" kern="0" dirty="0">
                <a:solidFill>
                  <a:srgbClr val="8A8699"/>
                </a:solidFill>
                <a:latin typeface="Calibri" pitchFamily="34" charset="0"/>
                <a:ea typeface="Calibri" pitchFamily="34" charset="-122"/>
                <a:cs typeface="Calibri" pitchFamily="34" charset="-120"/>
              </a:rPr>
              <a:t>ENMA FORMATION  ·  Formation des élus municipaux 2026</a:t>
            </a:r>
            <a:endParaRPr lang="en-US" sz="900" dirty="0"/>
          </a:p>
        </p:txBody>
      </p:sp>
      <p:sp>
        <p:nvSpPr>
          <p:cNvPr id="48" name="Text 42"/>
          <p:cNvSpPr txBox="1"/>
          <p:nvPr/>
        </p:nvSpPr>
        <p:spPr>
          <a:xfrm>
            <a:off x="9692640" y="6400800"/>
            <a:ext cx="548640" cy="274320"/>
          </a:xfrm>
          <a:prstGeom prst="rect">
            <a:avLst/>
          </a:prstGeom>
          <a:noFill/>
          <a:ln/>
        </p:spPr>
        <p:txBody>
          <a:bodyPr wrap="square" lIns="0" tIns="0" rIns="0" bIns="0" rtlCol="0" anchor="ctr"/>
          <a:lstStyle/>
          <a:p>
            <a:pPr algn="r" indent="0" marL="0">
              <a:buNone/>
            </a:pPr>
            <a:r>
              <a:rPr lang="en-US" sz="900" dirty="0">
                <a:solidFill>
                  <a:srgbClr val="8A8699"/>
                </a:solidFill>
                <a:latin typeface="Calibri" pitchFamily="34" charset="0"/>
                <a:ea typeface="Calibri" pitchFamily="34" charset="-122"/>
                <a:cs typeface="Calibri" pitchFamily="34" charset="-120"/>
              </a:rPr>
              <a:t>53</a:t>
            </a:r>
            <a:endParaRPr lang="en-US" sz="900" dirty="0"/>
          </a:p>
        </p:txBody>
      </p:sp>
      <p:pic>
        <p:nvPicPr>
          <p:cNvPr id="49" name="Image 4" descr="preencoded.png">    </p:cNvPr>
          <p:cNvPicPr>
            <a:picLocks noChangeAspect="1"/>
          </p:cNvPicPr>
          <p:nvPr/>
        </p:nvPicPr>
        <p:blipFill>
          <a:blip r:embed="rId5"/>
          <a:stretch>
            <a:fillRect/>
          </a:stretch>
        </p:blipFill>
        <p:spPr>
          <a:xfrm>
            <a:off x="10469880" y="6309360"/>
            <a:ext cx="1170432" cy="484632"/>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420624" cy="310896"/>
          </a:xfrm>
          <a:prstGeom prst="roundRect">
            <a:avLst>
              <a:gd name="adj" fmla="val 23529"/>
            </a:avLst>
          </a:prstGeom>
          <a:solidFill>
            <a:srgbClr val="0B032B"/>
          </a:solidFill>
          <a:ln/>
        </p:spPr>
      </p:sp>
      <p:sp>
        <p:nvSpPr>
          <p:cNvPr id="3" name="Text 1"/>
          <p:cNvSpPr txBox="1"/>
          <p:nvPr/>
        </p:nvSpPr>
        <p:spPr>
          <a:xfrm>
            <a:off x="548640" y="438912"/>
            <a:ext cx="420624" cy="310896"/>
          </a:xfrm>
          <a:prstGeom prst="rect">
            <a:avLst/>
          </a:prstGeom>
          <a:noFill/>
          <a:ln/>
        </p:spPr>
        <p:txBody>
          <a:bodyPr wrap="square" lIns="0" tIns="0" rIns="0" bIns="0" rtlCol="0" anchor="ctr"/>
          <a:lstStyle/>
          <a:p>
            <a:pPr algn="ctr" indent="0" marL="0">
              <a:buNone/>
            </a:pPr>
            <a:r>
              <a:rPr lang="en-US" sz="1100" b="1" dirty="0">
                <a:solidFill>
                  <a:srgbClr val="FFF9C7"/>
                </a:solidFill>
                <a:latin typeface="Calibri" pitchFamily="34" charset="0"/>
                <a:ea typeface="Calibri" pitchFamily="34" charset="-122"/>
                <a:cs typeface="Calibri" pitchFamily="34" charset="-120"/>
              </a:rPr>
              <a:t>08</a:t>
            </a:r>
            <a:endParaRPr lang="en-US" sz="1100" dirty="0"/>
          </a:p>
        </p:txBody>
      </p:sp>
      <p:sp>
        <p:nvSpPr>
          <p:cNvPr id="4" name="Text 2"/>
          <p:cNvSpPr txBox="1"/>
          <p:nvPr/>
        </p:nvSpPr>
        <p:spPr>
          <a:xfrm>
            <a:off x="1115568" y="438912"/>
            <a:ext cx="8229600" cy="310896"/>
          </a:xfrm>
          <a:prstGeom prst="rect">
            <a:avLst/>
          </a:prstGeom>
          <a:noFill/>
          <a:ln/>
        </p:spPr>
        <p:txBody>
          <a:bodyPr wrap="square" lIns="0" tIns="0" rIns="0" bIns="0" rtlCol="0" anchor="ctr"/>
          <a:lstStyle/>
          <a:p>
            <a:pPr indent="0" marL="0">
              <a:buNone/>
            </a:pPr>
            <a:r>
              <a:rPr lang="en-US" sz="1100" b="1" spc="200" kern="0" dirty="0">
                <a:solidFill>
                  <a:srgbClr val="55516E"/>
                </a:solidFill>
                <a:latin typeface="Calibri" pitchFamily="34" charset="0"/>
                <a:ea typeface="Calibri" pitchFamily="34" charset="-122"/>
                <a:cs typeface="Calibri" pitchFamily="34" charset="-120"/>
              </a:rPr>
              <a:t>MISES EN SITUATION · BLOC 1</a:t>
            </a:r>
            <a:endParaRPr lang="en-US" sz="1100" dirty="0"/>
          </a:p>
        </p:txBody>
      </p:sp>
      <p:sp>
        <p:nvSpPr>
          <p:cNvPr id="5" name="Text 3"/>
          <p:cNvSpPr txBox="1"/>
          <p:nvPr/>
        </p:nvSpPr>
        <p:spPr>
          <a:xfrm>
            <a:off x="548640" y="841248"/>
            <a:ext cx="11064240" cy="685800"/>
          </a:xfrm>
          <a:prstGeom prst="rect">
            <a:avLst/>
          </a:prstGeom>
          <a:noFill/>
          <a:ln/>
        </p:spPr>
        <p:txBody>
          <a:bodyPr wrap="square" lIns="0" tIns="0" rIns="0" bIns="0" rtlCol="0" anchor="ctr">
            <a:normAutofit/>
          </a:bodyPr>
          <a:lstStyle/>
          <a:p>
            <a:pPr indent="0" marL="0">
              <a:buNone/>
            </a:pPr>
            <a:r>
              <a:rPr lang="en-US" sz="2800" b="1" dirty="0">
                <a:solidFill>
                  <a:srgbClr val="0B032B"/>
                </a:solidFill>
                <a:latin typeface="Calibri" pitchFamily="34" charset="0"/>
                <a:ea typeface="Calibri" pitchFamily="34" charset="-122"/>
                <a:cs typeface="Calibri" pitchFamily="34" charset="-120"/>
              </a:rPr>
              <a:t>Gérer les conflits</a:t>
            </a:r>
            <a:endParaRPr lang="en-US" sz="2800" dirty="0"/>
          </a:p>
        </p:txBody>
      </p:sp>
      <p:sp>
        <p:nvSpPr>
          <p:cNvPr id="6" name="Text 4"/>
          <p:cNvSpPr txBox="1"/>
          <p:nvPr/>
        </p:nvSpPr>
        <p:spPr>
          <a:xfrm>
            <a:off x="548640" y="1572768"/>
            <a:ext cx="10972800" cy="320040"/>
          </a:xfrm>
          <a:prstGeom prst="rect">
            <a:avLst/>
          </a:prstGeom>
          <a:noFill/>
          <a:ln/>
        </p:spPr>
        <p:txBody>
          <a:bodyPr wrap="square" lIns="0" tIns="0" rIns="0" bIns="0" rtlCol="0" anchor="t"/>
          <a:lstStyle/>
          <a:p>
            <a:pPr indent="0" marL="0">
              <a:buNone/>
            </a:pPr>
            <a:r>
              <a:rPr lang="en-US" sz="1300" i="1" dirty="0">
                <a:solidFill>
                  <a:srgbClr val="55516E"/>
                </a:solidFill>
                <a:latin typeface="Calibri" pitchFamily="34" charset="0"/>
                <a:ea typeface="Calibri" pitchFamily="34" charset="-122"/>
                <a:cs typeface="Calibri" pitchFamily="34" charset="-120"/>
              </a:rPr>
              <a:t>À jouer après la séquence 02 (prérogatives du maire en séance) ou la séquence 06 (relations avec les habitants).</a:t>
            </a:r>
            <a:endParaRPr lang="en-US" sz="1300" dirty="0"/>
          </a:p>
        </p:txBody>
      </p:sp>
      <p:sp>
        <p:nvSpPr>
          <p:cNvPr id="7" name="Shape 5"/>
          <p:cNvSpPr/>
          <p:nvPr/>
        </p:nvSpPr>
        <p:spPr>
          <a:xfrm>
            <a:off x="548640" y="2011680"/>
            <a:ext cx="11064240" cy="969264"/>
          </a:xfrm>
          <a:prstGeom prst="roundRect">
            <a:avLst>
              <a:gd name="adj" fmla="val 11321"/>
            </a:avLst>
          </a:prstGeom>
          <a:solidFill>
            <a:srgbClr val="F3F2F8"/>
          </a:solidFill>
          <a:ln/>
        </p:spPr>
      </p:sp>
      <p:sp>
        <p:nvSpPr>
          <p:cNvPr id="8" name="Shape 6"/>
          <p:cNvSpPr/>
          <p:nvPr/>
        </p:nvSpPr>
        <p:spPr>
          <a:xfrm>
            <a:off x="713232" y="2267712"/>
            <a:ext cx="749808" cy="457200"/>
          </a:xfrm>
          <a:prstGeom prst="roundRect">
            <a:avLst>
              <a:gd name="adj" fmla="val 20000"/>
            </a:avLst>
          </a:prstGeom>
          <a:solidFill>
            <a:srgbClr val="0B032B"/>
          </a:solidFill>
          <a:ln/>
        </p:spPr>
      </p:sp>
      <p:sp>
        <p:nvSpPr>
          <p:cNvPr id="9" name="Text 7"/>
          <p:cNvSpPr txBox="1"/>
          <p:nvPr/>
        </p:nvSpPr>
        <p:spPr>
          <a:xfrm>
            <a:off x="713232" y="2267712"/>
            <a:ext cx="749808" cy="457200"/>
          </a:xfrm>
          <a:prstGeom prst="rect">
            <a:avLst/>
          </a:prstGeom>
          <a:noFill/>
          <a:ln/>
        </p:spPr>
        <p:txBody>
          <a:bodyPr wrap="square" lIns="0" tIns="0" rIns="0" bIns="0" rtlCol="0" anchor="ctr"/>
          <a:lstStyle/>
          <a:p>
            <a:pPr algn="ctr" indent="0" marL="0">
              <a:buNone/>
            </a:pPr>
            <a:r>
              <a:rPr lang="en-US" sz="1400" b="1" dirty="0">
                <a:solidFill>
                  <a:srgbClr val="FFF9C7"/>
                </a:solidFill>
                <a:latin typeface="Calibri" pitchFamily="34" charset="0"/>
                <a:ea typeface="Calibri" pitchFamily="34" charset="-122"/>
                <a:cs typeface="Calibri" pitchFamily="34" charset="-120"/>
              </a:rPr>
              <a:t>1.1</a:t>
            </a:r>
            <a:endParaRPr lang="en-US" sz="1400" dirty="0"/>
          </a:p>
        </p:txBody>
      </p:sp>
      <p:sp>
        <p:nvSpPr>
          <p:cNvPr id="10" name="Text 8"/>
          <p:cNvSpPr txBox="1"/>
          <p:nvPr/>
        </p:nvSpPr>
        <p:spPr>
          <a:xfrm>
            <a:off x="1645920" y="2084832"/>
            <a:ext cx="3108960" cy="822960"/>
          </a:xfrm>
          <a:prstGeom prst="rect">
            <a:avLst/>
          </a:prstGeom>
          <a:noFill/>
          <a:ln/>
        </p:spPr>
        <p:txBody>
          <a:bodyPr wrap="square" lIns="0" tIns="0" rIns="0" bIns="0" rtlCol="0" anchor="ctr"/>
          <a:lstStyle/>
          <a:p>
            <a:pPr indent="0" marL="0">
              <a:buNone/>
            </a:pPr>
            <a:r>
              <a:rPr lang="en-US" sz="1400" b="1" dirty="0">
                <a:solidFill>
                  <a:srgbClr val="0B032B"/>
                </a:solidFill>
                <a:latin typeface="Calibri" pitchFamily="34" charset="0"/>
                <a:ea typeface="Calibri" pitchFamily="34" charset="-122"/>
                <a:cs typeface="Calibri" pitchFamily="34" charset="-120"/>
              </a:rPr>
              <a:t>Le conseil municipal qui dérape</a:t>
            </a:r>
            <a:endParaRPr lang="en-US" sz="1400" dirty="0"/>
          </a:p>
        </p:txBody>
      </p:sp>
      <p:sp>
        <p:nvSpPr>
          <p:cNvPr id="11" name="Text 9"/>
          <p:cNvSpPr txBox="1"/>
          <p:nvPr/>
        </p:nvSpPr>
        <p:spPr>
          <a:xfrm>
            <a:off x="4846320" y="2066544"/>
            <a:ext cx="3931920" cy="859536"/>
          </a:xfrm>
          <a:prstGeom prst="rect">
            <a:avLst/>
          </a:prstGeom>
          <a:noFill/>
          <a:ln/>
        </p:spPr>
        <p:txBody>
          <a:bodyPr wrap="square" lIns="0" tIns="0" rIns="0" bIns="0" rtlCol="0" anchor="ctr">
            <a:normAutofit/>
          </a:bodyPr>
          <a:lstStyle/>
          <a:p>
            <a:pPr indent="0" marL="0">
              <a:buNone/>
            </a:pPr>
            <a:r>
              <a:rPr lang="en-US" sz="1150" dirty="0">
                <a:solidFill>
                  <a:srgbClr val="55516E"/>
                </a:solidFill>
                <a:latin typeface="Calibri" pitchFamily="34" charset="0"/>
                <a:ea typeface="Calibri" pitchFamily="34" charset="-122"/>
                <a:cs typeface="Calibri" pitchFamily="34" charset="-120"/>
              </a:rPr>
              <a:t>Vote du budget : l’opposition accuse l’adjoint aux finances de « maquiller les comptes », la majorité réplique, le public applaudit.</a:t>
            </a:r>
            <a:endParaRPr lang="en-US" sz="1150" dirty="0"/>
          </a:p>
        </p:txBody>
      </p:sp>
      <p:sp>
        <p:nvSpPr>
          <p:cNvPr id="12" name="Shape 10"/>
          <p:cNvSpPr/>
          <p:nvPr/>
        </p:nvSpPr>
        <p:spPr>
          <a:xfrm>
            <a:off x="8915400" y="2103120"/>
            <a:ext cx="2560320" cy="786384"/>
          </a:xfrm>
          <a:prstGeom prst="roundRect">
            <a:avLst>
              <a:gd name="adj" fmla="val 9302"/>
            </a:avLst>
          </a:prstGeom>
          <a:solidFill>
            <a:srgbClr val="FFF9C7"/>
          </a:solidFill>
          <a:ln/>
        </p:spPr>
      </p:sp>
      <p:sp>
        <p:nvSpPr>
          <p:cNvPr id="13" name="Text 11"/>
          <p:cNvSpPr txBox="1"/>
          <p:nvPr/>
        </p:nvSpPr>
        <p:spPr>
          <a:xfrm>
            <a:off x="9025128" y="2103120"/>
            <a:ext cx="2340864" cy="786384"/>
          </a:xfrm>
          <a:prstGeom prst="rect">
            <a:avLst/>
          </a:prstGeom>
          <a:noFill/>
          <a:ln/>
        </p:spPr>
        <p:txBody>
          <a:bodyPr wrap="square" lIns="0" tIns="0" rIns="0" bIns="0" rtlCol="0" anchor="ctr">
            <a:normAutofit/>
          </a:bodyPr>
          <a:lstStyle/>
          <a:p>
            <a:pPr indent="0" marL="0">
              <a:buNone/>
            </a:pPr>
            <a:r>
              <a:rPr lang="en-US" sz="1100" b="1" dirty="0">
                <a:solidFill>
                  <a:srgbClr val="0B032B"/>
                </a:solidFill>
                <a:latin typeface="Calibri" pitchFamily="34" charset="0"/>
                <a:ea typeface="Calibri" pitchFamily="34" charset="-122"/>
                <a:cs typeface="Calibri" pitchFamily="34" charset="-120"/>
              </a:rPr>
              <a:t>Présider avec impartialité, s’appuyer sur le règlement intérieur</a:t>
            </a:r>
            <a:endParaRPr lang="en-US" sz="1100" dirty="0"/>
          </a:p>
        </p:txBody>
      </p:sp>
      <p:sp>
        <p:nvSpPr>
          <p:cNvPr id="14" name="Shape 12"/>
          <p:cNvSpPr/>
          <p:nvPr/>
        </p:nvSpPr>
        <p:spPr>
          <a:xfrm>
            <a:off x="548640" y="3090672"/>
            <a:ext cx="11064240" cy="969264"/>
          </a:xfrm>
          <a:prstGeom prst="roundRect">
            <a:avLst>
              <a:gd name="adj" fmla="val 11321"/>
            </a:avLst>
          </a:prstGeom>
          <a:solidFill>
            <a:srgbClr val="FFFFFF"/>
          </a:solidFill>
          <a:ln w="12700">
            <a:solidFill>
              <a:srgbClr val="E7E5F0"/>
            </a:solidFill>
            <a:prstDash val="solid"/>
          </a:ln>
        </p:spPr>
      </p:sp>
      <p:sp>
        <p:nvSpPr>
          <p:cNvPr id="15" name="Shape 13"/>
          <p:cNvSpPr/>
          <p:nvPr/>
        </p:nvSpPr>
        <p:spPr>
          <a:xfrm>
            <a:off x="713232" y="3346704"/>
            <a:ext cx="749808" cy="457200"/>
          </a:xfrm>
          <a:prstGeom prst="roundRect">
            <a:avLst>
              <a:gd name="adj" fmla="val 20000"/>
            </a:avLst>
          </a:prstGeom>
          <a:solidFill>
            <a:srgbClr val="0B032B"/>
          </a:solidFill>
          <a:ln/>
        </p:spPr>
      </p:sp>
      <p:sp>
        <p:nvSpPr>
          <p:cNvPr id="16" name="Text 14"/>
          <p:cNvSpPr txBox="1"/>
          <p:nvPr/>
        </p:nvSpPr>
        <p:spPr>
          <a:xfrm>
            <a:off x="713232" y="3346704"/>
            <a:ext cx="749808" cy="457200"/>
          </a:xfrm>
          <a:prstGeom prst="rect">
            <a:avLst/>
          </a:prstGeom>
          <a:noFill/>
          <a:ln/>
        </p:spPr>
        <p:txBody>
          <a:bodyPr wrap="square" lIns="0" tIns="0" rIns="0" bIns="0" rtlCol="0" anchor="ctr"/>
          <a:lstStyle/>
          <a:p>
            <a:pPr algn="ctr" indent="0" marL="0">
              <a:buNone/>
            </a:pPr>
            <a:r>
              <a:rPr lang="en-US" sz="1400" b="1" dirty="0">
                <a:solidFill>
                  <a:srgbClr val="FFF9C7"/>
                </a:solidFill>
                <a:latin typeface="Calibri" pitchFamily="34" charset="0"/>
                <a:ea typeface="Calibri" pitchFamily="34" charset="-122"/>
                <a:cs typeface="Calibri" pitchFamily="34" charset="-120"/>
              </a:rPr>
              <a:t>1.2</a:t>
            </a:r>
            <a:endParaRPr lang="en-US" sz="1400" dirty="0"/>
          </a:p>
        </p:txBody>
      </p:sp>
      <p:sp>
        <p:nvSpPr>
          <p:cNvPr id="17" name="Text 15"/>
          <p:cNvSpPr txBox="1"/>
          <p:nvPr/>
        </p:nvSpPr>
        <p:spPr>
          <a:xfrm>
            <a:off x="1645920" y="3163824"/>
            <a:ext cx="3108960" cy="822960"/>
          </a:xfrm>
          <a:prstGeom prst="rect">
            <a:avLst/>
          </a:prstGeom>
          <a:noFill/>
          <a:ln/>
        </p:spPr>
        <p:txBody>
          <a:bodyPr wrap="square" lIns="0" tIns="0" rIns="0" bIns="0" rtlCol="0" anchor="ctr"/>
          <a:lstStyle/>
          <a:p>
            <a:pPr indent="0" marL="0">
              <a:buNone/>
            </a:pPr>
            <a:r>
              <a:rPr lang="en-US" sz="1400" b="1" dirty="0">
                <a:solidFill>
                  <a:srgbClr val="0B032B"/>
                </a:solidFill>
                <a:latin typeface="Calibri" pitchFamily="34" charset="0"/>
                <a:ea typeface="Calibri" pitchFamily="34" charset="-122"/>
                <a:cs typeface="Calibri" pitchFamily="34" charset="-120"/>
              </a:rPr>
              <a:t>L’habitant en colère au marché</a:t>
            </a:r>
            <a:endParaRPr lang="en-US" sz="1400" dirty="0"/>
          </a:p>
        </p:txBody>
      </p:sp>
      <p:sp>
        <p:nvSpPr>
          <p:cNvPr id="18" name="Text 16"/>
          <p:cNvSpPr txBox="1"/>
          <p:nvPr/>
        </p:nvSpPr>
        <p:spPr>
          <a:xfrm>
            <a:off x="4846320" y="3145536"/>
            <a:ext cx="3931920" cy="859536"/>
          </a:xfrm>
          <a:prstGeom prst="rect">
            <a:avLst/>
          </a:prstGeom>
          <a:noFill/>
          <a:ln/>
        </p:spPr>
        <p:txBody>
          <a:bodyPr wrap="square" lIns="0" tIns="0" rIns="0" bIns="0" rtlCol="0" anchor="ctr">
            <a:normAutofit/>
          </a:bodyPr>
          <a:lstStyle/>
          <a:p>
            <a:pPr indent="0" marL="0">
              <a:buNone/>
            </a:pPr>
            <a:r>
              <a:rPr lang="en-US" sz="1150" dirty="0">
                <a:solidFill>
                  <a:srgbClr val="55516E"/>
                </a:solidFill>
                <a:latin typeface="Calibri" pitchFamily="34" charset="0"/>
                <a:ea typeface="Calibri" pitchFamily="34" charset="-122"/>
                <a:cs typeface="Calibri" pitchFamily="34" charset="-120"/>
              </a:rPr>
              <a:t>Permis refusé « alors que le voisin a eu le sien » : l’habitant exige que l’adjoint « arrange ça ».</a:t>
            </a:r>
            <a:endParaRPr lang="en-US" sz="1150" dirty="0"/>
          </a:p>
        </p:txBody>
      </p:sp>
      <p:sp>
        <p:nvSpPr>
          <p:cNvPr id="19" name="Shape 17"/>
          <p:cNvSpPr/>
          <p:nvPr/>
        </p:nvSpPr>
        <p:spPr>
          <a:xfrm>
            <a:off x="8915400" y="3182112"/>
            <a:ext cx="2560320" cy="786384"/>
          </a:xfrm>
          <a:prstGeom prst="roundRect">
            <a:avLst>
              <a:gd name="adj" fmla="val 9302"/>
            </a:avLst>
          </a:prstGeom>
          <a:solidFill>
            <a:srgbClr val="FFF9C7"/>
          </a:solidFill>
          <a:ln/>
        </p:spPr>
      </p:sp>
      <p:sp>
        <p:nvSpPr>
          <p:cNvPr id="20" name="Text 18"/>
          <p:cNvSpPr txBox="1"/>
          <p:nvPr/>
        </p:nvSpPr>
        <p:spPr>
          <a:xfrm>
            <a:off x="9025128" y="3182112"/>
            <a:ext cx="2340864" cy="786384"/>
          </a:xfrm>
          <a:prstGeom prst="rect">
            <a:avLst/>
          </a:prstGeom>
          <a:noFill/>
          <a:ln/>
        </p:spPr>
        <p:txBody>
          <a:bodyPr wrap="square" lIns="0" tIns="0" rIns="0" bIns="0" rtlCol="0" anchor="ctr">
            <a:normAutofit/>
          </a:bodyPr>
          <a:lstStyle/>
          <a:p>
            <a:pPr indent="0" marL="0">
              <a:buNone/>
            </a:pPr>
            <a:r>
              <a:rPr lang="en-US" sz="1100" b="1" dirty="0">
                <a:solidFill>
                  <a:srgbClr val="0B032B"/>
                </a:solidFill>
                <a:latin typeface="Calibri" pitchFamily="34" charset="0"/>
                <a:ea typeface="Calibri" pitchFamily="34" charset="-122"/>
                <a:cs typeface="Calibri" pitchFamily="34" charset="-120"/>
              </a:rPr>
              <a:t>Écouter, ne rien promettre, orienter vers la procédure</a:t>
            </a:r>
            <a:endParaRPr lang="en-US" sz="1100" dirty="0"/>
          </a:p>
        </p:txBody>
      </p:sp>
      <p:sp>
        <p:nvSpPr>
          <p:cNvPr id="21" name="Shape 19"/>
          <p:cNvSpPr/>
          <p:nvPr/>
        </p:nvSpPr>
        <p:spPr>
          <a:xfrm>
            <a:off x="548640" y="4169664"/>
            <a:ext cx="11064240" cy="969264"/>
          </a:xfrm>
          <a:prstGeom prst="roundRect">
            <a:avLst>
              <a:gd name="adj" fmla="val 11321"/>
            </a:avLst>
          </a:prstGeom>
          <a:solidFill>
            <a:srgbClr val="F3F2F8"/>
          </a:solidFill>
          <a:ln/>
        </p:spPr>
      </p:sp>
      <p:sp>
        <p:nvSpPr>
          <p:cNvPr id="22" name="Shape 20"/>
          <p:cNvSpPr/>
          <p:nvPr/>
        </p:nvSpPr>
        <p:spPr>
          <a:xfrm>
            <a:off x="713232" y="4425696"/>
            <a:ext cx="749808" cy="457200"/>
          </a:xfrm>
          <a:prstGeom prst="roundRect">
            <a:avLst>
              <a:gd name="adj" fmla="val 20000"/>
            </a:avLst>
          </a:prstGeom>
          <a:solidFill>
            <a:srgbClr val="0B032B"/>
          </a:solidFill>
          <a:ln/>
        </p:spPr>
      </p:sp>
      <p:sp>
        <p:nvSpPr>
          <p:cNvPr id="23" name="Text 21"/>
          <p:cNvSpPr txBox="1"/>
          <p:nvPr/>
        </p:nvSpPr>
        <p:spPr>
          <a:xfrm>
            <a:off x="713232" y="4425696"/>
            <a:ext cx="749808" cy="457200"/>
          </a:xfrm>
          <a:prstGeom prst="rect">
            <a:avLst/>
          </a:prstGeom>
          <a:noFill/>
          <a:ln/>
        </p:spPr>
        <p:txBody>
          <a:bodyPr wrap="square" lIns="0" tIns="0" rIns="0" bIns="0" rtlCol="0" anchor="ctr"/>
          <a:lstStyle/>
          <a:p>
            <a:pPr algn="ctr" indent="0" marL="0">
              <a:buNone/>
            </a:pPr>
            <a:r>
              <a:rPr lang="en-US" sz="1400" b="1" dirty="0">
                <a:solidFill>
                  <a:srgbClr val="FFF9C7"/>
                </a:solidFill>
                <a:latin typeface="Calibri" pitchFamily="34" charset="0"/>
                <a:ea typeface="Calibri" pitchFamily="34" charset="-122"/>
                <a:cs typeface="Calibri" pitchFamily="34" charset="-120"/>
              </a:rPr>
              <a:t>1.3</a:t>
            </a:r>
            <a:endParaRPr lang="en-US" sz="1400" dirty="0"/>
          </a:p>
        </p:txBody>
      </p:sp>
      <p:sp>
        <p:nvSpPr>
          <p:cNvPr id="24" name="Text 22"/>
          <p:cNvSpPr txBox="1"/>
          <p:nvPr/>
        </p:nvSpPr>
        <p:spPr>
          <a:xfrm>
            <a:off x="1645920" y="4242816"/>
            <a:ext cx="3108960" cy="822960"/>
          </a:xfrm>
          <a:prstGeom prst="rect">
            <a:avLst/>
          </a:prstGeom>
          <a:noFill/>
          <a:ln/>
        </p:spPr>
        <p:txBody>
          <a:bodyPr wrap="square" lIns="0" tIns="0" rIns="0" bIns="0" rtlCol="0" anchor="ctr"/>
          <a:lstStyle/>
          <a:p>
            <a:pPr indent="0" marL="0">
              <a:buNone/>
            </a:pPr>
            <a:r>
              <a:rPr lang="en-US" sz="1400" b="1" dirty="0">
                <a:solidFill>
                  <a:srgbClr val="0B032B"/>
                </a:solidFill>
                <a:latin typeface="Calibri" pitchFamily="34" charset="0"/>
                <a:ea typeface="Calibri" pitchFamily="34" charset="-122"/>
                <a:cs typeface="Calibri" pitchFamily="34" charset="-120"/>
              </a:rPr>
              <a:t>L’adjoint et le chef d’équipe</a:t>
            </a:r>
            <a:endParaRPr lang="en-US" sz="1400" dirty="0"/>
          </a:p>
        </p:txBody>
      </p:sp>
      <p:sp>
        <p:nvSpPr>
          <p:cNvPr id="25" name="Text 23"/>
          <p:cNvSpPr txBox="1"/>
          <p:nvPr/>
        </p:nvSpPr>
        <p:spPr>
          <a:xfrm>
            <a:off x="4846320" y="4224528"/>
            <a:ext cx="3931920" cy="859536"/>
          </a:xfrm>
          <a:prstGeom prst="rect">
            <a:avLst/>
          </a:prstGeom>
          <a:noFill/>
          <a:ln/>
        </p:spPr>
        <p:txBody>
          <a:bodyPr wrap="square" lIns="0" tIns="0" rIns="0" bIns="0" rtlCol="0" anchor="ctr">
            <a:normAutofit/>
          </a:bodyPr>
          <a:lstStyle/>
          <a:p>
            <a:pPr indent="0" marL="0">
              <a:buNone/>
            </a:pPr>
            <a:r>
              <a:rPr lang="en-US" sz="1150" dirty="0">
                <a:solidFill>
                  <a:srgbClr val="55516E"/>
                </a:solidFill>
                <a:latin typeface="Calibri" pitchFamily="34" charset="0"/>
                <a:ea typeface="Calibri" pitchFamily="34" charset="-122"/>
                <a:cs typeface="Calibri" pitchFamily="34" charset="-120"/>
              </a:rPr>
              <a:t>Reproches publics sur les illuminations de Noël ; le chef d’équipe avait d’autres priorités fixées par la direction.</a:t>
            </a:r>
            <a:endParaRPr lang="en-US" sz="1150" dirty="0"/>
          </a:p>
        </p:txBody>
      </p:sp>
      <p:sp>
        <p:nvSpPr>
          <p:cNvPr id="26" name="Shape 24"/>
          <p:cNvSpPr/>
          <p:nvPr/>
        </p:nvSpPr>
        <p:spPr>
          <a:xfrm>
            <a:off x="8915400" y="4261104"/>
            <a:ext cx="2560320" cy="786384"/>
          </a:xfrm>
          <a:prstGeom prst="roundRect">
            <a:avLst>
              <a:gd name="adj" fmla="val 9302"/>
            </a:avLst>
          </a:prstGeom>
          <a:solidFill>
            <a:srgbClr val="FFF9C7"/>
          </a:solidFill>
          <a:ln/>
        </p:spPr>
      </p:sp>
      <p:sp>
        <p:nvSpPr>
          <p:cNvPr id="27" name="Text 25"/>
          <p:cNvSpPr txBox="1"/>
          <p:nvPr/>
        </p:nvSpPr>
        <p:spPr>
          <a:xfrm>
            <a:off x="9025128" y="4261104"/>
            <a:ext cx="2340864" cy="786384"/>
          </a:xfrm>
          <a:prstGeom prst="rect">
            <a:avLst/>
          </a:prstGeom>
          <a:noFill/>
          <a:ln/>
        </p:spPr>
        <p:txBody>
          <a:bodyPr wrap="square" lIns="0" tIns="0" rIns="0" bIns="0" rtlCol="0" anchor="ctr">
            <a:normAutofit/>
          </a:bodyPr>
          <a:lstStyle/>
          <a:p>
            <a:pPr indent="0" marL="0">
              <a:buNone/>
            </a:pPr>
            <a:r>
              <a:rPr lang="en-US" sz="1100" b="1" dirty="0">
                <a:solidFill>
                  <a:srgbClr val="0B032B"/>
                </a:solidFill>
                <a:latin typeface="Calibri" pitchFamily="34" charset="0"/>
                <a:ea typeface="Calibri" pitchFamily="34" charset="-122"/>
                <a:cs typeface="Calibri" pitchFamily="34" charset="-120"/>
              </a:rPr>
              <a:t>Recadrer en privé, le maire est l’autorité territoriale</a:t>
            </a:r>
            <a:endParaRPr lang="en-US" sz="1100" dirty="0"/>
          </a:p>
        </p:txBody>
      </p:sp>
      <p:sp>
        <p:nvSpPr>
          <p:cNvPr id="28" name="Shape 26"/>
          <p:cNvSpPr/>
          <p:nvPr/>
        </p:nvSpPr>
        <p:spPr>
          <a:xfrm>
            <a:off x="548640" y="5248656"/>
            <a:ext cx="11064240" cy="969264"/>
          </a:xfrm>
          <a:prstGeom prst="roundRect">
            <a:avLst>
              <a:gd name="adj" fmla="val 11321"/>
            </a:avLst>
          </a:prstGeom>
          <a:solidFill>
            <a:srgbClr val="FFFFFF"/>
          </a:solidFill>
          <a:ln w="12700">
            <a:solidFill>
              <a:srgbClr val="E7E5F0"/>
            </a:solidFill>
            <a:prstDash val="solid"/>
          </a:ln>
        </p:spPr>
      </p:sp>
      <p:sp>
        <p:nvSpPr>
          <p:cNvPr id="29" name="Shape 27"/>
          <p:cNvSpPr/>
          <p:nvPr/>
        </p:nvSpPr>
        <p:spPr>
          <a:xfrm>
            <a:off x="713232" y="5504688"/>
            <a:ext cx="749808" cy="457200"/>
          </a:xfrm>
          <a:prstGeom prst="roundRect">
            <a:avLst>
              <a:gd name="adj" fmla="val 20000"/>
            </a:avLst>
          </a:prstGeom>
          <a:solidFill>
            <a:srgbClr val="0B032B"/>
          </a:solidFill>
          <a:ln/>
        </p:spPr>
      </p:sp>
      <p:sp>
        <p:nvSpPr>
          <p:cNvPr id="30" name="Text 28"/>
          <p:cNvSpPr txBox="1"/>
          <p:nvPr/>
        </p:nvSpPr>
        <p:spPr>
          <a:xfrm>
            <a:off x="713232" y="5504688"/>
            <a:ext cx="749808" cy="457200"/>
          </a:xfrm>
          <a:prstGeom prst="rect">
            <a:avLst/>
          </a:prstGeom>
          <a:noFill/>
          <a:ln/>
        </p:spPr>
        <p:txBody>
          <a:bodyPr wrap="square" lIns="0" tIns="0" rIns="0" bIns="0" rtlCol="0" anchor="ctr"/>
          <a:lstStyle/>
          <a:p>
            <a:pPr algn="ctr" indent="0" marL="0">
              <a:buNone/>
            </a:pPr>
            <a:r>
              <a:rPr lang="en-US" sz="1400" b="1" dirty="0">
                <a:solidFill>
                  <a:srgbClr val="FFF9C7"/>
                </a:solidFill>
                <a:latin typeface="Calibri" pitchFamily="34" charset="0"/>
                <a:ea typeface="Calibri" pitchFamily="34" charset="-122"/>
                <a:cs typeface="Calibri" pitchFamily="34" charset="-120"/>
              </a:rPr>
              <a:t>1.4</a:t>
            </a:r>
            <a:endParaRPr lang="en-US" sz="1400" dirty="0"/>
          </a:p>
        </p:txBody>
      </p:sp>
      <p:sp>
        <p:nvSpPr>
          <p:cNvPr id="31" name="Text 29"/>
          <p:cNvSpPr txBox="1"/>
          <p:nvPr/>
        </p:nvSpPr>
        <p:spPr>
          <a:xfrm>
            <a:off x="1645920" y="5321808"/>
            <a:ext cx="3108960" cy="822960"/>
          </a:xfrm>
          <a:prstGeom prst="rect">
            <a:avLst/>
          </a:prstGeom>
          <a:noFill/>
          <a:ln/>
        </p:spPr>
        <p:txBody>
          <a:bodyPr wrap="square" lIns="0" tIns="0" rIns="0" bIns="0" rtlCol="0" anchor="ctr"/>
          <a:lstStyle/>
          <a:p>
            <a:pPr indent="0" marL="0">
              <a:buNone/>
            </a:pPr>
            <a:r>
              <a:rPr lang="en-US" sz="1400" b="1" dirty="0">
                <a:solidFill>
                  <a:srgbClr val="0B032B"/>
                </a:solidFill>
                <a:latin typeface="Calibri" pitchFamily="34" charset="0"/>
                <a:ea typeface="Calibri" pitchFamily="34" charset="-122"/>
                <a:cs typeface="Calibri" pitchFamily="34" charset="-120"/>
              </a:rPr>
              <a:t>La fronde dans la majorité</a:t>
            </a:r>
            <a:endParaRPr lang="en-US" sz="1400" dirty="0"/>
          </a:p>
        </p:txBody>
      </p:sp>
      <p:sp>
        <p:nvSpPr>
          <p:cNvPr id="32" name="Text 30"/>
          <p:cNvSpPr txBox="1"/>
          <p:nvPr/>
        </p:nvSpPr>
        <p:spPr>
          <a:xfrm>
            <a:off x="4846320" y="5303520"/>
            <a:ext cx="3931920" cy="859536"/>
          </a:xfrm>
          <a:prstGeom prst="rect">
            <a:avLst/>
          </a:prstGeom>
          <a:noFill/>
          <a:ln/>
        </p:spPr>
        <p:txBody>
          <a:bodyPr wrap="square" lIns="0" tIns="0" rIns="0" bIns="0" rtlCol="0" anchor="ctr">
            <a:normAutofit/>
          </a:bodyPr>
          <a:lstStyle/>
          <a:p>
            <a:pPr indent="0" marL="0">
              <a:buNone/>
            </a:pPr>
            <a:r>
              <a:rPr lang="en-US" sz="1150" dirty="0">
                <a:solidFill>
                  <a:srgbClr val="55516E"/>
                </a:solidFill>
                <a:latin typeface="Calibri" pitchFamily="34" charset="0"/>
                <a:ea typeface="Calibri" pitchFamily="34" charset="-122"/>
                <a:cs typeface="Calibri" pitchFamily="34" charset="-120"/>
              </a:rPr>
              <a:t>Trois conseillers de la majorité annoncent un vote contre la salle des fêtes : trop chère, pas consultés.</a:t>
            </a:r>
            <a:endParaRPr lang="en-US" sz="1150" dirty="0"/>
          </a:p>
        </p:txBody>
      </p:sp>
      <p:sp>
        <p:nvSpPr>
          <p:cNvPr id="33" name="Shape 31"/>
          <p:cNvSpPr/>
          <p:nvPr/>
        </p:nvSpPr>
        <p:spPr>
          <a:xfrm>
            <a:off x="8915400" y="5340096"/>
            <a:ext cx="2560320" cy="786384"/>
          </a:xfrm>
          <a:prstGeom prst="roundRect">
            <a:avLst>
              <a:gd name="adj" fmla="val 9302"/>
            </a:avLst>
          </a:prstGeom>
          <a:solidFill>
            <a:srgbClr val="FFF9C7"/>
          </a:solidFill>
          <a:ln/>
        </p:spPr>
      </p:sp>
      <p:sp>
        <p:nvSpPr>
          <p:cNvPr id="34" name="Text 32"/>
          <p:cNvSpPr txBox="1"/>
          <p:nvPr/>
        </p:nvSpPr>
        <p:spPr>
          <a:xfrm>
            <a:off x="9025128" y="5340096"/>
            <a:ext cx="2340864" cy="786384"/>
          </a:xfrm>
          <a:prstGeom prst="rect">
            <a:avLst/>
          </a:prstGeom>
          <a:noFill/>
          <a:ln/>
        </p:spPr>
        <p:txBody>
          <a:bodyPr wrap="square" lIns="0" tIns="0" rIns="0" bIns="0" rtlCol="0" anchor="ctr">
            <a:normAutofit/>
          </a:bodyPr>
          <a:lstStyle/>
          <a:p>
            <a:pPr indent="0" marL="0">
              <a:buNone/>
            </a:pPr>
            <a:r>
              <a:rPr lang="en-US" sz="1100" b="1" dirty="0">
                <a:solidFill>
                  <a:srgbClr val="0B032B"/>
                </a:solidFill>
                <a:latin typeface="Calibri" pitchFamily="34" charset="0"/>
                <a:ea typeface="Calibri" pitchFamily="34" charset="-122"/>
                <a:cs typeface="Calibri" pitchFamily="34" charset="-120"/>
              </a:rPr>
              <a:t>Débattre avant, être solidaires après</a:t>
            </a:r>
            <a:endParaRPr lang="en-US" sz="1100" dirty="0"/>
          </a:p>
        </p:txBody>
      </p:sp>
      <p:sp>
        <p:nvSpPr>
          <p:cNvPr id="35" name="Text 33"/>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spc="100" kern="0" dirty="0">
                <a:solidFill>
                  <a:srgbClr val="8A8699"/>
                </a:solidFill>
                <a:latin typeface="Calibri" pitchFamily="34" charset="0"/>
                <a:ea typeface="Calibri" pitchFamily="34" charset="-122"/>
                <a:cs typeface="Calibri" pitchFamily="34" charset="-120"/>
              </a:rPr>
              <a:t>ENMA FORMATION  ·  Formation des élus municipaux 2026</a:t>
            </a:r>
            <a:endParaRPr lang="en-US" sz="900" dirty="0"/>
          </a:p>
        </p:txBody>
      </p:sp>
      <p:sp>
        <p:nvSpPr>
          <p:cNvPr id="36" name="Text 34"/>
          <p:cNvSpPr txBox="1"/>
          <p:nvPr/>
        </p:nvSpPr>
        <p:spPr>
          <a:xfrm>
            <a:off x="9692640" y="6400800"/>
            <a:ext cx="548640" cy="274320"/>
          </a:xfrm>
          <a:prstGeom prst="rect">
            <a:avLst/>
          </a:prstGeom>
          <a:noFill/>
          <a:ln/>
        </p:spPr>
        <p:txBody>
          <a:bodyPr wrap="square" lIns="0" tIns="0" rIns="0" bIns="0" rtlCol="0" anchor="ctr"/>
          <a:lstStyle/>
          <a:p>
            <a:pPr algn="r" indent="0" marL="0">
              <a:buNone/>
            </a:pPr>
            <a:r>
              <a:rPr lang="en-US" sz="900" dirty="0">
                <a:solidFill>
                  <a:srgbClr val="8A8699"/>
                </a:solidFill>
                <a:latin typeface="Calibri" pitchFamily="34" charset="0"/>
                <a:ea typeface="Calibri" pitchFamily="34" charset="-122"/>
                <a:cs typeface="Calibri" pitchFamily="34" charset="-120"/>
              </a:rPr>
              <a:t>54</a:t>
            </a:r>
            <a:endParaRPr lang="en-US" sz="900" dirty="0"/>
          </a:p>
        </p:txBody>
      </p:sp>
      <p:pic>
        <p:nvPicPr>
          <p:cNvPr id="37" name="Image 0" descr="preencoded.png">    </p:cNvPr>
          <p:cNvPicPr>
            <a:picLocks noChangeAspect="1"/>
          </p:cNvPicPr>
          <p:nvPr/>
        </p:nvPicPr>
        <p:blipFill>
          <a:blip r:embed="rId1"/>
          <a:stretch>
            <a:fillRect/>
          </a:stretch>
        </p:blipFill>
        <p:spPr>
          <a:xfrm>
            <a:off x="10469880" y="6309360"/>
            <a:ext cx="1170432" cy="484632"/>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420624" cy="310896"/>
          </a:xfrm>
          <a:prstGeom prst="roundRect">
            <a:avLst>
              <a:gd name="adj" fmla="val 23529"/>
            </a:avLst>
          </a:prstGeom>
          <a:solidFill>
            <a:srgbClr val="0B032B"/>
          </a:solidFill>
          <a:ln/>
        </p:spPr>
      </p:sp>
      <p:sp>
        <p:nvSpPr>
          <p:cNvPr id="3" name="Text 1"/>
          <p:cNvSpPr txBox="1"/>
          <p:nvPr/>
        </p:nvSpPr>
        <p:spPr>
          <a:xfrm>
            <a:off x="548640" y="438912"/>
            <a:ext cx="420624" cy="310896"/>
          </a:xfrm>
          <a:prstGeom prst="rect">
            <a:avLst/>
          </a:prstGeom>
          <a:noFill/>
          <a:ln/>
        </p:spPr>
        <p:txBody>
          <a:bodyPr wrap="square" lIns="0" tIns="0" rIns="0" bIns="0" rtlCol="0" anchor="ctr"/>
          <a:lstStyle/>
          <a:p>
            <a:pPr algn="ctr" indent="0" marL="0">
              <a:buNone/>
            </a:pPr>
            <a:r>
              <a:rPr lang="en-US" sz="1100" b="1" dirty="0">
                <a:solidFill>
                  <a:srgbClr val="FFF9C7"/>
                </a:solidFill>
                <a:latin typeface="Calibri" pitchFamily="34" charset="0"/>
                <a:ea typeface="Calibri" pitchFamily="34" charset="-122"/>
                <a:cs typeface="Calibri" pitchFamily="34" charset="-120"/>
              </a:rPr>
              <a:t>08</a:t>
            </a:r>
            <a:endParaRPr lang="en-US" sz="1100" dirty="0"/>
          </a:p>
        </p:txBody>
      </p:sp>
      <p:sp>
        <p:nvSpPr>
          <p:cNvPr id="4" name="Text 2"/>
          <p:cNvSpPr txBox="1"/>
          <p:nvPr/>
        </p:nvSpPr>
        <p:spPr>
          <a:xfrm>
            <a:off x="1115568" y="438912"/>
            <a:ext cx="8229600" cy="310896"/>
          </a:xfrm>
          <a:prstGeom prst="rect">
            <a:avLst/>
          </a:prstGeom>
          <a:noFill/>
          <a:ln/>
        </p:spPr>
        <p:txBody>
          <a:bodyPr wrap="square" lIns="0" tIns="0" rIns="0" bIns="0" rtlCol="0" anchor="ctr"/>
          <a:lstStyle/>
          <a:p>
            <a:pPr indent="0" marL="0">
              <a:buNone/>
            </a:pPr>
            <a:r>
              <a:rPr lang="en-US" sz="1100" b="1" spc="200" kern="0" dirty="0">
                <a:solidFill>
                  <a:srgbClr val="55516E"/>
                </a:solidFill>
                <a:latin typeface="Calibri" pitchFamily="34" charset="0"/>
                <a:ea typeface="Calibri" pitchFamily="34" charset="-122"/>
                <a:cs typeface="Calibri" pitchFamily="34" charset="-120"/>
              </a:rPr>
              <a:t>MISES EN SITUATION · BLOC 2</a:t>
            </a:r>
            <a:endParaRPr lang="en-US" sz="1100" dirty="0"/>
          </a:p>
        </p:txBody>
      </p:sp>
      <p:sp>
        <p:nvSpPr>
          <p:cNvPr id="5" name="Text 3"/>
          <p:cNvSpPr txBox="1"/>
          <p:nvPr/>
        </p:nvSpPr>
        <p:spPr>
          <a:xfrm>
            <a:off x="548640" y="841248"/>
            <a:ext cx="11064240" cy="685800"/>
          </a:xfrm>
          <a:prstGeom prst="rect">
            <a:avLst/>
          </a:prstGeom>
          <a:noFill/>
          <a:ln/>
        </p:spPr>
        <p:txBody>
          <a:bodyPr wrap="square" lIns="0" tIns="0" rIns="0" bIns="0" rtlCol="0" anchor="ctr">
            <a:normAutofit/>
          </a:bodyPr>
          <a:lstStyle/>
          <a:p>
            <a:pPr indent="0" marL="0">
              <a:buNone/>
            </a:pPr>
            <a:r>
              <a:rPr lang="en-US" sz="2800" b="1" dirty="0">
                <a:solidFill>
                  <a:srgbClr val="0B032B"/>
                </a:solidFill>
                <a:latin typeface="Calibri" pitchFamily="34" charset="0"/>
                <a:ea typeface="Calibri" pitchFamily="34" charset="-122"/>
                <a:cs typeface="Calibri" pitchFamily="34" charset="-120"/>
              </a:rPr>
              <a:t>Organiser les services</a:t>
            </a:r>
            <a:endParaRPr lang="en-US" sz="2800" dirty="0"/>
          </a:p>
        </p:txBody>
      </p:sp>
      <p:sp>
        <p:nvSpPr>
          <p:cNvPr id="6" name="Text 4"/>
          <p:cNvSpPr txBox="1"/>
          <p:nvPr/>
        </p:nvSpPr>
        <p:spPr>
          <a:xfrm>
            <a:off x="548640" y="1572768"/>
            <a:ext cx="10972800" cy="320040"/>
          </a:xfrm>
          <a:prstGeom prst="rect">
            <a:avLst/>
          </a:prstGeom>
          <a:noFill/>
          <a:ln/>
        </p:spPr>
        <p:txBody>
          <a:bodyPr wrap="square" lIns="0" tIns="0" rIns="0" bIns="0" rtlCol="0" anchor="t"/>
          <a:lstStyle/>
          <a:p>
            <a:pPr indent="0" marL="0">
              <a:buNone/>
            </a:pPr>
            <a:r>
              <a:rPr lang="en-US" sz="1300" i="1" dirty="0">
                <a:solidFill>
                  <a:srgbClr val="55516E"/>
                </a:solidFill>
                <a:latin typeface="Calibri" pitchFamily="34" charset="0"/>
                <a:ea typeface="Calibri" pitchFamily="34" charset="-122"/>
                <a:cs typeface="Calibri" pitchFamily="34" charset="-120"/>
              </a:rPr>
              <a:t>À jouer en séquence 03 (gestion des agents municipaux).</a:t>
            </a:r>
            <a:endParaRPr lang="en-US" sz="1300" dirty="0"/>
          </a:p>
        </p:txBody>
      </p:sp>
      <p:sp>
        <p:nvSpPr>
          <p:cNvPr id="7" name="Shape 5"/>
          <p:cNvSpPr/>
          <p:nvPr/>
        </p:nvSpPr>
        <p:spPr>
          <a:xfrm>
            <a:off x="548640" y="2011680"/>
            <a:ext cx="11064240" cy="969264"/>
          </a:xfrm>
          <a:prstGeom prst="roundRect">
            <a:avLst>
              <a:gd name="adj" fmla="val 11321"/>
            </a:avLst>
          </a:prstGeom>
          <a:solidFill>
            <a:srgbClr val="F3F2F8"/>
          </a:solidFill>
          <a:ln/>
        </p:spPr>
      </p:sp>
      <p:sp>
        <p:nvSpPr>
          <p:cNvPr id="8" name="Shape 6"/>
          <p:cNvSpPr/>
          <p:nvPr/>
        </p:nvSpPr>
        <p:spPr>
          <a:xfrm>
            <a:off x="713232" y="2267712"/>
            <a:ext cx="749808" cy="457200"/>
          </a:xfrm>
          <a:prstGeom prst="roundRect">
            <a:avLst>
              <a:gd name="adj" fmla="val 20000"/>
            </a:avLst>
          </a:prstGeom>
          <a:solidFill>
            <a:srgbClr val="0B032B"/>
          </a:solidFill>
          <a:ln/>
        </p:spPr>
      </p:sp>
      <p:sp>
        <p:nvSpPr>
          <p:cNvPr id="9" name="Text 7"/>
          <p:cNvSpPr txBox="1"/>
          <p:nvPr/>
        </p:nvSpPr>
        <p:spPr>
          <a:xfrm>
            <a:off x="713232" y="2267712"/>
            <a:ext cx="749808" cy="457200"/>
          </a:xfrm>
          <a:prstGeom prst="rect">
            <a:avLst/>
          </a:prstGeom>
          <a:noFill/>
          <a:ln/>
        </p:spPr>
        <p:txBody>
          <a:bodyPr wrap="square" lIns="0" tIns="0" rIns="0" bIns="0" rtlCol="0" anchor="ctr"/>
          <a:lstStyle/>
          <a:p>
            <a:pPr algn="ctr" indent="0" marL="0">
              <a:buNone/>
            </a:pPr>
            <a:r>
              <a:rPr lang="en-US" sz="1400" b="1" dirty="0">
                <a:solidFill>
                  <a:srgbClr val="FFF9C7"/>
                </a:solidFill>
                <a:latin typeface="Calibri" pitchFamily="34" charset="0"/>
                <a:ea typeface="Calibri" pitchFamily="34" charset="-122"/>
                <a:cs typeface="Calibri" pitchFamily="34" charset="-120"/>
              </a:rPr>
              <a:t>2.1</a:t>
            </a:r>
            <a:endParaRPr lang="en-US" sz="1400" dirty="0"/>
          </a:p>
        </p:txBody>
      </p:sp>
      <p:sp>
        <p:nvSpPr>
          <p:cNvPr id="10" name="Text 8"/>
          <p:cNvSpPr txBox="1"/>
          <p:nvPr/>
        </p:nvSpPr>
        <p:spPr>
          <a:xfrm>
            <a:off x="1645920" y="2084832"/>
            <a:ext cx="3108960" cy="822960"/>
          </a:xfrm>
          <a:prstGeom prst="rect">
            <a:avLst/>
          </a:prstGeom>
          <a:noFill/>
          <a:ln/>
        </p:spPr>
        <p:txBody>
          <a:bodyPr wrap="square" lIns="0" tIns="0" rIns="0" bIns="0" rtlCol="0" anchor="ctr"/>
          <a:lstStyle/>
          <a:p>
            <a:pPr indent="0" marL="0">
              <a:buNone/>
            </a:pPr>
            <a:r>
              <a:rPr lang="en-US" sz="1400" b="1" dirty="0">
                <a:solidFill>
                  <a:srgbClr val="0B032B"/>
                </a:solidFill>
                <a:latin typeface="Calibri" pitchFamily="34" charset="0"/>
                <a:ea typeface="Calibri" pitchFamily="34" charset="-122"/>
                <a:cs typeface="Calibri" pitchFamily="34" charset="-120"/>
              </a:rPr>
              <a:t>« Tu peux me rendre un petit service ? »</a:t>
            </a:r>
            <a:endParaRPr lang="en-US" sz="1400" dirty="0"/>
          </a:p>
        </p:txBody>
      </p:sp>
      <p:sp>
        <p:nvSpPr>
          <p:cNvPr id="11" name="Text 9"/>
          <p:cNvSpPr txBox="1"/>
          <p:nvPr/>
        </p:nvSpPr>
        <p:spPr>
          <a:xfrm>
            <a:off x="4846320" y="2066544"/>
            <a:ext cx="3931920" cy="859536"/>
          </a:xfrm>
          <a:prstGeom prst="rect">
            <a:avLst/>
          </a:prstGeom>
          <a:noFill/>
          <a:ln/>
        </p:spPr>
        <p:txBody>
          <a:bodyPr wrap="square" lIns="0" tIns="0" rIns="0" bIns="0" rtlCol="0" anchor="ctr">
            <a:normAutofit/>
          </a:bodyPr>
          <a:lstStyle/>
          <a:p>
            <a:pPr indent="0" marL="0">
              <a:buNone/>
            </a:pPr>
            <a:r>
              <a:rPr lang="en-US" sz="1150" dirty="0">
                <a:solidFill>
                  <a:srgbClr val="55516E"/>
                </a:solidFill>
                <a:latin typeface="Calibri" pitchFamily="34" charset="0"/>
                <a:ea typeface="Calibri" pitchFamily="34" charset="-122"/>
                <a:cs typeface="Calibri" pitchFamily="34" charset="-120"/>
              </a:rPr>
              <a:t>Un conseiller sans délégation demande à un agent des espaces verts de tailler en priorité la haie devant l’école.</a:t>
            </a:r>
            <a:endParaRPr lang="en-US" sz="1150" dirty="0"/>
          </a:p>
        </p:txBody>
      </p:sp>
      <p:sp>
        <p:nvSpPr>
          <p:cNvPr id="12" name="Shape 10"/>
          <p:cNvSpPr/>
          <p:nvPr/>
        </p:nvSpPr>
        <p:spPr>
          <a:xfrm>
            <a:off x="8915400" y="2103120"/>
            <a:ext cx="2560320" cy="786384"/>
          </a:xfrm>
          <a:prstGeom prst="roundRect">
            <a:avLst>
              <a:gd name="adj" fmla="val 9302"/>
            </a:avLst>
          </a:prstGeom>
          <a:solidFill>
            <a:srgbClr val="FFF9C7"/>
          </a:solidFill>
          <a:ln/>
        </p:spPr>
      </p:sp>
      <p:sp>
        <p:nvSpPr>
          <p:cNvPr id="13" name="Text 11"/>
          <p:cNvSpPr txBox="1"/>
          <p:nvPr/>
        </p:nvSpPr>
        <p:spPr>
          <a:xfrm>
            <a:off x="9025128" y="2103120"/>
            <a:ext cx="2340864" cy="786384"/>
          </a:xfrm>
          <a:prstGeom prst="rect">
            <a:avLst/>
          </a:prstGeom>
          <a:noFill/>
          <a:ln/>
        </p:spPr>
        <p:txBody>
          <a:bodyPr wrap="square" lIns="0" tIns="0" rIns="0" bIns="0" rtlCol="0" anchor="ctr">
            <a:normAutofit/>
          </a:bodyPr>
          <a:lstStyle/>
          <a:p>
            <a:pPr indent="0" marL="0">
              <a:buNone/>
            </a:pPr>
            <a:r>
              <a:rPr lang="en-US" sz="1100" b="1" dirty="0">
                <a:solidFill>
                  <a:srgbClr val="0B032B"/>
                </a:solidFill>
                <a:latin typeface="Calibri" pitchFamily="34" charset="0"/>
                <a:ea typeface="Calibri" pitchFamily="34" charset="-122"/>
                <a:cs typeface="Calibri" pitchFamily="34" charset="-120"/>
              </a:rPr>
              <a:t>Sans délégation, aucune autorité : passer par le maire</a:t>
            </a:r>
            <a:endParaRPr lang="en-US" sz="1100" dirty="0"/>
          </a:p>
        </p:txBody>
      </p:sp>
      <p:sp>
        <p:nvSpPr>
          <p:cNvPr id="14" name="Shape 12"/>
          <p:cNvSpPr/>
          <p:nvPr/>
        </p:nvSpPr>
        <p:spPr>
          <a:xfrm>
            <a:off x="548640" y="3090672"/>
            <a:ext cx="11064240" cy="969264"/>
          </a:xfrm>
          <a:prstGeom prst="roundRect">
            <a:avLst>
              <a:gd name="adj" fmla="val 11321"/>
            </a:avLst>
          </a:prstGeom>
          <a:solidFill>
            <a:srgbClr val="FFFFFF"/>
          </a:solidFill>
          <a:ln w="12700">
            <a:solidFill>
              <a:srgbClr val="E7E5F0"/>
            </a:solidFill>
            <a:prstDash val="solid"/>
          </a:ln>
        </p:spPr>
      </p:sp>
      <p:sp>
        <p:nvSpPr>
          <p:cNvPr id="15" name="Shape 13"/>
          <p:cNvSpPr/>
          <p:nvPr/>
        </p:nvSpPr>
        <p:spPr>
          <a:xfrm>
            <a:off x="713232" y="3346704"/>
            <a:ext cx="749808" cy="457200"/>
          </a:xfrm>
          <a:prstGeom prst="roundRect">
            <a:avLst>
              <a:gd name="adj" fmla="val 20000"/>
            </a:avLst>
          </a:prstGeom>
          <a:solidFill>
            <a:srgbClr val="0B032B"/>
          </a:solidFill>
          <a:ln/>
        </p:spPr>
      </p:sp>
      <p:sp>
        <p:nvSpPr>
          <p:cNvPr id="16" name="Text 14"/>
          <p:cNvSpPr txBox="1"/>
          <p:nvPr/>
        </p:nvSpPr>
        <p:spPr>
          <a:xfrm>
            <a:off x="713232" y="3346704"/>
            <a:ext cx="749808" cy="457200"/>
          </a:xfrm>
          <a:prstGeom prst="rect">
            <a:avLst/>
          </a:prstGeom>
          <a:noFill/>
          <a:ln/>
        </p:spPr>
        <p:txBody>
          <a:bodyPr wrap="square" lIns="0" tIns="0" rIns="0" bIns="0" rtlCol="0" anchor="ctr"/>
          <a:lstStyle/>
          <a:p>
            <a:pPr algn="ctr" indent="0" marL="0">
              <a:buNone/>
            </a:pPr>
            <a:r>
              <a:rPr lang="en-US" sz="1400" b="1" dirty="0">
                <a:solidFill>
                  <a:srgbClr val="FFF9C7"/>
                </a:solidFill>
                <a:latin typeface="Calibri" pitchFamily="34" charset="0"/>
                <a:ea typeface="Calibri" pitchFamily="34" charset="-122"/>
                <a:cs typeface="Calibri" pitchFamily="34" charset="-120"/>
              </a:rPr>
              <a:t>2.2</a:t>
            </a:r>
            <a:endParaRPr lang="en-US" sz="1400" dirty="0"/>
          </a:p>
        </p:txBody>
      </p:sp>
      <p:sp>
        <p:nvSpPr>
          <p:cNvPr id="17" name="Text 15"/>
          <p:cNvSpPr txBox="1"/>
          <p:nvPr/>
        </p:nvSpPr>
        <p:spPr>
          <a:xfrm>
            <a:off x="1645920" y="3163824"/>
            <a:ext cx="3108960" cy="822960"/>
          </a:xfrm>
          <a:prstGeom prst="rect">
            <a:avLst/>
          </a:prstGeom>
          <a:noFill/>
          <a:ln/>
        </p:spPr>
        <p:txBody>
          <a:bodyPr wrap="square" lIns="0" tIns="0" rIns="0" bIns="0" rtlCol="0" anchor="ctr"/>
          <a:lstStyle/>
          <a:p>
            <a:pPr indent="0" marL="0">
              <a:buNone/>
            </a:pPr>
            <a:r>
              <a:rPr lang="en-US" sz="1400" b="1" dirty="0">
                <a:solidFill>
                  <a:srgbClr val="0B032B"/>
                </a:solidFill>
                <a:latin typeface="Calibri" pitchFamily="34" charset="0"/>
                <a:ea typeface="Calibri" pitchFamily="34" charset="-122"/>
                <a:cs typeface="Calibri" pitchFamily="34" charset="-120"/>
              </a:rPr>
              <a:t>Deux adjoints, un seul agent</a:t>
            </a:r>
            <a:endParaRPr lang="en-US" sz="1400" dirty="0"/>
          </a:p>
        </p:txBody>
      </p:sp>
      <p:sp>
        <p:nvSpPr>
          <p:cNvPr id="18" name="Text 16"/>
          <p:cNvSpPr txBox="1"/>
          <p:nvPr/>
        </p:nvSpPr>
        <p:spPr>
          <a:xfrm>
            <a:off x="4846320" y="3145536"/>
            <a:ext cx="3931920" cy="859536"/>
          </a:xfrm>
          <a:prstGeom prst="rect">
            <a:avLst/>
          </a:prstGeom>
          <a:noFill/>
          <a:ln/>
        </p:spPr>
        <p:txBody>
          <a:bodyPr wrap="square" lIns="0" tIns="0" rIns="0" bIns="0" rtlCol="0" anchor="ctr">
            <a:normAutofit/>
          </a:bodyPr>
          <a:lstStyle/>
          <a:p>
            <a:pPr indent="0" marL="0">
              <a:buNone/>
            </a:pPr>
            <a:r>
              <a:rPr lang="en-US" sz="1150" dirty="0">
                <a:solidFill>
                  <a:srgbClr val="55516E"/>
                </a:solidFill>
                <a:latin typeface="Calibri" pitchFamily="34" charset="0"/>
                <a:ea typeface="Calibri" pitchFamily="34" charset="-122"/>
                <a:cs typeface="Calibri" pitchFamily="34" charset="-120"/>
              </a:rPr>
              <a:t>Écoles et sports réclament le même agent polyvalent le même lundi, chacun lui ayant donné sa consigne.</a:t>
            </a:r>
            <a:endParaRPr lang="en-US" sz="1150" dirty="0"/>
          </a:p>
        </p:txBody>
      </p:sp>
      <p:sp>
        <p:nvSpPr>
          <p:cNvPr id="19" name="Shape 17"/>
          <p:cNvSpPr/>
          <p:nvPr/>
        </p:nvSpPr>
        <p:spPr>
          <a:xfrm>
            <a:off x="8915400" y="3182112"/>
            <a:ext cx="2560320" cy="786384"/>
          </a:xfrm>
          <a:prstGeom prst="roundRect">
            <a:avLst>
              <a:gd name="adj" fmla="val 9302"/>
            </a:avLst>
          </a:prstGeom>
          <a:solidFill>
            <a:srgbClr val="FFF9C7"/>
          </a:solidFill>
          <a:ln/>
        </p:spPr>
      </p:sp>
      <p:sp>
        <p:nvSpPr>
          <p:cNvPr id="20" name="Text 18"/>
          <p:cNvSpPr txBox="1"/>
          <p:nvPr/>
        </p:nvSpPr>
        <p:spPr>
          <a:xfrm>
            <a:off x="9025128" y="3182112"/>
            <a:ext cx="2340864" cy="786384"/>
          </a:xfrm>
          <a:prstGeom prst="rect">
            <a:avLst/>
          </a:prstGeom>
          <a:noFill/>
          <a:ln/>
        </p:spPr>
        <p:txBody>
          <a:bodyPr wrap="square" lIns="0" tIns="0" rIns="0" bIns="0" rtlCol="0" anchor="ctr">
            <a:normAutofit/>
          </a:bodyPr>
          <a:lstStyle/>
          <a:p>
            <a:pPr indent="0" marL="0">
              <a:buNone/>
            </a:pPr>
            <a:r>
              <a:rPr lang="en-US" sz="1100" b="1" dirty="0">
                <a:solidFill>
                  <a:srgbClr val="0B032B"/>
                </a:solidFill>
                <a:latin typeface="Calibri" pitchFamily="34" charset="0"/>
                <a:ea typeface="Calibri" pitchFamily="34" charset="-122"/>
                <a:cs typeface="Calibri" pitchFamily="34" charset="-120"/>
              </a:rPr>
              <a:t>Le maire arbitre, un circuit unique des demandes</a:t>
            </a:r>
            <a:endParaRPr lang="en-US" sz="1100" dirty="0"/>
          </a:p>
        </p:txBody>
      </p:sp>
      <p:sp>
        <p:nvSpPr>
          <p:cNvPr id="21" name="Shape 19"/>
          <p:cNvSpPr/>
          <p:nvPr/>
        </p:nvSpPr>
        <p:spPr>
          <a:xfrm>
            <a:off x="548640" y="4169664"/>
            <a:ext cx="11064240" cy="969264"/>
          </a:xfrm>
          <a:prstGeom prst="roundRect">
            <a:avLst>
              <a:gd name="adj" fmla="val 11321"/>
            </a:avLst>
          </a:prstGeom>
          <a:solidFill>
            <a:srgbClr val="F3F2F8"/>
          </a:solidFill>
          <a:ln/>
        </p:spPr>
      </p:sp>
      <p:sp>
        <p:nvSpPr>
          <p:cNvPr id="22" name="Shape 20"/>
          <p:cNvSpPr/>
          <p:nvPr/>
        </p:nvSpPr>
        <p:spPr>
          <a:xfrm>
            <a:off x="713232" y="4425696"/>
            <a:ext cx="749808" cy="457200"/>
          </a:xfrm>
          <a:prstGeom prst="roundRect">
            <a:avLst>
              <a:gd name="adj" fmla="val 20000"/>
            </a:avLst>
          </a:prstGeom>
          <a:solidFill>
            <a:srgbClr val="0B032B"/>
          </a:solidFill>
          <a:ln/>
        </p:spPr>
      </p:sp>
      <p:sp>
        <p:nvSpPr>
          <p:cNvPr id="23" name="Text 21"/>
          <p:cNvSpPr txBox="1"/>
          <p:nvPr/>
        </p:nvSpPr>
        <p:spPr>
          <a:xfrm>
            <a:off x="713232" y="4425696"/>
            <a:ext cx="749808" cy="457200"/>
          </a:xfrm>
          <a:prstGeom prst="rect">
            <a:avLst/>
          </a:prstGeom>
          <a:noFill/>
          <a:ln/>
        </p:spPr>
        <p:txBody>
          <a:bodyPr wrap="square" lIns="0" tIns="0" rIns="0" bIns="0" rtlCol="0" anchor="ctr"/>
          <a:lstStyle/>
          <a:p>
            <a:pPr algn="ctr" indent="0" marL="0">
              <a:buNone/>
            </a:pPr>
            <a:r>
              <a:rPr lang="en-US" sz="1400" b="1" dirty="0">
                <a:solidFill>
                  <a:srgbClr val="FFF9C7"/>
                </a:solidFill>
                <a:latin typeface="Calibri" pitchFamily="34" charset="0"/>
                <a:ea typeface="Calibri" pitchFamily="34" charset="-122"/>
                <a:cs typeface="Calibri" pitchFamily="34" charset="-120"/>
              </a:rPr>
              <a:t>2.3</a:t>
            </a:r>
            <a:endParaRPr lang="en-US" sz="1400" dirty="0"/>
          </a:p>
        </p:txBody>
      </p:sp>
      <p:sp>
        <p:nvSpPr>
          <p:cNvPr id="24" name="Text 22"/>
          <p:cNvSpPr txBox="1"/>
          <p:nvPr/>
        </p:nvSpPr>
        <p:spPr>
          <a:xfrm>
            <a:off x="1645920" y="4242816"/>
            <a:ext cx="3108960" cy="822960"/>
          </a:xfrm>
          <a:prstGeom prst="rect">
            <a:avLst/>
          </a:prstGeom>
          <a:noFill/>
          <a:ln/>
        </p:spPr>
        <p:txBody>
          <a:bodyPr wrap="square" lIns="0" tIns="0" rIns="0" bIns="0" rtlCol="0" anchor="ctr"/>
          <a:lstStyle/>
          <a:p>
            <a:pPr indent="0" marL="0">
              <a:buNone/>
            </a:pPr>
            <a:r>
              <a:rPr lang="en-US" sz="1400" b="1" dirty="0">
                <a:solidFill>
                  <a:srgbClr val="0B032B"/>
                </a:solidFill>
                <a:latin typeface="Calibri" pitchFamily="34" charset="0"/>
                <a:ea typeface="Calibri" pitchFamily="34" charset="-122"/>
                <a:cs typeface="Calibri" pitchFamily="34" charset="-120"/>
              </a:rPr>
              <a:t>Continuité du service</a:t>
            </a:r>
            <a:endParaRPr lang="en-US" sz="1400" dirty="0"/>
          </a:p>
        </p:txBody>
      </p:sp>
      <p:sp>
        <p:nvSpPr>
          <p:cNvPr id="25" name="Text 23"/>
          <p:cNvSpPr txBox="1"/>
          <p:nvPr/>
        </p:nvSpPr>
        <p:spPr>
          <a:xfrm>
            <a:off x="4846320" y="4224528"/>
            <a:ext cx="3931920" cy="859536"/>
          </a:xfrm>
          <a:prstGeom prst="rect">
            <a:avLst/>
          </a:prstGeom>
          <a:noFill/>
          <a:ln/>
        </p:spPr>
        <p:txBody>
          <a:bodyPr wrap="square" lIns="0" tIns="0" rIns="0" bIns="0" rtlCol="0" anchor="ctr">
            <a:normAutofit/>
          </a:bodyPr>
          <a:lstStyle/>
          <a:p>
            <a:pPr indent="0" marL="0">
              <a:buNone/>
            </a:pPr>
            <a:r>
              <a:rPr lang="en-US" sz="1150" dirty="0">
                <a:solidFill>
                  <a:srgbClr val="55516E"/>
                </a:solidFill>
                <a:latin typeface="Calibri" pitchFamily="34" charset="0"/>
                <a:ea typeface="Calibri" pitchFamily="34" charset="-122"/>
                <a:cs typeface="Calibri" pitchFamily="34" charset="-120"/>
              </a:rPr>
              <a:t>La seule agente d’état civil est absente six semaines ; un mariage est prévu dans quinze jours.</a:t>
            </a:r>
            <a:endParaRPr lang="en-US" sz="1150" dirty="0"/>
          </a:p>
        </p:txBody>
      </p:sp>
      <p:sp>
        <p:nvSpPr>
          <p:cNvPr id="26" name="Shape 24"/>
          <p:cNvSpPr/>
          <p:nvPr/>
        </p:nvSpPr>
        <p:spPr>
          <a:xfrm>
            <a:off x="8915400" y="4261104"/>
            <a:ext cx="2560320" cy="786384"/>
          </a:xfrm>
          <a:prstGeom prst="roundRect">
            <a:avLst>
              <a:gd name="adj" fmla="val 9302"/>
            </a:avLst>
          </a:prstGeom>
          <a:solidFill>
            <a:srgbClr val="FFF9C7"/>
          </a:solidFill>
          <a:ln/>
        </p:spPr>
      </p:sp>
      <p:sp>
        <p:nvSpPr>
          <p:cNvPr id="27" name="Text 25"/>
          <p:cNvSpPr txBox="1"/>
          <p:nvPr/>
        </p:nvSpPr>
        <p:spPr>
          <a:xfrm>
            <a:off x="9025128" y="4261104"/>
            <a:ext cx="2340864" cy="786384"/>
          </a:xfrm>
          <a:prstGeom prst="rect">
            <a:avLst/>
          </a:prstGeom>
          <a:noFill/>
          <a:ln/>
        </p:spPr>
        <p:txBody>
          <a:bodyPr wrap="square" lIns="0" tIns="0" rIns="0" bIns="0" rtlCol="0" anchor="ctr">
            <a:normAutofit/>
          </a:bodyPr>
          <a:lstStyle/>
          <a:p>
            <a:pPr indent="0" marL="0">
              <a:buNone/>
            </a:pPr>
            <a:r>
              <a:rPr lang="en-US" sz="1100" b="1" dirty="0">
                <a:solidFill>
                  <a:srgbClr val="0B032B"/>
                </a:solidFill>
                <a:latin typeface="Calibri" pitchFamily="34" charset="0"/>
                <a:ea typeface="Calibri" pitchFamily="34" charset="-122"/>
                <a:cs typeface="Calibri" pitchFamily="34" charset="-120"/>
              </a:rPr>
              <a:t>Élus officiers d’état civil, centre de gestion</a:t>
            </a:r>
            <a:endParaRPr lang="en-US" sz="1100" dirty="0"/>
          </a:p>
        </p:txBody>
      </p:sp>
      <p:sp>
        <p:nvSpPr>
          <p:cNvPr id="28" name="Shape 26"/>
          <p:cNvSpPr/>
          <p:nvPr/>
        </p:nvSpPr>
        <p:spPr>
          <a:xfrm>
            <a:off x="548640" y="5248656"/>
            <a:ext cx="11064240" cy="969264"/>
          </a:xfrm>
          <a:prstGeom prst="roundRect">
            <a:avLst>
              <a:gd name="adj" fmla="val 11321"/>
            </a:avLst>
          </a:prstGeom>
          <a:solidFill>
            <a:srgbClr val="FFFFFF"/>
          </a:solidFill>
          <a:ln w="12700">
            <a:solidFill>
              <a:srgbClr val="E7E5F0"/>
            </a:solidFill>
            <a:prstDash val="solid"/>
          </a:ln>
        </p:spPr>
      </p:sp>
      <p:sp>
        <p:nvSpPr>
          <p:cNvPr id="29" name="Shape 27"/>
          <p:cNvSpPr/>
          <p:nvPr/>
        </p:nvSpPr>
        <p:spPr>
          <a:xfrm>
            <a:off x="713232" y="5504688"/>
            <a:ext cx="749808" cy="457200"/>
          </a:xfrm>
          <a:prstGeom prst="roundRect">
            <a:avLst>
              <a:gd name="adj" fmla="val 20000"/>
            </a:avLst>
          </a:prstGeom>
          <a:solidFill>
            <a:srgbClr val="0B032B"/>
          </a:solidFill>
          <a:ln/>
        </p:spPr>
      </p:sp>
      <p:sp>
        <p:nvSpPr>
          <p:cNvPr id="30" name="Text 28"/>
          <p:cNvSpPr txBox="1"/>
          <p:nvPr/>
        </p:nvSpPr>
        <p:spPr>
          <a:xfrm>
            <a:off x="713232" y="5504688"/>
            <a:ext cx="749808" cy="457200"/>
          </a:xfrm>
          <a:prstGeom prst="rect">
            <a:avLst/>
          </a:prstGeom>
          <a:noFill/>
          <a:ln/>
        </p:spPr>
        <p:txBody>
          <a:bodyPr wrap="square" lIns="0" tIns="0" rIns="0" bIns="0" rtlCol="0" anchor="ctr"/>
          <a:lstStyle/>
          <a:p>
            <a:pPr algn="ctr" indent="0" marL="0">
              <a:buNone/>
            </a:pPr>
            <a:r>
              <a:rPr lang="en-US" sz="1400" b="1" dirty="0">
                <a:solidFill>
                  <a:srgbClr val="FFF9C7"/>
                </a:solidFill>
                <a:latin typeface="Calibri" pitchFamily="34" charset="0"/>
                <a:ea typeface="Calibri" pitchFamily="34" charset="-122"/>
                <a:cs typeface="Calibri" pitchFamily="34" charset="-120"/>
              </a:rPr>
              <a:t>2.4</a:t>
            </a:r>
            <a:endParaRPr lang="en-US" sz="1400" dirty="0"/>
          </a:p>
        </p:txBody>
      </p:sp>
      <p:sp>
        <p:nvSpPr>
          <p:cNvPr id="31" name="Text 29"/>
          <p:cNvSpPr txBox="1"/>
          <p:nvPr/>
        </p:nvSpPr>
        <p:spPr>
          <a:xfrm>
            <a:off x="1645920" y="5321808"/>
            <a:ext cx="3108960" cy="822960"/>
          </a:xfrm>
          <a:prstGeom prst="rect">
            <a:avLst/>
          </a:prstGeom>
          <a:noFill/>
          <a:ln/>
        </p:spPr>
        <p:txBody>
          <a:bodyPr wrap="square" lIns="0" tIns="0" rIns="0" bIns="0" rtlCol="0" anchor="ctr"/>
          <a:lstStyle/>
          <a:p>
            <a:pPr indent="0" marL="0">
              <a:buNone/>
            </a:pPr>
            <a:r>
              <a:rPr lang="en-US" sz="1400" b="1" dirty="0">
                <a:solidFill>
                  <a:srgbClr val="0B032B"/>
                </a:solidFill>
                <a:latin typeface="Calibri" pitchFamily="34" charset="0"/>
                <a:ea typeface="Calibri" pitchFamily="34" charset="-122"/>
                <a:cs typeface="Calibri" pitchFamily="34" charset="-120"/>
              </a:rPr>
              <a:t>Le recrutement sous pression</a:t>
            </a:r>
            <a:endParaRPr lang="en-US" sz="1400" dirty="0"/>
          </a:p>
        </p:txBody>
      </p:sp>
      <p:sp>
        <p:nvSpPr>
          <p:cNvPr id="32" name="Text 30"/>
          <p:cNvSpPr txBox="1"/>
          <p:nvPr/>
        </p:nvSpPr>
        <p:spPr>
          <a:xfrm>
            <a:off x="4846320" y="5303520"/>
            <a:ext cx="3931920" cy="859536"/>
          </a:xfrm>
          <a:prstGeom prst="rect">
            <a:avLst/>
          </a:prstGeom>
          <a:noFill/>
          <a:ln/>
        </p:spPr>
        <p:txBody>
          <a:bodyPr wrap="square" lIns="0" tIns="0" rIns="0" bIns="0" rtlCol="0" anchor="ctr">
            <a:normAutofit/>
          </a:bodyPr>
          <a:lstStyle/>
          <a:p>
            <a:pPr indent="0" marL="0">
              <a:buNone/>
            </a:pPr>
            <a:r>
              <a:rPr lang="en-US" sz="1150" dirty="0">
                <a:solidFill>
                  <a:srgbClr val="55516E"/>
                </a:solidFill>
                <a:latin typeface="Calibri" pitchFamily="34" charset="0"/>
                <a:ea typeface="Calibri" pitchFamily="34" charset="-122"/>
                <a:cs typeface="Calibri" pitchFamily="34" charset="-120"/>
              </a:rPr>
              <a:t>Un adjoint recommande un candidat « dont la famille a toujours voté pour nous ».</a:t>
            </a:r>
            <a:endParaRPr lang="en-US" sz="1150" dirty="0"/>
          </a:p>
        </p:txBody>
      </p:sp>
      <p:sp>
        <p:nvSpPr>
          <p:cNvPr id="33" name="Shape 31"/>
          <p:cNvSpPr/>
          <p:nvPr/>
        </p:nvSpPr>
        <p:spPr>
          <a:xfrm>
            <a:off x="8915400" y="5340096"/>
            <a:ext cx="2560320" cy="786384"/>
          </a:xfrm>
          <a:prstGeom prst="roundRect">
            <a:avLst>
              <a:gd name="adj" fmla="val 9302"/>
            </a:avLst>
          </a:prstGeom>
          <a:solidFill>
            <a:srgbClr val="FFF9C7"/>
          </a:solidFill>
          <a:ln/>
        </p:spPr>
      </p:sp>
      <p:sp>
        <p:nvSpPr>
          <p:cNvPr id="34" name="Text 32"/>
          <p:cNvSpPr txBox="1"/>
          <p:nvPr/>
        </p:nvSpPr>
        <p:spPr>
          <a:xfrm>
            <a:off x="9025128" y="5340096"/>
            <a:ext cx="2340864" cy="786384"/>
          </a:xfrm>
          <a:prstGeom prst="rect">
            <a:avLst/>
          </a:prstGeom>
          <a:noFill/>
          <a:ln/>
        </p:spPr>
        <p:txBody>
          <a:bodyPr wrap="square" lIns="0" tIns="0" rIns="0" bIns="0" rtlCol="0" anchor="ctr">
            <a:normAutofit/>
          </a:bodyPr>
          <a:lstStyle/>
          <a:p>
            <a:pPr indent="0" marL="0">
              <a:buNone/>
            </a:pPr>
            <a:r>
              <a:rPr lang="en-US" sz="1100" b="1" dirty="0">
                <a:solidFill>
                  <a:srgbClr val="0B032B"/>
                </a:solidFill>
                <a:latin typeface="Calibri" pitchFamily="34" charset="0"/>
                <a:ea typeface="Calibri" pitchFamily="34" charset="-122"/>
                <a:cs typeface="Calibri" pitchFamily="34" charset="-120"/>
              </a:rPr>
              <a:t>Égalité d’accès, procédure écrite et traçable</a:t>
            </a:r>
            <a:endParaRPr lang="en-US" sz="1100" dirty="0"/>
          </a:p>
        </p:txBody>
      </p:sp>
      <p:sp>
        <p:nvSpPr>
          <p:cNvPr id="35" name="Text 33"/>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spc="100" kern="0" dirty="0">
                <a:solidFill>
                  <a:srgbClr val="8A8699"/>
                </a:solidFill>
                <a:latin typeface="Calibri" pitchFamily="34" charset="0"/>
                <a:ea typeface="Calibri" pitchFamily="34" charset="-122"/>
                <a:cs typeface="Calibri" pitchFamily="34" charset="-120"/>
              </a:rPr>
              <a:t>ENMA FORMATION  ·  Formation des élus municipaux 2026</a:t>
            </a:r>
            <a:endParaRPr lang="en-US" sz="900" dirty="0"/>
          </a:p>
        </p:txBody>
      </p:sp>
      <p:sp>
        <p:nvSpPr>
          <p:cNvPr id="36" name="Text 34"/>
          <p:cNvSpPr txBox="1"/>
          <p:nvPr/>
        </p:nvSpPr>
        <p:spPr>
          <a:xfrm>
            <a:off x="9692640" y="6400800"/>
            <a:ext cx="548640" cy="274320"/>
          </a:xfrm>
          <a:prstGeom prst="rect">
            <a:avLst/>
          </a:prstGeom>
          <a:noFill/>
          <a:ln/>
        </p:spPr>
        <p:txBody>
          <a:bodyPr wrap="square" lIns="0" tIns="0" rIns="0" bIns="0" rtlCol="0" anchor="ctr"/>
          <a:lstStyle/>
          <a:p>
            <a:pPr algn="r" indent="0" marL="0">
              <a:buNone/>
            </a:pPr>
            <a:r>
              <a:rPr lang="en-US" sz="900" dirty="0">
                <a:solidFill>
                  <a:srgbClr val="8A8699"/>
                </a:solidFill>
                <a:latin typeface="Calibri" pitchFamily="34" charset="0"/>
                <a:ea typeface="Calibri" pitchFamily="34" charset="-122"/>
                <a:cs typeface="Calibri" pitchFamily="34" charset="-120"/>
              </a:rPr>
              <a:t>55</a:t>
            </a:r>
            <a:endParaRPr lang="en-US" sz="900" dirty="0"/>
          </a:p>
        </p:txBody>
      </p:sp>
      <p:pic>
        <p:nvPicPr>
          <p:cNvPr id="37" name="Image 0" descr="preencoded.png">    </p:cNvPr>
          <p:cNvPicPr>
            <a:picLocks noChangeAspect="1"/>
          </p:cNvPicPr>
          <p:nvPr/>
        </p:nvPicPr>
        <p:blipFill>
          <a:blip r:embed="rId1"/>
          <a:stretch>
            <a:fillRect/>
          </a:stretch>
        </p:blipFill>
        <p:spPr>
          <a:xfrm>
            <a:off x="10469880" y="6309360"/>
            <a:ext cx="1170432" cy="484632"/>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420624" cy="310896"/>
          </a:xfrm>
          <a:prstGeom prst="roundRect">
            <a:avLst>
              <a:gd name="adj" fmla="val 23529"/>
            </a:avLst>
          </a:prstGeom>
          <a:solidFill>
            <a:srgbClr val="0B032B"/>
          </a:solidFill>
          <a:ln/>
        </p:spPr>
      </p:sp>
      <p:sp>
        <p:nvSpPr>
          <p:cNvPr id="3" name="Text 1"/>
          <p:cNvSpPr txBox="1"/>
          <p:nvPr/>
        </p:nvSpPr>
        <p:spPr>
          <a:xfrm>
            <a:off x="548640" y="438912"/>
            <a:ext cx="420624" cy="310896"/>
          </a:xfrm>
          <a:prstGeom prst="rect">
            <a:avLst/>
          </a:prstGeom>
          <a:noFill/>
          <a:ln/>
        </p:spPr>
        <p:txBody>
          <a:bodyPr wrap="square" lIns="0" tIns="0" rIns="0" bIns="0" rtlCol="0" anchor="ctr"/>
          <a:lstStyle/>
          <a:p>
            <a:pPr algn="ctr" indent="0" marL="0">
              <a:buNone/>
            </a:pPr>
            <a:r>
              <a:rPr lang="en-US" sz="1100" b="1" dirty="0">
                <a:solidFill>
                  <a:srgbClr val="FFF9C7"/>
                </a:solidFill>
                <a:latin typeface="Calibri" pitchFamily="34" charset="0"/>
                <a:ea typeface="Calibri" pitchFamily="34" charset="-122"/>
                <a:cs typeface="Calibri" pitchFamily="34" charset="-120"/>
              </a:rPr>
              <a:t>08</a:t>
            </a:r>
            <a:endParaRPr lang="en-US" sz="1100" dirty="0"/>
          </a:p>
        </p:txBody>
      </p:sp>
      <p:sp>
        <p:nvSpPr>
          <p:cNvPr id="4" name="Text 2"/>
          <p:cNvSpPr txBox="1"/>
          <p:nvPr/>
        </p:nvSpPr>
        <p:spPr>
          <a:xfrm>
            <a:off x="1115568" y="438912"/>
            <a:ext cx="8229600" cy="310896"/>
          </a:xfrm>
          <a:prstGeom prst="rect">
            <a:avLst/>
          </a:prstGeom>
          <a:noFill/>
          <a:ln/>
        </p:spPr>
        <p:txBody>
          <a:bodyPr wrap="square" lIns="0" tIns="0" rIns="0" bIns="0" rtlCol="0" anchor="ctr"/>
          <a:lstStyle/>
          <a:p>
            <a:pPr indent="0" marL="0">
              <a:buNone/>
            </a:pPr>
            <a:r>
              <a:rPr lang="en-US" sz="1100" b="1" spc="200" kern="0" dirty="0">
                <a:solidFill>
                  <a:srgbClr val="55516E"/>
                </a:solidFill>
                <a:latin typeface="Calibri" pitchFamily="34" charset="0"/>
                <a:ea typeface="Calibri" pitchFamily="34" charset="-122"/>
                <a:cs typeface="Calibri" pitchFamily="34" charset="-120"/>
              </a:rPr>
              <a:t>MISES EN SITUATION · BLOC 3</a:t>
            </a:r>
            <a:endParaRPr lang="en-US" sz="1100" dirty="0"/>
          </a:p>
        </p:txBody>
      </p:sp>
      <p:sp>
        <p:nvSpPr>
          <p:cNvPr id="5" name="Text 3"/>
          <p:cNvSpPr txBox="1"/>
          <p:nvPr/>
        </p:nvSpPr>
        <p:spPr>
          <a:xfrm>
            <a:off x="548640" y="841248"/>
            <a:ext cx="11064240" cy="685800"/>
          </a:xfrm>
          <a:prstGeom prst="rect">
            <a:avLst/>
          </a:prstGeom>
          <a:noFill/>
          <a:ln/>
        </p:spPr>
        <p:txBody>
          <a:bodyPr wrap="square" lIns="0" tIns="0" rIns="0" bIns="0" rtlCol="0" anchor="ctr">
            <a:normAutofit/>
          </a:bodyPr>
          <a:lstStyle/>
          <a:p>
            <a:pPr indent="0" marL="0">
              <a:buNone/>
            </a:pPr>
            <a:r>
              <a:rPr lang="en-US" sz="2800" b="1" dirty="0">
                <a:solidFill>
                  <a:srgbClr val="0B032B"/>
                </a:solidFill>
                <a:latin typeface="Calibri" pitchFamily="34" charset="0"/>
                <a:ea typeface="Calibri" pitchFamily="34" charset="-122"/>
                <a:cs typeface="Calibri" pitchFamily="34" charset="-120"/>
              </a:rPr>
              <a:t>Structurer l’équipe municipale</a:t>
            </a:r>
            <a:endParaRPr lang="en-US" sz="2800" dirty="0"/>
          </a:p>
        </p:txBody>
      </p:sp>
      <p:sp>
        <p:nvSpPr>
          <p:cNvPr id="6" name="Text 4"/>
          <p:cNvSpPr txBox="1"/>
          <p:nvPr/>
        </p:nvSpPr>
        <p:spPr>
          <a:xfrm>
            <a:off x="548640" y="1572768"/>
            <a:ext cx="10972800" cy="320040"/>
          </a:xfrm>
          <a:prstGeom prst="rect">
            <a:avLst/>
          </a:prstGeom>
          <a:noFill/>
          <a:ln/>
        </p:spPr>
        <p:txBody>
          <a:bodyPr wrap="square" lIns="0" tIns="0" rIns="0" bIns="0" rtlCol="0" anchor="t"/>
          <a:lstStyle/>
          <a:p>
            <a:pPr indent="0" marL="0">
              <a:buNone/>
            </a:pPr>
            <a:r>
              <a:rPr lang="en-US" sz="1300" i="1" dirty="0">
                <a:solidFill>
                  <a:srgbClr val="55516E"/>
                </a:solidFill>
                <a:latin typeface="Calibri" pitchFamily="34" charset="0"/>
                <a:ea typeface="Calibri" pitchFamily="34" charset="-122"/>
                <a:cs typeface="Calibri" pitchFamily="34" charset="-120"/>
              </a:rPr>
              <a:t>À jouer en séquence 02 (équipe municipale) et en séquence 05 (intercommunalité).</a:t>
            </a:r>
            <a:endParaRPr lang="en-US" sz="1300" dirty="0"/>
          </a:p>
        </p:txBody>
      </p:sp>
      <p:sp>
        <p:nvSpPr>
          <p:cNvPr id="7" name="Shape 5"/>
          <p:cNvSpPr/>
          <p:nvPr/>
        </p:nvSpPr>
        <p:spPr>
          <a:xfrm>
            <a:off x="548640" y="2011680"/>
            <a:ext cx="11064240" cy="1328928"/>
          </a:xfrm>
          <a:prstGeom prst="roundRect">
            <a:avLst>
              <a:gd name="adj" fmla="val 8257"/>
            </a:avLst>
          </a:prstGeom>
          <a:solidFill>
            <a:srgbClr val="F3F2F8"/>
          </a:solidFill>
          <a:ln/>
        </p:spPr>
      </p:sp>
      <p:sp>
        <p:nvSpPr>
          <p:cNvPr id="8" name="Shape 6"/>
          <p:cNvSpPr/>
          <p:nvPr/>
        </p:nvSpPr>
        <p:spPr>
          <a:xfrm>
            <a:off x="713232" y="2447544"/>
            <a:ext cx="749808" cy="457200"/>
          </a:xfrm>
          <a:prstGeom prst="roundRect">
            <a:avLst>
              <a:gd name="adj" fmla="val 20000"/>
            </a:avLst>
          </a:prstGeom>
          <a:solidFill>
            <a:srgbClr val="0B032B"/>
          </a:solidFill>
          <a:ln/>
        </p:spPr>
      </p:sp>
      <p:sp>
        <p:nvSpPr>
          <p:cNvPr id="9" name="Text 7"/>
          <p:cNvSpPr txBox="1"/>
          <p:nvPr/>
        </p:nvSpPr>
        <p:spPr>
          <a:xfrm>
            <a:off x="713232" y="2447544"/>
            <a:ext cx="749808" cy="457200"/>
          </a:xfrm>
          <a:prstGeom prst="rect">
            <a:avLst/>
          </a:prstGeom>
          <a:noFill/>
          <a:ln/>
        </p:spPr>
        <p:txBody>
          <a:bodyPr wrap="square" lIns="0" tIns="0" rIns="0" bIns="0" rtlCol="0" anchor="ctr"/>
          <a:lstStyle/>
          <a:p>
            <a:pPr algn="ctr" indent="0" marL="0">
              <a:buNone/>
            </a:pPr>
            <a:r>
              <a:rPr lang="en-US" sz="1400" b="1" dirty="0">
                <a:solidFill>
                  <a:srgbClr val="FFF9C7"/>
                </a:solidFill>
                <a:latin typeface="Calibri" pitchFamily="34" charset="0"/>
                <a:ea typeface="Calibri" pitchFamily="34" charset="-122"/>
                <a:cs typeface="Calibri" pitchFamily="34" charset="-120"/>
              </a:rPr>
              <a:t>3.1</a:t>
            </a:r>
            <a:endParaRPr lang="en-US" sz="1400" dirty="0"/>
          </a:p>
        </p:txBody>
      </p:sp>
      <p:sp>
        <p:nvSpPr>
          <p:cNvPr id="10" name="Text 8"/>
          <p:cNvSpPr txBox="1"/>
          <p:nvPr/>
        </p:nvSpPr>
        <p:spPr>
          <a:xfrm>
            <a:off x="1645920" y="2084832"/>
            <a:ext cx="3108960" cy="1182624"/>
          </a:xfrm>
          <a:prstGeom prst="rect">
            <a:avLst/>
          </a:prstGeom>
          <a:noFill/>
          <a:ln/>
        </p:spPr>
        <p:txBody>
          <a:bodyPr wrap="square" lIns="0" tIns="0" rIns="0" bIns="0" rtlCol="0" anchor="ctr"/>
          <a:lstStyle/>
          <a:p>
            <a:pPr indent="0" marL="0">
              <a:buNone/>
            </a:pPr>
            <a:r>
              <a:rPr lang="en-US" sz="1400" b="1" dirty="0">
                <a:solidFill>
                  <a:srgbClr val="0B032B"/>
                </a:solidFill>
                <a:latin typeface="Calibri" pitchFamily="34" charset="0"/>
                <a:ea typeface="Calibri" pitchFamily="34" charset="-122"/>
                <a:cs typeface="Calibri" pitchFamily="34" charset="-120"/>
              </a:rPr>
              <a:t>Le puzzle des délégations</a:t>
            </a:r>
            <a:endParaRPr lang="en-US" sz="1400" dirty="0"/>
          </a:p>
        </p:txBody>
      </p:sp>
      <p:sp>
        <p:nvSpPr>
          <p:cNvPr id="11" name="Text 9"/>
          <p:cNvSpPr txBox="1"/>
          <p:nvPr/>
        </p:nvSpPr>
        <p:spPr>
          <a:xfrm>
            <a:off x="4846320" y="2066544"/>
            <a:ext cx="3931920" cy="1219200"/>
          </a:xfrm>
          <a:prstGeom prst="rect">
            <a:avLst/>
          </a:prstGeom>
          <a:noFill/>
          <a:ln/>
        </p:spPr>
        <p:txBody>
          <a:bodyPr wrap="square" lIns="0" tIns="0" rIns="0" bIns="0" rtlCol="0" anchor="ctr">
            <a:normAutofit/>
          </a:bodyPr>
          <a:lstStyle/>
          <a:p>
            <a:pPr indent="0" marL="0">
              <a:buNone/>
            </a:pPr>
            <a:r>
              <a:rPr lang="en-US" sz="1150" dirty="0">
                <a:solidFill>
                  <a:srgbClr val="55516E"/>
                </a:solidFill>
                <a:latin typeface="Calibri" pitchFamily="34" charset="0"/>
                <a:ea typeface="Calibri" pitchFamily="34" charset="-122"/>
                <a:cs typeface="Calibri" pitchFamily="34" charset="-120"/>
              </a:rPr>
              <a:t>Atelier : répartir 10 dossiers entre 4 adjoints et 3 conseillers, puis organiser la coordination.</a:t>
            </a:r>
            <a:endParaRPr lang="en-US" sz="1150" dirty="0"/>
          </a:p>
        </p:txBody>
      </p:sp>
      <p:sp>
        <p:nvSpPr>
          <p:cNvPr id="12" name="Shape 10"/>
          <p:cNvSpPr/>
          <p:nvPr/>
        </p:nvSpPr>
        <p:spPr>
          <a:xfrm>
            <a:off x="8915400" y="2103120"/>
            <a:ext cx="2560320" cy="1146048"/>
          </a:xfrm>
          <a:prstGeom prst="roundRect">
            <a:avLst>
              <a:gd name="adj" fmla="val 6383"/>
            </a:avLst>
          </a:prstGeom>
          <a:solidFill>
            <a:srgbClr val="FFF9C7"/>
          </a:solidFill>
          <a:ln/>
        </p:spPr>
      </p:sp>
      <p:sp>
        <p:nvSpPr>
          <p:cNvPr id="13" name="Text 11"/>
          <p:cNvSpPr txBox="1"/>
          <p:nvPr/>
        </p:nvSpPr>
        <p:spPr>
          <a:xfrm>
            <a:off x="9025128" y="2103120"/>
            <a:ext cx="2340864" cy="1146048"/>
          </a:xfrm>
          <a:prstGeom prst="rect">
            <a:avLst/>
          </a:prstGeom>
          <a:noFill/>
          <a:ln/>
        </p:spPr>
        <p:txBody>
          <a:bodyPr wrap="square" lIns="0" tIns="0" rIns="0" bIns="0" rtlCol="0" anchor="ctr">
            <a:normAutofit/>
          </a:bodyPr>
          <a:lstStyle/>
          <a:p>
            <a:pPr indent="0" marL="0">
              <a:buNone/>
            </a:pPr>
            <a:r>
              <a:rPr lang="en-US" sz="1100" b="1" dirty="0">
                <a:solidFill>
                  <a:srgbClr val="0B032B"/>
                </a:solidFill>
                <a:latin typeface="Calibri" pitchFamily="34" charset="0"/>
                <a:ea typeface="Calibri" pitchFamily="34" charset="-122"/>
                <a:cs typeface="Calibri" pitchFamily="34" charset="-120"/>
              </a:rPr>
              <a:t>Périmètres clairs par arrêté, instances de coordination</a:t>
            </a:r>
            <a:endParaRPr lang="en-US" sz="1100" dirty="0"/>
          </a:p>
        </p:txBody>
      </p:sp>
      <p:sp>
        <p:nvSpPr>
          <p:cNvPr id="14" name="Shape 12"/>
          <p:cNvSpPr/>
          <p:nvPr/>
        </p:nvSpPr>
        <p:spPr>
          <a:xfrm>
            <a:off x="548640" y="3450336"/>
            <a:ext cx="11064240" cy="1328928"/>
          </a:xfrm>
          <a:prstGeom prst="roundRect">
            <a:avLst>
              <a:gd name="adj" fmla="val 8257"/>
            </a:avLst>
          </a:prstGeom>
          <a:solidFill>
            <a:srgbClr val="FFFFFF"/>
          </a:solidFill>
          <a:ln w="12700">
            <a:solidFill>
              <a:srgbClr val="E7E5F0"/>
            </a:solidFill>
            <a:prstDash val="solid"/>
          </a:ln>
        </p:spPr>
      </p:sp>
      <p:sp>
        <p:nvSpPr>
          <p:cNvPr id="15" name="Shape 13"/>
          <p:cNvSpPr/>
          <p:nvPr/>
        </p:nvSpPr>
        <p:spPr>
          <a:xfrm>
            <a:off x="713232" y="3886200"/>
            <a:ext cx="749808" cy="457200"/>
          </a:xfrm>
          <a:prstGeom prst="roundRect">
            <a:avLst>
              <a:gd name="adj" fmla="val 20000"/>
            </a:avLst>
          </a:prstGeom>
          <a:solidFill>
            <a:srgbClr val="0B032B"/>
          </a:solidFill>
          <a:ln/>
        </p:spPr>
      </p:sp>
      <p:sp>
        <p:nvSpPr>
          <p:cNvPr id="16" name="Text 14"/>
          <p:cNvSpPr txBox="1"/>
          <p:nvPr/>
        </p:nvSpPr>
        <p:spPr>
          <a:xfrm>
            <a:off x="713232" y="3886200"/>
            <a:ext cx="749808" cy="457200"/>
          </a:xfrm>
          <a:prstGeom prst="rect">
            <a:avLst/>
          </a:prstGeom>
          <a:noFill/>
          <a:ln/>
        </p:spPr>
        <p:txBody>
          <a:bodyPr wrap="square" lIns="0" tIns="0" rIns="0" bIns="0" rtlCol="0" anchor="ctr"/>
          <a:lstStyle/>
          <a:p>
            <a:pPr algn="ctr" indent="0" marL="0">
              <a:buNone/>
            </a:pPr>
            <a:r>
              <a:rPr lang="en-US" sz="1400" b="1" dirty="0">
                <a:solidFill>
                  <a:srgbClr val="FFF9C7"/>
                </a:solidFill>
                <a:latin typeface="Calibri" pitchFamily="34" charset="0"/>
                <a:ea typeface="Calibri" pitchFamily="34" charset="-122"/>
                <a:cs typeface="Calibri" pitchFamily="34" charset="-120"/>
              </a:rPr>
              <a:t>3.2</a:t>
            </a:r>
            <a:endParaRPr lang="en-US" sz="1400" dirty="0"/>
          </a:p>
        </p:txBody>
      </p:sp>
      <p:sp>
        <p:nvSpPr>
          <p:cNvPr id="17" name="Text 15"/>
          <p:cNvSpPr txBox="1"/>
          <p:nvPr/>
        </p:nvSpPr>
        <p:spPr>
          <a:xfrm>
            <a:off x="1645920" y="3523488"/>
            <a:ext cx="3108960" cy="1182624"/>
          </a:xfrm>
          <a:prstGeom prst="rect">
            <a:avLst/>
          </a:prstGeom>
          <a:noFill/>
          <a:ln/>
        </p:spPr>
        <p:txBody>
          <a:bodyPr wrap="square" lIns="0" tIns="0" rIns="0" bIns="0" rtlCol="0" anchor="ctr"/>
          <a:lstStyle/>
          <a:p>
            <a:pPr indent="0" marL="0">
              <a:buNone/>
            </a:pPr>
            <a:r>
              <a:rPr lang="en-US" sz="1400" b="1" dirty="0">
                <a:solidFill>
                  <a:srgbClr val="0B032B"/>
                </a:solidFill>
                <a:latin typeface="Calibri" pitchFamily="34" charset="0"/>
                <a:ea typeface="Calibri" pitchFamily="34" charset="-122"/>
                <a:cs typeface="Calibri" pitchFamily="34" charset="-120"/>
              </a:rPr>
              <a:t>Le conseiller délégué qui déborde</a:t>
            </a:r>
            <a:endParaRPr lang="en-US" sz="1400" dirty="0"/>
          </a:p>
        </p:txBody>
      </p:sp>
      <p:sp>
        <p:nvSpPr>
          <p:cNvPr id="18" name="Text 16"/>
          <p:cNvSpPr txBox="1"/>
          <p:nvPr/>
        </p:nvSpPr>
        <p:spPr>
          <a:xfrm>
            <a:off x="4846320" y="3505200"/>
            <a:ext cx="3931920" cy="1219200"/>
          </a:xfrm>
          <a:prstGeom prst="rect">
            <a:avLst/>
          </a:prstGeom>
          <a:noFill/>
          <a:ln/>
        </p:spPr>
        <p:txBody>
          <a:bodyPr wrap="square" lIns="0" tIns="0" rIns="0" bIns="0" rtlCol="0" anchor="ctr">
            <a:normAutofit/>
          </a:bodyPr>
          <a:lstStyle/>
          <a:p>
            <a:pPr indent="0" marL="0">
              <a:buNone/>
            </a:pPr>
            <a:r>
              <a:rPr lang="en-US" sz="1150" dirty="0">
                <a:solidFill>
                  <a:srgbClr val="55516E"/>
                </a:solidFill>
                <a:latin typeface="Calibri" pitchFamily="34" charset="0"/>
                <a:ea typeface="Calibri" pitchFamily="34" charset="-122"/>
                <a:cs typeface="Calibri" pitchFamily="34" charset="-120"/>
              </a:rPr>
              <a:t>Gratuité des terrasses promise aux commerçants sur les réseaux sociaux, sans en informer le maire.</a:t>
            </a:r>
            <a:endParaRPr lang="en-US" sz="1150" dirty="0"/>
          </a:p>
        </p:txBody>
      </p:sp>
      <p:sp>
        <p:nvSpPr>
          <p:cNvPr id="19" name="Shape 17"/>
          <p:cNvSpPr/>
          <p:nvPr/>
        </p:nvSpPr>
        <p:spPr>
          <a:xfrm>
            <a:off x="8915400" y="3541776"/>
            <a:ext cx="2560320" cy="1146048"/>
          </a:xfrm>
          <a:prstGeom prst="roundRect">
            <a:avLst>
              <a:gd name="adj" fmla="val 6383"/>
            </a:avLst>
          </a:prstGeom>
          <a:solidFill>
            <a:srgbClr val="FFF9C7"/>
          </a:solidFill>
          <a:ln/>
        </p:spPr>
      </p:sp>
      <p:sp>
        <p:nvSpPr>
          <p:cNvPr id="20" name="Text 18"/>
          <p:cNvSpPr txBox="1"/>
          <p:nvPr/>
        </p:nvSpPr>
        <p:spPr>
          <a:xfrm>
            <a:off x="9025128" y="3541776"/>
            <a:ext cx="2340864" cy="1146048"/>
          </a:xfrm>
          <a:prstGeom prst="rect">
            <a:avLst/>
          </a:prstGeom>
          <a:noFill/>
          <a:ln/>
        </p:spPr>
        <p:txBody>
          <a:bodyPr wrap="square" lIns="0" tIns="0" rIns="0" bIns="0" rtlCol="0" anchor="ctr">
            <a:normAutofit/>
          </a:bodyPr>
          <a:lstStyle/>
          <a:p>
            <a:pPr indent="0" marL="0">
              <a:buNone/>
            </a:pPr>
            <a:r>
              <a:rPr lang="en-US" sz="1100" b="1" dirty="0">
                <a:solidFill>
                  <a:srgbClr val="0B032B"/>
                </a:solidFill>
                <a:latin typeface="Calibri" pitchFamily="34" charset="0"/>
                <a:ea typeface="Calibri" pitchFamily="34" charset="-122"/>
                <a:cs typeface="Calibri" pitchFamily="34" charset="-120"/>
              </a:rPr>
              <a:t>Une délégation n’engage pas seule les finances</a:t>
            </a:r>
            <a:endParaRPr lang="en-US" sz="1100" dirty="0"/>
          </a:p>
        </p:txBody>
      </p:sp>
      <p:sp>
        <p:nvSpPr>
          <p:cNvPr id="21" name="Shape 19"/>
          <p:cNvSpPr/>
          <p:nvPr/>
        </p:nvSpPr>
        <p:spPr>
          <a:xfrm>
            <a:off x="548640" y="4888992"/>
            <a:ext cx="11064240" cy="1328928"/>
          </a:xfrm>
          <a:prstGeom prst="roundRect">
            <a:avLst>
              <a:gd name="adj" fmla="val 8257"/>
            </a:avLst>
          </a:prstGeom>
          <a:solidFill>
            <a:srgbClr val="F3F2F8"/>
          </a:solidFill>
          <a:ln/>
        </p:spPr>
      </p:sp>
      <p:sp>
        <p:nvSpPr>
          <p:cNvPr id="22" name="Shape 20"/>
          <p:cNvSpPr/>
          <p:nvPr/>
        </p:nvSpPr>
        <p:spPr>
          <a:xfrm>
            <a:off x="713232" y="5324856"/>
            <a:ext cx="749808" cy="457200"/>
          </a:xfrm>
          <a:prstGeom prst="roundRect">
            <a:avLst>
              <a:gd name="adj" fmla="val 20000"/>
            </a:avLst>
          </a:prstGeom>
          <a:solidFill>
            <a:srgbClr val="0B032B"/>
          </a:solidFill>
          <a:ln/>
        </p:spPr>
      </p:sp>
      <p:sp>
        <p:nvSpPr>
          <p:cNvPr id="23" name="Text 21"/>
          <p:cNvSpPr txBox="1"/>
          <p:nvPr/>
        </p:nvSpPr>
        <p:spPr>
          <a:xfrm>
            <a:off x="713232" y="5324856"/>
            <a:ext cx="749808" cy="457200"/>
          </a:xfrm>
          <a:prstGeom prst="rect">
            <a:avLst/>
          </a:prstGeom>
          <a:noFill/>
          <a:ln/>
        </p:spPr>
        <p:txBody>
          <a:bodyPr wrap="square" lIns="0" tIns="0" rIns="0" bIns="0" rtlCol="0" anchor="ctr"/>
          <a:lstStyle/>
          <a:p>
            <a:pPr algn="ctr" indent="0" marL="0">
              <a:buNone/>
            </a:pPr>
            <a:r>
              <a:rPr lang="en-US" sz="1400" b="1" dirty="0">
                <a:solidFill>
                  <a:srgbClr val="FFF9C7"/>
                </a:solidFill>
                <a:latin typeface="Calibri" pitchFamily="34" charset="0"/>
                <a:ea typeface="Calibri" pitchFamily="34" charset="-122"/>
                <a:cs typeface="Calibri" pitchFamily="34" charset="-120"/>
              </a:rPr>
              <a:t>3.3</a:t>
            </a:r>
            <a:endParaRPr lang="en-US" sz="1400" dirty="0"/>
          </a:p>
        </p:txBody>
      </p:sp>
      <p:sp>
        <p:nvSpPr>
          <p:cNvPr id="24" name="Text 22"/>
          <p:cNvSpPr txBox="1"/>
          <p:nvPr/>
        </p:nvSpPr>
        <p:spPr>
          <a:xfrm>
            <a:off x="1645920" y="4962144"/>
            <a:ext cx="3108960" cy="1182624"/>
          </a:xfrm>
          <a:prstGeom prst="rect">
            <a:avLst/>
          </a:prstGeom>
          <a:noFill/>
          <a:ln/>
        </p:spPr>
        <p:txBody>
          <a:bodyPr wrap="square" lIns="0" tIns="0" rIns="0" bIns="0" rtlCol="0" anchor="ctr"/>
          <a:lstStyle/>
          <a:p>
            <a:pPr indent="0" marL="0">
              <a:buNone/>
            </a:pPr>
            <a:r>
              <a:rPr lang="en-US" sz="1400" b="1" dirty="0">
                <a:solidFill>
                  <a:srgbClr val="0B032B"/>
                </a:solidFill>
                <a:latin typeface="Calibri" pitchFamily="34" charset="0"/>
                <a:ea typeface="Calibri" pitchFamily="34" charset="-122"/>
                <a:cs typeface="Calibri" pitchFamily="34" charset="-120"/>
              </a:rPr>
              <a:t>Le délégué communautaire</a:t>
            </a:r>
            <a:endParaRPr lang="en-US" sz="1400" dirty="0"/>
          </a:p>
        </p:txBody>
      </p:sp>
      <p:sp>
        <p:nvSpPr>
          <p:cNvPr id="25" name="Text 23"/>
          <p:cNvSpPr txBox="1"/>
          <p:nvPr/>
        </p:nvSpPr>
        <p:spPr>
          <a:xfrm>
            <a:off x="4846320" y="4943856"/>
            <a:ext cx="3931920" cy="1219200"/>
          </a:xfrm>
          <a:prstGeom prst="rect">
            <a:avLst/>
          </a:prstGeom>
          <a:noFill/>
          <a:ln/>
        </p:spPr>
        <p:txBody>
          <a:bodyPr wrap="square" lIns="0" tIns="0" rIns="0" bIns="0" rtlCol="0" anchor="ctr">
            <a:normAutofit/>
          </a:bodyPr>
          <a:lstStyle/>
          <a:p>
            <a:pPr indent="0" marL="0">
              <a:buNone/>
            </a:pPr>
            <a:r>
              <a:rPr lang="en-US" sz="1150" dirty="0">
                <a:solidFill>
                  <a:srgbClr val="55516E"/>
                </a:solidFill>
                <a:latin typeface="Calibri" pitchFamily="34" charset="0"/>
                <a:ea typeface="Calibri" pitchFamily="34" charset="-122"/>
                <a:cs typeface="Calibri" pitchFamily="34" charset="-120"/>
              </a:rPr>
              <a:t>Vote d’une déchèterie intercommunale sur la commune ; riverains opposés, conseil municipal jamais consulté.</a:t>
            </a:r>
            <a:endParaRPr lang="en-US" sz="1150" dirty="0"/>
          </a:p>
        </p:txBody>
      </p:sp>
      <p:sp>
        <p:nvSpPr>
          <p:cNvPr id="26" name="Shape 24"/>
          <p:cNvSpPr/>
          <p:nvPr/>
        </p:nvSpPr>
        <p:spPr>
          <a:xfrm>
            <a:off x="8915400" y="4980432"/>
            <a:ext cx="2560320" cy="1146048"/>
          </a:xfrm>
          <a:prstGeom prst="roundRect">
            <a:avLst>
              <a:gd name="adj" fmla="val 6383"/>
            </a:avLst>
          </a:prstGeom>
          <a:solidFill>
            <a:srgbClr val="FFF9C7"/>
          </a:solidFill>
          <a:ln/>
        </p:spPr>
      </p:sp>
      <p:sp>
        <p:nvSpPr>
          <p:cNvPr id="27" name="Text 25"/>
          <p:cNvSpPr txBox="1"/>
          <p:nvPr/>
        </p:nvSpPr>
        <p:spPr>
          <a:xfrm>
            <a:off x="9025128" y="4980432"/>
            <a:ext cx="2340864" cy="1146048"/>
          </a:xfrm>
          <a:prstGeom prst="rect">
            <a:avLst/>
          </a:prstGeom>
          <a:noFill/>
          <a:ln/>
        </p:spPr>
        <p:txBody>
          <a:bodyPr wrap="square" lIns="0" tIns="0" rIns="0" bIns="0" rtlCol="0" anchor="ctr">
            <a:normAutofit/>
          </a:bodyPr>
          <a:lstStyle/>
          <a:p>
            <a:pPr indent="0" marL="0">
              <a:buNone/>
            </a:pPr>
            <a:r>
              <a:rPr lang="en-US" sz="1100" b="1" dirty="0">
                <a:solidFill>
                  <a:srgbClr val="0B032B"/>
                </a:solidFill>
                <a:latin typeface="Calibri" pitchFamily="34" charset="0"/>
                <a:ea typeface="Calibri" pitchFamily="34" charset="-122"/>
                <a:cs typeface="Calibri" pitchFamily="34" charset="-120"/>
              </a:rPr>
              <a:t>Faire le lien EPCI / conseil municipal avant le vote</a:t>
            </a:r>
            <a:endParaRPr lang="en-US" sz="1100" dirty="0"/>
          </a:p>
        </p:txBody>
      </p:sp>
      <p:sp>
        <p:nvSpPr>
          <p:cNvPr id="28" name="Text 26"/>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spc="100" kern="0" dirty="0">
                <a:solidFill>
                  <a:srgbClr val="8A8699"/>
                </a:solidFill>
                <a:latin typeface="Calibri" pitchFamily="34" charset="0"/>
                <a:ea typeface="Calibri" pitchFamily="34" charset="-122"/>
                <a:cs typeface="Calibri" pitchFamily="34" charset="-120"/>
              </a:rPr>
              <a:t>ENMA FORMATION  ·  Formation des élus municipaux 2026</a:t>
            </a:r>
            <a:endParaRPr lang="en-US" sz="900" dirty="0"/>
          </a:p>
        </p:txBody>
      </p:sp>
      <p:sp>
        <p:nvSpPr>
          <p:cNvPr id="29" name="Text 27"/>
          <p:cNvSpPr txBox="1"/>
          <p:nvPr/>
        </p:nvSpPr>
        <p:spPr>
          <a:xfrm>
            <a:off x="9692640" y="6400800"/>
            <a:ext cx="548640" cy="274320"/>
          </a:xfrm>
          <a:prstGeom prst="rect">
            <a:avLst/>
          </a:prstGeom>
          <a:noFill/>
          <a:ln/>
        </p:spPr>
        <p:txBody>
          <a:bodyPr wrap="square" lIns="0" tIns="0" rIns="0" bIns="0" rtlCol="0" anchor="ctr"/>
          <a:lstStyle/>
          <a:p>
            <a:pPr algn="r" indent="0" marL="0">
              <a:buNone/>
            </a:pPr>
            <a:r>
              <a:rPr lang="en-US" sz="900" dirty="0">
                <a:solidFill>
                  <a:srgbClr val="8A8699"/>
                </a:solidFill>
                <a:latin typeface="Calibri" pitchFamily="34" charset="0"/>
                <a:ea typeface="Calibri" pitchFamily="34" charset="-122"/>
                <a:cs typeface="Calibri" pitchFamily="34" charset="-120"/>
              </a:rPr>
              <a:t>56</a:t>
            </a:r>
            <a:endParaRPr lang="en-US" sz="900" dirty="0"/>
          </a:p>
        </p:txBody>
      </p:sp>
      <p:pic>
        <p:nvPicPr>
          <p:cNvPr id="30" name="Image 0" descr="preencoded.png">    </p:cNvPr>
          <p:cNvPicPr>
            <a:picLocks noChangeAspect="1"/>
          </p:cNvPicPr>
          <p:nvPr/>
        </p:nvPicPr>
        <p:blipFill>
          <a:blip r:embed="rId1"/>
          <a:stretch>
            <a:fillRect/>
          </a:stretch>
        </p:blipFill>
        <p:spPr>
          <a:xfrm>
            <a:off x="10469880" y="6309360"/>
            <a:ext cx="1170432" cy="484632"/>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420624" cy="310896"/>
          </a:xfrm>
          <a:prstGeom prst="roundRect">
            <a:avLst>
              <a:gd name="adj" fmla="val 23529"/>
            </a:avLst>
          </a:prstGeom>
          <a:solidFill>
            <a:srgbClr val="0B032B"/>
          </a:solidFill>
          <a:ln/>
        </p:spPr>
      </p:sp>
      <p:sp>
        <p:nvSpPr>
          <p:cNvPr id="3" name="Text 1"/>
          <p:cNvSpPr txBox="1"/>
          <p:nvPr/>
        </p:nvSpPr>
        <p:spPr>
          <a:xfrm>
            <a:off x="548640" y="438912"/>
            <a:ext cx="420624" cy="310896"/>
          </a:xfrm>
          <a:prstGeom prst="rect">
            <a:avLst/>
          </a:prstGeom>
          <a:noFill/>
          <a:ln/>
        </p:spPr>
        <p:txBody>
          <a:bodyPr wrap="square" lIns="0" tIns="0" rIns="0" bIns="0" rtlCol="0" anchor="ctr"/>
          <a:lstStyle/>
          <a:p>
            <a:pPr algn="ctr" indent="0" marL="0">
              <a:buNone/>
            </a:pPr>
            <a:r>
              <a:rPr lang="en-US" sz="1100" b="1" dirty="0">
                <a:solidFill>
                  <a:srgbClr val="FFF9C7"/>
                </a:solidFill>
                <a:latin typeface="Calibri" pitchFamily="34" charset="0"/>
                <a:ea typeface="Calibri" pitchFamily="34" charset="-122"/>
                <a:cs typeface="Calibri" pitchFamily="34" charset="-120"/>
              </a:rPr>
              <a:t>08</a:t>
            </a:r>
            <a:endParaRPr lang="en-US" sz="1100" dirty="0"/>
          </a:p>
        </p:txBody>
      </p:sp>
      <p:sp>
        <p:nvSpPr>
          <p:cNvPr id="4" name="Text 2"/>
          <p:cNvSpPr txBox="1"/>
          <p:nvPr/>
        </p:nvSpPr>
        <p:spPr>
          <a:xfrm>
            <a:off x="1115568" y="438912"/>
            <a:ext cx="8229600" cy="310896"/>
          </a:xfrm>
          <a:prstGeom prst="rect">
            <a:avLst/>
          </a:prstGeom>
          <a:noFill/>
          <a:ln/>
        </p:spPr>
        <p:txBody>
          <a:bodyPr wrap="square" lIns="0" tIns="0" rIns="0" bIns="0" rtlCol="0" anchor="ctr"/>
          <a:lstStyle/>
          <a:p>
            <a:pPr indent="0" marL="0">
              <a:buNone/>
            </a:pPr>
            <a:r>
              <a:rPr lang="en-US" sz="1100" b="1" spc="200" kern="0" dirty="0">
                <a:solidFill>
                  <a:srgbClr val="55516E"/>
                </a:solidFill>
                <a:latin typeface="Calibri" pitchFamily="34" charset="0"/>
                <a:ea typeface="Calibri" pitchFamily="34" charset="-122"/>
                <a:cs typeface="Calibri" pitchFamily="34" charset="-120"/>
              </a:rPr>
              <a:t>MISES EN SITUATION · BLOC 4</a:t>
            </a:r>
            <a:endParaRPr lang="en-US" sz="1100" dirty="0"/>
          </a:p>
        </p:txBody>
      </p:sp>
      <p:sp>
        <p:nvSpPr>
          <p:cNvPr id="5" name="Text 3"/>
          <p:cNvSpPr txBox="1"/>
          <p:nvPr/>
        </p:nvSpPr>
        <p:spPr>
          <a:xfrm>
            <a:off x="548640" y="841248"/>
            <a:ext cx="11064240" cy="685800"/>
          </a:xfrm>
          <a:prstGeom prst="rect">
            <a:avLst/>
          </a:prstGeom>
          <a:noFill/>
          <a:ln/>
        </p:spPr>
        <p:txBody>
          <a:bodyPr wrap="square" lIns="0" tIns="0" rIns="0" bIns="0" rtlCol="0" anchor="ctr">
            <a:normAutofit/>
          </a:bodyPr>
          <a:lstStyle/>
          <a:p>
            <a:pPr indent="0" marL="0">
              <a:buNone/>
            </a:pPr>
            <a:r>
              <a:rPr lang="en-US" sz="2800" b="1" dirty="0">
                <a:solidFill>
                  <a:srgbClr val="0B032B"/>
                </a:solidFill>
                <a:latin typeface="Calibri" pitchFamily="34" charset="0"/>
                <a:ea typeface="Calibri" pitchFamily="34" charset="-122"/>
                <a:cs typeface="Calibri" pitchFamily="34" charset="-120"/>
              </a:rPr>
              <a:t>Prévenir les conflits d’intérêts</a:t>
            </a:r>
            <a:endParaRPr lang="en-US" sz="2800" dirty="0"/>
          </a:p>
        </p:txBody>
      </p:sp>
      <p:sp>
        <p:nvSpPr>
          <p:cNvPr id="6" name="Text 4"/>
          <p:cNvSpPr txBox="1"/>
          <p:nvPr/>
        </p:nvSpPr>
        <p:spPr>
          <a:xfrm>
            <a:off x="548640" y="1572768"/>
            <a:ext cx="10972800" cy="320040"/>
          </a:xfrm>
          <a:prstGeom prst="rect">
            <a:avLst/>
          </a:prstGeom>
          <a:noFill/>
          <a:ln/>
        </p:spPr>
        <p:txBody>
          <a:bodyPr wrap="square" lIns="0" tIns="0" rIns="0" bIns="0" rtlCol="0" anchor="t"/>
          <a:lstStyle/>
          <a:p>
            <a:pPr indent="0" marL="0">
              <a:buNone/>
            </a:pPr>
            <a:r>
              <a:rPr lang="en-US" sz="1300" i="1" dirty="0">
                <a:solidFill>
                  <a:srgbClr val="55516E"/>
                </a:solidFill>
                <a:latin typeface="Calibri" pitchFamily="34" charset="0"/>
                <a:ea typeface="Calibri" pitchFamily="34" charset="-122"/>
                <a:cs typeface="Calibri" pitchFamily="34" charset="-120"/>
              </a:rPr>
              <a:t>À jouer en séquence 06, après la diapositive « Exemples et bons réflexes ».</a:t>
            </a:r>
            <a:endParaRPr lang="en-US" sz="1300" dirty="0"/>
          </a:p>
        </p:txBody>
      </p:sp>
      <p:sp>
        <p:nvSpPr>
          <p:cNvPr id="7" name="Shape 5"/>
          <p:cNvSpPr/>
          <p:nvPr/>
        </p:nvSpPr>
        <p:spPr>
          <a:xfrm>
            <a:off x="548640" y="2011680"/>
            <a:ext cx="11064240" cy="753466"/>
          </a:xfrm>
          <a:prstGeom prst="roundRect">
            <a:avLst>
              <a:gd name="adj" fmla="val 14563"/>
            </a:avLst>
          </a:prstGeom>
          <a:solidFill>
            <a:srgbClr val="F3F2F8"/>
          </a:solidFill>
          <a:ln/>
        </p:spPr>
      </p:sp>
      <p:sp>
        <p:nvSpPr>
          <p:cNvPr id="8" name="Shape 6"/>
          <p:cNvSpPr/>
          <p:nvPr/>
        </p:nvSpPr>
        <p:spPr>
          <a:xfrm>
            <a:off x="713232" y="2159813"/>
            <a:ext cx="749808" cy="457200"/>
          </a:xfrm>
          <a:prstGeom prst="roundRect">
            <a:avLst>
              <a:gd name="adj" fmla="val 20000"/>
            </a:avLst>
          </a:prstGeom>
          <a:solidFill>
            <a:srgbClr val="0B032B"/>
          </a:solidFill>
          <a:ln/>
        </p:spPr>
      </p:sp>
      <p:sp>
        <p:nvSpPr>
          <p:cNvPr id="9" name="Text 7"/>
          <p:cNvSpPr txBox="1"/>
          <p:nvPr/>
        </p:nvSpPr>
        <p:spPr>
          <a:xfrm>
            <a:off x="713232" y="2159813"/>
            <a:ext cx="749808" cy="457200"/>
          </a:xfrm>
          <a:prstGeom prst="rect">
            <a:avLst/>
          </a:prstGeom>
          <a:noFill/>
          <a:ln/>
        </p:spPr>
        <p:txBody>
          <a:bodyPr wrap="square" lIns="0" tIns="0" rIns="0" bIns="0" rtlCol="0" anchor="ctr"/>
          <a:lstStyle/>
          <a:p>
            <a:pPr algn="ctr" indent="0" marL="0">
              <a:buNone/>
            </a:pPr>
            <a:r>
              <a:rPr lang="en-US" sz="1400" b="1" dirty="0">
                <a:solidFill>
                  <a:srgbClr val="FFF9C7"/>
                </a:solidFill>
                <a:latin typeface="Calibri" pitchFamily="34" charset="0"/>
                <a:ea typeface="Calibri" pitchFamily="34" charset="-122"/>
                <a:cs typeface="Calibri" pitchFamily="34" charset="-120"/>
              </a:rPr>
              <a:t>4.1</a:t>
            </a:r>
            <a:endParaRPr lang="en-US" sz="1400" dirty="0"/>
          </a:p>
        </p:txBody>
      </p:sp>
      <p:sp>
        <p:nvSpPr>
          <p:cNvPr id="10" name="Text 8"/>
          <p:cNvSpPr txBox="1"/>
          <p:nvPr/>
        </p:nvSpPr>
        <p:spPr>
          <a:xfrm>
            <a:off x="1645920" y="2084832"/>
            <a:ext cx="3108960" cy="607162"/>
          </a:xfrm>
          <a:prstGeom prst="rect">
            <a:avLst/>
          </a:prstGeom>
          <a:noFill/>
          <a:ln/>
        </p:spPr>
        <p:txBody>
          <a:bodyPr wrap="square" lIns="0" tIns="0" rIns="0" bIns="0" rtlCol="0" anchor="ctr"/>
          <a:lstStyle/>
          <a:p>
            <a:pPr indent="0" marL="0">
              <a:buNone/>
            </a:pPr>
            <a:r>
              <a:rPr lang="en-US" sz="1400" b="1" dirty="0">
                <a:solidFill>
                  <a:srgbClr val="0B032B"/>
                </a:solidFill>
                <a:latin typeface="Calibri" pitchFamily="34" charset="0"/>
                <a:ea typeface="Calibri" pitchFamily="34" charset="-122"/>
                <a:cs typeface="Calibri" pitchFamily="34" charset="-120"/>
              </a:rPr>
              <a:t>Le marché du beau-frère</a:t>
            </a:r>
            <a:endParaRPr lang="en-US" sz="1400" dirty="0"/>
          </a:p>
        </p:txBody>
      </p:sp>
      <p:sp>
        <p:nvSpPr>
          <p:cNvPr id="11" name="Text 9"/>
          <p:cNvSpPr txBox="1"/>
          <p:nvPr/>
        </p:nvSpPr>
        <p:spPr>
          <a:xfrm>
            <a:off x="4846320" y="2066544"/>
            <a:ext cx="3931920" cy="643738"/>
          </a:xfrm>
          <a:prstGeom prst="rect">
            <a:avLst/>
          </a:prstGeom>
          <a:noFill/>
          <a:ln/>
        </p:spPr>
        <p:txBody>
          <a:bodyPr wrap="square" lIns="0" tIns="0" rIns="0" bIns="0" rtlCol="0" anchor="ctr">
            <a:normAutofit/>
          </a:bodyPr>
          <a:lstStyle/>
          <a:p>
            <a:pPr indent="0" marL="0">
              <a:buNone/>
            </a:pPr>
            <a:r>
              <a:rPr lang="en-US" sz="1150" dirty="0">
                <a:solidFill>
                  <a:srgbClr val="55516E"/>
                </a:solidFill>
                <a:latin typeface="Calibri" pitchFamily="34" charset="0"/>
                <a:ea typeface="Calibri" pitchFamily="34" charset="-122"/>
                <a:cs typeface="Calibri" pitchFamily="34" charset="-120"/>
              </a:rPr>
              <a:t>L’adjoint aux travaux siège à la commission d’appel d’offres ; l’entreprise de son beau-frère est candidate.</a:t>
            </a:r>
            <a:endParaRPr lang="en-US" sz="1150" dirty="0"/>
          </a:p>
        </p:txBody>
      </p:sp>
      <p:sp>
        <p:nvSpPr>
          <p:cNvPr id="12" name="Shape 10"/>
          <p:cNvSpPr/>
          <p:nvPr/>
        </p:nvSpPr>
        <p:spPr>
          <a:xfrm>
            <a:off x="8915400" y="2103120"/>
            <a:ext cx="2560320" cy="570586"/>
          </a:xfrm>
          <a:prstGeom prst="roundRect">
            <a:avLst>
              <a:gd name="adj" fmla="val 12821"/>
            </a:avLst>
          </a:prstGeom>
          <a:solidFill>
            <a:srgbClr val="FFF9C7"/>
          </a:solidFill>
          <a:ln/>
        </p:spPr>
      </p:sp>
      <p:sp>
        <p:nvSpPr>
          <p:cNvPr id="13" name="Text 11"/>
          <p:cNvSpPr txBox="1"/>
          <p:nvPr/>
        </p:nvSpPr>
        <p:spPr>
          <a:xfrm>
            <a:off x="9025128" y="2103120"/>
            <a:ext cx="2340864" cy="570586"/>
          </a:xfrm>
          <a:prstGeom prst="rect">
            <a:avLst/>
          </a:prstGeom>
          <a:noFill/>
          <a:ln/>
        </p:spPr>
        <p:txBody>
          <a:bodyPr wrap="square" lIns="0" tIns="0" rIns="0" bIns="0" rtlCol="0" anchor="ctr">
            <a:normAutofit/>
          </a:bodyPr>
          <a:lstStyle/>
          <a:p>
            <a:pPr indent="0" marL="0">
              <a:buNone/>
            </a:pPr>
            <a:r>
              <a:rPr lang="en-US" sz="1100" b="1" dirty="0">
                <a:solidFill>
                  <a:srgbClr val="0B032B"/>
                </a:solidFill>
                <a:latin typeface="Calibri" pitchFamily="34" charset="0"/>
                <a:ea typeface="Calibri" pitchFamily="34" charset="-122"/>
                <a:cs typeface="Calibri" pitchFamily="34" charset="-120"/>
              </a:rPr>
              <a:t>Déclarer, se déporter de toute la procédure</a:t>
            </a:r>
            <a:endParaRPr lang="en-US" sz="1100" dirty="0"/>
          </a:p>
        </p:txBody>
      </p:sp>
      <p:sp>
        <p:nvSpPr>
          <p:cNvPr id="14" name="Shape 12"/>
          <p:cNvSpPr/>
          <p:nvPr/>
        </p:nvSpPr>
        <p:spPr>
          <a:xfrm>
            <a:off x="548640" y="2874874"/>
            <a:ext cx="11064240" cy="753466"/>
          </a:xfrm>
          <a:prstGeom prst="roundRect">
            <a:avLst>
              <a:gd name="adj" fmla="val 14563"/>
            </a:avLst>
          </a:prstGeom>
          <a:solidFill>
            <a:srgbClr val="FFFFFF"/>
          </a:solidFill>
          <a:ln w="12700">
            <a:solidFill>
              <a:srgbClr val="E7E5F0"/>
            </a:solidFill>
            <a:prstDash val="solid"/>
          </a:ln>
        </p:spPr>
      </p:sp>
      <p:sp>
        <p:nvSpPr>
          <p:cNvPr id="15" name="Shape 13"/>
          <p:cNvSpPr/>
          <p:nvPr/>
        </p:nvSpPr>
        <p:spPr>
          <a:xfrm>
            <a:off x="713232" y="3023006"/>
            <a:ext cx="749808" cy="457200"/>
          </a:xfrm>
          <a:prstGeom prst="roundRect">
            <a:avLst>
              <a:gd name="adj" fmla="val 20000"/>
            </a:avLst>
          </a:prstGeom>
          <a:solidFill>
            <a:srgbClr val="0B032B"/>
          </a:solidFill>
          <a:ln/>
        </p:spPr>
      </p:sp>
      <p:sp>
        <p:nvSpPr>
          <p:cNvPr id="16" name="Text 14"/>
          <p:cNvSpPr txBox="1"/>
          <p:nvPr/>
        </p:nvSpPr>
        <p:spPr>
          <a:xfrm>
            <a:off x="713232" y="3023006"/>
            <a:ext cx="749808" cy="457200"/>
          </a:xfrm>
          <a:prstGeom prst="rect">
            <a:avLst/>
          </a:prstGeom>
          <a:noFill/>
          <a:ln/>
        </p:spPr>
        <p:txBody>
          <a:bodyPr wrap="square" lIns="0" tIns="0" rIns="0" bIns="0" rtlCol="0" anchor="ctr"/>
          <a:lstStyle/>
          <a:p>
            <a:pPr algn="ctr" indent="0" marL="0">
              <a:buNone/>
            </a:pPr>
            <a:r>
              <a:rPr lang="en-US" sz="1400" b="1" dirty="0">
                <a:solidFill>
                  <a:srgbClr val="FFF9C7"/>
                </a:solidFill>
                <a:latin typeface="Calibri" pitchFamily="34" charset="0"/>
                <a:ea typeface="Calibri" pitchFamily="34" charset="-122"/>
                <a:cs typeface="Calibri" pitchFamily="34" charset="-120"/>
              </a:rPr>
              <a:t>4.2</a:t>
            </a:r>
            <a:endParaRPr lang="en-US" sz="1400" dirty="0"/>
          </a:p>
        </p:txBody>
      </p:sp>
      <p:sp>
        <p:nvSpPr>
          <p:cNvPr id="17" name="Text 15"/>
          <p:cNvSpPr txBox="1"/>
          <p:nvPr/>
        </p:nvSpPr>
        <p:spPr>
          <a:xfrm>
            <a:off x="1645920" y="2948026"/>
            <a:ext cx="3108960" cy="607162"/>
          </a:xfrm>
          <a:prstGeom prst="rect">
            <a:avLst/>
          </a:prstGeom>
          <a:noFill/>
          <a:ln/>
        </p:spPr>
        <p:txBody>
          <a:bodyPr wrap="square" lIns="0" tIns="0" rIns="0" bIns="0" rtlCol="0" anchor="ctr"/>
          <a:lstStyle/>
          <a:p>
            <a:pPr indent="0" marL="0">
              <a:buNone/>
            </a:pPr>
            <a:r>
              <a:rPr lang="en-US" sz="1400" b="1" dirty="0">
                <a:solidFill>
                  <a:srgbClr val="0B032B"/>
                </a:solidFill>
                <a:latin typeface="Calibri" pitchFamily="34" charset="0"/>
                <a:ea typeface="Calibri" pitchFamily="34" charset="-122"/>
                <a:cs typeface="Calibri" pitchFamily="34" charset="-120"/>
              </a:rPr>
              <a:t>Le terrain qui devient constructible</a:t>
            </a:r>
            <a:endParaRPr lang="en-US" sz="1400" dirty="0"/>
          </a:p>
        </p:txBody>
      </p:sp>
      <p:sp>
        <p:nvSpPr>
          <p:cNvPr id="18" name="Text 16"/>
          <p:cNvSpPr txBox="1"/>
          <p:nvPr/>
        </p:nvSpPr>
        <p:spPr>
          <a:xfrm>
            <a:off x="4846320" y="2929738"/>
            <a:ext cx="3931920" cy="643738"/>
          </a:xfrm>
          <a:prstGeom prst="rect">
            <a:avLst/>
          </a:prstGeom>
          <a:noFill/>
          <a:ln/>
        </p:spPr>
        <p:txBody>
          <a:bodyPr wrap="square" lIns="0" tIns="0" rIns="0" bIns="0" rtlCol="0" anchor="ctr">
            <a:normAutofit/>
          </a:bodyPr>
          <a:lstStyle/>
          <a:p>
            <a:pPr indent="0" marL="0">
              <a:buNone/>
            </a:pPr>
            <a:r>
              <a:rPr lang="en-US" sz="1150" dirty="0">
                <a:solidFill>
                  <a:srgbClr val="55516E"/>
                </a:solidFill>
                <a:latin typeface="Calibri" pitchFamily="34" charset="0"/>
                <a:ea typeface="Calibri" pitchFamily="34" charset="-122"/>
                <a:cs typeface="Calibri" pitchFamily="34" charset="-120"/>
              </a:rPr>
              <a:t>Avis sur le PLUi : la parcelle agricole d’une conseillère passe en zone à urbaniser.</a:t>
            </a:r>
            <a:endParaRPr lang="en-US" sz="1150" dirty="0"/>
          </a:p>
        </p:txBody>
      </p:sp>
      <p:sp>
        <p:nvSpPr>
          <p:cNvPr id="19" name="Shape 17"/>
          <p:cNvSpPr/>
          <p:nvPr/>
        </p:nvSpPr>
        <p:spPr>
          <a:xfrm>
            <a:off x="8915400" y="2966314"/>
            <a:ext cx="2560320" cy="570586"/>
          </a:xfrm>
          <a:prstGeom prst="roundRect">
            <a:avLst>
              <a:gd name="adj" fmla="val 12821"/>
            </a:avLst>
          </a:prstGeom>
          <a:solidFill>
            <a:srgbClr val="FFF9C7"/>
          </a:solidFill>
          <a:ln/>
        </p:spPr>
      </p:sp>
      <p:sp>
        <p:nvSpPr>
          <p:cNvPr id="20" name="Text 18"/>
          <p:cNvSpPr txBox="1"/>
          <p:nvPr/>
        </p:nvSpPr>
        <p:spPr>
          <a:xfrm>
            <a:off x="9025128" y="2966314"/>
            <a:ext cx="2340864" cy="570586"/>
          </a:xfrm>
          <a:prstGeom prst="rect">
            <a:avLst/>
          </a:prstGeom>
          <a:noFill/>
          <a:ln/>
        </p:spPr>
        <p:txBody>
          <a:bodyPr wrap="square" lIns="0" tIns="0" rIns="0" bIns="0" rtlCol="0" anchor="ctr">
            <a:normAutofit/>
          </a:bodyPr>
          <a:lstStyle/>
          <a:p>
            <a:pPr indent="0" marL="0">
              <a:buNone/>
            </a:pPr>
            <a:r>
              <a:rPr lang="en-US" sz="1100" b="1" dirty="0">
                <a:solidFill>
                  <a:srgbClr val="0B032B"/>
                </a:solidFill>
                <a:latin typeface="Calibri" pitchFamily="34" charset="0"/>
                <a:ea typeface="Calibri" pitchFamily="34" charset="-122"/>
                <a:cs typeface="Calibri" pitchFamily="34" charset="-120"/>
              </a:rPr>
              <a:t>Aucune participation, même en commission</a:t>
            </a:r>
            <a:endParaRPr lang="en-US" sz="1100" dirty="0"/>
          </a:p>
        </p:txBody>
      </p:sp>
      <p:sp>
        <p:nvSpPr>
          <p:cNvPr id="21" name="Shape 19"/>
          <p:cNvSpPr/>
          <p:nvPr/>
        </p:nvSpPr>
        <p:spPr>
          <a:xfrm>
            <a:off x="548640" y="3738067"/>
            <a:ext cx="11064240" cy="753466"/>
          </a:xfrm>
          <a:prstGeom prst="roundRect">
            <a:avLst>
              <a:gd name="adj" fmla="val 14563"/>
            </a:avLst>
          </a:prstGeom>
          <a:solidFill>
            <a:srgbClr val="F3F2F8"/>
          </a:solidFill>
          <a:ln/>
        </p:spPr>
      </p:sp>
      <p:sp>
        <p:nvSpPr>
          <p:cNvPr id="22" name="Shape 20"/>
          <p:cNvSpPr/>
          <p:nvPr/>
        </p:nvSpPr>
        <p:spPr>
          <a:xfrm>
            <a:off x="713232" y="3886200"/>
            <a:ext cx="749808" cy="457200"/>
          </a:xfrm>
          <a:prstGeom prst="roundRect">
            <a:avLst>
              <a:gd name="adj" fmla="val 20000"/>
            </a:avLst>
          </a:prstGeom>
          <a:solidFill>
            <a:srgbClr val="0B032B"/>
          </a:solidFill>
          <a:ln/>
        </p:spPr>
      </p:sp>
      <p:sp>
        <p:nvSpPr>
          <p:cNvPr id="23" name="Text 21"/>
          <p:cNvSpPr txBox="1"/>
          <p:nvPr/>
        </p:nvSpPr>
        <p:spPr>
          <a:xfrm>
            <a:off x="713232" y="3886200"/>
            <a:ext cx="749808" cy="457200"/>
          </a:xfrm>
          <a:prstGeom prst="rect">
            <a:avLst/>
          </a:prstGeom>
          <a:noFill/>
          <a:ln/>
        </p:spPr>
        <p:txBody>
          <a:bodyPr wrap="square" lIns="0" tIns="0" rIns="0" bIns="0" rtlCol="0" anchor="ctr"/>
          <a:lstStyle/>
          <a:p>
            <a:pPr algn="ctr" indent="0" marL="0">
              <a:buNone/>
            </a:pPr>
            <a:r>
              <a:rPr lang="en-US" sz="1400" b="1" dirty="0">
                <a:solidFill>
                  <a:srgbClr val="FFF9C7"/>
                </a:solidFill>
                <a:latin typeface="Calibri" pitchFamily="34" charset="0"/>
                <a:ea typeface="Calibri" pitchFamily="34" charset="-122"/>
                <a:cs typeface="Calibri" pitchFamily="34" charset="-120"/>
              </a:rPr>
              <a:t>4.3</a:t>
            </a:r>
            <a:endParaRPr lang="en-US" sz="1400" dirty="0"/>
          </a:p>
        </p:txBody>
      </p:sp>
      <p:sp>
        <p:nvSpPr>
          <p:cNvPr id="24" name="Text 22"/>
          <p:cNvSpPr txBox="1"/>
          <p:nvPr/>
        </p:nvSpPr>
        <p:spPr>
          <a:xfrm>
            <a:off x="1645920" y="3811219"/>
            <a:ext cx="3108960" cy="607162"/>
          </a:xfrm>
          <a:prstGeom prst="rect">
            <a:avLst/>
          </a:prstGeom>
          <a:noFill/>
          <a:ln/>
        </p:spPr>
        <p:txBody>
          <a:bodyPr wrap="square" lIns="0" tIns="0" rIns="0" bIns="0" rtlCol="0" anchor="ctr"/>
          <a:lstStyle/>
          <a:p>
            <a:pPr indent="0" marL="0">
              <a:buNone/>
            </a:pPr>
            <a:r>
              <a:rPr lang="en-US" sz="1400" b="1" dirty="0">
                <a:solidFill>
                  <a:srgbClr val="0B032B"/>
                </a:solidFill>
                <a:latin typeface="Calibri" pitchFamily="34" charset="0"/>
                <a:ea typeface="Calibri" pitchFamily="34" charset="-122"/>
                <a:cs typeface="Calibri" pitchFamily="34" charset="-120"/>
              </a:rPr>
              <a:t>Le recrutement du neveu</a:t>
            </a:r>
            <a:endParaRPr lang="en-US" sz="1400" dirty="0"/>
          </a:p>
        </p:txBody>
      </p:sp>
      <p:sp>
        <p:nvSpPr>
          <p:cNvPr id="25" name="Text 23"/>
          <p:cNvSpPr txBox="1"/>
          <p:nvPr/>
        </p:nvSpPr>
        <p:spPr>
          <a:xfrm>
            <a:off x="4846320" y="3792931"/>
            <a:ext cx="3931920" cy="643738"/>
          </a:xfrm>
          <a:prstGeom prst="rect">
            <a:avLst/>
          </a:prstGeom>
          <a:noFill/>
          <a:ln/>
        </p:spPr>
        <p:txBody>
          <a:bodyPr wrap="square" lIns="0" tIns="0" rIns="0" bIns="0" rtlCol="0" anchor="ctr">
            <a:normAutofit/>
          </a:bodyPr>
          <a:lstStyle/>
          <a:p>
            <a:pPr indent="0" marL="0">
              <a:buNone/>
            </a:pPr>
            <a:r>
              <a:rPr lang="en-US" sz="1150" dirty="0">
                <a:solidFill>
                  <a:srgbClr val="55516E"/>
                </a:solidFill>
                <a:latin typeface="Calibri" pitchFamily="34" charset="0"/>
                <a:ea typeface="Calibri" pitchFamily="34" charset="-122"/>
                <a:cs typeface="Calibri" pitchFamily="34" charset="-120"/>
              </a:rPr>
              <a:t>Le maire propose de « laisser le premier adjoint signer » le recrutement de son neveu.</a:t>
            </a:r>
            <a:endParaRPr lang="en-US" sz="1150" dirty="0"/>
          </a:p>
        </p:txBody>
      </p:sp>
      <p:sp>
        <p:nvSpPr>
          <p:cNvPr id="26" name="Shape 24"/>
          <p:cNvSpPr/>
          <p:nvPr/>
        </p:nvSpPr>
        <p:spPr>
          <a:xfrm>
            <a:off x="8915400" y="3829507"/>
            <a:ext cx="2560320" cy="570586"/>
          </a:xfrm>
          <a:prstGeom prst="roundRect">
            <a:avLst>
              <a:gd name="adj" fmla="val 12821"/>
            </a:avLst>
          </a:prstGeom>
          <a:solidFill>
            <a:srgbClr val="FFF9C7"/>
          </a:solidFill>
          <a:ln/>
        </p:spPr>
      </p:sp>
      <p:sp>
        <p:nvSpPr>
          <p:cNvPr id="27" name="Text 25"/>
          <p:cNvSpPr txBox="1"/>
          <p:nvPr/>
        </p:nvSpPr>
        <p:spPr>
          <a:xfrm>
            <a:off x="9025128" y="3829507"/>
            <a:ext cx="2340864" cy="570586"/>
          </a:xfrm>
          <a:prstGeom prst="rect">
            <a:avLst/>
          </a:prstGeom>
          <a:noFill/>
          <a:ln/>
        </p:spPr>
        <p:txBody>
          <a:bodyPr wrap="square" lIns="0" tIns="0" rIns="0" bIns="0" rtlCol="0" anchor="ctr">
            <a:normAutofit/>
          </a:bodyPr>
          <a:lstStyle/>
          <a:p>
            <a:pPr indent="0" marL="0">
              <a:buNone/>
            </a:pPr>
            <a:r>
              <a:rPr lang="en-US" sz="1100" b="1" dirty="0">
                <a:solidFill>
                  <a:srgbClr val="0B032B"/>
                </a:solidFill>
                <a:latin typeface="Calibri" pitchFamily="34" charset="0"/>
                <a:ea typeface="Calibri" pitchFamily="34" charset="-122"/>
                <a:cs typeface="Calibri" pitchFamily="34" charset="-120"/>
              </a:rPr>
              <a:t>Déport formalisé, jury indépendant</a:t>
            </a:r>
            <a:endParaRPr lang="en-US" sz="1100" dirty="0"/>
          </a:p>
        </p:txBody>
      </p:sp>
      <p:sp>
        <p:nvSpPr>
          <p:cNvPr id="28" name="Shape 26"/>
          <p:cNvSpPr/>
          <p:nvPr/>
        </p:nvSpPr>
        <p:spPr>
          <a:xfrm>
            <a:off x="548640" y="4601261"/>
            <a:ext cx="11064240" cy="753466"/>
          </a:xfrm>
          <a:prstGeom prst="roundRect">
            <a:avLst>
              <a:gd name="adj" fmla="val 14563"/>
            </a:avLst>
          </a:prstGeom>
          <a:solidFill>
            <a:srgbClr val="FFFFFF"/>
          </a:solidFill>
          <a:ln w="12700">
            <a:solidFill>
              <a:srgbClr val="E7E5F0"/>
            </a:solidFill>
            <a:prstDash val="solid"/>
          </a:ln>
        </p:spPr>
      </p:sp>
      <p:sp>
        <p:nvSpPr>
          <p:cNvPr id="29" name="Shape 27"/>
          <p:cNvSpPr/>
          <p:nvPr/>
        </p:nvSpPr>
        <p:spPr>
          <a:xfrm>
            <a:off x="713232" y="4749394"/>
            <a:ext cx="749808" cy="457200"/>
          </a:xfrm>
          <a:prstGeom prst="roundRect">
            <a:avLst>
              <a:gd name="adj" fmla="val 20000"/>
            </a:avLst>
          </a:prstGeom>
          <a:solidFill>
            <a:srgbClr val="0B032B"/>
          </a:solidFill>
          <a:ln/>
        </p:spPr>
      </p:sp>
      <p:sp>
        <p:nvSpPr>
          <p:cNvPr id="30" name="Text 28"/>
          <p:cNvSpPr txBox="1"/>
          <p:nvPr/>
        </p:nvSpPr>
        <p:spPr>
          <a:xfrm>
            <a:off x="713232" y="4749394"/>
            <a:ext cx="749808" cy="457200"/>
          </a:xfrm>
          <a:prstGeom prst="rect">
            <a:avLst/>
          </a:prstGeom>
          <a:noFill/>
          <a:ln/>
        </p:spPr>
        <p:txBody>
          <a:bodyPr wrap="square" lIns="0" tIns="0" rIns="0" bIns="0" rtlCol="0" anchor="ctr"/>
          <a:lstStyle/>
          <a:p>
            <a:pPr algn="ctr" indent="0" marL="0">
              <a:buNone/>
            </a:pPr>
            <a:r>
              <a:rPr lang="en-US" sz="1400" b="1" dirty="0">
                <a:solidFill>
                  <a:srgbClr val="FFF9C7"/>
                </a:solidFill>
                <a:latin typeface="Calibri" pitchFamily="34" charset="0"/>
                <a:ea typeface="Calibri" pitchFamily="34" charset="-122"/>
                <a:cs typeface="Calibri" pitchFamily="34" charset="-120"/>
              </a:rPr>
              <a:t>4.4</a:t>
            </a:r>
            <a:endParaRPr lang="en-US" sz="1400" dirty="0"/>
          </a:p>
        </p:txBody>
      </p:sp>
      <p:sp>
        <p:nvSpPr>
          <p:cNvPr id="31" name="Text 29"/>
          <p:cNvSpPr txBox="1"/>
          <p:nvPr/>
        </p:nvSpPr>
        <p:spPr>
          <a:xfrm>
            <a:off x="1645920" y="4674413"/>
            <a:ext cx="3108960" cy="607162"/>
          </a:xfrm>
          <a:prstGeom prst="rect">
            <a:avLst/>
          </a:prstGeom>
          <a:noFill/>
          <a:ln/>
        </p:spPr>
        <p:txBody>
          <a:bodyPr wrap="square" lIns="0" tIns="0" rIns="0" bIns="0" rtlCol="0" anchor="ctr"/>
          <a:lstStyle/>
          <a:p>
            <a:pPr indent="0" marL="0">
              <a:buNone/>
            </a:pPr>
            <a:r>
              <a:rPr lang="en-US" sz="1400" b="1" dirty="0">
                <a:solidFill>
                  <a:srgbClr val="0B032B"/>
                </a:solidFill>
                <a:latin typeface="Calibri" pitchFamily="34" charset="0"/>
                <a:ea typeface="Calibri" pitchFamily="34" charset="-122"/>
                <a:cs typeface="Calibri" pitchFamily="34" charset="-120"/>
              </a:rPr>
              <a:t>La subvention à son association</a:t>
            </a:r>
            <a:endParaRPr lang="en-US" sz="1400" dirty="0"/>
          </a:p>
        </p:txBody>
      </p:sp>
      <p:sp>
        <p:nvSpPr>
          <p:cNvPr id="32" name="Text 30"/>
          <p:cNvSpPr txBox="1"/>
          <p:nvPr/>
        </p:nvSpPr>
        <p:spPr>
          <a:xfrm>
            <a:off x="4846320" y="4656125"/>
            <a:ext cx="3931920" cy="643738"/>
          </a:xfrm>
          <a:prstGeom prst="rect">
            <a:avLst/>
          </a:prstGeom>
          <a:noFill/>
          <a:ln/>
        </p:spPr>
        <p:txBody>
          <a:bodyPr wrap="square" lIns="0" tIns="0" rIns="0" bIns="0" rtlCol="0" anchor="ctr">
            <a:normAutofit/>
          </a:bodyPr>
          <a:lstStyle/>
          <a:p>
            <a:pPr indent="0" marL="0">
              <a:buNone/>
            </a:pPr>
            <a:r>
              <a:rPr lang="en-US" sz="1150" dirty="0">
                <a:solidFill>
                  <a:srgbClr val="55516E"/>
                </a:solidFill>
                <a:latin typeface="Calibri" pitchFamily="34" charset="0"/>
                <a:ea typeface="Calibri" pitchFamily="34" charset="-122"/>
                <a:cs typeface="Calibri" pitchFamily="34" charset="-120"/>
              </a:rPr>
              <a:t>L’adjointe à la vie associative préside le club de football, qui demande 8 000 €.</a:t>
            </a:r>
            <a:endParaRPr lang="en-US" sz="1150" dirty="0"/>
          </a:p>
        </p:txBody>
      </p:sp>
      <p:sp>
        <p:nvSpPr>
          <p:cNvPr id="33" name="Shape 31"/>
          <p:cNvSpPr/>
          <p:nvPr/>
        </p:nvSpPr>
        <p:spPr>
          <a:xfrm>
            <a:off x="8915400" y="4692701"/>
            <a:ext cx="2560320" cy="570586"/>
          </a:xfrm>
          <a:prstGeom prst="roundRect">
            <a:avLst>
              <a:gd name="adj" fmla="val 12821"/>
            </a:avLst>
          </a:prstGeom>
          <a:solidFill>
            <a:srgbClr val="FFF9C7"/>
          </a:solidFill>
          <a:ln/>
        </p:spPr>
      </p:sp>
      <p:sp>
        <p:nvSpPr>
          <p:cNvPr id="34" name="Text 32"/>
          <p:cNvSpPr txBox="1"/>
          <p:nvPr/>
        </p:nvSpPr>
        <p:spPr>
          <a:xfrm>
            <a:off x="9025128" y="4692701"/>
            <a:ext cx="2340864" cy="570586"/>
          </a:xfrm>
          <a:prstGeom prst="rect">
            <a:avLst/>
          </a:prstGeom>
          <a:noFill/>
          <a:ln/>
        </p:spPr>
        <p:txBody>
          <a:bodyPr wrap="square" lIns="0" tIns="0" rIns="0" bIns="0" rtlCol="0" anchor="ctr">
            <a:normAutofit/>
          </a:bodyPr>
          <a:lstStyle/>
          <a:p>
            <a:pPr indent="0" marL="0">
              <a:buNone/>
            </a:pPr>
            <a:r>
              <a:rPr lang="en-US" sz="1100" b="1" dirty="0">
                <a:solidFill>
                  <a:srgbClr val="0B032B"/>
                </a:solidFill>
                <a:latin typeface="Calibri" pitchFamily="34" charset="0"/>
                <a:ea typeface="Calibri" pitchFamily="34" charset="-122"/>
                <a:cs typeface="Calibri" pitchFamily="34" charset="-120"/>
              </a:rPr>
              <a:t>Ne pas voter, délibération distincte</a:t>
            </a:r>
            <a:endParaRPr lang="en-US" sz="1100" dirty="0"/>
          </a:p>
        </p:txBody>
      </p:sp>
      <p:sp>
        <p:nvSpPr>
          <p:cNvPr id="35" name="Shape 33"/>
          <p:cNvSpPr/>
          <p:nvPr/>
        </p:nvSpPr>
        <p:spPr>
          <a:xfrm>
            <a:off x="548640" y="5464454"/>
            <a:ext cx="11064240" cy="753466"/>
          </a:xfrm>
          <a:prstGeom prst="roundRect">
            <a:avLst>
              <a:gd name="adj" fmla="val 14563"/>
            </a:avLst>
          </a:prstGeom>
          <a:solidFill>
            <a:srgbClr val="F3F2F8"/>
          </a:solidFill>
          <a:ln/>
        </p:spPr>
      </p:sp>
      <p:sp>
        <p:nvSpPr>
          <p:cNvPr id="36" name="Shape 34"/>
          <p:cNvSpPr/>
          <p:nvPr/>
        </p:nvSpPr>
        <p:spPr>
          <a:xfrm>
            <a:off x="713232" y="5612587"/>
            <a:ext cx="749808" cy="457200"/>
          </a:xfrm>
          <a:prstGeom prst="roundRect">
            <a:avLst>
              <a:gd name="adj" fmla="val 20000"/>
            </a:avLst>
          </a:prstGeom>
          <a:solidFill>
            <a:srgbClr val="0B032B"/>
          </a:solidFill>
          <a:ln/>
        </p:spPr>
      </p:sp>
      <p:sp>
        <p:nvSpPr>
          <p:cNvPr id="37" name="Text 35"/>
          <p:cNvSpPr txBox="1"/>
          <p:nvPr/>
        </p:nvSpPr>
        <p:spPr>
          <a:xfrm>
            <a:off x="713232" y="5612587"/>
            <a:ext cx="749808" cy="457200"/>
          </a:xfrm>
          <a:prstGeom prst="rect">
            <a:avLst/>
          </a:prstGeom>
          <a:noFill/>
          <a:ln/>
        </p:spPr>
        <p:txBody>
          <a:bodyPr wrap="square" lIns="0" tIns="0" rIns="0" bIns="0" rtlCol="0" anchor="ctr"/>
          <a:lstStyle/>
          <a:p>
            <a:pPr algn="ctr" indent="0" marL="0">
              <a:buNone/>
            </a:pPr>
            <a:r>
              <a:rPr lang="en-US" sz="1400" b="1" dirty="0">
                <a:solidFill>
                  <a:srgbClr val="FFF9C7"/>
                </a:solidFill>
                <a:latin typeface="Calibri" pitchFamily="34" charset="0"/>
                <a:ea typeface="Calibri" pitchFamily="34" charset="-122"/>
                <a:cs typeface="Calibri" pitchFamily="34" charset="-120"/>
              </a:rPr>
              <a:t>4.5</a:t>
            </a:r>
            <a:endParaRPr lang="en-US" sz="1400" dirty="0"/>
          </a:p>
        </p:txBody>
      </p:sp>
      <p:sp>
        <p:nvSpPr>
          <p:cNvPr id="38" name="Text 36"/>
          <p:cNvSpPr txBox="1"/>
          <p:nvPr/>
        </p:nvSpPr>
        <p:spPr>
          <a:xfrm>
            <a:off x="1645920" y="5537606"/>
            <a:ext cx="3108960" cy="607162"/>
          </a:xfrm>
          <a:prstGeom prst="rect">
            <a:avLst/>
          </a:prstGeom>
          <a:noFill/>
          <a:ln/>
        </p:spPr>
        <p:txBody>
          <a:bodyPr wrap="square" lIns="0" tIns="0" rIns="0" bIns="0" rtlCol="0" anchor="ctr"/>
          <a:lstStyle/>
          <a:p>
            <a:pPr indent="0" marL="0">
              <a:buNone/>
            </a:pPr>
            <a:r>
              <a:rPr lang="en-US" sz="1400" b="1" dirty="0">
                <a:solidFill>
                  <a:srgbClr val="0B032B"/>
                </a:solidFill>
                <a:latin typeface="Calibri" pitchFamily="34" charset="0"/>
                <a:ea typeface="Calibri" pitchFamily="34" charset="-122"/>
                <a:cs typeface="Calibri" pitchFamily="34" charset="-120"/>
              </a:rPr>
              <a:t>L’invitation du promoteur</a:t>
            </a:r>
            <a:endParaRPr lang="en-US" sz="1400" dirty="0"/>
          </a:p>
        </p:txBody>
      </p:sp>
      <p:sp>
        <p:nvSpPr>
          <p:cNvPr id="39" name="Text 37"/>
          <p:cNvSpPr txBox="1"/>
          <p:nvPr/>
        </p:nvSpPr>
        <p:spPr>
          <a:xfrm>
            <a:off x="4846320" y="5519318"/>
            <a:ext cx="3931920" cy="643738"/>
          </a:xfrm>
          <a:prstGeom prst="rect">
            <a:avLst/>
          </a:prstGeom>
          <a:noFill/>
          <a:ln/>
        </p:spPr>
        <p:txBody>
          <a:bodyPr wrap="square" lIns="0" tIns="0" rIns="0" bIns="0" rtlCol="0" anchor="ctr">
            <a:normAutofit/>
          </a:bodyPr>
          <a:lstStyle/>
          <a:p>
            <a:pPr indent="0" marL="0">
              <a:buNone/>
            </a:pPr>
            <a:r>
              <a:rPr lang="en-US" sz="1150" dirty="0">
                <a:solidFill>
                  <a:srgbClr val="55516E"/>
                </a:solidFill>
                <a:latin typeface="Calibri" pitchFamily="34" charset="0"/>
                <a:ea typeface="Calibri" pitchFamily="34" charset="-122"/>
                <a:cs typeface="Calibri" pitchFamily="34" charset="-120"/>
              </a:rPr>
              <a:t>Un promoteur de 40 logements invite l’adjoint à l’urbanisme en loge, puis au restaurant.</a:t>
            </a:r>
            <a:endParaRPr lang="en-US" sz="1150" dirty="0"/>
          </a:p>
        </p:txBody>
      </p:sp>
      <p:sp>
        <p:nvSpPr>
          <p:cNvPr id="40" name="Shape 38"/>
          <p:cNvSpPr/>
          <p:nvPr/>
        </p:nvSpPr>
        <p:spPr>
          <a:xfrm>
            <a:off x="8915400" y="5555894"/>
            <a:ext cx="2560320" cy="570586"/>
          </a:xfrm>
          <a:prstGeom prst="roundRect">
            <a:avLst>
              <a:gd name="adj" fmla="val 12821"/>
            </a:avLst>
          </a:prstGeom>
          <a:solidFill>
            <a:srgbClr val="FFF9C7"/>
          </a:solidFill>
          <a:ln/>
        </p:spPr>
      </p:sp>
      <p:sp>
        <p:nvSpPr>
          <p:cNvPr id="41" name="Text 39"/>
          <p:cNvSpPr txBox="1"/>
          <p:nvPr/>
        </p:nvSpPr>
        <p:spPr>
          <a:xfrm>
            <a:off x="9025128" y="5555894"/>
            <a:ext cx="2340864" cy="570586"/>
          </a:xfrm>
          <a:prstGeom prst="rect">
            <a:avLst/>
          </a:prstGeom>
          <a:noFill/>
          <a:ln/>
        </p:spPr>
        <p:txBody>
          <a:bodyPr wrap="square" lIns="0" tIns="0" rIns="0" bIns="0" rtlCol="0" anchor="ctr">
            <a:normAutofit/>
          </a:bodyPr>
          <a:lstStyle/>
          <a:p>
            <a:pPr indent="0" marL="0">
              <a:buNone/>
            </a:pPr>
            <a:r>
              <a:rPr lang="en-US" sz="1100" b="1" dirty="0">
                <a:solidFill>
                  <a:srgbClr val="0B032B"/>
                </a:solidFill>
                <a:latin typeface="Calibri" pitchFamily="34" charset="0"/>
                <a:ea typeface="Calibri" pitchFamily="34" charset="-122"/>
                <a:cs typeface="Calibri" pitchFamily="34" charset="-120"/>
              </a:rPr>
              <a:t>Refuser, recevoir en mairie, informer le maire</a:t>
            </a:r>
            <a:endParaRPr lang="en-US" sz="1100" dirty="0"/>
          </a:p>
        </p:txBody>
      </p:sp>
      <p:sp>
        <p:nvSpPr>
          <p:cNvPr id="42" name="Text 40"/>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spc="100" kern="0" dirty="0">
                <a:solidFill>
                  <a:srgbClr val="8A8699"/>
                </a:solidFill>
                <a:latin typeface="Calibri" pitchFamily="34" charset="0"/>
                <a:ea typeface="Calibri" pitchFamily="34" charset="-122"/>
                <a:cs typeface="Calibri" pitchFamily="34" charset="-120"/>
              </a:rPr>
              <a:t>ENMA FORMATION  ·  Formation des élus municipaux 2026</a:t>
            </a:r>
            <a:endParaRPr lang="en-US" sz="900" dirty="0"/>
          </a:p>
        </p:txBody>
      </p:sp>
      <p:sp>
        <p:nvSpPr>
          <p:cNvPr id="43" name="Text 41"/>
          <p:cNvSpPr txBox="1"/>
          <p:nvPr/>
        </p:nvSpPr>
        <p:spPr>
          <a:xfrm>
            <a:off x="9692640" y="6400800"/>
            <a:ext cx="548640" cy="274320"/>
          </a:xfrm>
          <a:prstGeom prst="rect">
            <a:avLst/>
          </a:prstGeom>
          <a:noFill/>
          <a:ln/>
        </p:spPr>
        <p:txBody>
          <a:bodyPr wrap="square" lIns="0" tIns="0" rIns="0" bIns="0" rtlCol="0" anchor="ctr"/>
          <a:lstStyle/>
          <a:p>
            <a:pPr algn="r" indent="0" marL="0">
              <a:buNone/>
            </a:pPr>
            <a:r>
              <a:rPr lang="en-US" sz="900" dirty="0">
                <a:solidFill>
                  <a:srgbClr val="8A8699"/>
                </a:solidFill>
                <a:latin typeface="Calibri" pitchFamily="34" charset="0"/>
                <a:ea typeface="Calibri" pitchFamily="34" charset="-122"/>
                <a:cs typeface="Calibri" pitchFamily="34" charset="-120"/>
              </a:rPr>
              <a:t>57</a:t>
            </a:r>
            <a:endParaRPr lang="en-US" sz="900" dirty="0"/>
          </a:p>
        </p:txBody>
      </p:sp>
      <p:pic>
        <p:nvPicPr>
          <p:cNvPr id="44" name="Image 0" descr="preencoded.png">    </p:cNvPr>
          <p:cNvPicPr>
            <a:picLocks noChangeAspect="1"/>
          </p:cNvPicPr>
          <p:nvPr/>
        </p:nvPicPr>
        <p:blipFill>
          <a:blip r:embed="rId1"/>
          <a:stretch>
            <a:fillRect/>
          </a:stretch>
        </p:blipFill>
        <p:spPr>
          <a:xfrm>
            <a:off x="10469880" y="6309360"/>
            <a:ext cx="1170432" cy="484632"/>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420624" cy="310896"/>
          </a:xfrm>
          <a:prstGeom prst="roundRect">
            <a:avLst>
              <a:gd name="adj" fmla="val 23529"/>
            </a:avLst>
          </a:prstGeom>
          <a:solidFill>
            <a:srgbClr val="0B032B"/>
          </a:solidFill>
          <a:ln/>
        </p:spPr>
      </p:sp>
      <p:sp>
        <p:nvSpPr>
          <p:cNvPr id="3" name="Text 1"/>
          <p:cNvSpPr txBox="1"/>
          <p:nvPr/>
        </p:nvSpPr>
        <p:spPr>
          <a:xfrm>
            <a:off x="548640" y="438912"/>
            <a:ext cx="420624" cy="310896"/>
          </a:xfrm>
          <a:prstGeom prst="rect">
            <a:avLst/>
          </a:prstGeom>
          <a:noFill/>
          <a:ln/>
        </p:spPr>
        <p:txBody>
          <a:bodyPr wrap="square" lIns="0" tIns="0" rIns="0" bIns="0" rtlCol="0" anchor="ctr"/>
          <a:lstStyle/>
          <a:p>
            <a:pPr algn="ctr" indent="0" marL="0">
              <a:buNone/>
            </a:pPr>
            <a:r>
              <a:rPr lang="en-US" sz="1100" b="1" dirty="0">
                <a:solidFill>
                  <a:srgbClr val="FFF9C7"/>
                </a:solidFill>
                <a:latin typeface="Calibri" pitchFamily="34" charset="0"/>
                <a:ea typeface="Calibri" pitchFamily="34" charset="-122"/>
                <a:cs typeface="Calibri" pitchFamily="34" charset="-120"/>
              </a:rPr>
              <a:t>08</a:t>
            </a:r>
            <a:endParaRPr lang="en-US" sz="1100" dirty="0"/>
          </a:p>
        </p:txBody>
      </p:sp>
      <p:sp>
        <p:nvSpPr>
          <p:cNvPr id="4" name="Text 2"/>
          <p:cNvSpPr txBox="1"/>
          <p:nvPr/>
        </p:nvSpPr>
        <p:spPr>
          <a:xfrm>
            <a:off x="1115568" y="438912"/>
            <a:ext cx="8229600" cy="310896"/>
          </a:xfrm>
          <a:prstGeom prst="rect">
            <a:avLst/>
          </a:prstGeom>
          <a:noFill/>
          <a:ln/>
        </p:spPr>
        <p:txBody>
          <a:bodyPr wrap="square" lIns="0" tIns="0" rIns="0" bIns="0" rtlCol="0" anchor="ctr"/>
          <a:lstStyle/>
          <a:p>
            <a:pPr indent="0" marL="0">
              <a:buNone/>
            </a:pPr>
            <a:r>
              <a:rPr lang="en-US" sz="1100" b="1" spc="200" kern="0" dirty="0">
                <a:solidFill>
                  <a:srgbClr val="55516E"/>
                </a:solidFill>
                <a:latin typeface="Calibri" pitchFamily="34" charset="0"/>
                <a:ea typeface="Calibri" pitchFamily="34" charset="-122"/>
                <a:cs typeface="Calibri" pitchFamily="34" charset="-120"/>
              </a:rPr>
              <a:t>RETOURS D’EXPÉRIENCE</a:t>
            </a:r>
            <a:endParaRPr lang="en-US" sz="1100" dirty="0"/>
          </a:p>
        </p:txBody>
      </p:sp>
      <p:sp>
        <p:nvSpPr>
          <p:cNvPr id="5" name="Text 3"/>
          <p:cNvSpPr txBox="1"/>
          <p:nvPr/>
        </p:nvSpPr>
        <p:spPr>
          <a:xfrm>
            <a:off x="548640" y="841248"/>
            <a:ext cx="11064240" cy="685800"/>
          </a:xfrm>
          <a:prstGeom prst="rect">
            <a:avLst/>
          </a:prstGeom>
          <a:noFill/>
          <a:ln/>
        </p:spPr>
        <p:txBody>
          <a:bodyPr wrap="square" lIns="0" tIns="0" rIns="0" bIns="0" rtlCol="0" anchor="ctr">
            <a:normAutofit/>
          </a:bodyPr>
          <a:lstStyle/>
          <a:p>
            <a:pPr indent="0" marL="0">
              <a:buNone/>
            </a:pPr>
            <a:r>
              <a:rPr lang="en-US" sz="2800" b="1" dirty="0">
                <a:solidFill>
                  <a:srgbClr val="0B032B"/>
                </a:solidFill>
                <a:latin typeface="Calibri" pitchFamily="34" charset="0"/>
                <a:ea typeface="Calibri" pitchFamily="34" charset="-122"/>
                <a:cs typeface="Calibri" pitchFamily="34" charset="-120"/>
              </a:rPr>
              <a:t>Ce qui s’est passé lors des sessions de septembre 2026</a:t>
            </a:r>
            <a:endParaRPr lang="en-US" sz="2800" dirty="0"/>
          </a:p>
        </p:txBody>
      </p:sp>
      <p:sp>
        <p:nvSpPr>
          <p:cNvPr id="6" name="Shape 4"/>
          <p:cNvSpPr/>
          <p:nvPr/>
        </p:nvSpPr>
        <p:spPr>
          <a:xfrm>
            <a:off x="548640" y="1783080"/>
            <a:ext cx="3017520" cy="932688"/>
          </a:xfrm>
          <a:prstGeom prst="roundRect">
            <a:avLst>
              <a:gd name="adj" fmla="val 11765"/>
            </a:avLst>
          </a:prstGeom>
          <a:solidFill>
            <a:srgbClr val="F3F2F8"/>
          </a:solidFill>
          <a:ln/>
        </p:spPr>
      </p:sp>
      <p:sp>
        <p:nvSpPr>
          <p:cNvPr id="7" name="Text 5"/>
          <p:cNvSpPr txBox="1"/>
          <p:nvPr/>
        </p:nvSpPr>
        <p:spPr>
          <a:xfrm>
            <a:off x="777240" y="1783080"/>
            <a:ext cx="1188720" cy="932688"/>
          </a:xfrm>
          <a:prstGeom prst="rect">
            <a:avLst/>
          </a:prstGeom>
          <a:noFill/>
          <a:ln/>
        </p:spPr>
        <p:txBody>
          <a:bodyPr wrap="square" lIns="0" tIns="0" rIns="0" bIns="0" rtlCol="0" anchor="ctr"/>
          <a:lstStyle/>
          <a:p>
            <a:pPr indent="0" marL="0">
              <a:buNone/>
            </a:pPr>
            <a:r>
              <a:rPr lang="en-US" sz="3600" dirty="0">
                <a:solidFill>
                  <a:srgbClr val="0B032B"/>
                </a:solidFill>
                <a:latin typeface="Impact" pitchFamily="34" charset="0"/>
                <a:ea typeface="Impact" pitchFamily="34" charset="-122"/>
                <a:cs typeface="Impact" pitchFamily="34" charset="-120"/>
              </a:rPr>
              <a:t>3</a:t>
            </a:r>
            <a:endParaRPr lang="en-US" sz="3600" dirty="0"/>
          </a:p>
        </p:txBody>
      </p:sp>
      <p:sp>
        <p:nvSpPr>
          <p:cNvPr id="8" name="Text 6"/>
          <p:cNvSpPr txBox="1"/>
          <p:nvPr/>
        </p:nvSpPr>
        <p:spPr>
          <a:xfrm>
            <a:off x="1965960" y="1783080"/>
            <a:ext cx="1508760" cy="932688"/>
          </a:xfrm>
          <a:prstGeom prst="rect">
            <a:avLst/>
          </a:prstGeom>
          <a:noFill/>
          <a:ln/>
        </p:spPr>
        <p:txBody>
          <a:bodyPr wrap="square" lIns="0" tIns="0" rIns="0" bIns="0" rtlCol="0" anchor="ctr"/>
          <a:lstStyle/>
          <a:p>
            <a:pPr indent="0" marL="0">
              <a:buNone/>
            </a:pPr>
            <a:r>
              <a:rPr lang="en-US" sz="1400" b="1" dirty="0">
                <a:solidFill>
                  <a:srgbClr val="0B032B"/>
                </a:solidFill>
                <a:latin typeface="Calibri" pitchFamily="34" charset="0"/>
                <a:ea typeface="Calibri" pitchFamily="34" charset="-122"/>
                <a:cs typeface="Calibri" pitchFamily="34" charset="-120"/>
              </a:rPr>
              <a:t>sessions</a:t>
            </a:r>
            <a:endParaRPr lang="en-US" sz="1400" dirty="0"/>
          </a:p>
        </p:txBody>
      </p:sp>
      <p:sp>
        <p:nvSpPr>
          <p:cNvPr id="9" name="Shape 7"/>
          <p:cNvSpPr/>
          <p:nvPr/>
        </p:nvSpPr>
        <p:spPr>
          <a:xfrm>
            <a:off x="548640" y="2862072"/>
            <a:ext cx="3017520" cy="932688"/>
          </a:xfrm>
          <a:prstGeom prst="roundRect">
            <a:avLst>
              <a:gd name="adj" fmla="val 11765"/>
            </a:avLst>
          </a:prstGeom>
          <a:solidFill>
            <a:srgbClr val="0B032B"/>
          </a:solidFill>
          <a:ln/>
        </p:spPr>
      </p:sp>
      <p:sp>
        <p:nvSpPr>
          <p:cNvPr id="10" name="Text 8"/>
          <p:cNvSpPr txBox="1"/>
          <p:nvPr/>
        </p:nvSpPr>
        <p:spPr>
          <a:xfrm>
            <a:off x="777240" y="2862072"/>
            <a:ext cx="1188720" cy="932688"/>
          </a:xfrm>
          <a:prstGeom prst="rect">
            <a:avLst/>
          </a:prstGeom>
          <a:noFill/>
          <a:ln/>
        </p:spPr>
        <p:txBody>
          <a:bodyPr wrap="square" lIns="0" tIns="0" rIns="0" bIns="0" rtlCol="0" anchor="ctr"/>
          <a:lstStyle/>
          <a:p>
            <a:pPr indent="0" marL="0">
              <a:buNone/>
            </a:pPr>
            <a:r>
              <a:rPr lang="en-US" sz="3600" dirty="0">
                <a:solidFill>
                  <a:srgbClr val="FFF9C7"/>
                </a:solidFill>
                <a:latin typeface="Impact" pitchFamily="34" charset="0"/>
                <a:ea typeface="Impact" pitchFamily="34" charset="-122"/>
                <a:cs typeface="Impact" pitchFamily="34" charset="-120"/>
              </a:rPr>
              <a:t>34</a:t>
            </a:r>
            <a:endParaRPr lang="en-US" sz="3600" dirty="0"/>
          </a:p>
        </p:txBody>
      </p:sp>
      <p:sp>
        <p:nvSpPr>
          <p:cNvPr id="11" name="Text 9"/>
          <p:cNvSpPr txBox="1"/>
          <p:nvPr/>
        </p:nvSpPr>
        <p:spPr>
          <a:xfrm>
            <a:off x="1965960" y="2862072"/>
            <a:ext cx="1508760" cy="93268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élus formés</a:t>
            </a:r>
            <a:endParaRPr lang="en-US" sz="1400" dirty="0"/>
          </a:p>
        </p:txBody>
      </p:sp>
      <p:sp>
        <p:nvSpPr>
          <p:cNvPr id="12" name="Shape 10"/>
          <p:cNvSpPr/>
          <p:nvPr/>
        </p:nvSpPr>
        <p:spPr>
          <a:xfrm>
            <a:off x="548640" y="3941064"/>
            <a:ext cx="3017520" cy="932688"/>
          </a:xfrm>
          <a:prstGeom prst="roundRect">
            <a:avLst>
              <a:gd name="adj" fmla="val 11765"/>
            </a:avLst>
          </a:prstGeom>
          <a:solidFill>
            <a:srgbClr val="F3F2F8"/>
          </a:solidFill>
          <a:ln/>
        </p:spPr>
      </p:sp>
      <p:sp>
        <p:nvSpPr>
          <p:cNvPr id="13" name="Text 11"/>
          <p:cNvSpPr txBox="1"/>
          <p:nvPr/>
        </p:nvSpPr>
        <p:spPr>
          <a:xfrm>
            <a:off x="777240" y="3941064"/>
            <a:ext cx="1188720" cy="932688"/>
          </a:xfrm>
          <a:prstGeom prst="rect">
            <a:avLst/>
          </a:prstGeom>
          <a:noFill/>
          <a:ln/>
        </p:spPr>
        <p:txBody>
          <a:bodyPr wrap="square" lIns="0" tIns="0" rIns="0" bIns="0" rtlCol="0" anchor="ctr"/>
          <a:lstStyle/>
          <a:p>
            <a:pPr indent="0" marL="0">
              <a:buNone/>
            </a:pPr>
            <a:r>
              <a:rPr lang="en-US" sz="3600" dirty="0">
                <a:solidFill>
                  <a:srgbClr val="0B032B"/>
                </a:solidFill>
                <a:latin typeface="Impact" pitchFamily="34" charset="0"/>
                <a:ea typeface="Impact" pitchFamily="34" charset="-122"/>
                <a:cs typeface="Impact" pitchFamily="34" charset="-120"/>
              </a:rPr>
              <a:t>48</a:t>
            </a:r>
            <a:endParaRPr lang="en-US" sz="3600" dirty="0"/>
          </a:p>
        </p:txBody>
      </p:sp>
      <p:sp>
        <p:nvSpPr>
          <p:cNvPr id="14" name="Text 12"/>
          <p:cNvSpPr txBox="1"/>
          <p:nvPr/>
        </p:nvSpPr>
        <p:spPr>
          <a:xfrm>
            <a:off x="1965960" y="3941064"/>
            <a:ext cx="1508760" cy="932688"/>
          </a:xfrm>
          <a:prstGeom prst="rect">
            <a:avLst/>
          </a:prstGeom>
          <a:noFill/>
          <a:ln/>
        </p:spPr>
        <p:txBody>
          <a:bodyPr wrap="square" lIns="0" tIns="0" rIns="0" bIns="0" rtlCol="0" anchor="ctr"/>
          <a:lstStyle/>
          <a:p>
            <a:pPr indent="0" marL="0">
              <a:buNone/>
            </a:pPr>
            <a:r>
              <a:rPr lang="en-US" sz="1400" b="1" dirty="0">
                <a:solidFill>
                  <a:srgbClr val="0B032B"/>
                </a:solidFill>
                <a:latin typeface="Calibri" pitchFamily="34" charset="0"/>
                <a:ea typeface="Calibri" pitchFamily="34" charset="-122"/>
                <a:cs typeface="Calibri" pitchFamily="34" charset="-120"/>
              </a:rPr>
              <a:t>jeux de rôle observés</a:t>
            </a:r>
            <a:endParaRPr lang="en-US" sz="1400" dirty="0"/>
          </a:p>
        </p:txBody>
      </p:sp>
      <p:sp>
        <p:nvSpPr>
          <p:cNvPr id="15" name="Shape 13"/>
          <p:cNvSpPr/>
          <p:nvPr/>
        </p:nvSpPr>
        <p:spPr>
          <a:xfrm>
            <a:off x="548640" y="5020056"/>
            <a:ext cx="3017520" cy="932688"/>
          </a:xfrm>
          <a:prstGeom prst="roundRect">
            <a:avLst>
              <a:gd name="adj" fmla="val 11765"/>
            </a:avLst>
          </a:prstGeom>
          <a:solidFill>
            <a:srgbClr val="F3F2F8"/>
          </a:solidFill>
          <a:ln/>
        </p:spPr>
      </p:sp>
      <p:sp>
        <p:nvSpPr>
          <p:cNvPr id="16" name="Text 14"/>
          <p:cNvSpPr txBox="1"/>
          <p:nvPr/>
        </p:nvSpPr>
        <p:spPr>
          <a:xfrm>
            <a:off x="777240" y="5020056"/>
            <a:ext cx="1188720" cy="932688"/>
          </a:xfrm>
          <a:prstGeom prst="rect">
            <a:avLst/>
          </a:prstGeom>
          <a:noFill/>
          <a:ln/>
        </p:spPr>
        <p:txBody>
          <a:bodyPr wrap="square" lIns="0" tIns="0" rIns="0" bIns="0" rtlCol="0" anchor="ctr"/>
          <a:lstStyle/>
          <a:p>
            <a:pPr indent="0" marL="0">
              <a:buNone/>
            </a:pPr>
            <a:r>
              <a:rPr lang="en-US" sz="3600" dirty="0">
                <a:solidFill>
                  <a:srgbClr val="0B032B"/>
                </a:solidFill>
                <a:latin typeface="Impact" pitchFamily="34" charset="0"/>
                <a:ea typeface="Impact" pitchFamily="34" charset="-122"/>
                <a:cs typeface="Impact" pitchFamily="34" charset="-120"/>
              </a:rPr>
              <a:t>16</a:t>
            </a:r>
            <a:endParaRPr lang="en-US" sz="3600" dirty="0"/>
          </a:p>
        </p:txBody>
      </p:sp>
      <p:sp>
        <p:nvSpPr>
          <p:cNvPr id="17" name="Text 15"/>
          <p:cNvSpPr txBox="1"/>
          <p:nvPr/>
        </p:nvSpPr>
        <p:spPr>
          <a:xfrm>
            <a:off x="1965960" y="5020056"/>
            <a:ext cx="1508760" cy="932688"/>
          </a:xfrm>
          <a:prstGeom prst="rect">
            <a:avLst/>
          </a:prstGeom>
          <a:noFill/>
          <a:ln/>
        </p:spPr>
        <p:txBody>
          <a:bodyPr wrap="square" lIns="0" tIns="0" rIns="0" bIns="0" rtlCol="0" anchor="ctr"/>
          <a:lstStyle/>
          <a:p>
            <a:pPr indent="0" marL="0">
              <a:buNone/>
            </a:pPr>
            <a:r>
              <a:rPr lang="en-US" sz="1400" b="1" dirty="0">
                <a:solidFill>
                  <a:srgbClr val="0B032B"/>
                </a:solidFill>
                <a:latin typeface="Calibri" pitchFamily="34" charset="0"/>
                <a:ea typeface="Calibri" pitchFamily="34" charset="-122"/>
                <a:cs typeface="Calibri" pitchFamily="34" charset="-120"/>
              </a:rPr>
              <a:t>cas joués</a:t>
            </a:r>
            <a:endParaRPr lang="en-US" sz="1400" dirty="0"/>
          </a:p>
        </p:txBody>
      </p:sp>
      <p:graphicFrame>
        <p:nvGraphicFramePr>
          <p:cNvPr id="18" name="Chart 0" descr=""/>
          <p:cNvGraphicFramePr/>
          <p:nvPr/>
        </p:nvGraphicFramePr>
        <p:xfrm>
          <a:off x="3840480" y="1691640"/>
          <a:ext cx="7772400" cy="4434840"/>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spc="100" kern="0" dirty="0">
                <a:solidFill>
                  <a:srgbClr val="8A8699"/>
                </a:solidFill>
                <a:latin typeface="Calibri" pitchFamily="34" charset="0"/>
                <a:ea typeface="Calibri" pitchFamily="34" charset="-122"/>
                <a:cs typeface="Calibri" pitchFamily="34" charset="-120"/>
              </a:rPr>
              <a:t>ENMA FORMATION  ·  Formation des élus municipaux 2026</a:t>
            </a:r>
            <a:endParaRPr lang="en-US" sz="900" dirty="0"/>
          </a:p>
        </p:txBody>
      </p:sp>
      <p:sp>
        <p:nvSpPr>
          <p:cNvPr id="20" name="Text 17"/>
          <p:cNvSpPr txBox="1"/>
          <p:nvPr/>
        </p:nvSpPr>
        <p:spPr>
          <a:xfrm>
            <a:off x="9692640" y="6400800"/>
            <a:ext cx="548640" cy="274320"/>
          </a:xfrm>
          <a:prstGeom prst="rect">
            <a:avLst/>
          </a:prstGeom>
          <a:noFill/>
          <a:ln/>
        </p:spPr>
        <p:txBody>
          <a:bodyPr wrap="square" lIns="0" tIns="0" rIns="0" bIns="0" rtlCol="0" anchor="ctr"/>
          <a:lstStyle/>
          <a:p>
            <a:pPr algn="r" indent="0" marL="0">
              <a:buNone/>
            </a:pPr>
            <a:r>
              <a:rPr lang="en-US" sz="900" dirty="0">
                <a:solidFill>
                  <a:srgbClr val="8A8699"/>
                </a:solidFill>
                <a:latin typeface="Calibri" pitchFamily="34" charset="0"/>
                <a:ea typeface="Calibri" pitchFamily="34" charset="-122"/>
                <a:cs typeface="Calibri" pitchFamily="34" charset="-120"/>
              </a:rPr>
              <a:t>58</a:t>
            </a:r>
            <a:endParaRPr lang="en-US" sz="900" dirty="0"/>
          </a:p>
        </p:txBody>
      </p:sp>
      <p:pic>
        <p:nvPicPr>
          <p:cNvPr id="21" name="Image 0" descr="preencoded.png">    </p:cNvPr>
          <p:cNvPicPr>
            <a:picLocks noChangeAspect="1"/>
          </p:cNvPicPr>
          <p:nvPr/>
        </p:nvPicPr>
        <p:blipFill>
          <a:blip r:embed="rId2"/>
          <a:stretch>
            <a:fillRect/>
          </a:stretch>
        </p:blipFill>
        <p:spPr>
          <a:xfrm>
            <a:off x="10469880" y="6309360"/>
            <a:ext cx="1170432" cy="484632"/>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420624" cy="310896"/>
          </a:xfrm>
          <a:prstGeom prst="roundRect">
            <a:avLst>
              <a:gd name="adj" fmla="val 23529"/>
            </a:avLst>
          </a:prstGeom>
          <a:solidFill>
            <a:srgbClr val="0B032B"/>
          </a:solidFill>
          <a:ln/>
        </p:spPr>
      </p:sp>
      <p:sp>
        <p:nvSpPr>
          <p:cNvPr id="3" name="Text 1"/>
          <p:cNvSpPr txBox="1"/>
          <p:nvPr/>
        </p:nvSpPr>
        <p:spPr>
          <a:xfrm>
            <a:off x="548640" y="438912"/>
            <a:ext cx="420624" cy="310896"/>
          </a:xfrm>
          <a:prstGeom prst="rect">
            <a:avLst/>
          </a:prstGeom>
          <a:noFill/>
          <a:ln/>
        </p:spPr>
        <p:txBody>
          <a:bodyPr wrap="square" lIns="0" tIns="0" rIns="0" bIns="0" rtlCol="0" anchor="ctr"/>
          <a:lstStyle/>
          <a:p>
            <a:pPr algn="ctr" indent="0" marL="0">
              <a:buNone/>
            </a:pPr>
            <a:r>
              <a:rPr lang="en-US" sz="1100" b="1" dirty="0">
                <a:solidFill>
                  <a:srgbClr val="FFF9C7"/>
                </a:solidFill>
                <a:latin typeface="Calibri" pitchFamily="34" charset="0"/>
                <a:ea typeface="Calibri" pitchFamily="34" charset="-122"/>
                <a:cs typeface="Calibri" pitchFamily="34" charset="-120"/>
              </a:rPr>
              <a:t>08</a:t>
            </a:r>
            <a:endParaRPr lang="en-US" sz="1100" dirty="0"/>
          </a:p>
        </p:txBody>
      </p:sp>
      <p:sp>
        <p:nvSpPr>
          <p:cNvPr id="4" name="Text 2"/>
          <p:cNvSpPr txBox="1"/>
          <p:nvPr/>
        </p:nvSpPr>
        <p:spPr>
          <a:xfrm>
            <a:off x="1115568" y="438912"/>
            <a:ext cx="8229600" cy="310896"/>
          </a:xfrm>
          <a:prstGeom prst="rect">
            <a:avLst/>
          </a:prstGeom>
          <a:noFill/>
          <a:ln/>
        </p:spPr>
        <p:txBody>
          <a:bodyPr wrap="square" lIns="0" tIns="0" rIns="0" bIns="0" rtlCol="0" anchor="ctr"/>
          <a:lstStyle/>
          <a:p>
            <a:pPr indent="0" marL="0">
              <a:buNone/>
            </a:pPr>
            <a:r>
              <a:rPr lang="en-US" sz="1100" b="1" spc="200" kern="0" dirty="0">
                <a:solidFill>
                  <a:srgbClr val="55516E"/>
                </a:solidFill>
                <a:latin typeface="Calibri" pitchFamily="34" charset="0"/>
                <a:ea typeface="Calibri" pitchFamily="34" charset="-122"/>
                <a:cs typeface="Calibri" pitchFamily="34" charset="-120"/>
              </a:rPr>
              <a:t>RETOURS D’EXPÉRIENCE</a:t>
            </a:r>
            <a:endParaRPr lang="en-US" sz="1100" dirty="0"/>
          </a:p>
        </p:txBody>
      </p:sp>
      <p:sp>
        <p:nvSpPr>
          <p:cNvPr id="5" name="Text 3"/>
          <p:cNvSpPr txBox="1"/>
          <p:nvPr/>
        </p:nvSpPr>
        <p:spPr>
          <a:xfrm>
            <a:off x="548640" y="841248"/>
            <a:ext cx="11064240" cy="685800"/>
          </a:xfrm>
          <a:prstGeom prst="rect">
            <a:avLst/>
          </a:prstGeom>
          <a:noFill/>
          <a:ln/>
        </p:spPr>
        <p:txBody>
          <a:bodyPr wrap="square" lIns="0" tIns="0" rIns="0" bIns="0" rtlCol="0" anchor="ctr">
            <a:normAutofit/>
          </a:bodyPr>
          <a:lstStyle/>
          <a:p>
            <a:pPr indent="0" marL="0">
              <a:buNone/>
            </a:pPr>
            <a:r>
              <a:rPr lang="en-US" sz="2800" b="1" dirty="0">
                <a:solidFill>
                  <a:srgbClr val="0B032B"/>
                </a:solidFill>
                <a:latin typeface="Calibri" pitchFamily="34" charset="0"/>
                <a:ea typeface="Calibri" pitchFamily="34" charset="-122"/>
                <a:cs typeface="Calibri" pitchFamily="34" charset="-120"/>
              </a:rPr>
              <a:t>Ce que les élus ont répondu en situation</a:t>
            </a:r>
            <a:endParaRPr lang="en-US" sz="2800" dirty="0"/>
          </a:p>
        </p:txBody>
      </p:sp>
      <p:sp>
        <p:nvSpPr>
          <p:cNvPr id="6" name="Shape 4"/>
          <p:cNvSpPr/>
          <p:nvPr/>
        </p:nvSpPr>
        <p:spPr>
          <a:xfrm>
            <a:off x="548640" y="1783080"/>
            <a:ext cx="3520440" cy="2011680"/>
          </a:xfrm>
          <a:prstGeom prst="roundRect">
            <a:avLst>
              <a:gd name="adj" fmla="val 5455"/>
            </a:avLst>
          </a:prstGeom>
          <a:solidFill>
            <a:srgbClr val="F3F2F8"/>
          </a:solidFill>
          <a:ln/>
        </p:spPr>
      </p:sp>
      <p:sp>
        <p:nvSpPr>
          <p:cNvPr id="7" name="Shape 5"/>
          <p:cNvSpPr/>
          <p:nvPr/>
        </p:nvSpPr>
        <p:spPr>
          <a:xfrm>
            <a:off x="777240" y="1984248"/>
            <a:ext cx="640080" cy="329184"/>
          </a:xfrm>
          <a:prstGeom prst="roundRect">
            <a:avLst>
              <a:gd name="adj" fmla="val 22222"/>
            </a:avLst>
          </a:prstGeom>
          <a:solidFill>
            <a:srgbClr val="0B032B"/>
          </a:solidFill>
          <a:ln/>
        </p:spPr>
      </p:sp>
      <p:sp>
        <p:nvSpPr>
          <p:cNvPr id="8" name="Text 6"/>
          <p:cNvSpPr txBox="1"/>
          <p:nvPr/>
        </p:nvSpPr>
        <p:spPr>
          <a:xfrm>
            <a:off x="777240" y="1984248"/>
            <a:ext cx="640080" cy="329184"/>
          </a:xfrm>
          <a:prstGeom prst="rect">
            <a:avLst/>
          </a:prstGeom>
          <a:noFill/>
          <a:ln/>
        </p:spPr>
        <p:txBody>
          <a:bodyPr wrap="square" lIns="0" tIns="0" rIns="0" bIns="0" rtlCol="0" anchor="ctr"/>
          <a:lstStyle/>
          <a:p>
            <a:pPr algn="ctr" indent="0" marL="0">
              <a:buNone/>
            </a:pPr>
            <a:r>
              <a:rPr lang="en-US" sz="1000" b="1" dirty="0">
                <a:solidFill>
                  <a:srgbClr val="FFF9C7"/>
                </a:solidFill>
                <a:latin typeface="Calibri" pitchFamily="34" charset="0"/>
                <a:ea typeface="Calibri" pitchFamily="34" charset="-122"/>
                <a:cs typeface="Calibri" pitchFamily="34" charset="-120"/>
              </a:rPr>
              <a:t>Cas 1.2</a:t>
            </a:r>
            <a:endParaRPr lang="en-US" sz="1000" dirty="0"/>
          </a:p>
        </p:txBody>
      </p:sp>
      <p:sp>
        <p:nvSpPr>
          <p:cNvPr id="9" name="Text 7"/>
          <p:cNvSpPr txBox="1"/>
          <p:nvPr/>
        </p:nvSpPr>
        <p:spPr>
          <a:xfrm>
            <a:off x="3383280" y="1801368"/>
            <a:ext cx="548640" cy="731520"/>
          </a:xfrm>
          <a:prstGeom prst="rect">
            <a:avLst/>
          </a:prstGeom>
          <a:noFill/>
          <a:ln/>
        </p:spPr>
        <p:txBody>
          <a:bodyPr wrap="square" lIns="0" tIns="0" rIns="0" bIns="0" rtlCol="0" anchor="t"/>
          <a:lstStyle/>
          <a:p>
            <a:pPr algn="r" indent="0" marL="0">
              <a:buNone/>
            </a:pPr>
            <a:r>
              <a:rPr lang="en-US" sz="4800" b="1" dirty="0">
                <a:solidFill>
                  <a:srgbClr val="E7E5F0"/>
                </a:solidFill>
                <a:latin typeface="Cambria" pitchFamily="34" charset="0"/>
                <a:ea typeface="Cambria" pitchFamily="34" charset="-122"/>
                <a:cs typeface="Cambria" pitchFamily="34" charset="-120"/>
              </a:rPr>
              <a:t>“</a:t>
            </a:r>
            <a:endParaRPr lang="en-US" sz="4800" dirty="0"/>
          </a:p>
        </p:txBody>
      </p:sp>
      <p:sp>
        <p:nvSpPr>
          <p:cNvPr id="10" name="Text 8"/>
          <p:cNvSpPr txBox="1"/>
          <p:nvPr/>
        </p:nvSpPr>
        <p:spPr>
          <a:xfrm>
            <a:off x="777240" y="2423160"/>
            <a:ext cx="3063240" cy="777240"/>
          </a:xfrm>
          <a:prstGeom prst="rect">
            <a:avLst/>
          </a:prstGeom>
          <a:noFill/>
          <a:ln/>
        </p:spPr>
        <p:txBody>
          <a:bodyPr wrap="square" lIns="0" tIns="0" rIns="0" bIns="0" rtlCol="0" anchor="ctr">
            <a:normAutofit/>
          </a:bodyPr>
          <a:lstStyle/>
          <a:p>
            <a:pPr indent="0" marL="0">
              <a:buNone/>
            </a:pPr>
            <a:r>
              <a:rPr lang="en-US" sz="1400" b="1" i="1" dirty="0">
                <a:solidFill>
                  <a:srgbClr val="0B032B"/>
                </a:solidFill>
                <a:latin typeface="Cambria" pitchFamily="34" charset="0"/>
                <a:ea typeface="Cambria" pitchFamily="34" charset="-122"/>
                <a:cs typeface="Cambria" pitchFamily="34" charset="-120"/>
              </a:rPr>
              <a:t>« Je vais voir ce que je peux faire pour vous. »</a:t>
            </a:r>
            <a:endParaRPr lang="en-US" sz="1400" dirty="0"/>
          </a:p>
        </p:txBody>
      </p:sp>
      <p:sp>
        <p:nvSpPr>
          <p:cNvPr id="11" name="Shape 9"/>
          <p:cNvSpPr/>
          <p:nvPr/>
        </p:nvSpPr>
        <p:spPr>
          <a:xfrm>
            <a:off x="777240" y="3246120"/>
            <a:ext cx="457200" cy="0"/>
          </a:xfrm>
          <a:prstGeom prst="line">
            <a:avLst/>
          </a:prstGeom>
          <a:noFill/>
          <a:ln w="25400">
            <a:solidFill>
              <a:srgbClr val="E4572E"/>
            </a:solidFill>
            <a:prstDash val="solid"/>
          </a:ln>
        </p:spPr>
      </p:sp>
      <p:sp>
        <p:nvSpPr>
          <p:cNvPr id="12" name="Text 10"/>
          <p:cNvSpPr txBox="1"/>
          <p:nvPr/>
        </p:nvSpPr>
        <p:spPr>
          <a:xfrm>
            <a:off x="777240" y="3300984"/>
            <a:ext cx="3063240" cy="438912"/>
          </a:xfrm>
          <a:prstGeom prst="rect">
            <a:avLst/>
          </a:prstGeom>
          <a:noFill/>
          <a:ln/>
        </p:spPr>
        <p:txBody>
          <a:bodyPr wrap="square" lIns="0" tIns="0" rIns="0" bIns="0" rtlCol="0" anchor="t">
            <a:normAutofit/>
          </a:bodyPr>
          <a:lstStyle/>
          <a:p>
            <a:pPr indent="0" marL="0">
              <a:buNone/>
            </a:pPr>
            <a:r>
              <a:rPr lang="en-US" sz="1100" dirty="0">
                <a:solidFill>
                  <a:srgbClr val="55516E"/>
                </a:solidFill>
                <a:latin typeface="Calibri" pitchFamily="34" charset="0"/>
                <a:ea typeface="Calibri" pitchFamily="34" charset="-122"/>
                <a:cs typeface="Calibri" pitchFamily="34" charset="-120"/>
              </a:rPr>
              <a:t>Promesse implicite d’intervention : relevée dans 1 échange sur 2.</a:t>
            </a:r>
            <a:endParaRPr lang="en-US" sz="1100" dirty="0"/>
          </a:p>
        </p:txBody>
      </p:sp>
      <p:sp>
        <p:nvSpPr>
          <p:cNvPr id="13" name="Shape 11"/>
          <p:cNvSpPr/>
          <p:nvPr/>
        </p:nvSpPr>
        <p:spPr>
          <a:xfrm>
            <a:off x="4297680" y="1783080"/>
            <a:ext cx="3520440" cy="2011680"/>
          </a:xfrm>
          <a:prstGeom prst="roundRect">
            <a:avLst>
              <a:gd name="adj" fmla="val 5455"/>
            </a:avLst>
          </a:prstGeom>
          <a:solidFill>
            <a:srgbClr val="F3F2F8"/>
          </a:solidFill>
          <a:ln/>
        </p:spPr>
      </p:sp>
      <p:sp>
        <p:nvSpPr>
          <p:cNvPr id="14" name="Shape 12"/>
          <p:cNvSpPr/>
          <p:nvPr/>
        </p:nvSpPr>
        <p:spPr>
          <a:xfrm>
            <a:off x="4526280" y="1984248"/>
            <a:ext cx="640080" cy="329184"/>
          </a:xfrm>
          <a:prstGeom prst="roundRect">
            <a:avLst>
              <a:gd name="adj" fmla="val 22222"/>
            </a:avLst>
          </a:prstGeom>
          <a:solidFill>
            <a:srgbClr val="0B032B"/>
          </a:solidFill>
          <a:ln/>
        </p:spPr>
      </p:sp>
      <p:sp>
        <p:nvSpPr>
          <p:cNvPr id="15" name="Text 13"/>
          <p:cNvSpPr txBox="1"/>
          <p:nvPr/>
        </p:nvSpPr>
        <p:spPr>
          <a:xfrm>
            <a:off x="4526280" y="1984248"/>
            <a:ext cx="640080" cy="329184"/>
          </a:xfrm>
          <a:prstGeom prst="rect">
            <a:avLst/>
          </a:prstGeom>
          <a:noFill/>
          <a:ln/>
        </p:spPr>
        <p:txBody>
          <a:bodyPr wrap="square" lIns="0" tIns="0" rIns="0" bIns="0" rtlCol="0" anchor="ctr"/>
          <a:lstStyle/>
          <a:p>
            <a:pPr algn="ctr" indent="0" marL="0">
              <a:buNone/>
            </a:pPr>
            <a:r>
              <a:rPr lang="en-US" sz="1000" b="1" dirty="0">
                <a:solidFill>
                  <a:srgbClr val="FFF9C7"/>
                </a:solidFill>
                <a:latin typeface="Calibri" pitchFamily="34" charset="0"/>
                <a:ea typeface="Calibri" pitchFamily="34" charset="-122"/>
                <a:cs typeface="Calibri" pitchFamily="34" charset="-120"/>
              </a:rPr>
              <a:t>Cas 2.1</a:t>
            </a:r>
            <a:endParaRPr lang="en-US" sz="1000" dirty="0"/>
          </a:p>
        </p:txBody>
      </p:sp>
      <p:sp>
        <p:nvSpPr>
          <p:cNvPr id="16" name="Text 14"/>
          <p:cNvSpPr txBox="1"/>
          <p:nvPr/>
        </p:nvSpPr>
        <p:spPr>
          <a:xfrm>
            <a:off x="7132320" y="1801368"/>
            <a:ext cx="548640" cy="731520"/>
          </a:xfrm>
          <a:prstGeom prst="rect">
            <a:avLst/>
          </a:prstGeom>
          <a:noFill/>
          <a:ln/>
        </p:spPr>
        <p:txBody>
          <a:bodyPr wrap="square" lIns="0" tIns="0" rIns="0" bIns="0" rtlCol="0" anchor="t"/>
          <a:lstStyle/>
          <a:p>
            <a:pPr algn="r" indent="0" marL="0">
              <a:buNone/>
            </a:pPr>
            <a:r>
              <a:rPr lang="en-US" sz="4800" b="1" dirty="0">
                <a:solidFill>
                  <a:srgbClr val="E7E5F0"/>
                </a:solidFill>
                <a:latin typeface="Cambria" pitchFamily="34" charset="0"/>
                <a:ea typeface="Cambria" pitchFamily="34" charset="-122"/>
                <a:cs typeface="Cambria" pitchFamily="34" charset="-120"/>
              </a:rPr>
              <a:t>“</a:t>
            </a:r>
            <a:endParaRPr lang="en-US" sz="4800" dirty="0"/>
          </a:p>
        </p:txBody>
      </p:sp>
      <p:sp>
        <p:nvSpPr>
          <p:cNvPr id="17" name="Text 15"/>
          <p:cNvSpPr txBox="1"/>
          <p:nvPr/>
        </p:nvSpPr>
        <p:spPr>
          <a:xfrm>
            <a:off x="4526280" y="2423160"/>
            <a:ext cx="3063240" cy="777240"/>
          </a:xfrm>
          <a:prstGeom prst="rect">
            <a:avLst/>
          </a:prstGeom>
          <a:noFill/>
          <a:ln/>
        </p:spPr>
        <p:txBody>
          <a:bodyPr wrap="square" lIns="0" tIns="0" rIns="0" bIns="0" rtlCol="0" anchor="ctr">
            <a:normAutofit/>
          </a:bodyPr>
          <a:lstStyle/>
          <a:p>
            <a:pPr indent="0" marL="0">
              <a:buNone/>
            </a:pPr>
            <a:r>
              <a:rPr lang="en-US" sz="1400" b="1" i="1" dirty="0">
                <a:solidFill>
                  <a:srgbClr val="0B032B"/>
                </a:solidFill>
                <a:latin typeface="Cambria" pitchFamily="34" charset="0"/>
                <a:ea typeface="Cambria" pitchFamily="34" charset="-122"/>
                <a:cs typeface="Cambria" pitchFamily="34" charset="-120"/>
              </a:rPr>
              <a:t>« Je connais l’agent depuis vingt ans, je lui ai juste demandé un coup de main. »</a:t>
            </a:r>
            <a:endParaRPr lang="en-US" sz="1400" dirty="0"/>
          </a:p>
        </p:txBody>
      </p:sp>
      <p:sp>
        <p:nvSpPr>
          <p:cNvPr id="18" name="Shape 16"/>
          <p:cNvSpPr/>
          <p:nvPr/>
        </p:nvSpPr>
        <p:spPr>
          <a:xfrm>
            <a:off x="4526280" y="3246120"/>
            <a:ext cx="457200" cy="0"/>
          </a:xfrm>
          <a:prstGeom prst="line">
            <a:avLst/>
          </a:prstGeom>
          <a:noFill/>
          <a:ln w="25400">
            <a:solidFill>
              <a:srgbClr val="E4572E"/>
            </a:solidFill>
            <a:prstDash val="solid"/>
          </a:ln>
        </p:spPr>
      </p:sp>
      <p:sp>
        <p:nvSpPr>
          <p:cNvPr id="19" name="Text 17"/>
          <p:cNvSpPr txBox="1"/>
          <p:nvPr/>
        </p:nvSpPr>
        <p:spPr>
          <a:xfrm>
            <a:off x="4526280" y="3300984"/>
            <a:ext cx="3063240" cy="438912"/>
          </a:xfrm>
          <a:prstGeom prst="rect">
            <a:avLst/>
          </a:prstGeom>
          <a:noFill/>
          <a:ln/>
        </p:spPr>
        <p:txBody>
          <a:bodyPr wrap="square" lIns="0" tIns="0" rIns="0" bIns="0" rtlCol="0" anchor="t">
            <a:normAutofit/>
          </a:bodyPr>
          <a:lstStyle/>
          <a:p>
            <a:pPr indent="0" marL="0">
              <a:buNone/>
            </a:pPr>
            <a:r>
              <a:rPr lang="en-US" sz="1100" dirty="0">
                <a:solidFill>
                  <a:srgbClr val="55516E"/>
                </a:solidFill>
                <a:latin typeface="Calibri" pitchFamily="34" charset="0"/>
                <a:ea typeface="Calibri" pitchFamily="34" charset="-122"/>
                <a:cs typeface="Calibri" pitchFamily="34" charset="-120"/>
              </a:rPr>
              <a:t>6 conseillers sur 10 ont donné une consigne directe à un agent.</a:t>
            </a:r>
            <a:endParaRPr lang="en-US" sz="1100" dirty="0"/>
          </a:p>
        </p:txBody>
      </p:sp>
      <p:sp>
        <p:nvSpPr>
          <p:cNvPr id="20" name="Shape 18"/>
          <p:cNvSpPr/>
          <p:nvPr/>
        </p:nvSpPr>
        <p:spPr>
          <a:xfrm>
            <a:off x="8046720" y="1783080"/>
            <a:ext cx="3520440" cy="2011680"/>
          </a:xfrm>
          <a:prstGeom prst="roundRect">
            <a:avLst>
              <a:gd name="adj" fmla="val 5455"/>
            </a:avLst>
          </a:prstGeom>
          <a:solidFill>
            <a:srgbClr val="F3F2F8"/>
          </a:solidFill>
          <a:ln/>
        </p:spPr>
      </p:sp>
      <p:sp>
        <p:nvSpPr>
          <p:cNvPr id="21" name="Shape 19"/>
          <p:cNvSpPr/>
          <p:nvPr/>
        </p:nvSpPr>
        <p:spPr>
          <a:xfrm>
            <a:off x="8275320" y="1984248"/>
            <a:ext cx="640080" cy="329184"/>
          </a:xfrm>
          <a:prstGeom prst="roundRect">
            <a:avLst>
              <a:gd name="adj" fmla="val 22222"/>
            </a:avLst>
          </a:prstGeom>
          <a:solidFill>
            <a:srgbClr val="0B032B"/>
          </a:solidFill>
          <a:ln/>
        </p:spPr>
      </p:sp>
      <p:sp>
        <p:nvSpPr>
          <p:cNvPr id="22" name="Text 20"/>
          <p:cNvSpPr txBox="1"/>
          <p:nvPr/>
        </p:nvSpPr>
        <p:spPr>
          <a:xfrm>
            <a:off x="8275320" y="1984248"/>
            <a:ext cx="640080" cy="329184"/>
          </a:xfrm>
          <a:prstGeom prst="rect">
            <a:avLst/>
          </a:prstGeom>
          <a:noFill/>
          <a:ln/>
        </p:spPr>
        <p:txBody>
          <a:bodyPr wrap="square" lIns="0" tIns="0" rIns="0" bIns="0" rtlCol="0" anchor="ctr"/>
          <a:lstStyle/>
          <a:p>
            <a:pPr algn="ctr" indent="0" marL="0">
              <a:buNone/>
            </a:pPr>
            <a:r>
              <a:rPr lang="en-US" sz="1000" b="1" dirty="0">
                <a:solidFill>
                  <a:srgbClr val="FFF9C7"/>
                </a:solidFill>
                <a:latin typeface="Calibri" pitchFamily="34" charset="0"/>
                <a:ea typeface="Calibri" pitchFamily="34" charset="-122"/>
                <a:cs typeface="Calibri" pitchFamily="34" charset="-120"/>
              </a:rPr>
              <a:t>Cas 1.1</a:t>
            </a:r>
            <a:endParaRPr lang="en-US" sz="1000" dirty="0"/>
          </a:p>
        </p:txBody>
      </p:sp>
      <p:sp>
        <p:nvSpPr>
          <p:cNvPr id="23" name="Text 21"/>
          <p:cNvSpPr txBox="1"/>
          <p:nvPr/>
        </p:nvSpPr>
        <p:spPr>
          <a:xfrm>
            <a:off x="10881360" y="1801368"/>
            <a:ext cx="548640" cy="731520"/>
          </a:xfrm>
          <a:prstGeom prst="rect">
            <a:avLst/>
          </a:prstGeom>
          <a:noFill/>
          <a:ln/>
        </p:spPr>
        <p:txBody>
          <a:bodyPr wrap="square" lIns="0" tIns="0" rIns="0" bIns="0" rtlCol="0" anchor="t"/>
          <a:lstStyle/>
          <a:p>
            <a:pPr algn="r" indent="0" marL="0">
              <a:buNone/>
            </a:pPr>
            <a:r>
              <a:rPr lang="en-US" sz="4800" b="1" dirty="0">
                <a:solidFill>
                  <a:srgbClr val="E7E5F0"/>
                </a:solidFill>
                <a:latin typeface="Cambria" pitchFamily="34" charset="0"/>
                <a:ea typeface="Cambria" pitchFamily="34" charset="-122"/>
                <a:cs typeface="Cambria" pitchFamily="34" charset="-120"/>
              </a:rPr>
              <a:t>“</a:t>
            </a:r>
            <a:endParaRPr lang="en-US" sz="4800" dirty="0"/>
          </a:p>
        </p:txBody>
      </p:sp>
      <p:sp>
        <p:nvSpPr>
          <p:cNvPr id="24" name="Text 22"/>
          <p:cNvSpPr txBox="1"/>
          <p:nvPr/>
        </p:nvSpPr>
        <p:spPr>
          <a:xfrm>
            <a:off x="8275320" y="2423160"/>
            <a:ext cx="3063240" cy="777240"/>
          </a:xfrm>
          <a:prstGeom prst="rect">
            <a:avLst/>
          </a:prstGeom>
          <a:noFill/>
          <a:ln/>
        </p:spPr>
        <p:txBody>
          <a:bodyPr wrap="square" lIns="0" tIns="0" rIns="0" bIns="0" rtlCol="0" anchor="ctr">
            <a:normAutofit/>
          </a:bodyPr>
          <a:lstStyle/>
          <a:p>
            <a:pPr indent="0" marL="0">
              <a:buNone/>
            </a:pPr>
            <a:r>
              <a:rPr lang="en-US" sz="1400" b="1" i="1" dirty="0">
                <a:solidFill>
                  <a:srgbClr val="0B032B"/>
                </a:solidFill>
                <a:latin typeface="Cambria" pitchFamily="34" charset="0"/>
                <a:ea typeface="Cambria" pitchFamily="34" charset="-122"/>
                <a:cs typeface="Cambria" pitchFamily="34" charset="-120"/>
              </a:rPr>
              <a:t>« Je ne sais pas si j’ai le droit de le rappeler à l’ordre. »</a:t>
            </a:r>
            <a:endParaRPr lang="en-US" sz="1400" dirty="0"/>
          </a:p>
        </p:txBody>
      </p:sp>
      <p:sp>
        <p:nvSpPr>
          <p:cNvPr id="25" name="Shape 23"/>
          <p:cNvSpPr/>
          <p:nvPr/>
        </p:nvSpPr>
        <p:spPr>
          <a:xfrm>
            <a:off x="8275320" y="3246120"/>
            <a:ext cx="457200" cy="0"/>
          </a:xfrm>
          <a:prstGeom prst="line">
            <a:avLst/>
          </a:prstGeom>
          <a:noFill/>
          <a:ln w="25400">
            <a:solidFill>
              <a:srgbClr val="E4572E"/>
            </a:solidFill>
            <a:prstDash val="solid"/>
          </a:ln>
        </p:spPr>
      </p:sp>
      <p:sp>
        <p:nvSpPr>
          <p:cNvPr id="26" name="Text 24"/>
          <p:cNvSpPr txBox="1"/>
          <p:nvPr/>
        </p:nvSpPr>
        <p:spPr>
          <a:xfrm>
            <a:off x="8275320" y="3300984"/>
            <a:ext cx="3063240" cy="438912"/>
          </a:xfrm>
          <a:prstGeom prst="rect">
            <a:avLst/>
          </a:prstGeom>
          <a:noFill/>
          <a:ln/>
        </p:spPr>
        <p:txBody>
          <a:bodyPr wrap="square" lIns="0" tIns="0" rIns="0" bIns="0" rtlCol="0" anchor="t">
            <a:normAutofit/>
          </a:bodyPr>
          <a:lstStyle/>
          <a:p>
            <a:pPr indent="0" marL="0">
              <a:buNone/>
            </a:pPr>
            <a:r>
              <a:rPr lang="en-US" sz="1100" dirty="0">
                <a:solidFill>
                  <a:srgbClr val="55516E"/>
                </a:solidFill>
                <a:latin typeface="Calibri" pitchFamily="34" charset="0"/>
                <a:ea typeface="Calibri" pitchFamily="34" charset="-122"/>
                <a:cs typeface="Calibri" pitchFamily="34" charset="-120"/>
              </a:rPr>
              <a:t>Présidents de séance hésitants : règlement intérieur rarement cité.</a:t>
            </a:r>
            <a:endParaRPr lang="en-US" sz="1100" dirty="0"/>
          </a:p>
        </p:txBody>
      </p:sp>
      <p:sp>
        <p:nvSpPr>
          <p:cNvPr id="27" name="Shape 25"/>
          <p:cNvSpPr/>
          <p:nvPr/>
        </p:nvSpPr>
        <p:spPr>
          <a:xfrm>
            <a:off x="548640" y="3977640"/>
            <a:ext cx="3520440" cy="2011680"/>
          </a:xfrm>
          <a:prstGeom prst="roundRect">
            <a:avLst>
              <a:gd name="adj" fmla="val 5455"/>
            </a:avLst>
          </a:prstGeom>
          <a:solidFill>
            <a:srgbClr val="FFF9C7"/>
          </a:solidFill>
          <a:ln/>
        </p:spPr>
      </p:sp>
      <p:sp>
        <p:nvSpPr>
          <p:cNvPr id="28" name="Shape 26"/>
          <p:cNvSpPr/>
          <p:nvPr/>
        </p:nvSpPr>
        <p:spPr>
          <a:xfrm>
            <a:off x="777240" y="4178808"/>
            <a:ext cx="640080" cy="329184"/>
          </a:xfrm>
          <a:prstGeom prst="roundRect">
            <a:avLst>
              <a:gd name="adj" fmla="val 22222"/>
            </a:avLst>
          </a:prstGeom>
          <a:solidFill>
            <a:srgbClr val="0B032B"/>
          </a:solidFill>
          <a:ln/>
        </p:spPr>
      </p:sp>
      <p:sp>
        <p:nvSpPr>
          <p:cNvPr id="29" name="Text 27"/>
          <p:cNvSpPr txBox="1"/>
          <p:nvPr/>
        </p:nvSpPr>
        <p:spPr>
          <a:xfrm>
            <a:off x="777240" y="4178808"/>
            <a:ext cx="640080" cy="329184"/>
          </a:xfrm>
          <a:prstGeom prst="rect">
            <a:avLst/>
          </a:prstGeom>
          <a:noFill/>
          <a:ln/>
        </p:spPr>
        <p:txBody>
          <a:bodyPr wrap="square" lIns="0" tIns="0" rIns="0" bIns="0" rtlCol="0" anchor="ctr"/>
          <a:lstStyle/>
          <a:p>
            <a:pPr algn="ctr" indent="0" marL="0">
              <a:buNone/>
            </a:pPr>
            <a:r>
              <a:rPr lang="en-US" sz="1000" b="1" dirty="0">
                <a:solidFill>
                  <a:srgbClr val="FFF9C7"/>
                </a:solidFill>
                <a:latin typeface="Calibri" pitchFamily="34" charset="0"/>
                <a:ea typeface="Calibri" pitchFamily="34" charset="-122"/>
                <a:cs typeface="Calibri" pitchFamily="34" charset="-120"/>
              </a:rPr>
              <a:t>Cas 4.3</a:t>
            </a:r>
            <a:endParaRPr lang="en-US" sz="1000" dirty="0"/>
          </a:p>
        </p:txBody>
      </p:sp>
      <p:sp>
        <p:nvSpPr>
          <p:cNvPr id="30" name="Text 28"/>
          <p:cNvSpPr txBox="1"/>
          <p:nvPr/>
        </p:nvSpPr>
        <p:spPr>
          <a:xfrm>
            <a:off x="3383280" y="3995928"/>
            <a:ext cx="548640" cy="731520"/>
          </a:xfrm>
          <a:prstGeom prst="rect">
            <a:avLst/>
          </a:prstGeom>
          <a:noFill/>
          <a:ln/>
        </p:spPr>
        <p:txBody>
          <a:bodyPr wrap="square" lIns="0" tIns="0" rIns="0" bIns="0" rtlCol="0" anchor="t"/>
          <a:lstStyle/>
          <a:p>
            <a:pPr algn="r" indent="0" marL="0">
              <a:buNone/>
            </a:pPr>
            <a:r>
              <a:rPr lang="en-US" sz="4800" b="1" dirty="0">
                <a:solidFill>
                  <a:srgbClr val="E7E5F0"/>
                </a:solidFill>
                <a:latin typeface="Cambria" pitchFamily="34" charset="0"/>
                <a:ea typeface="Cambria" pitchFamily="34" charset="-122"/>
                <a:cs typeface="Cambria" pitchFamily="34" charset="-120"/>
              </a:rPr>
              <a:t>“</a:t>
            </a:r>
            <a:endParaRPr lang="en-US" sz="4800" dirty="0"/>
          </a:p>
        </p:txBody>
      </p:sp>
      <p:sp>
        <p:nvSpPr>
          <p:cNvPr id="31" name="Text 29"/>
          <p:cNvSpPr txBox="1"/>
          <p:nvPr/>
        </p:nvSpPr>
        <p:spPr>
          <a:xfrm>
            <a:off x="777240" y="4617720"/>
            <a:ext cx="3063240" cy="777240"/>
          </a:xfrm>
          <a:prstGeom prst="rect">
            <a:avLst/>
          </a:prstGeom>
          <a:noFill/>
          <a:ln/>
        </p:spPr>
        <p:txBody>
          <a:bodyPr wrap="square" lIns="0" tIns="0" rIns="0" bIns="0" rtlCol="0" anchor="ctr">
            <a:normAutofit/>
          </a:bodyPr>
          <a:lstStyle/>
          <a:p>
            <a:pPr indent="0" marL="0">
              <a:buNone/>
            </a:pPr>
            <a:r>
              <a:rPr lang="en-US" sz="1400" b="1" i="1" dirty="0">
                <a:solidFill>
                  <a:srgbClr val="0B032B"/>
                </a:solidFill>
                <a:latin typeface="Cambria" pitchFamily="34" charset="0"/>
                <a:ea typeface="Cambria" pitchFamily="34" charset="-122"/>
                <a:cs typeface="Cambria" pitchFamily="34" charset="-120"/>
              </a:rPr>
              <a:t>« Si c’est l’adjoint qui signe, je ne suis plus concerné. »</a:t>
            </a:r>
            <a:endParaRPr lang="en-US" sz="1400" dirty="0"/>
          </a:p>
        </p:txBody>
      </p:sp>
      <p:sp>
        <p:nvSpPr>
          <p:cNvPr id="32" name="Shape 30"/>
          <p:cNvSpPr/>
          <p:nvPr/>
        </p:nvSpPr>
        <p:spPr>
          <a:xfrm>
            <a:off x="777240" y="5440680"/>
            <a:ext cx="457200" cy="0"/>
          </a:xfrm>
          <a:prstGeom prst="line">
            <a:avLst/>
          </a:prstGeom>
          <a:noFill/>
          <a:ln w="25400">
            <a:solidFill>
              <a:srgbClr val="E4572E"/>
            </a:solidFill>
            <a:prstDash val="solid"/>
          </a:ln>
        </p:spPr>
      </p:sp>
      <p:sp>
        <p:nvSpPr>
          <p:cNvPr id="33" name="Text 31"/>
          <p:cNvSpPr txBox="1"/>
          <p:nvPr/>
        </p:nvSpPr>
        <p:spPr>
          <a:xfrm>
            <a:off x="777240" y="5495544"/>
            <a:ext cx="3063240" cy="438912"/>
          </a:xfrm>
          <a:prstGeom prst="rect">
            <a:avLst/>
          </a:prstGeom>
          <a:noFill/>
          <a:ln/>
        </p:spPr>
        <p:txBody>
          <a:bodyPr wrap="square" lIns="0" tIns="0" rIns="0" bIns="0" rtlCol="0" anchor="t">
            <a:normAutofit/>
          </a:bodyPr>
          <a:lstStyle/>
          <a:p>
            <a:pPr indent="0" marL="0">
              <a:buNone/>
            </a:pPr>
            <a:r>
              <a:rPr lang="en-US" sz="1100" dirty="0">
                <a:solidFill>
                  <a:srgbClr val="55516E"/>
                </a:solidFill>
                <a:latin typeface="Calibri" pitchFamily="34" charset="0"/>
                <a:ea typeface="Calibri" pitchFamily="34" charset="-122"/>
                <a:cs typeface="Calibri" pitchFamily="34" charset="-120"/>
              </a:rPr>
              <a:t>7 trios sur 10 pensaient qu’une autre signature suffisait.</a:t>
            </a:r>
            <a:endParaRPr lang="en-US" sz="1100" dirty="0"/>
          </a:p>
        </p:txBody>
      </p:sp>
      <p:sp>
        <p:nvSpPr>
          <p:cNvPr id="34" name="Shape 32"/>
          <p:cNvSpPr/>
          <p:nvPr/>
        </p:nvSpPr>
        <p:spPr>
          <a:xfrm>
            <a:off x="4297680" y="3977640"/>
            <a:ext cx="3520440" cy="2011680"/>
          </a:xfrm>
          <a:prstGeom prst="roundRect">
            <a:avLst>
              <a:gd name="adj" fmla="val 5455"/>
            </a:avLst>
          </a:prstGeom>
          <a:solidFill>
            <a:srgbClr val="FFF9C7"/>
          </a:solidFill>
          <a:ln/>
        </p:spPr>
      </p:sp>
      <p:sp>
        <p:nvSpPr>
          <p:cNvPr id="35" name="Shape 33"/>
          <p:cNvSpPr/>
          <p:nvPr/>
        </p:nvSpPr>
        <p:spPr>
          <a:xfrm>
            <a:off x="4526280" y="4178808"/>
            <a:ext cx="640080" cy="329184"/>
          </a:xfrm>
          <a:prstGeom prst="roundRect">
            <a:avLst>
              <a:gd name="adj" fmla="val 22222"/>
            </a:avLst>
          </a:prstGeom>
          <a:solidFill>
            <a:srgbClr val="0B032B"/>
          </a:solidFill>
          <a:ln/>
        </p:spPr>
      </p:sp>
      <p:sp>
        <p:nvSpPr>
          <p:cNvPr id="36" name="Text 34"/>
          <p:cNvSpPr txBox="1"/>
          <p:nvPr/>
        </p:nvSpPr>
        <p:spPr>
          <a:xfrm>
            <a:off x="4526280" y="4178808"/>
            <a:ext cx="640080" cy="329184"/>
          </a:xfrm>
          <a:prstGeom prst="rect">
            <a:avLst/>
          </a:prstGeom>
          <a:noFill/>
          <a:ln/>
        </p:spPr>
        <p:txBody>
          <a:bodyPr wrap="square" lIns="0" tIns="0" rIns="0" bIns="0" rtlCol="0" anchor="ctr"/>
          <a:lstStyle/>
          <a:p>
            <a:pPr algn="ctr" indent="0" marL="0">
              <a:buNone/>
            </a:pPr>
            <a:r>
              <a:rPr lang="en-US" sz="1000" b="1" dirty="0">
                <a:solidFill>
                  <a:srgbClr val="FFF9C7"/>
                </a:solidFill>
                <a:latin typeface="Calibri" pitchFamily="34" charset="0"/>
                <a:ea typeface="Calibri" pitchFamily="34" charset="-122"/>
                <a:cs typeface="Calibri" pitchFamily="34" charset="-120"/>
              </a:rPr>
              <a:t>Cas 4.4</a:t>
            </a:r>
            <a:endParaRPr lang="en-US" sz="1000" dirty="0"/>
          </a:p>
        </p:txBody>
      </p:sp>
      <p:sp>
        <p:nvSpPr>
          <p:cNvPr id="37" name="Text 35"/>
          <p:cNvSpPr txBox="1"/>
          <p:nvPr/>
        </p:nvSpPr>
        <p:spPr>
          <a:xfrm>
            <a:off x="7132320" y="3995928"/>
            <a:ext cx="548640" cy="731520"/>
          </a:xfrm>
          <a:prstGeom prst="rect">
            <a:avLst/>
          </a:prstGeom>
          <a:noFill/>
          <a:ln/>
        </p:spPr>
        <p:txBody>
          <a:bodyPr wrap="square" lIns="0" tIns="0" rIns="0" bIns="0" rtlCol="0" anchor="t"/>
          <a:lstStyle/>
          <a:p>
            <a:pPr algn="r" indent="0" marL="0">
              <a:buNone/>
            </a:pPr>
            <a:r>
              <a:rPr lang="en-US" sz="4800" b="1" dirty="0">
                <a:solidFill>
                  <a:srgbClr val="E7E5F0"/>
                </a:solidFill>
                <a:latin typeface="Cambria" pitchFamily="34" charset="0"/>
                <a:ea typeface="Cambria" pitchFamily="34" charset="-122"/>
                <a:cs typeface="Cambria" pitchFamily="34" charset="-120"/>
              </a:rPr>
              <a:t>“</a:t>
            </a:r>
            <a:endParaRPr lang="en-US" sz="4800" dirty="0"/>
          </a:p>
        </p:txBody>
      </p:sp>
      <p:sp>
        <p:nvSpPr>
          <p:cNvPr id="38" name="Text 36"/>
          <p:cNvSpPr txBox="1"/>
          <p:nvPr/>
        </p:nvSpPr>
        <p:spPr>
          <a:xfrm>
            <a:off x="4526280" y="4617720"/>
            <a:ext cx="3063240" cy="777240"/>
          </a:xfrm>
          <a:prstGeom prst="rect">
            <a:avLst/>
          </a:prstGeom>
          <a:noFill/>
          <a:ln/>
        </p:spPr>
        <p:txBody>
          <a:bodyPr wrap="square" lIns="0" tIns="0" rIns="0" bIns="0" rtlCol="0" anchor="ctr">
            <a:normAutofit/>
          </a:bodyPr>
          <a:lstStyle/>
          <a:p>
            <a:pPr indent="0" marL="0">
              <a:buNone/>
            </a:pPr>
            <a:r>
              <a:rPr lang="en-US" sz="1400" b="1" i="1" dirty="0">
                <a:solidFill>
                  <a:srgbClr val="0B032B"/>
                </a:solidFill>
                <a:latin typeface="Cambria" pitchFamily="34" charset="0"/>
                <a:ea typeface="Cambria" pitchFamily="34" charset="-122"/>
                <a:cs typeface="Cambria" pitchFamily="34" charset="-120"/>
              </a:rPr>
              <a:t>« Tout le monde sait que je préside le club : c’est transparent. »</a:t>
            </a:r>
            <a:endParaRPr lang="en-US" sz="1400" dirty="0"/>
          </a:p>
        </p:txBody>
      </p:sp>
      <p:sp>
        <p:nvSpPr>
          <p:cNvPr id="39" name="Shape 37"/>
          <p:cNvSpPr/>
          <p:nvPr/>
        </p:nvSpPr>
        <p:spPr>
          <a:xfrm>
            <a:off x="4526280" y="5440680"/>
            <a:ext cx="457200" cy="0"/>
          </a:xfrm>
          <a:prstGeom prst="line">
            <a:avLst/>
          </a:prstGeom>
          <a:noFill/>
          <a:ln w="25400">
            <a:solidFill>
              <a:srgbClr val="E4572E"/>
            </a:solidFill>
            <a:prstDash val="solid"/>
          </a:ln>
        </p:spPr>
      </p:sp>
      <p:sp>
        <p:nvSpPr>
          <p:cNvPr id="40" name="Text 38"/>
          <p:cNvSpPr txBox="1"/>
          <p:nvPr/>
        </p:nvSpPr>
        <p:spPr>
          <a:xfrm>
            <a:off x="4526280" y="5495544"/>
            <a:ext cx="3063240" cy="438912"/>
          </a:xfrm>
          <a:prstGeom prst="rect">
            <a:avLst/>
          </a:prstGeom>
          <a:noFill/>
          <a:ln/>
        </p:spPr>
        <p:txBody>
          <a:bodyPr wrap="square" lIns="0" tIns="0" rIns="0" bIns="0" rtlCol="0" anchor="t">
            <a:normAutofit/>
          </a:bodyPr>
          <a:lstStyle/>
          <a:p>
            <a:pPr indent="0" marL="0">
              <a:buNone/>
            </a:pPr>
            <a:r>
              <a:rPr lang="en-US" sz="1100" dirty="0">
                <a:solidFill>
                  <a:srgbClr val="55516E"/>
                </a:solidFill>
                <a:latin typeface="Calibri" pitchFamily="34" charset="0"/>
                <a:ea typeface="Calibri" pitchFamily="34" charset="-122"/>
                <a:cs typeface="Calibri" pitchFamily="34" charset="-120"/>
              </a:rPr>
              <a:t>Confusion entre transparence et déport.</a:t>
            </a:r>
            <a:endParaRPr lang="en-US" sz="1100" dirty="0"/>
          </a:p>
        </p:txBody>
      </p:sp>
      <p:sp>
        <p:nvSpPr>
          <p:cNvPr id="41" name="Shape 39"/>
          <p:cNvSpPr/>
          <p:nvPr/>
        </p:nvSpPr>
        <p:spPr>
          <a:xfrm>
            <a:off x="8046720" y="3977640"/>
            <a:ext cx="3520440" cy="2011680"/>
          </a:xfrm>
          <a:prstGeom prst="roundRect">
            <a:avLst>
              <a:gd name="adj" fmla="val 5455"/>
            </a:avLst>
          </a:prstGeom>
          <a:solidFill>
            <a:srgbClr val="FFF9C7"/>
          </a:solidFill>
          <a:ln/>
        </p:spPr>
      </p:sp>
      <p:sp>
        <p:nvSpPr>
          <p:cNvPr id="42" name="Shape 40"/>
          <p:cNvSpPr/>
          <p:nvPr/>
        </p:nvSpPr>
        <p:spPr>
          <a:xfrm>
            <a:off x="8275320" y="4178808"/>
            <a:ext cx="640080" cy="329184"/>
          </a:xfrm>
          <a:prstGeom prst="roundRect">
            <a:avLst>
              <a:gd name="adj" fmla="val 22222"/>
            </a:avLst>
          </a:prstGeom>
          <a:solidFill>
            <a:srgbClr val="0B032B"/>
          </a:solidFill>
          <a:ln/>
        </p:spPr>
      </p:sp>
      <p:sp>
        <p:nvSpPr>
          <p:cNvPr id="43" name="Text 41"/>
          <p:cNvSpPr txBox="1"/>
          <p:nvPr/>
        </p:nvSpPr>
        <p:spPr>
          <a:xfrm>
            <a:off x="8275320" y="4178808"/>
            <a:ext cx="640080" cy="329184"/>
          </a:xfrm>
          <a:prstGeom prst="rect">
            <a:avLst/>
          </a:prstGeom>
          <a:noFill/>
          <a:ln/>
        </p:spPr>
        <p:txBody>
          <a:bodyPr wrap="square" lIns="0" tIns="0" rIns="0" bIns="0" rtlCol="0" anchor="ctr"/>
          <a:lstStyle/>
          <a:p>
            <a:pPr algn="ctr" indent="0" marL="0">
              <a:buNone/>
            </a:pPr>
            <a:r>
              <a:rPr lang="en-US" sz="1000" b="1" dirty="0">
                <a:solidFill>
                  <a:srgbClr val="FFF9C7"/>
                </a:solidFill>
                <a:latin typeface="Calibri" pitchFamily="34" charset="0"/>
                <a:ea typeface="Calibri" pitchFamily="34" charset="-122"/>
                <a:cs typeface="Calibri" pitchFamily="34" charset="-120"/>
              </a:rPr>
              <a:t>Cas 3.3</a:t>
            </a:r>
            <a:endParaRPr lang="en-US" sz="1000" dirty="0"/>
          </a:p>
        </p:txBody>
      </p:sp>
      <p:sp>
        <p:nvSpPr>
          <p:cNvPr id="44" name="Text 42"/>
          <p:cNvSpPr txBox="1"/>
          <p:nvPr/>
        </p:nvSpPr>
        <p:spPr>
          <a:xfrm>
            <a:off x="10881360" y="3995928"/>
            <a:ext cx="548640" cy="731520"/>
          </a:xfrm>
          <a:prstGeom prst="rect">
            <a:avLst/>
          </a:prstGeom>
          <a:noFill/>
          <a:ln/>
        </p:spPr>
        <p:txBody>
          <a:bodyPr wrap="square" lIns="0" tIns="0" rIns="0" bIns="0" rtlCol="0" anchor="t"/>
          <a:lstStyle/>
          <a:p>
            <a:pPr algn="r" indent="0" marL="0">
              <a:buNone/>
            </a:pPr>
            <a:r>
              <a:rPr lang="en-US" sz="4800" b="1" dirty="0">
                <a:solidFill>
                  <a:srgbClr val="E7E5F0"/>
                </a:solidFill>
                <a:latin typeface="Cambria" pitchFamily="34" charset="0"/>
                <a:ea typeface="Cambria" pitchFamily="34" charset="-122"/>
                <a:cs typeface="Cambria" pitchFamily="34" charset="-120"/>
              </a:rPr>
              <a:t>“</a:t>
            </a:r>
            <a:endParaRPr lang="en-US" sz="4800" dirty="0"/>
          </a:p>
        </p:txBody>
      </p:sp>
      <p:sp>
        <p:nvSpPr>
          <p:cNvPr id="45" name="Text 43"/>
          <p:cNvSpPr txBox="1"/>
          <p:nvPr/>
        </p:nvSpPr>
        <p:spPr>
          <a:xfrm>
            <a:off x="8275320" y="4617720"/>
            <a:ext cx="3063240" cy="777240"/>
          </a:xfrm>
          <a:prstGeom prst="rect">
            <a:avLst/>
          </a:prstGeom>
          <a:noFill/>
          <a:ln/>
        </p:spPr>
        <p:txBody>
          <a:bodyPr wrap="square" lIns="0" tIns="0" rIns="0" bIns="0" rtlCol="0" anchor="ctr">
            <a:normAutofit/>
          </a:bodyPr>
          <a:lstStyle/>
          <a:p>
            <a:pPr indent="0" marL="0">
              <a:buNone/>
            </a:pPr>
            <a:r>
              <a:rPr lang="en-US" sz="1400" b="1" i="1" dirty="0">
                <a:solidFill>
                  <a:srgbClr val="0B032B"/>
                </a:solidFill>
                <a:latin typeface="Cambria" pitchFamily="34" charset="0"/>
                <a:ea typeface="Cambria" pitchFamily="34" charset="-122"/>
                <a:cs typeface="Cambria" pitchFamily="34" charset="-120"/>
              </a:rPr>
              <a:t>« À l’intercommunalité, je vote selon ma conscience. »</a:t>
            </a:r>
            <a:endParaRPr lang="en-US" sz="1400" dirty="0"/>
          </a:p>
        </p:txBody>
      </p:sp>
      <p:sp>
        <p:nvSpPr>
          <p:cNvPr id="46" name="Shape 44"/>
          <p:cNvSpPr/>
          <p:nvPr/>
        </p:nvSpPr>
        <p:spPr>
          <a:xfrm>
            <a:off x="8275320" y="5440680"/>
            <a:ext cx="457200" cy="0"/>
          </a:xfrm>
          <a:prstGeom prst="line">
            <a:avLst/>
          </a:prstGeom>
          <a:noFill/>
          <a:ln w="25400">
            <a:solidFill>
              <a:srgbClr val="E4572E"/>
            </a:solidFill>
            <a:prstDash val="solid"/>
          </a:ln>
        </p:spPr>
      </p:sp>
      <p:sp>
        <p:nvSpPr>
          <p:cNvPr id="47" name="Text 45"/>
          <p:cNvSpPr txBox="1"/>
          <p:nvPr/>
        </p:nvSpPr>
        <p:spPr>
          <a:xfrm>
            <a:off x="8275320" y="5495544"/>
            <a:ext cx="3063240" cy="438912"/>
          </a:xfrm>
          <a:prstGeom prst="rect">
            <a:avLst/>
          </a:prstGeom>
          <a:noFill/>
          <a:ln/>
        </p:spPr>
        <p:txBody>
          <a:bodyPr wrap="square" lIns="0" tIns="0" rIns="0" bIns="0" rtlCol="0" anchor="t">
            <a:normAutofit/>
          </a:bodyPr>
          <a:lstStyle/>
          <a:p>
            <a:pPr indent="0" marL="0">
              <a:buNone/>
            </a:pPr>
            <a:r>
              <a:rPr lang="en-US" sz="1100" dirty="0">
                <a:solidFill>
                  <a:srgbClr val="55516E"/>
                </a:solidFill>
                <a:latin typeface="Calibri" pitchFamily="34" charset="0"/>
                <a:ea typeface="Calibri" pitchFamily="34" charset="-122"/>
                <a:cs typeface="Calibri" pitchFamily="34" charset="-120"/>
              </a:rPr>
              <a:t>Rôle de lien avec le conseil municipal méconnu.</a:t>
            </a:r>
            <a:endParaRPr lang="en-US" sz="1100" dirty="0"/>
          </a:p>
        </p:txBody>
      </p:sp>
      <p:sp>
        <p:nvSpPr>
          <p:cNvPr id="48" name="Text 46"/>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spc="100" kern="0" dirty="0">
                <a:solidFill>
                  <a:srgbClr val="8A8699"/>
                </a:solidFill>
                <a:latin typeface="Calibri" pitchFamily="34" charset="0"/>
                <a:ea typeface="Calibri" pitchFamily="34" charset="-122"/>
                <a:cs typeface="Calibri" pitchFamily="34" charset="-120"/>
              </a:rPr>
              <a:t>ENMA FORMATION  ·  Formation des élus municipaux 2026</a:t>
            </a:r>
            <a:endParaRPr lang="en-US" sz="900" dirty="0"/>
          </a:p>
        </p:txBody>
      </p:sp>
      <p:sp>
        <p:nvSpPr>
          <p:cNvPr id="49" name="Text 47"/>
          <p:cNvSpPr txBox="1"/>
          <p:nvPr/>
        </p:nvSpPr>
        <p:spPr>
          <a:xfrm>
            <a:off x="9692640" y="6400800"/>
            <a:ext cx="548640" cy="274320"/>
          </a:xfrm>
          <a:prstGeom prst="rect">
            <a:avLst/>
          </a:prstGeom>
          <a:noFill/>
          <a:ln/>
        </p:spPr>
        <p:txBody>
          <a:bodyPr wrap="square" lIns="0" tIns="0" rIns="0" bIns="0" rtlCol="0" anchor="ctr"/>
          <a:lstStyle/>
          <a:p>
            <a:pPr algn="r" indent="0" marL="0">
              <a:buNone/>
            </a:pPr>
            <a:r>
              <a:rPr lang="en-US" sz="900" dirty="0">
                <a:solidFill>
                  <a:srgbClr val="8A8699"/>
                </a:solidFill>
                <a:latin typeface="Calibri" pitchFamily="34" charset="0"/>
                <a:ea typeface="Calibri" pitchFamily="34" charset="-122"/>
                <a:cs typeface="Calibri" pitchFamily="34" charset="-120"/>
              </a:rPr>
              <a:t>59</a:t>
            </a:r>
            <a:endParaRPr lang="en-US" sz="900" dirty="0"/>
          </a:p>
        </p:txBody>
      </p:sp>
      <p:pic>
        <p:nvPicPr>
          <p:cNvPr id="50" name="Image 0" descr="preencoded.png">    </p:cNvPr>
          <p:cNvPicPr>
            <a:picLocks noChangeAspect="1"/>
          </p:cNvPicPr>
          <p:nvPr/>
        </p:nvPicPr>
        <p:blipFill>
          <a:blip r:embed="rId1"/>
          <a:stretch>
            <a:fillRect/>
          </a:stretch>
        </p:blipFill>
        <p:spPr>
          <a:xfrm>
            <a:off x="10469880" y="6309360"/>
            <a:ext cx="1170432" cy="484632"/>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420624" cy="310896"/>
          </a:xfrm>
          <a:prstGeom prst="roundRect">
            <a:avLst>
              <a:gd name="adj" fmla="val 23529"/>
            </a:avLst>
          </a:prstGeom>
          <a:solidFill>
            <a:srgbClr val="0B032B"/>
          </a:solidFill>
          <a:ln/>
        </p:spPr>
      </p:sp>
      <p:sp>
        <p:nvSpPr>
          <p:cNvPr id="3" name="Text 1"/>
          <p:cNvSpPr txBox="1"/>
          <p:nvPr/>
        </p:nvSpPr>
        <p:spPr>
          <a:xfrm>
            <a:off x="548640" y="438912"/>
            <a:ext cx="420624" cy="310896"/>
          </a:xfrm>
          <a:prstGeom prst="rect">
            <a:avLst/>
          </a:prstGeom>
          <a:noFill/>
          <a:ln/>
        </p:spPr>
        <p:txBody>
          <a:bodyPr wrap="square" lIns="0" tIns="0" rIns="0" bIns="0" rtlCol="0" anchor="ctr"/>
          <a:lstStyle/>
          <a:p>
            <a:pPr algn="ctr" indent="0" marL="0">
              <a:buNone/>
            </a:pPr>
            <a:r>
              <a:rPr lang="en-US" sz="1100" b="1" dirty="0">
                <a:solidFill>
                  <a:srgbClr val="FFF9C7"/>
                </a:solidFill>
                <a:latin typeface="Calibri" pitchFamily="34" charset="0"/>
                <a:ea typeface="Calibri" pitchFamily="34" charset="-122"/>
                <a:cs typeface="Calibri" pitchFamily="34" charset="-120"/>
              </a:rPr>
              <a:t>08</a:t>
            </a:r>
            <a:endParaRPr lang="en-US" sz="1100" dirty="0"/>
          </a:p>
        </p:txBody>
      </p:sp>
      <p:sp>
        <p:nvSpPr>
          <p:cNvPr id="4" name="Text 2"/>
          <p:cNvSpPr txBox="1"/>
          <p:nvPr/>
        </p:nvSpPr>
        <p:spPr>
          <a:xfrm>
            <a:off x="1115568" y="438912"/>
            <a:ext cx="8229600" cy="310896"/>
          </a:xfrm>
          <a:prstGeom prst="rect">
            <a:avLst/>
          </a:prstGeom>
          <a:noFill/>
          <a:ln/>
        </p:spPr>
        <p:txBody>
          <a:bodyPr wrap="square" lIns="0" tIns="0" rIns="0" bIns="0" rtlCol="0" anchor="ctr"/>
          <a:lstStyle/>
          <a:p>
            <a:pPr indent="0" marL="0">
              <a:buNone/>
            </a:pPr>
            <a:r>
              <a:rPr lang="en-US" sz="1100" b="1" spc="200" kern="0" dirty="0">
                <a:solidFill>
                  <a:srgbClr val="55516E"/>
                </a:solidFill>
                <a:latin typeface="Calibri" pitchFamily="34" charset="0"/>
                <a:ea typeface="Calibri" pitchFamily="34" charset="-122"/>
                <a:cs typeface="Calibri" pitchFamily="34" charset="-120"/>
              </a:rPr>
              <a:t>RETOURS D’EXPÉRIENCE</a:t>
            </a:r>
            <a:endParaRPr lang="en-US" sz="1100" dirty="0"/>
          </a:p>
        </p:txBody>
      </p:sp>
      <p:sp>
        <p:nvSpPr>
          <p:cNvPr id="5" name="Text 3"/>
          <p:cNvSpPr txBox="1"/>
          <p:nvPr/>
        </p:nvSpPr>
        <p:spPr>
          <a:xfrm>
            <a:off x="548640" y="841248"/>
            <a:ext cx="11064240" cy="685800"/>
          </a:xfrm>
          <a:prstGeom prst="rect">
            <a:avLst/>
          </a:prstGeom>
          <a:noFill/>
          <a:ln/>
        </p:spPr>
        <p:txBody>
          <a:bodyPr wrap="square" lIns="0" tIns="0" rIns="0" bIns="0" rtlCol="0" anchor="ctr">
            <a:normAutofit/>
          </a:bodyPr>
          <a:lstStyle/>
          <a:p>
            <a:pPr indent="0" marL="0">
              <a:buNone/>
            </a:pPr>
            <a:r>
              <a:rPr lang="en-US" sz="2800" b="1" dirty="0">
                <a:solidFill>
                  <a:srgbClr val="0B032B"/>
                </a:solidFill>
                <a:latin typeface="Calibri" pitchFamily="34" charset="0"/>
                <a:ea typeface="Calibri" pitchFamily="34" charset="-122"/>
                <a:cs typeface="Calibri" pitchFamily="34" charset="-120"/>
              </a:rPr>
              <a:t>Ce que nous avons fait évoluer, et pourquoi</a:t>
            </a:r>
            <a:endParaRPr lang="en-US" sz="280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4206240"/>
                <a:gridCol w="4572000"/>
                <a:gridCol w="2286000"/>
              </a:tblGrid>
              <a:tr h="365760">
                <a:tc>
                  <a:txBody>
                    <a:bodyPr/>
                    <a:lstStyle/>
                    <a:p>
                      <a:pPr indent="0" marL="0">
                        <a:buNone/>
                      </a:pPr>
                      <a:r>
                        <a:rPr lang="en-US" sz="1250" b="1" dirty="0">
                          <a:solidFill>
                            <a:srgbClr val="FFF9C7"/>
                          </a:solidFill>
                          <a:latin typeface="Calibri" pitchFamily="34" charset="0"/>
                          <a:ea typeface="Calibri" pitchFamily="34" charset="-122"/>
                          <a:cs typeface="Calibri" pitchFamily="34" charset="-120"/>
                        </a:rPr>
                        <a:t>Constat en mise en situation</a:t>
                      </a:r>
                      <a:endParaRPr lang="en-US" sz="1250" dirty="0">
                        <a:latin typeface="Calibri" charset="0"/>
                        <a:ea typeface="Calibri" charset="0"/>
                        <a:cs typeface="Calibri" charset="0"/>
                      </a:endParaRPr>
                    </a:p>
                  </a:txBody>
                  <a:tcPr marL="109728" marR="109728" marT="45720" marB="4572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B032B"/>
                    </a:solidFill>
                  </a:tcPr>
                </a:tc>
                <a:tc>
                  <a:txBody>
                    <a:bodyPr/>
                    <a:lstStyle/>
                    <a:p>
                      <a:pPr indent="0" marL="0">
                        <a:buNone/>
                      </a:pPr>
                      <a:r>
                        <a:rPr lang="en-US" sz="1250" b="1" dirty="0">
                          <a:solidFill>
                            <a:srgbClr val="FFF9C7"/>
                          </a:solidFill>
                          <a:latin typeface="Calibri" pitchFamily="34" charset="0"/>
                          <a:ea typeface="Calibri" pitchFamily="34" charset="-122"/>
                          <a:cs typeface="Calibri" pitchFamily="34" charset="-120"/>
                        </a:rPr>
                        <a:t>Évolution du programme</a:t>
                      </a:r>
                      <a:endParaRPr lang="en-US" sz="1250" dirty="0">
                        <a:latin typeface="Calibri" charset="0"/>
                        <a:ea typeface="Calibri" charset="0"/>
                        <a:cs typeface="Calibri" charset="0"/>
                      </a:endParaRPr>
                    </a:p>
                  </a:txBody>
                  <a:tcPr marL="109728" marR="109728" marT="45720" marB="4572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B032B"/>
                    </a:solidFill>
                  </a:tcPr>
                </a:tc>
                <a:tc>
                  <a:txBody>
                    <a:bodyPr/>
                    <a:lstStyle/>
                    <a:p>
                      <a:pPr indent="0" marL="0">
                        <a:buNone/>
                      </a:pPr>
                      <a:r>
                        <a:rPr lang="en-US" sz="1250" b="1" dirty="0">
                          <a:solidFill>
                            <a:srgbClr val="FFF9C7"/>
                          </a:solidFill>
                          <a:latin typeface="Calibri" pitchFamily="34" charset="0"/>
                          <a:ea typeface="Calibri" pitchFamily="34" charset="-122"/>
                          <a:cs typeface="Calibri" pitchFamily="34" charset="-120"/>
                        </a:rPr>
                        <a:t>Où, et combien de temps</a:t>
                      </a:r>
                      <a:endParaRPr lang="en-US" sz="1250" dirty="0">
                        <a:latin typeface="Calibri" charset="0"/>
                        <a:ea typeface="Calibri" charset="0"/>
                        <a:cs typeface="Calibri" charset="0"/>
                      </a:endParaRPr>
                    </a:p>
                  </a:txBody>
                  <a:tcPr marL="109728" marR="109728" marT="45720" marB="4572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B032B"/>
                    </a:solidFill>
                  </a:tcPr>
                </a:tc>
              </a:tr>
              <a:tr h="603504">
                <a:tc>
                  <a:txBody>
                    <a:bodyPr/>
                    <a:lstStyle/>
                    <a:p>
                      <a:pPr indent="0" marL="0">
                        <a:buNone/>
                      </a:pPr>
                      <a:r>
                        <a:rPr lang="en-US" sz="1150" dirty="0">
                          <a:solidFill>
                            <a:srgbClr val="0B032B"/>
                          </a:solidFill>
                          <a:latin typeface="Calibri" pitchFamily="34" charset="0"/>
                          <a:ea typeface="Calibri" pitchFamily="34" charset="-122"/>
                          <a:cs typeface="Calibri" pitchFamily="34" charset="-120"/>
                        </a:rPr>
                        <a:t>7 trios sur 10 pensent qu’une signature par un adjoint écarte le conflit d’intérêts (cas 4.3).</a:t>
                      </a:r>
                      <a:endParaRPr lang="en-US" sz="1150" dirty="0">
                        <a:latin typeface="Calibri" charset="0"/>
                        <a:ea typeface="Calibri" charset="0"/>
                        <a:cs typeface="Calibri" charset="0"/>
                      </a:endParaRPr>
                    </a:p>
                  </a:txBody>
                  <a:tcPr marL="109728" marR="109728" marT="45720" marB="4572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3F2F8"/>
                    </a:solidFill>
                  </a:tcPr>
                </a:tc>
                <a:tc>
                  <a:txBody>
                    <a:bodyPr/>
                    <a:lstStyle/>
                    <a:p>
                      <a:pPr indent="0" marL="0">
                        <a:buNone/>
                      </a:pPr>
                      <a:r>
                        <a:rPr lang="en-US" sz="1150" dirty="0">
                          <a:solidFill>
                            <a:srgbClr val="0B032B"/>
                          </a:solidFill>
                          <a:latin typeface="Calibri" pitchFamily="34" charset="0"/>
                          <a:ea typeface="Calibri" pitchFamily="34" charset="-122"/>
                          <a:cs typeface="Calibri" pitchFamily="34" charset="-120"/>
                        </a:rPr>
                        <a:t>Ajout d’une fiche réflexe « Se déporter » avec un modèle d’arrêté de déport ; cas 4.1 et 4.3 joués systématiquement.</a:t>
                      </a:r>
                      <a:endParaRPr lang="en-US" sz="1150" dirty="0">
                        <a:latin typeface="Calibri" charset="0"/>
                        <a:ea typeface="Calibri" charset="0"/>
                        <a:cs typeface="Calibri" charset="0"/>
                      </a:endParaRPr>
                    </a:p>
                  </a:txBody>
                  <a:tcPr marL="109728" marR="109728" marT="45720" marB="4572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50" b="1" dirty="0">
                          <a:solidFill>
                            <a:srgbClr val="0B032B"/>
                          </a:solidFill>
                          <a:latin typeface="Calibri" pitchFamily="34" charset="0"/>
                          <a:ea typeface="Calibri" pitchFamily="34" charset="-122"/>
                          <a:cs typeface="Calibri" pitchFamily="34" charset="-120"/>
                        </a:rPr>
                        <a:t>Séquence 06 : 45 → 75 min</a:t>
                      </a:r>
                      <a:endParaRPr lang="en-US" sz="1150" dirty="0">
                        <a:latin typeface="Calibri" charset="0"/>
                        <a:ea typeface="Calibri" charset="0"/>
                        <a:cs typeface="Calibri" charset="0"/>
                      </a:endParaRPr>
                    </a:p>
                  </a:txBody>
                  <a:tcPr marL="109728" marR="109728" marT="45720" marB="4572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FFDEB"/>
                    </a:solidFill>
                  </a:tcPr>
                </a:tc>
              </a:tr>
              <a:tr h="603504">
                <a:tc>
                  <a:txBody>
                    <a:bodyPr/>
                    <a:lstStyle/>
                    <a:p>
                      <a:pPr indent="0" marL="0">
                        <a:buNone/>
                      </a:pPr>
                      <a:r>
                        <a:rPr lang="en-US" sz="1150" dirty="0">
                          <a:solidFill>
                            <a:srgbClr val="0B032B"/>
                          </a:solidFill>
                          <a:latin typeface="Calibri" pitchFamily="34" charset="0"/>
                          <a:ea typeface="Calibri" pitchFamily="34" charset="-122"/>
                          <a:cs typeface="Calibri" pitchFamily="34" charset="-120"/>
                        </a:rPr>
                        <a:t>6 conseillers sur 10 donnent une consigne directe à un agent (cas 2.1).</a:t>
                      </a:r>
                      <a:endParaRPr lang="en-US" sz="1150" dirty="0">
                        <a:latin typeface="Calibri" charset="0"/>
                        <a:ea typeface="Calibri" charset="0"/>
                        <a:cs typeface="Calibri" charset="0"/>
                      </a:endParaRPr>
                    </a:p>
                  </a:txBody>
                  <a:tcPr marL="109728" marR="109728" marT="45720" marB="4572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3F2F8"/>
                    </a:solidFill>
                  </a:tcPr>
                </a:tc>
                <a:tc>
                  <a:txBody>
                    <a:bodyPr/>
                    <a:lstStyle/>
                    <a:p>
                      <a:pPr indent="0" marL="0">
                        <a:buNone/>
                      </a:pPr>
                      <a:r>
                        <a:rPr lang="en-US" sz="1150" dirty="0">
                          <a:solidFill>
                            <a:srgbClr val="0B032B"/>
                          </a:solidFill>
                          <a:latin typeface="Calibri" pitchFamily="34" charset="0"/>
                          <a:ea typeface="Calibri" pitchFamily="34" charset="-122"/>
                          <a:cs typeface="Calibri" pitchFamily="34" charset="-120"/>
                        </a:rPr>
                        <a:t>Ajout du schéma « circuit des demandes aux services » ; cas 2.1 joué dès l’ouverture de la séquence.</a:t>
                      </a:r>
                      <a:endParaRPr lang="en-US" sz="1150" dirty="0">
                        <a:latin typeface="Calibri" charset="0"/>
                        <a:ea typeface="Calibri" charset="0"/>
                        <a:cs typeface="Calibri" charset="0"/>
                      </a:endParaRPr>
                    </a:p>
                  </a:txBody>
                  <a:tcPr marL="109728" marR="109728" marT="45720" marB="4572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50" b="1" dirty="0">
                          <a:solidFill>
                            <a:srgbClr val="0B032B"/>
                          </a:solidFill>
                          <a:latin typeface="Calibri" pitchFamily="34" charset="0"/>
                          <a:ea typeface="Calibri" pitchFamily="34" charset="-122"/>
                          <a:cs typeface="Calibri" pitchFamily="34" charset="-120"/>
                        </a:rPr>
                        <a:t>Séquence 03 : 45 → 60 min</a:t>
                      </a:r>
                      <a:endParaRPr lang="en-US" sz="1150" dirty="0">
                        <a:latin typeface="Calibri" charset="0"/>
                        <a:ea typeface="Calibri" charset="0"/>
                        <a:cs typeface="Calibri" charset="0"/>
                      </a:endParaRPr>
                    </a:p>
                  </a:txBody>
                  <a:tcPr marL="109728" marR="109728" marT="45720" marB="4572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FFDEB"/>
                    </a:solidFill>
                  </a:tcPr>
                </a:tc>
              </a:tr>
              <a:tr h="548640">
                <a:tc>
                  <a:txBody>
                    <a:bodyPr/>
                    <a:lstStyle/>
                    <a:p>
                      <a:pPr indent="0" marL="0">
                        <a:buNone/>
                      </a:pPr>
                      <a:r>
                        <a:rPr lang="en-US" sz="1150" dirty="0">
                          <a:solidFill>
                            <a:srgbClr val="0B032B"/>
                          </a:solidFill>
                          <a:latin typeface="Calibri" pitchFamily="34" charset="0"/>
                          <a:ea typeface="Calibri" pitchFamily="34" charset="-122"/>
                          <a:cs typeface="Calibri" pitchFamily="34" charset="-120"/>
                        </a:rPr>
                        <a:t>Promesse implicite dans 1 échange sur 2 face à un habitant (cas 1.2).</a:t>
                      </a:r>
                      <a:endParaRPr lang="en-US" sz="1150" dirty="0">
                        <a:latin typeface="Calibri" charset="0"/>
                        <a:ea typeface="Calibri" charset="0"/>
                        <a:cs typeface="Calibri" charset="0"/>
                      </a:endParaRPr>
                    </a:p>
                  </a:txBody>
                  <a:tcPr marL="109728" marR="109728" marT="45720" marB="4572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3F2F8"/>
                    </a:solidFill>
                  </a:tcPr>
                </a:tc>
                <a:tc>
                  <a:txBody>
                    <a:bodyPr/>
                    <a:lstStyle/>
                    <a:p>
                      <a:pPr indent="0" marL="0">
                        <a:buNone/>
                      </a:pPr>
                      <a:r>
                        <a:rPr lang="en-US" sz="1150" dirty="0">
                          <a:solidFill>
                            <a:srgbClr val="0B032B"/>
                          </a:solidFill>
                          <a:latin typeface="Calibri" pitchFamily="34" charset="0"/>
                          <a:ea typeface="Calibri" pitchFamily="34" charset="-122"/>
                          <a:cs typeface="Calibri" pitchFamily="34" charset="-120"/>
                        </a:rPr>
                        <a:t>Ajout de 5 phrases-clés « écouter sans promettre », remises sur une carte mémo.</a:t>
                      </a:r>
                      <a:endParaRPr lang="en-US" sz="1150" dirty="0">
                        <a:latin typeface="Calibri" charset="0"/>
                        <a:ea typeface="Calibri" charset="0"/>
                        <a:cs typeface="Calibri" charset="0"/>
                      </a:endParaRPr>
                    </a:p>
                  </a:txBody>
                  <a:tcPr marL="109728" marR="109728" marT="45720" marB="4572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50" b="1" dirty="0">
                          <a:solidFill>
                            <a:srgbClr val="0B032B"/>
                          </a:solidFill>
                          <a:latin typeface="Calibri" pitchFamily="34" charset="0"/>
                          <a:ea typeface="Calibri" pitchFamily="34" charset="-122"/>
                          <a:cs typeface="Calibri" pitchFamily="34" charset="-120"/>
                        </a:rPr>
                        <a:t>Séquence 06</a:t>
                      </a:r>
                      <a:endParaRPr lang="en-US" sz="1150" dirty="0">
                        <a:latin typeface="Calibri" charset="0"/>
                        <a:ea typeface="Calibri" charset="0"/>
                        <a:cs typeface="Calibri" charset="0"/>
                      </a:endParaRPr>
                    </a:p>
                  </a:txBody>
                  <a:tcPr marL="109728" marR="109728" marT="45720" marB="4572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FFDEB"/>
                    </a:solidFill>
                  </a:tcPr>
                </a:tc>
              </a:tr>
              <a:tr h="502920">
                <a:tc>
                  <a:txBody>
                    <a:bodyPr/>
                    <a:lstStyle/>
                    <a:p>
                      <a:pPr indent="0" marL="0">
                        <a:buNone/>
                      </a:pPr>
                      <a:r>
                        <a:rPr lang="en-US" sz="1150" dirty="0">
                          <a:solidFill>
                            <a:srgbClr val="0B032B"/>
                          </a:solidFill>
                          <a:latin typeface="Calibri" pitchFamily="34" charset="0"/>
                          <a:ea typeface="Calibri" pitchFamily="34" charset="-122"/>
                          <a:cs typeface="Calibri" pitchFamily="34" charset="-120"/>
                        </a:rPr>
                        <a:t>Présidents de séance hésitants sur le rappel à l’ordre (cas 1.1).</a:t>
                      </a:r>
                      <a:endParaRPr lang="en-US" sz="1150" dirty="0">
                        <a:latin typeface="Calibri" charset="0"/>
                        <a:ea typeface="Calibri" charset="0"/>
                        <a:cs typeface="Calibri" charset="0"/>
                      </a:endParaRPr>
                    </a:p>
                  </a:txBody>
                  <a:tcPr marL="109728" marR="109728" marT="45720" marB="4572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3F2F8"/>
                    </a:solidFill>
                  </a:tcPr>
                </a:tc>
                <a:tc>
                  <a:txBody>
                    <a:bodyPr/>
                    <a:lstStyle/>
                    <a:p>
                      <a:pPr indent="0" marL="0">
                        <a:buNone/>
                      </a:pPr>
                      <a:r>
                        <a:rPr lang="en-US" sz="1150" dirty="0">
                          <a:solidFill>
                            <a:srgbClr val="0B032B"/>
                          </a:solidFill>
                          <a:latin typeface="Calibri" pitchFamily="34" charset="0"/>
                          <a:ea typeface="Calibri" pitchFamily="34" charset="-122"/>
                          <a:cs typeface="Calibri" pitchFamily="34" charset="-120"/>
                        </a:rPr>
                        <a:t>Extrait type de règlement intérieur distribué et commenté.</a:t>
                      </a:r>
                      <a:endParaRPr lang="en-US" sz="1150" dirty="0">
                        <a:latin typeface="Calibri" charset="0"/>
                        <a:ea typeface="Calibri" charset="0"/>
                        <a:cs typeface="Calibri" charset="0"/>
                      </a:endParaRPr>
                    </a:p>
                  </a:txBody>
                  <a:tcPr marL="109728" marR="109728" marT="45720" marB="4572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50" b="1" dirty="0">
                          <a:solidFill>
                            <a:srgbClr val="0B032B"/>
                          </a:solidFill>
                          <a:latin typeface="Calibri" pitchFamily="34" charset="0"/>
                          <a:ea typeface="Calibri" pitchFamily="34" charset="-122"/>
                          <a:cs typeface="Calibri" pitchFamily="34" charset="-120"/>
                        </a:rPr>
                        <a:t>Séquence 02</a:t>
                      </a:r>
                      <a:endParaRPr lang="en-US" sz="1150" dirty="0">
                        <a:latin typeface="Calibri" charset="0"/>
                        <a:ea typeface="Calibri" charset="0"/>
                        <a:cs typeface="Calibri" charset="0"/>
                      </a:endParaRPr>
                    </a:p>
                  </a:txBody>
                  <a:tcPr marL="109728" marR="109728" marT="45720" marB="4572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FFDEB"/>
                    </a:solidFill>
                  </a:tcPr>
                </a:tc>
              </a:tr>
              <a:tr h="658368">
                <a:tc>
                  <a:txBody>
                    <a:bodyPr/>
                    <a:lstStyle/>
                    <a:p>
                      <a:pPr indent="0" marL="0">
                        <a:buNone/>
                      </a:pPr>
                      <a:r>
                        <a:rPr lang="en-US" sz="1150" dirty="0">
                          <a:solidFill>
                            <a:srgbClr val="0B032B"/>
                          </a:solidFill>
                          <a:latin typeface="Calibri" pitchFamily="34" charset="0"/>
                          <a:ea typeface="Calibri" pitchFamily="34" charset="-122"/>
                          <a:cs typeface="Calibri" pitchFamily="34" charset="-120"/>
                        </a:rPr>
                        <a:t>Descriptif des compétences EPCI, Département, Région, État jugé dense ; rôle du délégué communautaire méconnu (cas 3.3).</a:t>
                      </a:r>
                      <a:endParaRPr lang="en-US" sz="1150" dirty="0">
                        <a:latin typeface="Calibri" charset="0"/>
                        <a:ea typeface="Calibri" charset="0"/>
                        <a:cs typeface="Calibri" charset="0"/>
                      </a:endParaRPr>
                    </a:p>
                  </a:txBody>
                  <a:tcPr marL="109728" marR="109728" marT="45720" marB="4572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3F2F8"/>
                    </a:solidFill>
                  </a:tcPr>
                </a:tc>
                <a:tc>
                  <a:txBody>
                    <a:bodyPr/>
                    <a:lstStyle/>
                    <a:p>
                      <a:pPr indent="0" marL="0">
                        <a:buNone/>
                      </a:pPr>
                      <a:r>
                        <a:rPr lang="en-US" sz="1150" dirty="0">
                          <a:solidFill>
                            <a:srgbClr val="0B032B"/>
                          </a:solidFill>
                          <a:latin typeface="Calibri" pitchFamily="34" charset="0"/>
                          <a:ea typeface="Calibri" pitchFamily="34" charset="-122"/>
                          <a:cs typeface="Calibri" pitchFamily="34" charset="-120"/>
                        </a:rPr>
                        <a:t>Compétences en lecture guidée ; temps gagné consacré au cas 3.3.</a:t>
                      </a:r>
                      <a:endParaRPr lang="en-US" sz="1150" dirty="0">
                        <a:latin typeface="Calibri" charset="0"/>
                        <a:ea typeface="Calibri" charset="0"/>
                        <a:cs typeface="Calibri" charset="0"/>
                      </a:endParaRPr>
                    </a:p>
                  </a:txBody>
                  <a:tcPr marL="109728" marR="109728" marT="45720" marB="4572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50" b="1" dirty="0">
                          <a:solidFill>
                            <a:srgbClr val="0B032B"/>
                          </a:solidFill>
                          <a:latin typeface="Calibri" pitchFamily="34" charset="0"/>
                          <a:ea typeface="Calibri" pitchFamily="34" charset="-122"/>
                          <a:cs typeface="Calibri" pitchFamily="34" charset="-120"/>
                        </a:rPr>
                        <a:t>Séquence 05 : 90 → 60 min</a:t>
                      </a:r>
                      <a:endParaRPr lang="en-US" sz="1150" dirty="0">
                        <a:latin typeface="Calibri" charset="0"/>
                        <a:ea typeface="Calibri" charset="0"/>
                        <a:cs typeface="Calibri" charset="0"/>
                      </a:endParaRPr>
                    </a:p>
                  </a:txBody>
                  <a:tcPr marL="109728" marR="109728" marT="45720" marB="4572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FFDEB"/>
                    </a:solidFill>
                  </a:tcPr>
                </a:tc>
              </a:tr>
              <a:tr h="566928">
                <a:tc>
                  <a:txBody>
                    <a:bodyPr/>
                    <a:lstStyle/>
                    <a:p>
                      <a:pPr indent="0" marL="0">
                        <a:buNone/>
                      </a:pPr>
                      <a:r>
                        <a:rPr lang="en-US" sz="1150" dirty="0">
                          <a:solidFill>
                            <a:srgbClr val="0B032B"/>
                          </a:solidFill>
                          <a:latin typeface="Calibri" pitchFamily="34" charset="0"/>
                          <a:ea typeface="Calibri" pitchFamily="34" charset="-122"/>
                          <a:cs typeface="Calibri" pitchFamily="34" charset="-120"/>
                        </a:rPr>
                        <a:t>Rôle du maire bien maîtrisé : 80 % de bonnes réponses au quiz d’entrée.</a:t>
                      </a:r>
                      <a:endParaRPr lang="en-US" sz="1150" dirty="0">
                        <a:latin typeface="Calibri" charset="0"/>
                        <a:ea typeface="Calibri" charset="0"/>
                        <a:cs typeface="Calibri" charset="0"/>
                      </a:endParaRPr>
                    </a:p>
                  </a:txBody>
                  <a:tcPr marL="109728" marR="109728" marT="45720" marB="4572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3F2F8"/>
                    </a:solidFill>
                  </a:tcPr>
                </a:tc>
                <a:tc>
                  <a:txBody>
                    <a:bodyPr/>
                    <a:lstStyle/>
                    <a:p>
                      <a:pPr indent="0" marL="0">
                        <a:buNone/>
                      </a:pPr>
                      <a:r>
                        <a:rPr lang="en-US" sz="1150" dirty="0">
                          <a:solidFill>
                            <a:srgbClr val="0B032B"/>
                          </a:solidFill>
                          <a:latin typeface="Calibri" pitchFamily="34" charset="0"/>
                          <a:ea typeface="Calibri" pitchFamily="34" charset="-122"/>
                          <a:cs typeface="Calibri" pitchFamily="34" charset="-120"/>
                        </a:rPr>
                        <a:t>Séquence recentrée sur les exemples concrets et la continuité du service (cas 2.3).</a:t>
                      </a:r>
                      <a:endParaRPr lang="en-US" sz="1150" dirty="0">
                        <a:latin typeface="Calibri" charset="0"/>
                        <a:ea typeface="Calibri" charset="0"/>
                        <a:cs typeface="Calibri" charset="0"/>
                      </a:endParaRPr>
                    </a:p>
                  </a:txBody>
                  <a:tcPr marL="109728" marR="109728" marT="45720" marB="4572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50" b="1" dirty="0">
                          <a:solidFill>
                            <a:srgbClr val="0B032B"/>
                          </a:solidFill>
                          <a:latin typeface="Calibri" pitchFamily="34" charset="0"/>
                          <a:ea typeface="Calibri" pitchFamily="34" charset="-122"/>
                          <a:cs typeface="Calibri" pitchFamily="34" charset="-120"/>
                        </a:rPr>
                        <a:t>Séquence 01 : 60 → 45 min</a:t>
                      </a:r>
                      <a:endParaRPr lang="en-US" sz="1150" dirty="0">
                        <a:latin typeface="Calibri" charset="0"/>
                        <a:ea typeface="Calibri" charset="0"/>
                        <a:cs typeface="Calibri" charset="0"/>
                      </a:endParaRPr>
                    </a:p>
                  </a:txBody>
                  <a:tcPr marL="109728" marR="109728" marT="45720" marB="4572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FFDEB"/>
                    </a:solidFill>
                  </a:tcPr>
                </a:tc>
              </a:tr>
              <a:tr h="548640">
                <a:tc>
                  <a:txBody>
                    <a:bodyPr/>
                    <a:lstStyle/>
                    <a:p>
                      <a:pPr indent="0" marL="0">
                        <a:buNone/>
                      </a:pPr>
                      <a:r>
                        <a:rPr lang="en-US" sz="1150" dirty="0">
                          <a:solidFill>
                            <a:srgbClr val="0B032B"/>
                          </a:solidFill>
                          <a:latin typeface="Calibri" pitchFamily="34" charset="0"/>
                          <a:ea typeface="Calibri" pitchFamily="34" charset="-122"/>
                          <a:cs typeface="Calibri" pitchFamily="34" charset="-120"/>
                        </a:rPr>
                        <a:t>Jeux de rôle trop longs : 35 min en moyenne pour 25 prévues.</a:t>
                      </a:r>
                      <a:endParaRPr lang="en-US" sz="1150" dirty="0">
                        <a:latin typeface="Calibri" charset="0"/>
                        <a:ea typeface="Calibri" charset="0"/>
                        <a:cs typeface="Calibri" charset="0"/>
                      </a:endParaRPr>
                    </a:p>
                  </a:txBody>
                  <a:tcPr marL="109728" marR="109728" marT="45720" marB="4572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3F2F8"/>
                    </a:solidFill>
                  </a:tcPr>
                </a:tc>
                <a:tc>
                  <a:txBody>
                    <a:bodyPr/>
                    <a:lstStyle/>
                    <a:p>
                      <a:pPr indent="0" marL="0">
                        <a:buNone/>
                      </a:pPr>
                      <a:r>
                        <a:rPr lang="en-US" sz="1150" dirty="0">
                          <a:solidFill>
                            <a:srgbClr val="0B032B"/>
                          </a:solidFill>
                          <a:latin typeface="Calibri" pitchFamily="34" charset="0"/>
                          <a:ea typeface="Calibri" pitchFamily="34" charset="-122"/>
                          <a:cs typeface="Calibri" pitchFamily="34" charset="-120"/>
                        </a:rPr>
                        <a:t>Format resserré : lecture 3 min, jeu 7 min, retour et mise en commun 10 min.</a:t>
                      </a:r>
                      <a:endParaRPr lang="en-US" sz="1150" dirty="0">
                        <a:latin typeface="Calibri" charset="0"/>
                        <a:ea typeface="Calibri" charset="0"/>
                        <a:cs typeface="Calibri" charset="0"/>
                      </a:endParaRPr>
                    </a:p>
                  </a:txBody>
                  <a:tcPr marL="109728" marR="109728" marT="45720" marB="4572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50" b="1" dirty="0">
                          <a:solidFill>
                            <a:srgbClr val="0B032B"/>
                          </a:solidFill>
                          <a:latin typeface="Calibri" pitchFamily="34" charset="0"/>
                          <a:ea typeface="Calibri" pitchFamily="34" charset="-122"/>
                          <a:cs typeface="Calibri" pitchFamily="34" charset="-120"/>
                        </a:rPr>
                        <a:t>Tous les cas</a:t>
                      </a:r>
                      <a:endParaRPr lang="en-US" sz="1150" dirty="0">
                        <a:latin typeface="Calibri" charset="0"/>
                        <a:ea typeface="Calibri" charset="0"/>
                        <a:cs typeface="Calibri" charset="0"/>
                      </a:endParaRPr>
                    </a:p>
                  </a:txBody>
                  <a:tcPr marL="109728" marR="109728" marT="45720" marB="4572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FFDEB"/>
                    </a:solidFill>
                  </a:tcPr>
                </a:tc>
              </a:tr>
            </a:tbl>
          </a:graphicData>
        </a:graphic>
      </p:graphicFrame>
      <p:sp>
        <p:nvSpPr>
          <p:cNvPr id="7" name="Text 4"/>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spc="100" kern="0" dirty="0">
                <a:solidFill>
                  <a:srgbClr val="8A8699"/>
                </a:solidFill>
                <a:latin typeface="Calibri" pitchFamily="34" charset="0"/>
                <a:ea typeface="Calibri" pitchFamily="34" charset="-122"/>
                <a:cs typeface="Calibri" pitchFamily="34" charset="-120"/>
              </a:rPr>
              <a:t>ENMA FORMATION  ·  Formation des élus municipaux 2026</a:t>
            </a:r>
            <a:endParaRPr lang="en-US" sz="900" dirty="0"/>
          </a:p>
        </p:txBody>
      </p:sp>
      <p:sp>
        <p:nvSpPr>
          <p:cNvPr id="8" name="Text 5"/>
          <p:cNvSpPr txBox="1"/>
          <p:nvPr/>
        </p:nvSpPr>
        <p:spPr>
          <a:xfrm>
            <a:off x="9692640" y="6400800"/>
            <a:ext cx="548640" cy="274320"/>
          </a:xfrm>
          <a:prstGeom prst="rect">
            <a:avLst/>
          </a:prstGeom>
          <a:noFill/>
          <a:ln/>
        </p:spPr>
        <p:txBody>
          <a:bodyPr wrap="square" lIns="0" tIns="0" rIns="0" bIns="0" rtlCol="0" anchor="ctr"/>
          <a:lstStyle/>
          <a:p>
            <a:pPr algn="r" indent="0" marL="0">
              <a:buNone/>
            </a:pPr>
            <a:r>
              <a:rPr lang="en-US" sz="900" dirty="0">
                <a:solidFill>
                  <a:srgbClr val="8A8699"/>
                </a:solidFill>
                <a:latin typeface="Calibri" pitchFamily="34" charset="0"/>
                <a:ea typeface="Calibri" pitchFamily="34" charset="-122"/>
                <a:cs typeface="Calibri" pitchFamily="34" charset="-120"/>
              </a:rPr>
              <a:t>60</a:t>
            </a:r>
            <a:endParaRPr lang="en-US" sz="900" dirty="0"/>
          </a:p>
        </p:txBody>
      </p:sp>
      <p:pic>
        <p:nvPicPr>
          <p:cNvPr id="9" name="Image 0" descr="preencoded.png">    </p:cNvPr>
          <p:cNvPicPr>
            <a:picLocks noChangeAspect="1"/>
          </p:cNvPicPr>
          <p:nvPr/>
        </p:nvPicPr>
        <p:blipFill>
          <a:blip r:embed="rId1"/>
          <a:stretch>
            <a:fillRect/>
          </a:stretch>
        </p:blipFill>
        <p:spPr>
          <a:xfrm>
            <a:off x="10469880" y="6309360"/>
            <a:ext cx="1170432" cy="484632"/>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420624" cy="310896"/>
          </a:xfrm>
          <a:prstGeom prst="roundRect">
            <a:avLst>
              <a:gd name="adj" fmla="val 23529"/>
            </a:avLst>
          </a:prstGeom>
          <a:solidFill>
            <a:srgbClr val="0B032B"/>
          </a:solidFill>
          <a:ln/>
        </p:spPr>
      </p:sp>
      <p:sp>
        <p:nvSpPr>
          <p:cNvPr id="3" name="Text 1"/>
          <p:cNvSpPr txBox="1"/>
          <p:nvPr/>
        </p:nvSpPr>
        <p:spPr>
          <a:xfrm>
            <a:off x="548640" y="438912"/>
            <a:ext cx="420624" cy="310896"/>
          </a:xfrm>
          <a:prstGeom prst="rect">
            <a:avLst/>
          </a:prstGeom>
          <a:noFill/>
          <a:ln/>
        </p:spPr>
        <p:txBody>
          <a:bodyPr wrap="square" lIns="0" tIns="0" rIns="0" bIns="0" rtlCol="0" anchor="ctr"/>
          <a:lstStyle/>
          <a:p>
            <a:pPr algn="ctr" indent="0" marL="0">
              <a:buNone/>
            </a:pPr>
            <a:r>
              <a:rPr lang="en-US" sz="1100" b="1" dirty="0">
                <a:solidFill>
                  <a:srgbClr val="FFF9C7"/>
                </a:solidFill>
                <a:latin typeface="Calibri" pitchFamily="34" charset="0"/>
                <a:ea typeface="Calibri" pitchFamily="34" charset="-122"/>
                <a:cs typeface="Calibri" pitchFamily="34" charset="-120"/>
              </a:rPr>
              <a:t>08</a:t>
            </a:r>
            <a:endParaRPr lang="en-US" sz="1100" dirty="0"/>
          </a:p>
        </p:txBody>
      </p:sp>
      <p:sp>
        <p:nvSpPr>
          <p:cNvPr id="4" name="Text 2"/>
          <p:cNvSpPr txBox="1"/>
          <p:nvPr/>
        </p:nvSpPr>
        <p:spPr>
          <a:xfrm>
            <a:off x="1115568" y="438912"/>
            <a:ext cx="8229600" cy="310896"/>
          </a:xfrm>
          <a:prstGeom prst="rect">
            <a:avLst/>
          </a:prstGeom>
          <a:noFill/>
          <a:ln/>
        </p:spPr>
        <p:txBody>
          <a:bodyPr wrap="square" lIns="0" tIns="0" rIns="0" bIns="0" rtlCol="0" anchor="ctr"/>
          <a:lstStyle/>
          <a:p>
            <a:pPr indent="0" marL="0">
              <a:buNone/>
            </a:pPr>
            <a:r>
              <a:rPr lang="en-US" sz="1100" b="1" spc="200" kern="0" dirty="0">
                <a:solidFill>
                  <a:srgbClr val="55516E"/>
                </a:solidFill>
                <a:latin typeface="Calibri" pitchFamily="34" charset="0"/>
                <a:ea typeface="Calibri" pitchFamily="34" charset="-122"/>
                <a:cs typeface="Calibri" pitchFamily="34" charset="-120"/>
              </a:rPr>
              <a:t>RETOURS D’EXPÉRIENCE</a:t>
            </a:r>
            <a:endParaRPr lang="en-US" sz="1100" dirty="0"/>
          </a:p>
        </p:txBody>
      </p:sp>
      <p:sp>
        <p:nvSpPr>
          <p:cNvPr id="5" name="Text 3"/>
          <p:cNvSpPr txBox="1"/>
          <p:nvPr/>
        </p:nvSpPr>
        <p:spPr>
          <a:xfrm>
            <a:off x="548640" y="841248"/>
            <a:ext cx="11064240" cy="685800"/>
          </a:xfrm>
          <a:prstGeom prst="rect">
            <a:avLst/>
          </a:prstGeom>
          <a:noFill/>
          <a:ln/>
        </p:spPr>
        <p:txBody>
          <a:bodyPr wrap="square" lIns="0" tIns="0" rIns="0" bIns="0" rtlCol="0" anchor="ctr">
            <a:normAutofit/>
          </a:bodyPr>
          <a:lstStyle/>
          <a:p>
            <a:pPr indent="0" marL="0">
              <a:buNone/>
            </a:pPr>
            <a:r>
              <a:rPr lang="en-US" sz="2800" b="1" dirty="0">
                <a:solidFill>
                  <a:srgbClr val="0B032B"/>
                </a:solidFill>
                <a:latin typeface="Calibri" pitchFamily="34" charset="0"/>
                <a:ea typeface="Calibri" pitchFamily="34" charset="-122"/>
                <a:cs typeface="Calibri" pitchFamily="34" charset="-120"/>
              </a:rPr>
              <a:t>Le déroulé, avant et après : toujours 7 heures</a:t>
            </a:r>
            <a:endParaRPr lang="en-US" sz="2800" dirty="0"/>
          </a:p>
        </p:txBody>
      </p:sp>
      <p:sp>
        <p:nvSpPr>
          <p:cNvPr id="6" name="Text 4"/>
          <p:cNvSpPr txBox="1"/>
          <p:nvPr/>
        </p:nvSpPr>
        <p:spPr>
          <a:xfrm>
            <a:off x="548640" y="1783080"/>
            <a:ext cx="5486400" cy="274320"/>
          </a:xfrm>
          <a:prstGeom prst="rect">
            <a:avLst/>
          </a:prstGeom>
          <a:noFill/>
          <a:ln/>
        </p:spPr>
        <p:txBody>
          <a:bodyPr wrap="square" lIns="0" tIns="0" rIns="0" bIns="0" rtlCol="0" anchor="t"/>
          <a:lstStyle/>
          <a:p>
            <a:pPr indent="0" marL="0">
              <a:buNone/>
            </a:pPr>
            <a:r>
              <a:rPr lang="en-US" sz="1200" b="1" spc="200" kern="0" dirty="0">
                <a:solidFill>
                  <a:srgbClr val="0B032B"/>
                </a:solidFill>
                <a:latin typeface="Calibri" pitchFamily="34" charset="0"/>
                <a:ea typeface="Calibri" pitchFamily="34" charset="-122"/>
                <a:cs typeface="Calibri" pitchFamily="34" charset="-120"/>
              </a:rPr>
              <a:t>VERSION INITIALE</a:t>
            </a:r>
            <a:endParaRPr lang="en-US" sz="1200" dirty="0"/>
          </a:p>
        </p:txBody>
      </p:sp>
      <p:sp>
        <p:nvSpPr>
          <p:cNvPr id="7" name="Text 5"/>
          <p:cNvSpPr txBox="1"/>
          <p:nvPr/>
        </p:nvSpPr>
        <p:spPr>
          <a:xfrm>
            <a:off x="5669280" y="1783080"/>
            <a:ext cx="5943600" cy="274320"/>
          </a:xfrm>
          <a:prstGeom prst="rect">
            <a:avLst/>
          </a:prstGeom>
          <a:noFill/>
          <a:ln/>
        </p:spPr>
        <p:txBody>
          <a:bodyPr wrap="square" lIns="0" tIns="0" rIns="0" bIns="0" rtlCol="0" anchor="t"/>
          <a:lstStyle/>
          <a:p>
            <a:pPr algn="r" indent="0" marL="0">
              <a:buNone/>
            </a:pPr>
            <a:r>
              <a:rPr lang="en-US" sz="1100" dirty="0">
                <a:solidFill>
                  <a:srgbClr val="55516E"/>
                </a:solidFill>
                <a:latin typeface="Calibri" pitchFamily="34" charset="0"/>
                <a:ea typeface="Calibri" pitchFamily="34" charset="-122"/>
                <a:cs typeface="Calibri" pitchFamily="34" charset="-120"/>
              </a:rPr>
              <a:t>09h00 – 12h30 · déjeuner · 13h45 – 17h45</a:t>
            </a:r>
            <a:endParaRPr lang="en-US" sz="1100" dirty="0"/>
          </a:p>
        </p:txBody>
      </p:sp>
      <p:sp>
        <p:nvSpPr>
          <p:cNvPr id="8" name="Shape 6"/>
          <p:cNvSpPr/>
          <p:nvPr/>
        </p:nvSpPr>
        <p:spPr>
          <a:xfrm>
            <a:off x="548640" y="2240280"/>
            <a:ext cx="691896" cy="1051560"/>
          </a:xfrm>
          <a:prstGeom prst="roundRect">
            <a:avLst>
              <a:gd name="adj" fmla="val 7930"/>
            </a:avLst>
          </a:prstGeom>
          <a:solidFill>
            <a:srgbClr val="0B032B"/>
          </a:solidFill>
          <a:ln/>
        </p:spPr>
      </p:sp>
      <p:sp>
        <p:nvSpPr>
          <p:cNvPr id="9" name="Text 7"/>
          <p:cNvSpPr txBox="1"/>
          <p:nvPr/>
        </p:nvSpPr>
        <p:spPr>
          <a:xfrm>
            <a:off x="621792" y="2313432"/>
            <a:ext cx="600456" cy="365760"/>
          </a:xfrm>
          <a:prstGeom prst="rect">
            <a:avLst/>
          </a:prstGeom>
          <a:noFill/>
          <a:ln/>
        </p:spPr>
        <p:txBody>
          <a:bodyPr wrap="square" lIns="0" tIns="0" rIns="0" bIns="0" rtlCol="0" anchor="t"/>
          <a:lstStyle/>
          <a:p>
            <a:pPr indent="0" marL="0">
              <a:buNone/>
            </a:pPr>
            <a:r>
              <a:rPr lang="en-US" sz="1600" dirty="0">
                <a:solidFill>
                  <a:srgbClr val="FFF9C7"/>
                </a:solidFill>
                <a:latin typeface="Impact" pitchFamily="34" charset="0"/>
                <a:ea typeface="Impact" pitchFamily="34" charset="-122"/>
                <a:cs typeface="Impact" pitchFamily="34" charset="-120"/>
              </a:rPr>
              <a:t>00</a:t>
            </a:r>
            <a:endParaRPr lang="en-US" sz="1600" dirty="0"/>
          </a:p>
        </p:txBody>
      </p:sp>
      <p:sp>
        <p:nvSpPr>
          <p:cNvPr id="10" name="Text 8"/>
          <p:cNvSpPr txBox="1"/>
          <p:nvPr/>
        </p:nvSpPr>
        <p:spPr>
          <a:xfrm>
            <a:off x="621792" y="2697480"/>
            <a:ext cx="582168" cy="274320"/>
          </a:xfrm>
          <a:prstGeom prst="rect">
            <a:avLst/>
          </a:prstGeom>
          <a:noFill/>
          <a:ln/>
        </p:spPr>
        <p:txBody>
          <a:bodyPr wrap="square" lIns="0" tIns="0" rIns="0" bIns="0" rtlCol="0" anchor="t">
            <a:normAutofit/>
          </a:bodyPr>
          <a:lstStyle/>
          <a:p>
            <a:pPr indent="0" marL="0">
              <a:buNone/>
            </a:pPr>
            <a:r>
              <a:rPr lang="en-US" sz="1000" b="1" dirty="0">
                <a:solidFill>
                  <a:srgbClr val="FFFFFF"/>
                </a:solidFill>
                <a:latin typeface="Calibri" pitchFamily="34" charset="0"/>
                <a:ea typeface="Calibri" pitchFamily="34" charset="-122"/>
                <a:cs typeface="Calibri" pitchFamily="34" charset="-120"/>
              </a:rPr>
              <a:t>Ouverture</a:t>
            </a:r>
            <a:endParaRPr lang="en-US" sz="1000" dirty="0"/>
          </a:p>
        </p:txBody>
      </p:sp>
      <p:sp>
        <p:nvSpPr>
          <p:cNvPr id="11" name="Text 9"/>
          <p:cNvSpPr txBox="1"/>
          <p:nvPr/>
        </p:nvSpPr>
        <p:spPr>
          <a:xfrm>
            <a:off x="621792" y="2971800"/>
            <a:ext cx="582168" cy="237744"/>
          </a:xfrm>
          <a:prstGeom prst="rect">
            <a:avLst/>
          </a:prstGeom>
          <a:noFill/>
          <a:ln/>
        </p:spPr>
        <p:txBody>
          <a:bodyPr wrap="square" lIns="0" tIns="0" rIns="0" bIns="0" rtlCol="0" anchor="t"/>
          <a:lstStyle/>
          <a:p>
            <a:pPr indent="0" marL="0">
              <a:buNone/>
            </a:pPr>
            <a:r>
              <a:rPr lang="en-US" sz="950" dirty="0">
                <a:solidFill>
                  <a:srgbClr val="B3B3BA"/>
                </a:solidFill>
                <a:latin typeface="Calibri" pitchFamily="34" charset="0"/>
                <a:ea typeface="Calibri" pitchFamily="34" charset="-122"/>
                <a:cs typeface="Calibri" pitchFamily="34" charset="-120"/>
              </a:rPr>
              <a:t>30 min</a:t>
            </a:r>
            <a:endParaRPr lang="en-US" sz="950" dirty="0"/>
          </a:p>
        </p:txBody>
      </p:sp>
      <p:sp>
        <p:nvSpPr>
          <p:cNvPr id="12" name="Shape 10"/>
          <p:cNvSpPr/>
          <p:nvPr/>
        </p:nvSpPr>
        <p:spPr>
          <a:xfrm>
            <a:off x="1286256" y="2240280"/>
            <a:ext cx="1429512" cy="1051560"/>
          </a:xfrm>
          <a:prstGeom prst="roundRect">
            <a:avLst>
              <a:gd name="adj" fmla="val 5217"/>
            </a:avLst>
          </a:prstGeom>
          <a:solidFill>
            <a:srgbClr val="0B032B"/>
          </a:solidFill>
          <a:ln/>
        </p:spPr>
      </p:sp>
      <p:sp>
        <p:nvSpPr>
          <p:cNvPr id="13" name="Text 11"/>
          <p:cNvSpPr txBox="1"/>
          <p:nvPr/>
        </p:nvSpPr>
        <p:spPr>
          <a:xfrm>
            <a:off x="1359408" y="2313432"/>
            <a:ext cx="1338072" cy="365760"/>
          </a:xfrm>
          <a:prstGeom prst="rect">
            <a:avLst/>
          </a:prstGeom>
          <a:noFill/>
          <a:ln/>
        </p:spPr>
        <p:txBody>
          <a:bodyPr wrap="square" lIns="0" tIns="0" rIns="0" bIns="0" rtlCol="0" anchor="t"/>
          <a:lstStyle/>
          <a:p>
            <a:pPr indent="0" marL="0">
              <a:buNone/>
            </a:pPr>
            <a:r>
              <a:rPr lang="en-US" sz="1600" dirty="0">
                <a:solidFill>
                  <a:srgbClr val="FFF9C7"/>
                </a:solidFill>
                <a:latin typeface="Impact" pitchFamily="34" charset="0"/>
                <a:ea typeface="Impact" pitchFamily="34" charset="-122"/>
                <a:cs typeface="Impact" pitchFamily="34" charset="-120"/>
              </a:rPr>
              <a:t>01</a:t>
            </a:r>
            <a:endParaRPr lang="en-US" sz="1600" dirty="0"/>
          </a:p>
        </p:txBody>
      </p:sp>
      <p:sp>
        <p:nvSpPr>
          <p:cNvPr id="14" name="Text 12"/>
          <p:cNvSpPr txBox="1"/>
          <p:nvPr/>
        </p:nvSpPr>
        <p:spPr>
          <a:xfrm>
            <a:off x="1359408" y="2697480"/>
            <a:ext cx="1319784" cy="274320"/>
          </a:xfrm>
          <a:prstGeom prst="rect">
            <a:avLst/>
          </a:prstGeom>
          <a:noFill/>
          <a:ln/>
        </p:spPr>
        <p:txBody>
          <a:bodyPr wrap="square" lIns="0" tIns="0" rIns="0" bIns="0" rtlCol="0" anchor="t">
            <a:normAutofit/>
          </a:bodyPr>
          <a:lstStyle/>
          <a:p>
            <a:pPr indent="0" marL="0">
              <a:buNone/>
            </a:pPr>
            <a:r>
              <a:rPr lang="en-US" sz="1000" b="1" dirty="0">
                <a:solidFill>
                  <a:srgbClr val="FFFFFF"/>
                </a:solidFill>
                <a:latin typeface="Calibri" pitchFamily="34" charset="0"/>
                <a:ea typeface="Calibri" pitchFamily="34" charset="-122"/>
                <a:cs typeface="Calibri" pitchFamily="34" charset="-120"/>
              </a:rPr>
              <a:t>Maire</a:t>
            </a:r>
            <a:endParaRPr lang="en-US" sz="1000" dirty="0"/>
          </a:p>
        </p:txBody>
      </p:sp>
      <p:sp>
        <p:nvSpPr>
          <p:cNvPr id="15" name="Text 13"/>
          <p:cNvSpPr txBox="1"/>
          <p:nvPr/>
        </p:nvSpPr>
        <p:spPr>
          <a:xfrm>
            <a:off x="1359408" y="2971800"/>
            <a:ext cx="1319784" cy="237744"/>
          </a:xfrm>
          <a:prstGeom prst="rect">
            <a:avLst/>
          </a:prstGeom>
          <a:noFill/>
          <a:ln/>
        </p:spPr>
        <p:txBody>
          <a:bodyPr wrap="square" lIns="0" tIns="0" rIns="0" bIns="0" rtlCol="0" anchor="t"/>
          <a:lstStyle/>
          <a:p>
            <a:pPr indent="0" marL="0">
              <a:buNone/>
            </a:pPr>
            <a:r>
              <a:rPr lang="en-US" sz="950" dirty="0">
                <a:solidFill>
                  <a:srgbClr val="B3B3BA"/>
                </a:solidFill>
                <a:latin typeface="Calibri" pitchFamily="34" charset="0"/>
                <a:ea typeface="Calibri" pitchFamily="34" charset="-122"/>
                <a:cs typeface="Calibri" pitchFamily="34" charset="-120"/>
              </a:rPr>
              <a:t>60 min</a:t>
            </a:r>
            <a:endParaRPr lang="en-US" sz="950" dirty="0"/>
          </a:p>
        </p:txBody>
      </p:sp>
      <p:sp>
        <p:nvSpPr>
          <p:cNvPr id="16" name="Shape 14"/>
          <p:cNvSpPr/>
          <p:nvPr/>
        </p:nvSpPr>
        <p:spPr>
          <a:xfrm>
            <a:off x="2761488" y="2240280"/>
            <a:ext cx="323088" cy="1051560"/>
          </a:xfrm>
          <a:prstGeom prst="roundRect">
            <a:avLst>
              <a:gd name="adj" fmla="val 16981"/>
            </a:avLst>
          </a:prstGeom>
          <a:solidFill>
            <a:srgbClr val="F3F2F8"/>
          </a:solidFill>
          <a:ln/>
        </p:spPr>
      </p:sp>
      <p:pic>
        <p:nvPicPr>
          <p:cNvPr id="17" name="Image 0" descr="preencoded.png">    </p:cNvPr>
          <p:cNvPicPr>
            <a:picLocks noChangeAspect="1"/>
          </p:cNvPicPr>
          <p:nvPr/>
        </p:nvPicPr>
        <p:blipFill>
          <a:blip r:embed="rId1"/>
          <a:stretch>
            <a:fillRect/>
          </a:stretch>
        </p:blipFill>
        <p:spPr>
          <a:xfrm>
            <a:off x="2804160" y="2642616"/>
            <a:ext cx="237744" cy="237744"/>
          </a:xfrm>
          <a:prstGeom prst="rect">
            <a:avLst/>
          </a:prstGeom>
        </p:spPr>
      </p:pic>
      <p:sp>
        <p:nvSpPr>
          <p:cNvPr id="18" name="Shape 15"/>
          <p:cNvSpPr/>
          <p:nvPr/>
        </p:nvSpPr>
        <p:spPr>
          <a:xfrm>
            <a:off x="3130296" y="2240280"/>
            <a:ext cx="1429512" cy="1051560"/>
          </a:xfrm>
          <a:prstGeom prst="roundRect">
            <a:avLst>
              <a:gd name="adj" fmla="val 5217"/>
            </a:avLst>
          </a:prstGeom>
          <a:solidFill>
            <a:srgbClr val="0B032B"/>
          </a:solidFill>
          <a:ln/>
        </p:spPr>
      </p:sp>
      <p:sp>
        <p:nvSpPr>
          <p:cNvPr id="19" name="Text 16"/>
          <p:cNvSpPr txBox="1"/>
          <p:nvPr/>
        </p:nvSpPr>
        <p:spPr>
          <a:xfrm>
            <a:off x="3203448" y="2313432"/>
            <a:ext cx="1338072" cy="365760"/>
          </a:xfrm>
          <a:prstGeom prst="rect">
            <a:avLst/>
          </a:prstGeom>
          <a:noFill/>
          <a:ln/>
        </p:spPr>
        <p:txBody>
          <a:bodyPr wrap="square" lIns="0" tIns="0" rIns="0" bIns="0" rtlCol="0" anchor="t"/>
          <a:lstStyle/>
          <a:p>
            <a:pPr indent="0" marL="0">
              <a:buNone/>
            </a:pPr>
            <a:r>
              <a:rPr lang="en-US" sz="1600" dirty="0">
                <a:solidFill>
                  <a:srgbClr val="FFF9C7"/>
                </a:solidFill>
                <a:latin typeface="Impact" pitchFamily="34" charset="0"/>
                <a:ea typeface="Impact" pitchFamily="34" charset="-122"/>
                <a:cs typeface="Impact" pitchFamily="34" charset="-120"/>
              </a:rPr>
              <a:t>02</a:t>
            </a:r>
            <a:endParaRPr lang="en-US" sz="1600" dirty="0"/>
          </a:p>
        </p:txBody>
      </p:sp>
      <p:sp>
        <p:nvSpPr>
          <p:cNvPr id="20" name="Text 17"/>
          <p:cNvSpPr txBox="1"/>
          <p:nvPr/>
        </p:nvSpPr>
        <p:spPr>
          <a:xfrm>
            <a:off x="3203448" y="2697480"/>
            <a:ext cx="1319784" cy="274320"/>
          </a:xfrm>
          <a:prstGeom prst="rect">
            <a:avLst/>
          </a:prstGeom>
          <a:noFill/>
          <a:ln/>
        </p:spPr>
        <p:txBody>
          <a:bodyPr wrap="square" lIns="0" tIns="0" rIns="0" bIns="0" rtlCol="0" anchor="t">
            <a:normAutofit/>
          </a:bodyPr>
          <a:lstStyle/>
          <a:p>
            <a:pPr indent="0" marL="0">
              <a:buNone/>
            </a:pPr>
            <a:r>
              <a:rPr lang="en-US" sz="1000" b="1" dirty="0">
                <a:solidFill>
                  <a:srgbClr val="FFFFFF"/>
                </a:solidFill>
                <a:latin typeface="Calibri" pitchFamily="34" charset="0"/>
                <a:ea typeface="Calibri" pitchFamily="34" charset="-122"/>
                <a:cs typeface="Calibri" pitchFamily="34" charset="-120"/>
              </a:rPr>
              <a:t>Équipe</a:t>
            </a:r>
            <a:endParaRPr lang="en-US" sz="1000" dirty="0"/>
          </a:p>
        </p:txBody>
      </p:sp>
      <p:sp>
        <p:nvSpPr>
          <p:cNvPr id="21" name="Text 18"/>
          <p:cNvSpPr txBox="1"/>
          <p:nvPr/>
        </p:nvSpPr>
        <p:spPr>
          <a:xfrm>
            <a:off x="3203448" y="2971800"/>
            <a:ext cx="1319784" cy="237744"/>
          </a:xfrm>
          <a:prstGeom prst="rect">
            <a:avLst/>
          </a:prstGeom>
          <a:noFill/>
          <a:ln/>
        </p:spPr>
        <p:txBody>
          <a:bodyPr wrap="square" lIns="0" tIns="0" rIns="0" bIns="0" rtlCol="0" anchor="t"/>
          <a:lstStyle/>
          <a:p>
            <a:pPr indent="0" marL="0">
              <a:buNone/>
            </a:pPr>
            <a:r>
              <a:rPr lang="en-US" sz="950" dirty="0">
                <a:solidFill>
                  <a:srgbClr val="B3B3BA"/>
                </a:solidFill>
                <a:latin typeface="Calibri" pitchFamily="34" charset="0"/>
                <a:ea typeface="Calibri" pitchFamily="34" charset="-122"/>
                <a:cs typeface="Calibri" pitchFamily="34" charset="-120"/>
              </a:rPr>
              <a:t>60 min</a:t>
            </a:r>
            <a:endParaRPr lang="en-US" sz="950" dirty="0"/>
          </a:p>
        </p:txBody>
      </p:sp>
      <p:sp>
        <p:nvSpPr>
          <p:cNvPr id="22" name="Shape 19"/>
          <p:cNvSpPr/>
          <p:nvPr/>
        </p:nvSpPr>
        <p:spPr>
          <a:xfrm>
            <a:off x="4605528" y="2240280"/>
            <a:ext cx="1060704" cy="1051560"/>
          </a:xfrm>
          <a:prstGeom prst="roundRect">
            <a:avLst>
              <a:gd name="adj" fmla="val 5217"/>
            </a:avLst>
          </a:prstGeom>
          <a:solidFill>
            <a:srgbClr val="0B032B"/>
          </a:solidFill>
          <a:ln/>
        </p:spPr>
      </p:sp>
      <p:sp>
        <p:nvSpPr>
          <p:cNvPr id="23" name="Text 20"/>
          <p:cNvSpPr txBox="1"/>
          <p:nvPr/>
        </p:nvSpPr>
        <p:spPr>
          <a:xfrm>
            <a:off x="4678680" y="2313432"/>
            <a:ext cx="969264" cy="365760"/>
          </a:xfrm>
          <a:prstGeom prst="rect">
            <a:avLst/>
          </a:prstGeom>
          <a:noFill/>
          <a:ln/>
        </p:spPr>
        <p:txBody>
          <a:bodyPr wrap="square" lIns="0" tIns="0" rIns="0" bIns="0" rtlCol="0" anchor="t"/>
          <a:lstStyle/>
          <a:p>
            <a:pPr indent="0" marL="0">
              <a:buNone/>
            </a:pPr>
            <a:r>
              <a:rPr lang="en-US" sz="1600" dirty="0">
                <a:solidFill>
                  <a:srgbClr val="FFF9C7"/>
                </a:solidFill>
                <a:latin typeface="Impact" pitchFamily="34" charset="0"/>
                <a:ea typeface="Impact" pitchFamily="34" charset="-122"/>
                <a:cs typeface="Impact" pitchFamily="34" charset="-120"/>
              </a:rPr>
              <a:t>03</a:t>
            </a:r>
            <a:endParaRPr lang="en-US" sz="1600" dirty="0"/>
          </a:p>
        </p:txBody>
      </p:sp>
      <p:sp>
        <p:nvSpPr>
          <p:cNvPr id="24" name="Text 21"/>
          <p:cNvSpPr txBox="1"/>
          <p:nvPr/>
        </p:nvSpPr>
        <p:spPr>
          <a:xfrm>
            <a:off x="4678680" y="2697480"/>
            <a:ext cx="950976" cy="274320"/>
          </a:xfrm>
          <a:prstGeom prst="rect">
            <a:avLst/>
          </a:prstGeom>
          <a:noFill/>
          <a:ln/>
        </p:spPr>
        <p:txBody>
          <a:bodyPr wrap="square" lIns="0" tIns="0" rIns="0" bIns="0" rtlCol="0" anchor="t">
            <a:normAutofit/>
          </a:bodyPr>
          <a:lstStyle/>
          <a:p>
            <a:pPr indent="0" marL="0">
              <a:buNone/>
            </a:pPr>
            <a:r>
              <a:rPr lang="en-US" sz="1000" b="1" dirty="0">
                <a:solidFill>
                  <a:srgbClr val="FFFFFF"/>
                </a:solidFill>
                <a:latin typeface="Calibri" pitchFamily="34" charset="0"/>
                <a:ea typeface="Calibri" pitchFamily="34" charset="-122"/>
                <a:cs typeface="Calibri" pitchFamily="34" charset="-120"/>
              </a:rPr>
              <a:t>Agents</a:t>
            </a:r>
            <a:endParaRPr lang="en-US" sz="1000" dirty="0"/>
          </a:p>
        </p:txBody>
      </p:sp>
      <p:sp>
        <p:nvSpPr>
          <p:cNvPr id="25" name="Text 22"/>
          <p:cNvSpPr txBox="1"/>
          <p:nvPr/>
        </p:nvSpPr>
        <p:spPr>
          <a:xfrm>
            <a:off x="4678680" y="2971800"/>
            <a:ext cx="950976" cy="237744"/>
          </a:xfrm>
          <a:prstGeom prst="rect">
            <a:avLst/>
          </a:prstGeom>
          <a:noFill/>
          <a:ln/>
        </p:spPr>
        <p:txBody>
          <a:bodyPr wrap="square" lIns="0" tIns="0" rIns="0" bIns="0" rtlCol="0" anchor="t"/>
          <a:lstStyle/>
          <a:p>
            <a:pPr indent="0" marL="0">
              <a:buNone/>
            </a:pPr>
            <a:r>
              <a:rPr lang="en-US" sz="950" dirty="0">
                <a:solidFill>
                  <a:srgbClr val="B3B3BA"/>
                </a:solidFill>
                <a:latin typeface="Calibri" pitchFamily="34" charset="0"/>
                <a:ea typeface="Calibri" pitchFamily="34" charset="-122"/>
                <a:cs typeface="Calibri" pitchFamily="34" charset="-120"/>
              </a:rPr>
              <a:t>45 min</a:t>
            </a:r>
            <a:endParaRPr lang="en-US" sz="950" dirty="0"/>
          </a:p>
        </p:txBody>
      </p:sp>
      <p:sp>
        <p:nvSpPr>
          <p:cNvPr id="26" name="Shape 23"/>
          <p:cNvSpPr/>
          <p:nvPr/>
        </p:nvSpPr>
        <p:spPr>
          <a:xfrm>
            <a:off x="5711952" y="2240280"/>
            <a:ext cx="1429512" cy="1051560"/>
          </a:xfrm>
          <a:prstGeom prst="roundRect">
            <a:avLst>
              <a:gd name="adj" fmla="val 5217"/>
            </a:avLst>
          </a:prstGeom>
          <a:solidFill>
            <a:srgbClr val="0B032B"/>
          </a:solidFill>
          <a:ln/>
        </p:spPr>
      </p:sp>
      <p:sp>
        <p:nvSpPr>
          <p:cNvPr id="27" name="Text 24"/>
          <p:cNvSpPr txBox="1"/>
          <p:nvPr/>
        </p:nvSpPr>
        <p:spPr>
          <a:xfrm>
            <a:off x="5785104" y="2313432"/>
            <a:ext cx="1338072" cy="365760"/>
          </a:xfrm>
          <a:prstGeom prst="rect">
            <a:avLst/>
          </a:prstGeom>
          <a:noFill/>
          <a:ln/>
        </p:spPr>
        <p:txBody>
          <a:bodyPr wrap="square" lIns="0" tIns="0" rIns="0" bIns="0" rtlCol="0" anchor="t"/>
          <a:lstStyle/>
          <a:p>
            <a:pPr indent="0" marL="0">
              <a:buNone/>
            </a:pPr>
            <a:r>
              <a:rPr lang="en-US" sz="1600" dirty="0">
                <a:solidFill>
                  <a:srgbClr val="FFF9C7"/>
                </a:solidFill>
                <a:latin typeface="Impact" pitchFamily="34" charset="0"/>
                <a:ea typeface="Impact" pitchFamily="34" charset="-122"/>
                <a:cs typeface="Impact" pitchFamily="34" charset="-120"/>
              </a:rPr>
              <a:t>04</a:t>
            </a:r>
            <a:endParaRPr lang="en-US" sz="1600" dirty="0"/>
          </a:p>
        </p:txBody>
      </p:sp>
      <p:sp>
        <p:nvSpPr>
          <p:cNvPr id="28" name="Text 25"/>
          <p:cNvSpPr txBox="1"/>
          <p:nvPr/>
        </p:nvSpPr>
        <p:spPr>
          <a:xfrm>
            <a:off x="5785104" y="2697480"/>
            <a:ext cx="1319784" cy="274320"/>
          </a:xfrm>
          <a:prstGeom prst="rect">
            <a:avLst/>
          </a:prstGeom>
          <a:noFill/>
          <a:ln/>
        </p:spPr>
        <p:txBody>
          <a:bodyPr wrap="square" lIns="0" tIns="0" rIns="0" bIns="0" rtlCol="0" anchor="t">
            <a:normAutofit/>
          </a:bodyPr>
          <a:lstStyle/>
          <a:p>
            <a:pPr indent="0" marL="0">
              <a:buNone/>
            </a:pPr>
            <a:r>
              <a:rPr lang="en-US" sz="1000" b="1" dirty="0">
                <a:solidFill>
                  <a:srgbClr val="FFFFFF"/>
                </a:solidFill>
                <a:latin typeface="Calibri" pitchFamily="34" charset="0"/>
                <a:ea typeface="Calibri" pitchFamily="34" charset="-122"/>
                <a:cs typeface="Calibri" pitchFamily="34" charset="-120"/>
              </a:rPr>
              <a:t>Droits</a:t>
            </a:r>
            <a:endParaRPr lang="en-US" sz="1000" dirty="0"/>
          </a:p>
        </p:txBody>
      </p:sp>
      <p:sp>
        <p:nvSpPr>
          <p:cNvPr id="29" name="Text 26"/>
          <p:cNvSpPr txBox="1"/>
          <p:nvPr/>
        </p:nvSpPr>
        <p:spPr>
          <a:xfrm>
            <a:off x="5785104" y="2971800"/>
            <a:ext cx="1319784" cy="237744"/>
          </a:xfrm>
          <a:prstGeom prst="rect">
            <a:avLst/>
          </a:prstGeom>
          <a:noFill/>
          <a:ln/>
        </p:spPr>
        <p:txBody>
          <a:bodyPr wrap="square" lIns="0" tIns="0" rIns="0" bIns="0" rtlCol="0" anchor="t"/>
          <a:lstStyle/>
          <a:p>
            <a:pPr indent="0" marL="0">
              <a:buNone/>
            </a:pPr>
            <a:r>
              <a:rPr lang="en-US" sz="950" dirty="0">
                <a:solidFill>
                  <a:srgbClr val="B3B3BA"/>
                </a:solidFill>
                <a:latin typeface="Calibri" pitchFamily="34" charset="0"/>
                <a:ea typeface="Calibri" pitchFamily="34" charset="-122"/>
                <a:cs typeface="Calibri" pitchFamily="34" charset="-120"/>
              </a:rPr>
              <a:t>60 min</a:t>
            </a:r>
            <a:endParaRPr lang="en-US" sz="950" dirty="0"/>
          </a:p>
        </p:txBody>
      </p:sp>
      <p:sp>
        <p:nvSpPr>
          <p:cNvPr id="30" name="Shape 27"/>
          <p:cNvSpPr/>
          <p:nvPr/>
        </p:nvSpPr>
        <p:spPr>
          <a:xfrm>
            <a:off x="7187184" y="2240280"/>
            <a:ext cx="2167128" cy="1051560"/>
          </a:xfrm>
          <a:prstGeom prst="roundRect">
            <a:avLst>
              <a:gd name="adj" fmla="val 5217"/>
            </a:avLst>
          </a:prstGeom>
          <a:solidFill>
            <a:srgbClr val="0B032B"/>
          </a:solidFill>
          <a:ln/>
        </p:spPr>
      </p:sp>
      <p:sp>
        <p:nvSpPr>
          <p:cNvPr id="31" name="Text 28"/>
          <p:cNvSpPr txBox="1"/>
          <p:nvPr/>
        </p:nvSpPr>
        <p:spPr>
          <a:xfrm>
            <a:off x="7260336" y="2313432"/>
            <a:ext cx="2075688" cy="365760"/>
          </a:xfrm>
          <a:prstGeom prst="rect">
            <a:avLst/>
          </a:prstGeom>
          <a:noFill/>
          <a:ln/>
        </p:spPr>
        <p:txBody>
          <a:bodyPr wrap="square" lIns="0" tIns="0" rIns="0" bIns="0" rtlCol="0" anchor="t"/>
          <a:lstStyle/>
          <a:p>
            <a:pPr indent="0" marL="0">
              <a:buNone/>
            </a:pPr>
            <a:r>
              <a:rPr lang="en-US" sz="1600" dirty="0">
                <a:solidFill>
                  <a:srgbClr val="FFF9C7"/>
                </a:solidFill>
                <a:latin typeface="Impact" pitchFamily="34" charset="0"/>
                <a:ea typeface="Impact" pitchFamily="34" charset="-122"/>
                <a:cs typeface="Impact" pitchFamily="34" charset="-120"/>
              </a:rPr>
              <a:t>05</a:t>
            </a:r>
            <a:endParaRPr lang="en-US" sz="1600" dirty="0"/>
          </a:p>
        </p:txBody>
      </p:sp>
      <p:sp>
        <p:nvSpPr>
          <p:cNvPr id="32" name="Text 29"/>
          <p:cNvSpPr txBox="1"/>
          <p:nvPr/>
        </p:nvSpPr>
        <p:spPr>
          <a:xfrm>
            <a:off x="7260336" y="2697480"/>
            <a:ext cx="2057400" cy="274320"/>
          </a:xfrm>
          <a:prstGeom prst="rect">
            <a:avLst/>
          </a:prstGeom>
          <a:noFill/>
          <a:ln/>
        </p:spPr>
        <p:txBody>
          <a:bodyPr wrap="square" lIns="0" tIns="0" rIns="0" bIns="0" rtlCol="0" anchor="t">
            <a:normAutofit/>
          </a:bodyPr>
          <a:lstStyle/>
          <a:p>
            <a:pPr indent="0" marL="0">
              <a:buNone/>
            </a:pPr>
            <a:r>
              <a:rPr lang="en-US" sz="1000" b="1" dirty="0">
                <a:solidFill>
                  <a:srgbClr val="FFFFFF"/>
                </a:solidFill>
                <a:latin typeface="Calibri" pitchFamily="34" charset="0"/>
                <a:ea typeface="Calibri" pitchFamily="34" charset="-122"/>
                <a:cs typeface="Calibri" pitchFamily="34" charset="-120"/>
              </a:rPr>
              <a:t>Institutions</a:t>
            </a:r>
            <a:endParaRPr lang="en-US" sz="1000" dirty="0"/>
          </a:p>
        </p:txBody>
      </p:sp>
      <p:sp>
        <p:nvSpPr>
          <p:cNvPr id="33" name="Text 30"/>
          <p:cNvSpPr txBox="1"/>
          <p:nvPr/>
        </p:nvSpPr>
        <p:spPr>
          <a:xfrm>
            <a:off x="7260336" y="2971800"/>
            <a:ext cx="2057400" cy="237744"/>
          </a:xfrm>
          <a:prstGeom prst="rect">
            <a:avLst/>
          </a:prstGeom>
          <a:noFill/>
          <a:ln/>
        </p:spPr>
        <p:txBody>
          <a:bodyPr wrap="square" lIns="0" tIns="0" rIns="0" bIns="0" rtlCol="0" anchor="t"/>
          <a:lstStyle/>
          <a:p>
            <a:pPr indent="0" marL="0">
              <a:buNone/>
            </a:pPr>
            <a:r>
              <a:rPr lang="en-US" sz="950" dirty="0">
                <a:solidFill>
                  <a:srgbClr val="B3B3BA"/>
                </a:solidFill>
                <a:latin typeface="Calibri" pitchFamily="34" charset="0"/>
                <a:ea typeface="Calibri" pitchFamily="34" charset="-122"/>
                <a:cs typeface="Calibri" pitchFamily="34" charset="-120"/>
              </a:rPr>
              <a:t>90 min</a:t>
            </a:r>
            <a:endParaRPr lang="en-US" sz="950" dirty="0"/>
          </a:p>
        </p:txBody>
      </p:sp>
      <p:sp>
        <p:nvSpPr>
          <p:cNvPr id="34" name="Shape 31"/>
          <p:cNvSpPr/>
          <p:nvPr/>
        </p:nvSpPr>
        <p:spPr>
          <a:xfrm>
            <a:off x="9400032" y="2240280"/>
            <a:ext cx="323088" cy="1051560"/>
          </a:xfrm>
          <a:prstGeom prst="roundRect">
            <a:avLst>
              <a:gd name="adj" fmla="val 16981"/>
            </a:avLst>
          </a:prstGeom>
          <a:solidFill>
            <a:srgbClr val="F3F2F8"/>
          </a:solidFill>
          <a:ln/>
        </p:spPr>
      </p:sp>
      <p:pic>
        <p:nvPicPr>
          <p:cNvPr id="35" name="Image 1" descr="preencoded.png">    </p:cNvPr>
          <p:cNvPicPr>
            <a:picLocks noChangeAspect="1"/>
          </p:cNvPicPr>
          <p:nvPr/>
        </p:nvPicPr>
        <p:blipFill>
          <a:blip r:embed="rId2"/>
          <a:stretch>
            <a:fillRect/>
          </a:stretch>
        </p:blipFill>
        <p:spPr>
          <a:xfrm>
            <a:off x="9442704" y="2642616"/>
            <a:ext cx="237744" cy="237744"/>
          </a:xfrm>
          <a:prstGeom prst="rect">
            <a:avLst/>
          </a:prstGeom>
        </p:spPr>
      </p:pic>
      <p:sp>
        <p:nvSpPr>
          <p:cNvPr id="36" name="Shape 32"/>
          <p:cNvSpPr/>
          <p:nvPr/>
        </p:nvSpPr>
        <p:spPr>
          <a:xfrm>
            <a:off x="9768840" y="2240280"/>
            <a:ext cx="1060704" cy="1051560"/>
          </a:xfrm>
          <a:prstGeom prst="roundRect">
            <a:avLst>
              <a:gd name="adj" fmla="val 5217"/>
            </a:avLst>
          </a:prstGeom>
          <a:solidFill>
            <a:srgbClr val="0B032B"/>
          </a:solidFill>
          <a:ln/>
        </p:spPr>
      </p:sp>
      <p:sp>
        <p:nvSpPr>
          <p:cNvPr id="37" name="Text 33"/>
          <p:cNvSpPr txBox="1"/>
          <p:nvPr/>
        </p:nvSpPr>
        <p:spPr>
          <a:xfrm>
            <a:off x="9841992" y="2313432"/>
            <a:ext cx="969264" cy="365760"/>
          </a:xfrm>
          <a:prstGeom prst="rect">
            <a:avLst/>
          </a:prstGeom>
          <a:noFill/>
          <a:ln/>
        </p:spPr>
        <p:txBody>
          <a:bodyPr wrap="square" lIns="0" tIns="0" rIns="0" bIns="0" rtlCol="0" anchor="t"/>
          <a:lstStyle/>
          <a:p>
            <a:pPr indent="0" marL="0">
              <a:buNone/>
            </a:pPr>
            <a:r>
              <a:rPr lang="en-US" sz="1600" dirty="0">
                <a:solidFill>
                  <a:srgbClr val="FFF9C7"/>
                </a:solidFill>
                <a:latin typeface="Impact" pitchFamily="34" charset="0"/>
                <a:ea typeface="Impact" pitchFamily="34" charset="-122"/>
                <a:cs typeface="Impact" pitchFamily="34" charset="-120"/>
              </a:rPr>
              <a:t>06</a:t>
            </a:r>
            <a:endParaRPr lang="en-US" sz="1600" dirty="0"/>
          </a:p>
        </p:txBody>
      </p:sp>
      <p:sp>
        <p:nvSpPr>
          <p:cNvPr id="38" name="Text 34"/>
          <p:cNvSpPr txBox="1"/>
          <p:nvPr/>
        </p:nvSpPr>
        <p:spPr>
          <a:xfrm>
            <a:off x="9841992" y="2697480"/>
            <a:ext cx="950976" cy="274320"/>
          </a:xfrm>
          <a:prstGeom prst="rect">
            <a:avLst/>
          </a:prstGeom>
          <a:noFill/>
          <a:ln/>
        </p:spPr>
        <p:txBody>
          <a:bodyPr wrap="square" lIns="0" tIns="0" rIns="0" bIns="0" rtlCol="0" anchor="t">
            <a:normAutofit/>
          </a:bodyPr>
          <a:lstStyle/>
          <a:p>
            <a:pPr indent="0" marL="0">
              <a:buNone/>
            </a:pPr>
            <a:r>
              <a:rPr lang="en-US" sz="1000" b="1" dirty="0">
                <a:solidFill>
                  <a:srgbClr val="FFFFFF"/>
                </a:solidFill>
                <a:latin typeface="Calibri" pitchFamily="34" charset="0"/>
                <a:ea typeface="Calibri" pitchFamily="34" charset="-122"/>
                <a:cs typeface="Calibri" pitchFamily="34" charset="-120"/>
              </a:rPr>
              <a:t>Habitants &amp; CI</a:t>
            </a:r>
            <a:endParaRPr lang="en-US" sz="1000" dirty="0"/>
          </a:p>
        </p:txBody>
      </p:sp>
      <p:sp>
        <p:nvSpPr>
          <p:cNvPr id="39" name="Text 35"/>
          <p:cNvSpPr txBox="1"/>
          <p:nvPr/>
        </p:nvSpPr>
        <p:spPr>
          <a:xfrm>
            <a:off x="9841992" y="2971800"/>
            <a:ext cx="950976" cy="237744"/>
          </a:xfrm>
          <a:prstGeom prst="rect">
            <a:avLst/>
          </a:prstGeom>
          <a:noFill/>
          <a:ln/>
        </p:spPr>
        <p:txBody>
          <a:bodyPr wrap="square" lIns="0" tIns="0" rIns="0" bIns="0" rtlCol="0" anchor="t"/>
          <a:lstStyle/>
          <a:p>
            <a:pPr indent="0" marL="0">
              <a:buNone/>
            </a:pPr>
            <a:r>
              <a:rPr lang="en-US" sz="950" dirty="0">
                <a:solidFill>
                  <a:srgbClr val="B3B3BA"/>
                </a:solidFill>
                <a:latin typeface="Calibri" pitchFamily="34" charset="0"/>
                <a:ea typeface="Calibri" pitchFamily="34" charset="-122"/>
                <a:cs typeface="Calibri" pitchFamily="34" charset="-120"/>
              </a:rPr>
              <a:t>45 min</a:t>
            </a:r>
            <a:endParaRPr lang="en-US" sz="950" dirty="0"/>
          </a:p>
        </p:txBody>
      </p:sp>
      <p:sp>
        <p:nvSpPr>
          <p:cNvPr id="40" name="Shape 36"/>
          <p:cNvSpPr/>
          <p:nvPr/>
        </p:nvSpPr>
        <p:spPr>
          <a:xfrm>
            <a:off x="10875264" y="2240280"/>
            <a:ext cx="691896" cy="1051560"/>
          </a:xfrm>
          <a:prstGeom prst="roundRect">
            <a:avLst>
              <a:gd name="adj" fmla="val 7930"/>
            </a:avLst>
          </a:prstGeom>
          <a:solidFill>
            <a:srgbClr val="0B032B"/>
          </a:solidFill>
          <a:ln/>
        </p:spPr>
      </p:sp>
      <p:sp>
        <p:nvSpPr>
          <p:cNvPr id="41" name="Text 37"/>
          <p:cNvSpPr txBox="1"/>
          <p:nvPr/>
        </p:nvSpPr>
        <p:spPr>
          <a:xfrm>
            <a:off x="10948416" y="2313432"/>
            <a:ext cx="600456" cy="365760"/>
          </a:xfrm>
          <a:prstGeom prst="rect">
            <a:avLst/>
          </a:prstGeom>
          <a:noFill/>
          <a:ln/>
        </p:spPr>
        <p:txBody>
          <a:bodyPr wrap="square" lIns="0" tIns="0" rIns="0" bIns="0" rtlCol="0" anchor="t"/>
          <a:lstStyle/>
          <a:p>
            <a:pPr indent="0" marL="0">
              <a:buNone/>
            </a:pPr>
            <a:r>
              <a:rPr lang="en-US" sz="1600" dirty="0">
                <a:solidFill>
                  <a:srgbClr val="FFF9C7"/>
                </a:solidFill>
                <a:latin typeface="Impact" pitchFamily="34" charset="0"/>
                <a:ea typeface="Impact" pitchFamily="34" charset="-122"/>
                <a:cs typeface="Impact" pitchFamily="34" charset="-120"/>
              </a:rPr>
              <a:t>07</a:t>
            </a:r>
            <a:endParaRPr lang="en-US" sz="1600" dirty="0"/>
          </a:p>
        </p:txBody>
      </p:sp>
      <p:sp>
        <p:nvSpPr>
          <p:cNvPr id="42" name="Text 38"/>
          <p:cNvSpPr txBox="1"/>
          <p:nvPr/>
        </p:nvSpPr>
        <p:spPr>
          <a:xfrm>
            <a:off x="10948416" y="2697480"/>
            <a:ext cx="582168" cy="274320"/>
          </a:xfrm>
          <a:prstGeom prst="rect">
            <a:avLst/>
          </a:prstGeom>
          <a:noFill/>
          <a:ln/>
        </p:spPr>
        <p:txBody>
          <a:bodyPr wrap="square" lIns="0" tIns="0" rIns="0" bIns="0" rtlCol="0" anchor="t">
            <a:normAutofit/>
          </a:bodyPr>
          <a:lstStyle/>
          <a:p>
            <a:pPr indent="0" marL="0">
              <a:buNone/>
            </a:pPr>
            <a:r>
              <a:rPr lang="en-US" sz="1000" b="1" dirty="0">
                <a:solidFill>
                  <a:srgbClr val="FFFFFF"/>
                </a:solidFill>
                <a:latin typeface="Calibri" pitchFamily="34" charset="0"/>
                <a:ea typeface="Calibri" pitchFamily="34" charset="-122"/>
                <a:cs typeface="Calibri" pitchFamily="34" charset="-120"/>
              </a:rPr>
              <a:t>Concl.</a:t>
            </a:r>
            <a:endParaRPr lang="en-US" sz="1000" dirty="0"/>
          </a:p>
        </p:txBody>
      </p:sp>
      <p:sp>
        <p:nvSpPr>
          <p:cNvPr id="43" name="Text 39"/>
          <p:cNvSpPr txBox="1"/>
          <p:nvPr/>
        </p:nvSpPr>
        <p:spPr>
          <a:xfrm>
            <a:off x="10948416" y="2971800"/>
            <a:ext cx="582168" cy="237744"/>
          </a:xfrm>
          <a:prstGeom prst="rect">
            <a:avLst/>
          </a:prstGeom>
          <a:noFill/>
          <a:ln/>
        </p:spPr>
        <p:txBody>
          <a:bodyPr wrap="square" lIns="0" tIns="0" rIns="0" bIns="0" rtlCol="0" anchor="t"/>
          <a:lstStyle/>
          <a:p>
            <a:pPr indent="0" marL="0">
              <a:buNone/>
            </a:pPr>
            <a:r>
              <a:rPr lang="en-US" sz="950" dirty="0">
                <a:solidFill>
                  <a:srgbClr val="B3B3BA"/>
                </a:solidFill>
                <a:latin typeface="Calibri" pitchFamily="34" charset="0"/>
                <a:ea typeface="Calibri" pitchFamily="34" charset="-122"/>
                <a:cs typeface="Calibri" pitchFamily="34" charset="-120"/>
              </a:rPr>
              <a:t>30 min</a:t>
            </a:r>
            <a:endParaRPr lang="en-US" sz="950" dirty="0"/>
          </a:p>
        </p:txBody>
      </p:sp>
      <p:sp>
        <p:nvSpPr>
          <p:cNvPr id="44" name="Text 40"/>
          <p:cNvSpPr txBox="1"/>
          <p:nvPr/>
        </p:nvSpPr>
        <p:spPr>
          <a:xfrm>
            <a:off x="548640" y="3520440"/>
            <a:ext cx="5486400" cy="274320"/>
          </a:xfrm>
          <a:prstGeom prst="rect">
            <a:avLst/>
          </a:prstGeom>
          <a:noFill/>
          <a:ln/>
        </p:spPr>
        <p:txBody>
          <a:bodyPr wrap="square" lIns="0" tIns="0" rIns="0" bIns="0" rtlCol="0" anchor="t"/>
          <a:lstStyle/>
          <a:p>
            <a:pPr indent="0" marL="0">
              <a:buNone/>
            </a:pPr>
            <a:r>
              <a:rPr lang="en-US" sz="1200" b="1" spc="200" kern="0" dirty="0">
                <a:solidFill>
                  <a:srgbClr val="0B032B"/>
                </a:solidFill>
                <a:latin typeface="Calibri" pitchFamily="34" charset="0"/>
                <a:ea typeface="Calibri" pitchFamily="34" charset="-122"/>
                <a:cs typeface="Calibri" pitchFamily="34" charset="-120"/>
              </a:rPr>
              <a:t>VERSION AJUSTÉE · OCTOBRE 2026</a:t>
            </a:r>
            <a:endParaRPr lang="en-US" sz="1200" dirty="0"/>
          </a:p>
        </p:txBody>
      </p:sp>
      <p:sp>
        <p:nvSpPr>
          <p:cNvPr id="45" name="Text 41"/>
          <p:cNvSpPr txBox="1"/>
          <p:nvPr/>
        </p:nvSpPr>
        <p:spPr>
          <a:xfrm>
            <a:off x="5669280" y="3520440"/>
            <a:ext cx="5943600" cy="274320"/>
          </a:xfrm>
          <a:prstGeom prst="rect">
            <a:avLst/>
          </a:prstGeom>
          <a:noFill/>
          <a:ln/>
        </p:spPr>
        <p:txBody>
          <a:bodyPr wrap="square" lIns="0" tIns="0" rIns="0" bIns="0" rtlCol="0" anchor="t"/>
          <a:lstStyle/>
          <a:p>
            <a:pPr algn="r" indent="0" marL="0">
              <a:buNone/>
            </a:pPr>
            <a:r>
              <a:rPr lang="en-US" sz="1100" dirty="0">
                <a:solidFill>
                  <a:srgbClr val="55516E"/>
                </a:solidFill>
                <a:latin typeface="Calibri" pitchFamily="34" charset="0"/>
                <a:ea typeface="Calibri" pitchFamily="34" charset="-122"/>
                <a:cs typeface="Calibri" pitchFamily="34" charset="-120"/>
              </a:rPr>
              <a:t>09h00 – 12h30 · déjeuner · 13h45 – 17h45</a:t>
            </a:r>
            <a:endParaRPr lang="en-US" sz="1100" dirty="0"/>
          </a:p>
        </p:txBody>
      </p:sp>
      <p:sp>
        <p:nvSpPr>
          <p:cNvPr id="46" name="Shape 42"/>
          <p:cNvSpPr/>
          <p:nvPr/>
        </p:nvSpPr>
        <p:spPr>
          <a:xfrm>
            <a:off x="548640" y="3977640"/>
            <a:ext cx="691896" cy="1051560"/>
          </a:xfrm>
          <a:prstGeom prst="roundRect">
            <a:avLst>
              <a:gd name="adj" fmla="val 7930"/>
            </a:avLst>
          </a:prstGeom>
          <a:solidFill>
            <a:srgbClr val="0B032B"/>
          </a:solidFill>
          <a:ln/>
        </p:spPr>
      </p:sp>
      <p:sp>
        <p:nvSpPr>
          <p:cNvPr id="47" name="Text 43"/>
          <p:cNvSpPr txBox="1"/>
          <p:nvPr/>
        </p:nvSpPr>
        <p:spPr>
          <a:xfrm>
            <a:off x="621792" y="4050792"/>
            <a:ext cx="600456" cy="365760"/>
          </a:xfrm>
          <a:prstGeom prst="rect">
            <a:avLst/>
          </a:prstGeom>
          <a:noFill/>
          <a:ln/>
        </p:spPr>
        <p:txBody>
          <a:bodyPr wrap="square" lIns="0" tIns="0" rIns="0" bIns="0" rtlCol="0" anchor="t"/>
          <a:lstStyle/>
          <a:p>
            <a:pPr indent="0" marL="0">
              <a:buNone/>
            </a:pPr>
            <a:r>
              <a:rPr lang="en-US" sz="1600" dirty="0">
                <a:solidFill>
                  <a:srgbClr val="FFF9C7"/>
                </a:solidFill>
                <a:latin typeface="Impact" pitchFamily="34" charset="0"/>
                <a:ea typeface="Impact" pitchFamily="34" charset="-122"/>
                <a:cs typeface="Impact" pitchFamily="34" charset="-120"/>
              </a:rPr>
              <a:t>00</a:t>
            </a:r>
            <a:endParaRPr lang="en-US" sz="1600" dirty="0"/>
          </a:p>
        </p:txBody>
      </p:sp>
      <p:sp>
        <p:nvSpPr>
          <p:cNvPr id="48" name="Text 44"/>
          <p:cNvSpPr txBox="1"/>
          <p:nvPr/>
        </p:nvSpPr>
        <p:spPr>
          <a:xfrm>
            <a:off x="621792" y="4434840"/>
            <a:ext cx="582168" cy="274320"/>
          </a:xfrm>
          <a:prstGeom prst="rect">
            <a:avLst/>
          </a:prstGeom>
          <a:noFill/>
          <a:ln/>
        </p:spPr>
        <p:txBody>
          <a:bodyPr wrap="square" lIns="0" tIns="0" rIns="0" bIns="0" rtlCol="0" anchor="t">
            <a:normAutofit/>
          </a:bodyPr>
          <a:lstStyle/>
          <a:p>
            <a:pPr indent="0" marL="0">
              <a:buNone/>
            </a:pPr>
            <a:r>
              <a:rPr lang="en-US" sz="1000" b="1" dirty="0">
                <a:solidFill>
                  <a:srgbClr val="FFFFFF"/>
                </a:solidFill>
                <a:latin typeface="Calibri" pitchFamily="34" charset="0"/>
                <a:ea typeface="Calibri" pitchFamily="34" charset="-122"/>
                <a:cs typeface="Calibri" pitchFamily="34" charset="-120"/>
              </a:rPr>
              <a:t>Ouverture</a:t>
            </a:r>
            <a:endParaRPr lang="en-US" sz="1000" dirty="0"/>
          </a:p>
        </p:txBody>
      </p:sp>
      <p:sp>
        <p:nvSpPr>
          <p:cNvPr id="49" name="Text 45"/>
          <p:cNvSpPr txBox="1"/>
          <p:nvPr/>
        </p:nvSpPr>
        <p:spPr>
          <a:xfrm>
            <a:off x="621792" y="4709160"/>
            <a:ext cx="582168" cy="237744"/>
          </a:xfrm>
          <a:prstGeom prst="rect">
            <a:avLst/>
          </a:prstGeom>
          <a:noFill/>
          <a:ln/>
        </p:spPr>
        <p:txBody>
          <a:bodyPr wrap="square" lIns="0" tIns="0" rIns="0" bIns="0" rtlCol="0" anchor="t"/>
          <a:lstStyle/>
          <a:p>
            <a:pPr indent="0" marL="0">
              <a:buNone/>
            </a:pPr>
            <a:r>
              <a:rPr lang="en-US" sz="950" dirty="0">
                <a:solidFill>
                  <a:srgbClr val="B3B3BA"/>
                </a:solidFill>
                <a:latin typeface="Calibri" pitchFamily="34" charset="0"/>
                <a:ea typeface="Calibri" pitchFamily="34" charset="-122"/>
                <a:cs typeface="Calibri" pitchFamily="34" charset="-120"/>
              </a:rPr>
              <a:t>30 min</a:t>
            </a:r>
            <a:endParaRPr lang="en-US" sz="950" dirty="0"/>
          </a:p>
        </p:txBody>
      </p:sp>
      <p:sp>
        <p:nvSpPr>
          <p:cNvPr id="50" name="Shape 46"/>
          <p:cNvSpPr/>
          <p:nvPr/>
        </p:nvSpPr>
        <p:spPr>
          <a:xfrm>
            <a:off x="1286256" y="3977640"/>
            <a:ext cx="1060704" cy="1051560"/>
          </a:xfrm>
          <a:prstGeom prst="roundRect">
            <a:avLst>
              <a:gd name="adj" fmla="val 5217"/>
            </a:avLst>
          </a:prstGeom>
          <a:solidFill>
            <a:srgbClr val="FFF9C7"/>
          </a:solidFill>
          <a:ln w="19050">
            <a:solidFill>
              <a:srgbClr val="0B032B"/>
            </a:solidFill>
            <a:prstDash val="solid"/>
          </a:ln>
        </p:spPr>
      </p:sp>
      <p:sp>
        <p:nvSpPr>
          <p:cNvPr id="51" name="Text 47"/>
          <p:cNvSpPr txBox="1"/>
          <p:nvPr/>
        </p:nvSpPr>
        <p:spPr>
          <a:xfrm>
            <a:off x="1359408" y="4050792"/>
            <a:ext cx="969264" cy="365760"/>
          </a:xfrm>
          <a:prstGeom prst="rect">
            <a:avLst/>
          </a:prstGeom>
          <a:noFill/>
          <a:ln/>
        </p:spPr>
        <p:txBody>
          <a:bodyPr wrap="square" lIns="0" tIns="0" rIns="0" bIns="0" rtlCol="0" anchor="t"/>
          <a:lstStyle/>
          <a:p>
            <a:pPr indent="0" marL="0">
              <a:buNone/>
            </a:pPr>
            <a:r>
              <a:rPr lang="en-US" sz="1600" dirty="0">
                <a:solidFill>
                  <a:srgbClr val="0B032B"/>
                </a:solidFill>
                <a:latin typeface="Impact" pitchFamily="34" charset="0"/>
                <a:ea typeface="Impact" pitchFamily="34" charset="-122"/>
                <a:cs typeface="Impact" pitchFamily="34" charset="-120"/>
              </a:rPr>
              <a:t>01</a:t>
            </a:r>
            <a:endParaRPr lang="en-US" sz="1600" dirty="0"/>
          </a:p>
        </p:txBody>
      </p:sp>
      <p:sp>
        <p:nvSpPr>
          <p:cNvPr id="52" name="Text 48"/>
          <p:cNvSpPr txBox="1"/>
          <p:nvPr/>
        </p:nvSpPr>
        <p:spPr>
          <a:xfrm>
            <a:off x="1359408" y="4434840"/>
            <a:ext cx="950976" cy="274320"/>
          </a:xfrm>
          <a:prstGeom prst="rect">
            <a:avLst/>
          </a:prstGeom>
          <a:noFill/>
          <a:ln/>
        </p:spPr>
        <p:txBody>
          <a:bodyPr wrap="square" lIns="0" tIns="0" rIns="0" bIns="0" rtlCol="0" anchor="t">
            <a:normAutofit/>
          </a:bodyPr>
          <a:lstStyle/>
          <a:p>
            <a:pPr indent="0" marL="0">
              <a:buNone/>
            </a:pPr>
            <a:r>
              <a:rPr lang="en-US" sz="1000" b="1" dirty="0">
                <a:solidFill>
                  <a:srgbClr val="0B032B"/>
                </a:solidFill>
                <a:latin typeface="Calibri" pitchFamily="34" charset="0"/>
                <a:ea typeface="Calibri" pitchFamily="34" charset="-122"/>
                <a:cs typeface="Calibri" pitchFamily="34" charset="-120"/>
              </a:rPr>
              <a:t>Maire</a:t>
            </a:r>
            <a:endParaRPr lang="en-US" sz="1000" dirty="0"/>
          </a:p>
        </p:txBody>
      </p:sp>
      <p:sp>
        <p:nvSpPr>
          <p:cNvPr id="53" name="Text 49"/>
          <p:cNvSpPr txBox="1"/>
          <p:nvPr/>
        </p:nvSpPr>
        <p:spPr>
          <a:xfrm>
            <a:off x="1359408" y="4709160"/>
            <a:ext cx="950976" cy="237744"/>
          </a:xfrm>
          <a:prstGeom prst="rect">
            <a:avLst/>
          </a:prstGeom>
          <a:noFill/>
          <a:ln/>
        </p:spPr>
        <p:txBody>
          <a:bodyPr wrap="square" lIns="0" tIns="0" rIns="0" bIns="0" rtlCol="0" anchor="t"/>
          <a:lstStyle/>
          <a:p>
            <a:pPr indent="0" marL="0">
              <a:buNone/>
            </a:pPr>
            <a:r>
              <a:rPr lang="en-US" sz="950" dirty="0">
                <a:solidFill>
                  <a:srgbClr val="55516E"/>
                </a:solidFill>
                <a:latin typeface="Calibri" pitchFamily="34" charset="0"/>
                <a:ea typeface="Calibri" pitchFamily="34" charset="-122"/>
                <a:cs typeface="Calibri" pitchFamily="34" charset="-120"/>
              </a:rPr>
              <a:t>45 min</a:t>
            </a:r>
            <a:endParaRPr lang="en-US" sz="950" dirty="0"/>
          </a:p>
        </p:txBody>
      </p:sp>
      <p:sp>
        <p:nvSpPr>
          <p:cNvPr id="54" name="Shape 50"/>
          <p:cNvSpPr/>
          <p:nvPr/>
        </p:nvSpPr>
        <p:spPr>
          <a:xfrm>
            <a:off x="1780032" y="3794760"/>
            <a:ext cx="566928" cy="310896"/>
          </a:xfrm>
          <a:prstGeom prst="roundRect">
            <a:avLst>
              <a:gd name="adj" fmla="val 50000"/>
            </a:avLst>
          </a:prstGeom>
          <a:solidFill>
            <a:srgbClr val="55516E"/>
          </a:solidFill>
          <a:ln/>
        </p:spPr>
      </p:sp>
      <p:sp>
        <p:nvSpPr>
          <p:cNvPr id="55" name="Text 51"/>
          <p:cNvSpPr txBox="1"/>
          <p:nvPr/>
        </p:nvSpPr>
        <p:spPr>
          <a:xfrm>
            <a:off x="1780032" y="3794760"/>
            <a:ext cx="566928"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−15</a:t>
            </a:r>
            <a:endParaRPr lang="en-US" sz="1050" dirty="0"/>
          </a:p>
        </p:txBody>
      </p:sp>
      <p:sp>
        <p:nvSpPr>
          <p:cNvPr id="56" name="Shape 52"/>
          <p:cNvSpPr/>
          <p:nvPr/>
        </p:nvSpPr>
        <p:spPr>
          <a:xfrm>
            <a:off x="2392680" y="3977640"/>
            <a:ext cx="323088" cy="1051560"/>
          </a:xfrm>
          <a:prstGeom prst="roundRect">
            <a:avLst>
              <a:gd name="adj" fmla="val 16981"/>
            </a:avLst>
          </a:prstGeom>
          <a:solidFill>
            <a:srgbClr val="F3F2F8"/>
          </a:solidFill>
          <a:ln/>
        </p:spPr>
      </p:sp>
      <p:pic>
        <p:nvPicPr>
          <p:cNvPr id="57" name="Image 2" descr="preencoded.png">    </p:cNvPr>
          <p:cNvPicPr>
            <a:picLocks noChangeAspect="1"/>
          </p:cNvPicPr>
          <p:nvPr/>
        </p:nvPicPr>
        <p:blipFill>
          <a:blip r:embed="rId3"/>
          <a:stretch>
            <a:fillRect/>
          </a:stretch>
        </p:blipFill>
        <p:spPr>
          <a:xfrm>
            <a:off x="2435352" y="4379976"/>
            <a:ext cx="237744" cy="237744"/>
          </a:xfrm>
          <a:prstGeom prst="rect">
            <a:avLst/>
          </a:prstGeom>
        </p:spPr>
      </p:pic>
      <p:sp>
        <p:nvSpPr>
          <p:cNvPr id="58" name="Shape 53"/>
          <p:cNvSpPr/>
          <p:nvPr/>
        </p:nvSpPr>
        <p:spPr>
          <a:xfrm>
            <a:off x="2761488" y="3977640"/>
            <a:ext cx="1429512" cy="1051560"/>
          </a:xfrm>
          <a:prstGeom prst="roundRect">
            <a:avLst>
              <a:gd name="adj" fmla="val 5217"/>
            </a:avLst>
          </a:prstGeom>
          <a:solidFill>
            <a:srgbClr val="0B032B"/>
          </a:solidFill>
          <a:ln/>
        </p:spPr>
      </p:sp>
      <p:sp>
        <p:nvSpPr>
          <p:cNvPr id="59" name="Text 54"/>
          <p:cNvSpPr txBox="1"/>
          <p:nvPr/>
        </p:nvSpPr>
        <p:spPr>
          <a:xfrm>
            <a:off x="2834640" y="4050792"/>
            <a:ext cx="1338072" cy="365760"/>
          </a:xfrm>
          <a:prstGeom prst="rect">
            <a:avLst/>
          </a:prstGeom>
          <a:noFill/>
          <a:ln/>
        </p:spPr>
        <p:txBody>
          <a:bodyPr wrap="square" lIns="0" tIns="0" rIns="0" bIns="0" rtlCol="0" anchor="t"/>
          <a:lstStyle/>
          <a:p>
            <a:pPr indent="0" marL="0">
              <a:buNone/>
            </a:pPr>
            <a:r>
              <a:rPr lang="en-US" sz="1600" dirty="0">
                <a:solidFill>
                  <a:srgbClr val="FFF9C7"/>
                </a:solidFill>
                <a:latin typeface="Impact" pitchFamily="34" charset="0"/>
                <a:ea typeface="Impact" pitchFamily="34" charset="-122"/>
                <a:cs typeface="Impact" pitchFamily="34" charset="-120"/>
              </a:rPr>
              <a:t>02</a:t>
            </a:r>
            <a:endParaRPr lang="en-US" sz="1600" dirty="0"/>
          </a:p>
        </p:txBody>
      </p:sp>
      <p:sp>
        <p:nvSpPr>
          <p:cNvPr id="60" name="Text 55"/>
          <p:cNvSpPr txBox="1"/>
          <p:nvPr/>
        </p:nvSpPr>
        <p:spPr>
          <a:xfrm>
            <a:off x="2834640" y="4434840"/>
            <a:ext cx="1319784" cy="274320"/>
          </a:xfrm>
          <a:prstGeom prst="rect">
            <a:avLst/>
          </a:prstGeom>
          <a:noFill/>
          <a:ln/>
        </p:spPr>
        <p:txBody>
          <a:bodyPr wrap="square" lIns="0" tIns="0" rIns="0" bIns="0" rtlCol="0" anchor="t">
            <a:normAutofit/>
          </a:bodyPr>
          <a:lstStyle/>
          <a:p>
            <a:pPr indent="0" marL="0">
              <a:buNone/>
            </a:pPr>
            <a:r>
              <a:rPr lang="en-US" sz="1000" b="1" dirty="0">
                <a:solidFill>
                  <a:srgbClr val="FFFFFF"/>
                </a:solidFill>
                <a:latin typeface="Calibri" pitchFamily="34" charset="0"/>
                <a:ea typeface="Calibri" pitchFamily="34" charset="-122"/>
                <a:cs typeface="Calibri" pitchFamily="34" charset="-120"/>
              </a:rPr>
              <a:t>Équipe</a:t>
            </a:r>
            <a:endParaRPr lang="en-US" sz="1000" dirty="0"/>
          </a:p>
        </p:txBody>
      </p:sp>
      <p:sp>
        <p:nvSpPr>
          <p:cNvPr id="61" name="Text 56"/>
          <p:cNvSpPr txBox="1"/>
          <p:nvPr/>
        </p:nvSpPr>
        <p:spPr>
          <a:xfrm>
            <a:off x="2834640" y="4709160"/>
            <a:ext cx="1319784" cy="237744"/>
          </a:xfrm>
          <a:prstGeom prst="rect">
            <a:avLst/>
          </a:prstGeom>
          <a:noFill/>
          <a:ln/>
        </p:spPr>
        <p:txBody>
          <a:bodyPr wrap="square" lIns="0" tIns="0" rIns="0" bIns="0" rtlCol="0" anchor="t"/>
          <a:lstStyle/>
          <a:p>
            <a:pPr indent="0" marL="0">
              <a:buNone/>
            </a:pPr>
            <a:r>
              <a:rPr lang="en-US" sz="950" dirty="0">
                <a:solidFill>
                  <a:srgbClr val="B3B3BA"/>
                </a:solidFill>
                <a:latin typeface="Calibri" pitchFamily="34" charset="0"/>
                <a:ea typeface="Calibri" pitchFamily="34" charset="-122"/>
                <a:cs typeface="Calibri" pitchFamily="34" charset="-120"/>
              </a:rPr>
              <a:t>60 min</a:t>
            </a:r>
            <a:endParaRPr lang="en-US" sz="950" dirty="0"/>
          </a:p>
        </p:txBody>
      </p:sp>
      <p:sp>
        <p:nvSpPr>
          <p:cNvPr id="62" name="Shape 57"/>
          <p:cNvSpPr/>
          <p:nvPr/>
        </p:nvSpPr>
        <p:spPr>
          <a:xfrm>
            <a:off x="4236720" y="3977640"/>
            <a:ext cx="1429512" cy="1051560"/>
          </a:xfrm>
          <a:prstGeom prst="roundRect">
            <a:avLst>
              <a:gd name="adj" fmla="val 5217"/>
            </a:avLst>
          </a:prstGeom>
          <a:solidFill>
            <a:srgbClr val="FFF9C7"/>
          </a:solidFill>
          <a:ln w="19050">
            <a:solidFill>
              <a:srgbClr val="0B032B"/>
            </a:solidFill>
            <a:prstDash val="solid"/>
          </a:ln>
        </p:spPr>
      </p:sp>
      <p:sp>
        <p:nvSpPr>
          <p:cNvPr id="63" name="Text 58"/>
          <p:cNvSpPr txBox="1"/>
          <p:nvPr/>
        </p:nvSpPr>
        <p:spPr>
          <a:xfrm>
            <a:off x="4309872" y="4050792"/>
            <a:ext cx="1338072" cy="365760"/>
          </a:xfrm>
          <a:prstGeom prst="rect">
            <a:avLst/>
          </a:prstGeom>
          <a:noFill/>
          <a:ln/>
        </p:spPr>
        <p:txBody>
          <a:bodyPr wrap="square" lIns="0" tIns="0" rIns="0" bIns="0" rtlCol="0" anchor="t"/>
          <a:lstStyle/>
          <a:p>
            <a:pPr indent="0" marL="0">
              <a:buNone/>
            </a:pPr>
            <a:r>
              <a:rPr lang="en-US" sz="1600" dirty="0">
                <a:solidFill>
                  <a:srgbClr val="0B032B"/>
                </a:solidFill>
                <a:latin typeface="Impact" pitchFamily="34" charset="0"/>
                <a:ea typeface="Impact" pitchFamily="34" charset="-122"/>
                <a:cs typeface="Impact" pitchFamily="34" charset="-120"/>
              </a:rPr>
              <a:t>03</a:t>
            </a:r>
            <a:endParaRPr lang="en-US" sz="1600" dirty="0"/>
          </a:p>
        </p:txBody>
      </p:sp>
      <p:sp>
        <p:nvSpPr>
          <p:cNvPr id="64" name="Text 59"/>
          <p:cNvSpPr txBox="1"/>
          <p:nvPr/>
        </p:nvSpPr>
        <p:spPr>
          <a:xfrm>
            <a:off x="4309872" y="4434840"/>
            <a:ext cx="1319784" cy="274320"/>
          </a:xfrm>
          <a:prstGeom prst="rect">
            <a:avLst/>
          </a:prstGeom>
          <a:noFill/>
          <a:ln/>
        </p:spPr>
        <p:txBody>
          <a:bodyPr wrap="square" lIns="0" tIns="0" rIns="0" bIns="0" rtlCol="0" anchor="t">
            <a:normAutofit/>
          </a:bodyPr>
          <a:lstStyle/>
          <a:p>
            <a:pPr indent="0" marL="0">
              <a:buNone/>
            </a:pPr>
            <a:r>
              <a:rPr lang="en-US" sz="1000" b="1" dirty="0">
                <a:solidFill>
                  <a:srgbClr val="0B032B"/>
                </a:solidFill>
                <a:latin typeface="Calibri" pitchFamily="34" charset="0"/>
                <a:ea typeface="Calibri" pitchFamily="34" charset="-122"/>
                <a:cs typeface="Calibri" pitchFamily="34" charset="-120"/>
              </a:rPr>
              <a:t>Agents</a:t>
            </a:r>
            <a:endParaRPr lang="en-US" sz="1000" dirty="0"/>
          </a:p>
        </p:txBody>
      </p:sp>
      <p:sp>
        <p:nvSpPr>
          <p:cNvPr id="65" name="Text 60"/>
          <p:cNvSpPr txBox="1"/>
          <p:nvPr/>
        </p:nvSpPr>
        <p:spPr>
          <a:xfrm>
            <a:off x="4309872" y="4709160"/>
            <a:ext cx="1319784" cy="237744"/>
          </a:xfrm>
          <a:prstGeom prst="rect">
            <a:avLst/>
          </a:prstGeom>
          <a:noFill/>
          <a:ln/>
        </p:spPr>
        <p:txBody>
          <a:bodyPr wrap="square" lIns="0" tIns="0" rIns="0" bIns="0" rtlCol="0" anchor="t"/>
          <a:lstStyle/>
          <a:p>
            <a:pPr indent="0" marL="0">
              <a:buNone/>
            </a:pPr>
            <a:r>
              <a:rPr lang="en-US" sz="950" dirty="0">
                <a:solidFill>
                  <a:srgbClr val="55516E"/>
                </a:solidFill>
                <a:latin typeface="Calibri" pitchFamily="34" charset="0"/>
                <a:ea typeface="Calibri" pitchFamily="34" charset="-122"/>
                <a:cs typeface="Calibri" pitchFamily="34" charset="-120"/>
              </a:rPr>
              <a:t>60 min</a:t>
            </a:r>
            <a:endParaRPr lang="en-US" sz="950" dirty="0"/>
          </a:p>
        </p:txBody>
      </p:sp>
      <p:sp>
        <p:nvSpPr>
          <p:cNvPr id="66" name="Shape 61"/>
          <p:cNvSpPr/>
          <p:nvPr/>
        </p:nvSpPr>
        <p:spPr>
          <a:xfrm>
            <a:off x="5099304" y="3794760"/>
            <a:ext cx="566928" cy="310896"/>
          </a:xfrm>
          <a:prstGeom prst="roundRect">
            <a:avLst>
              <a:gd name="adj" fmla="val 50000"/>
            </a:avLst>
          </a:prstGeom>
          <a:solidFill>
            <a:srgbClr val="E4572E"/>
          </a:solidFill>
          <a:ln/>
        </p:spPr>
      </p:sp>
      <p:sp>
        <p:nvSpPr>
          <p:cNvPr id="67" name="Text 62"/>
          <p:cNvSpPr txBox="1"/>
          <p:nvPr/>
        </p:nvSpPr>
        <p:spPr>
          <a:xfrm>
            <a:off x="5099304" y="3794760"/>
            <a:ext cx="566928"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+15</a:t>
            </a:r>
            <a:endParaRPr lang="en-US" sz="1050" dirty="0"/>
          </a:p>
        </p:txBody>
      </p:sp>
      <p:sp>
        <p:nvSpPr>
          <p:cNvPr id="68" name="Shape 63"/>
          <p:cNvSpPr/>
          <p:nvPr/>
        </p:nvSpPr>
        <p:spPr>
          <a:xfrm>
            <a:off x="5711952" y="3977640"/>
            <a:ext cx="1429512" cy="1051560"/>
          </a:xfrm>
          <a:prstGeom prst="roundRect">
            <a:avLst>
              <a:gd name="adj" fmla="val 5217"/>
            </a:avLst>
          </a:prstGeom>
          <a:solidFill>
            <a:srgbClr val="0B032B"/>
          </a:solidFill>
          <a:ln/>
        </p:spPr>
      </p:sp>
      <p:sp>
        <p:nvSpPr>
          <p:cNvPr id="69" name="Text 64"/>
          <p:cNvSpPr txBox="1"/>
          <p:nvPr/>
        </p:nvSpPr>
        <p:spPr>
          <a:xfrm>
            <a:off x="5785104" y="4050792"/>
            <a:ext cx="1338072" cy="365760"/>
          </a:xfrm>
          <a:prstGeom prst="rect">
            <a:avLst/>
          </a:prstGeom>
          <a:noFill/>
          <a:ln/>
        </p:spPr>
        <p:txBody>
          <a:bodyPr wrap="square" lIns="0" tIns="0" rIns="0" bIns="0" rtlCol="0" anchor="t"/>
          <a:lstStyle/>
          <a:p>
            <a:pPr indent="0" marL="0">
              <a:buNone/>
            </a:pPr>
            <a:r>
              <a:rPr lang="en-US" sz="1600" dirty="0">
                <a:solidFill>
                  <a:srgbClr val="FFF9C7"/>
                </a:solidFill>
                <a:latin typeface="Impact" pitchFamily="34" charset="0"/>
                <a:ea typeface="Impact" pitchFamily="34" charset="-122"/>
                <a:cs typeface="Impact" pitchFamily="34" charset="-120"/>
              </a:rPr>
              <a:t>04</a:t>
            </a:r>
            <a:endParaRPr lang="en-US" sz="1600" dirty="0"/>
          </a:p>
        </p:txBody>
      </p:sp>
      <p:sp>
        <p:nvSpPr>
          <p:cNvPr id="70" name="Text 65"/>
          <p:cNvSpPr txBox="1"/>
          <p:nvPr/>
        </p:nvSpPr>
        <p:spPr>
          <a:xfrm>
            <a:off x="5785104" y="4434840"/>
            <a:ext cx="1319784" cy="274320"/>
          </a:xfrm>
          <a:prstGeom prst="rect">
            <a:avLst/>
          </a:prstGeom>
          <a:noFill/>
          <a:ln/>
        </p:spPr>
        <p:txBody>
          <a:bodyPr wrap="square" lIns="0" tIns="0" rIns="0" bIns="0" rtlCol="0" anchor="t">
            <a:normAutofit/>
          </a:bodyPr>
          <a:lstStyle/>
          <a:p>
            <a:pPr indent="0" marL="0">
              <a:buNone/>
            </a:pPr>
            <a:r>
              <a:rPr lang="en-US" sz="1000" b="1" dirty="0">
                <a:solidFill>
                  <a:srgbClr val="FFFFFF"/>
                </a:solidFill>
                <a:latin typeface="Calibri" pitchFamily="34" charset="0"/>
                <a:ea typeface="Calibri" pitchFamily="34" charset="-122"/>
                <a:cs typeface="Calibri" pitchFamily="34" charset="-120"/>
              </a:rPr>
              <a:t>Droits</a:t>
            </a:r>
            <a:endParaRPr lang="en-US" sz="1000" dirty="0"/>
          </a:p>
        </p:txBody>
      </p:sp>
      <p:sp>
        <p:nvSpPr>
          <p:cNvPr id="71" name="Text 66"/>
          <p:cNvSpPr txBox="1"/>
          <p:nvPr/>
        </p:nvSpPr>
        <p:spPr>
          <a:xfrm>
            <a:off x="5785104" y="4709160"/>
            <a:ext cx="1319784" cy="237744"/>
          </a:xfrm>
          <a:prstGeom prst="rect">
            <a:avLst/>
          </a:prstGeom>
          <a:noFill/>
          <a:ln/>
        </p:spPr>
        <p:txBody>
          <a:bodyPr wrap="square" lIns="0" tIns="0" rIns="0" bIns="0" rtlCol="0" anchor="t"/>
          <a:lstStyle/>
          <a:p>
            <a:pPr indent="0" marL="0">
              <a:buNone/>
            </a:pPr>
            <a:r>
              <a:rPr lang="en-US" sz="950" dirty="0">
                <a:solidFill>
                  <a:srgbClr val="B3B3BA"/>
                </a:solidFill>
                <a:latin typeface="Calibri" pitchFamily="34" charset="0"/>
                <a:ea typeface="Calibri" pitchFamily="34" charset="-122"/>
                <a:cs typeface="Calibri" pitchFamily="34" charset="-120"/>
              </a:rPr>
              <a:t>60 min</a:t>
            </a:r>
            <a:endParaRPr lang="en-US" sz="950" dirty="0"/>
          </a:p>
        </p:txBody>
      </p:sp>
      <p:sp>
        <p:nvSpPr>
          <p:cNvPr id="72" name="Shape 67"/>
          <p:cNvSpPr/>
          <p:nvPr/>
        </p:nvSpPr>
        <p:spPr>
          <a:xfrm>
            <a:off x="7187184" y="3977640"/>
            <a:ext cx="1429512" cy="1051560"/>
          </a:xfrm>
          <a:prstGeom prst="roundRect">
            <a:avLst>
              <a:gd name="adj" fmla="val 5217"/>
            </a:avLst>
          </a:prstGeom>
          <a:solidFill>
            <a:srgbClr val="FFF9C7"/>
          </a:solidFill>
          <a:ln w="19050">
            <a:solidFill>
              <a:srgbClr val="0B032B"/>
            </a:solidFill>
            <a:prstDash val="solid"/>
          </a:ln>
        </p:spPr>
      </p:sp>
      <p:sp>
        <p:nvSpPr>
          <p:cNvPr id="73" name="Text 68"/>
          <p:cNvSpPr txBox="1"/>
          <p:nvPr/>
        </p:nvSpPr>
        <p:spPr>
          <a:xfrm>
            <a:off x="7260336" y="4050792"/>
            <a:ext cx="1338072" cy="365760"/>
          </a:xfrm>
          <a:prstGeom prst="rect">
            <a:avLst/>
          </a:prstGeom>
          <a:noFill/>
          <a:ln/>
        </p:spPr>
        <p:txBody>
          <a:bodyPr wrap="square" lIns="0" tIns="0" rIns="0" bIns="0" rtlCol="0" anchor="t"/>
          <a:lstStyle/>
          <a:p>
            <a:pPr indent="0" marL="0">
              <a:buNone/>
            </a:pPr>
            <a:r>
              <a:rPr lang="en-US" sz="1600" dirty="0">
                <a:solidFill>
                  <a:srgbClr val="0B032B"/>
                </a:solidFill>
                <a:latin typeface="Impact" pitchFamily="34" charset="0"/>
                <a:ea typeface="Impact" pitchFamily="34" charset="-122"/>
                <a:cs typeface="Impact" pitchFamily="34" charset="-120"/>
              </a:rPr>
              <a:t>05</a:t>
            </a:r>
            <a:endParaRPr lang="en-US" sz="1600" dirty="0"/>
          </a:p>
        </p:txBody>
      </p:sp>
      <p:sp>
        <p:nvSpPr>
          <p:cNvPr id="74" name="Text 69"/>
          <p:cNvSpPr txBox="1"/>
          <p:nvPr/>
        </p:nvSpPr>
        <p:spPr>
          <a:xfrm>
            <a:off x="7260336" y="4434840"/>
            <a:ext cx="1319784" cy="274320"/>
          </a:xfrm>
          <a:prstGeom prst="rect">
            <a:avLst/>
          </a:prstGeom>
          <a:noFill/>
          <a:ln/>
        </p:spPr>
        <p:txBody>
          <a:bodyPr wrap="square" lIns="0" tIns="0" rIns="0" bIns="0" rtlCol="0" anchor="t">
            <a:normAutofit/>
          </a:bodyPr>
          <a:lstStyle/>
          <a:p>
            <a:pPr indent="0" marL="0">
              <a:buNone/>
            </a:pPr>
            <a:r>
              <a:rPr lang="en-US" sz="1000" b="1" dirty="0">
                <a:solidFill>
                  <a:srgbClr val="0B032B"/>
                </a:solidFill>
                <a:latin typeface="Calibri" pitchFamily="34" charset="0"/>
                <a:ea typeface="Calibri" pitchFamily="34" charset="-122"/>
                <a:cs typeface="Calibri" pitchFamily="34" charset="-120"/>
              </a:rPr>
              <a:t>Institutions</a:t>
            </a:r>
            <a:endParaRPr lang="en-US" sz="1000" dirty="0"/>
          </a:p>
        </p:txBody>
      </p:sp>
      <p:sp>
        <p:nvSpPr>
          <p:cNvPr id="75" name="Text 70"/>
          <p:cNvSpPr txBox="1"/>
          <p:nvPr/>
        </p:nvSpPr>
        <p:spPr>
          <a:xfrm>
            <a:off x="7260336" y="4709160"/>
            <a:ext cx="1319784" cy="237744"/>
          </a:xfrm>
          <a:prstGeom prst="rect">
            <a:avLst/>
          </a:prstGeom>
          <a:noFill/>
          <a:ln/>
        </p:spPr>
        <p:txBody>
          <a:bodyPr wrap="square" lIns="0" tIns="0" rIns="0" bIns="0" rtlCol="0" anchor="t"/>
          <a:lstStyle/>
          <a:p>
            <a:pPr indent="0" marL="0">
              <a:buNone/>
            </a:pPr>
            <a:r>
              <a:rPr lang="en-US" sz="950" dirty="0">
                <a:solidFill>
                  <a:srgbClr val="55516E"/>
                </a:solidFill>
                <a:latin typeface="Calibri" pitchFamily="34" charset="0"/>
                <a:ea typeface="Calibri" pitchFamily="34" charset="-122"/>
                <a:cs typeface="Calibri" pitchFamily="34" charset="-120"/>
              </a:rPr>
              <a:t>60 min</a:t>
            </a:r>
            <a:endParaRPr lang="en-US" sz="950" dirty="0"/>
          </a:p>
        </p:txBody>
      </p:sp>
      <p:sp>
        <p:nvSpPr>
          <p:cNvPr id="76" name="Shape 71"/>
          <p:cNvSpPr/>
          <p:nvPr/>
        </p:nvSpPr>
        <p:spPr>
          <a:xfrm>
            <a:off x="8049768" y="3794760"/>
            <a:ext cx="566928" cy="310896"/>
          </a:xfrm>
          <a:prstGeom prst="roundRect">
            <a:avLst>
              <a:gd name="adj" fmla="val 50000"/>
            </a:avLst>
          </a:prstGeom>
          <a:solidFill>
            <a:srgbClr val="55516E"/>
          </a:solidFill>
          <a:ln/>
        </p:spPr>
      </p:sp>
      <p:sp>
        <p:nvSpPr>
          <p:cNvPr id="77" name="Text 72"/>
          <p:cNvSpPr txBox="1"/>
          <p:nvPr/>
        </p:nvSpPr>
        <p:spPr>
          <a:xfrm>
            <a:off x="8049768" y="3794760"/>
            <a:ext cx="566928"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−30</a:t>
            </a:r>
            <a:endParaRPr lang="en-US" sz="1050" dirty="0"/>
          </a:p>
        </p:txBody>
      </p:sp>
      <p:sp>
        <p:nvSpPr>
          <p:cNvPr id="78" name="Shape 73"/>
          <p:cNvSpPr/>
          <p:nvPr/>
        </p:nvSpPr>
        <p:spPr>
          <a:xfrm>
            <a:off x="8662416" y="3977640"/>
            <a:ext cx="323088" cy="1051560"/>
          </a:xfrm>
          <a:prstGeom prst="roundRect">
            <a:avLst>
              <a:gd name="adj" fmla="val 16981"/>
            </a:avLst>
          </a:prstGeom>
          <a:solidFill>
            <a:srgbClr val="F3F2F8"/>
          </a:solidFill>
          <a:ln/>
        </p:spPr>
      </p:sp>
      <p:pic>
        <p:nvPicPr>
          <p:cNvPr id="79" name="Image 3" descr="preencoded.png">    </p:cNvPr>
          <p:cNvPicPr>
            <a:picLocks noChangeAspect="1"/>
          </p:cNvPicPr>
          <p:nvPr/>
        </p:nvPicPr>
        <p:blipFill>
          <a:blip r:embed="rId4"/>
          <a:stretch>
            <a:fillRect/>
          </a:stretch>
        </p:blipFill>
        <p:spPr>
          <a:xfrm>
            <a:off x="8705088" y="4379976"/>
            <a:ext cx="237744" cy="237744"/>
          </a:xfrm>
          <a:prstGeom prst="rect">
            <a:avLst/>
          </a:prstGeom>
        </p:spPr>
      </p:pic>
      <p:sp>
        <p:nvSpPr>
          <p:cNvPr id="80" name="Shape 74"/>
          <p:cNvSpPr/>
          <p:nvPr/>
        </p:nvSpPr>
        <p:spPr>
          <a:xfrm>
            <a:off x="9031224" y="3977640"/>
            <a:ext cx="1798320" cy="1051560"/>
          </a:xfrm>
          <a:prstGeom prst="roundRect">
            <a:avLst>
              <a:gd name="adj" fmla="val 5217"/>
            </a:avLst>
          </a:prstGeom>
          <a:solidFill>
            <a:srgbClr val="FFF9C7"/>
          </a:solidFill>
          <a:ln w="19050">
            <a:solidFill>
              <a:srgbClr val="0B032B"/>
            </a:solidFill>
            <a:prstDash val="solid"/>
          </a:ln>
        </p:spPr>
      </p:sp>
      <p:sp>
        <p:nvSpPr>
          <p:cNvPr id="81" name="Text 75"/>
          <p:cNvSpPr txBox="1"/>
          <p:nvPr/>
        </p:nvSpPr>
        <p:spPr>
          <a:xfrm>
            <a:off x="9104376" y="4050792"/>
            <a:ext cx="1706880" cy="365760"/>
          </a:xfrm>
          <a:prstGeom prst="rect">
            <a:avLst/>
          </a:prstGeom>
          <a:noFill/>
          <a:ln/>
        </p:spPr>
        <p:txBody>
          <a:bodyPr wrap="square" lIns="0" tIns="0" rIns="0" bIns="0" rtlCol="0" anchor="t"/>
          <a:lstStyle/>
          <a:p>
            <a:pPr indent="0" marL="0">
              <a:buNone/>
            </a:pPr>
            <a:r>
              <a:rPr lang="en-US" sz="1600" dirty="0">
                <a:solidFill>
                  <a:srgbClr val="0B032B"/>
                </a:solidFill>
                <a:latin typeface="Impact" pitchFamily="34" charset="0"/>
                <a:ea typeface="Impact" pitchFamily="34" charset="-122"/>
                <a:cs typeface="Impact" pitchFamily="34" charset="-120"/>
              </a:rPr>
              <a:t>06</a:t>
            </a:r>
            <a:endParaRPr lang="en-US" sz="1600" dirty="0"/>
          </a:p>
        </p:txBody>
      </p:sp>
      <p:sp>
        <p:nvSpPr>
          <p:cNvPr id="82" name="Text 76"/>
          <p:cNvSpPr txBox="1"/>
          <p:nvPr/>
        </p:nvSpPr>
        <p:spPr>
          <a:xfrm>
            <a:off x="9104376" y="4434840"/>
            <a:ext cx="1688592" cy="274320"/>
          </a:xfrm>
          <a:prstGeom prst="rect">
            <a:avLst/>
          </a:prstGeom>
          <a:noFill/>
          <a:ln/>
        </p:spPr>
        <p:txBody>
          <a:bodyPr wrap="square" lIns="0" tIns="0" rIns="0" bIns="0" rtlCol="0" anchor="t">
            <a:normAutofit/>
          </a:bodyPr>
          <a:lstStyle/>
          <a:p>
            <a:pPr indent="0" marL="0">
              <a:buNone/>
            </a:pPr>
            <a:r>
              <a:rPr lang="en-US" sz="1000" b="1" dirty="0">
                <a:solidFill>
                  <a:srgbClr val="0B032B"/>
                </a:solidFill>
                <a:latin typeface="Calibri" pitchFamily="34" charset="0"/>
                <a:ea typeface="Calibri" pitchFamily="34" charset="-122"/>
                <a:cs typeface="Calibri" pitchFamily="34" charset="-120"/>
              </a:rPr>
              <a:t>Habitants &amp; CI</a:t>
            </a:r>
            <a:endParaRPr lang="en-US" sz="1000" dirty="0"/>
          </a:p>
        </p:txBody>
      </p:sp>
      <p:sp>
        <p:nvSpPr>
          <p:cNvPr id="83" name="Text 77"/>
          <p:cNvSpPr txBox="1"/>
          <p:nvPr/>
        </p:nvSpPr>
        <p:spPr>
          <a:xfrm>
            <a:off x="9104376" y="4709160"/>
            <a:ext cx="1688592" cy="237744"/>
          </a:xfrm>
          <a:prstGeom prst="rect">
            <a:avLst/>
          </a:prstGeom>
          <a:noFill/>
          <a:ln/>
        </p:spPr>
        <p:txBody>
          <a:bodyPr wrap="square" lIns="0" tIns="0" rIns="0" bIns="0" rtlCol="0" anchor="t"/>
          <a:lstStyle/>
          <a:p>
            <a:pPr indent="0" marL="0">
              <a:buNone/>
            </a:pPr>
            <a:r>
              <a:rPr lang="en-US" sz="950" dirty="0">
                <a:solidFill>
                  <a:srgbClr val="55516E"/>
                </a:solidFill>
                <a:latin typeface="Calibri" pitchFamily="34" charset="0"/>
                <a:ea typeface="Calibri" pitchFamily="34" charset="-122"/>
                <a:cs typeface="Calibri" pitchFamily="34" charset="-120"/>
              </a:rPr>
              <a:t>75 min</a:t>
            </a:r>
            <a:endParaRPr lang="en-US" sz="950" dirty="0"/>
          </a:p>
        </p:txBody>
      </p:sp>
      <p:sp>
        <p:nvSpPr>
          <p:cNvPr id="84" name="Shape 78"/>
          <p:cNvSpPr/>
          <p:nvPr/>
        </p:nvSpPr>
        <p:spPr>
          <a:xfrm>
            <a:off x="10262616" y="3794760"/>
            <a:ext cx="566928" cy="310896"/>
          </a:xfrm>
          <a:prstGeom prst="roundRect">
            <a:avLst>
              <a:gd name="adj" fmla="val 50000"/>
            </a:avLst>
          </a:prstGeom>
          <a:solidFill>
            <a:srgbClr val="E4572E"/>
          </a:solidFill>
          <a:ln/>
        </p:spPr>
      </p:sp>
      <p:sp>
        <p:nvSpPr>
          <p:cNvPr id="85" name="Text 79"/>
          <p:cNvSpPr txBox="1"/>
          <p:nvPr/>
        </p:nvSpPr>
        <p:spPr>
          <a:xfrm>
            <a:off x="10262616" y="3794760"/>
            <a:ext cx="566928"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+30</a:t>
            </a:r>
            <a:endParaRPr lang="en-US" sz="1050" dirty="0"/>
          </a:p>
        </p:txBody>
      </p:sp>
      <p:sp>
        <p:nvSpPr>
          <p:cNvPr id="86" name="Shape 80"/>
          <p:cNvSpPr/>
          <p:nvPr/>
        </p:nvSpPr>
        <p:spPr>
          <a:xfrm>
            <a:off x="10875264" y="3977640"/>
            <a:ext cx="691896" cy="1051560"/>
          </a:xfrm>
          <a:prstGeom prst="roundRect">
            <a:avLst>
              <a:gd name="adj" fmla="val 7930"/>
            </a:avLst>
          </a:prstGeom>
          <a:solidFill>
            <a:srgbClr val="0B032B"/>
          </a:solidFill>
          <a:ln/>
        </p:spPr>
      </p:sp>
      <p:sp>
        <p:nvSpPr>
          <p:cNvPr id="87" name="Text 81"/>
          <p:cNvSpPr txBox="1"/>
          <p:nvPr/>
        </p:nvSpPr>
        <p:spPr>
          <a:xfrm>
            <a:off x="10948416" y="4050792"/>
            <a:ext cx="600456" cy="365760"/>
          </a:xfrm>
          <a:prstGeom prst="rect">
            <a:avLst/>
          </a:prstGeom>
          <a:noFill/>
          <a:ln/>
        </p:spPr>
        <p:txBody>
          <a:bodyPr wrap="square" lIns="0" tIns="0" rIns="0" bIns="0" rtlCol="0" anchor="t"/>
          <a:lstStyle/>
          <a:p>
            <a:pPr indent="0" marL="0">
              <a:buNone/>
            </a:pPr>
            <a:r>
              <a:rPr lang="en-US" sz="1600" dirty="0">
                <a:solidFill>
                  <a:srgbClr val="FFF9C7"/>
                </a:solidFill>
                <a:latin typeface="Impact" pitchFamily="34" charset="0"/>
                <a:ea typeface="Impact" pitchFamily="34" charset="-122"/>
                <a:cs typeface="Impact" pitchFamily="34" charset="-120"/>
              </a:rPr>
              <a:t>07</a:t>
            </a:r>
            <a:endParaRPr lang="en-US" sz="1600" dirty="0"/>
          </a:p>
        </p:txBody>
      </p:sp>
      <p:sp>
        <p:nvSpPr>
          <p:cNvPr id="88" name="Text 82"/>
          <p:cNvSpPr txBox="1"/>
          <p:nvPr/>
        </p:nvSpPr>
        <p:spPr>
          <a:xfrm>
            <a:off x="10948416" y="4434840"/>
            <a:ext cx="582168" cy="274320"/>
          </a:xfrm>
          <a:prstGeom prst="rect">
            <a:avLst/>
          </a:prstGeom>
          <a:noFill/>
          <a:ln/>
        </p:spPr>
        <p:txBody>
          <a:bodyPr wrap="square" lIns="0" tIns="0" rIns="0" bIns="0" rtlCol="0" anchor="t">
            <a:normAutofit/>
          </a:bodyPr>
          <a:lstStyle/>
          <a:p>
            <a:pPr indent="0" marL="0">
              <a:buNone/>
            </a:pPr>
            <a:r>
              <a:rPr lang="en-US" sz="1000" b="1" dirty="0">
                <a:solidFill>
                  <a:srgbClr val="FFFFFF"/>
                </a:solidFill>
                <a:latin typeface="Calibri" pitchFamily="34" charset="0"/>
                <a:ea typeface="Calibri" pitchFamily="34" charset="-122"/>
                <a:cs typeface="Calibri" pitchFamily="34" charset="-120"/>
              </a:rPr>
              <a:t>Concl.</a:t>
            </a:r>
            <a:endParaRPr lang="en-US" sz="1000" dirty="0"/>
          </a:p>
        </p:txBody>
      </p:sp>
      <p:sp>
        <p:nvSpPr>
          <p:cNvPr id="89" name="Text 83"/>
          <p:cNvSpPr txBox="1"/>
          <p:nvPr/>
        </p:nvSpPr>
        <p:spPr>
          <a:xfrm>
            <a:off x="10948416" y="4709160"/>
            <a:ext cx="582168" cy="237744"/>
          </a:xfrm>
          <a:prstGeom prst="rect">
            <a:avLst/>
          </a:prstGeom>
          <a:noFill/>
          <a:ln/>
        </p:spPr>
        <p:txBody>
          <a:bodyPr wrap="square" lIns="0" tIns="0" rIns="0" bIns="0" rtlCol="0" anchor="t"/>
          <a:lstStyle/>
          <a:p>
            <a:pPr indent="0" marL="0">
              <a:buNone/>
            </a:pPr>
            <a:r>
              <a:rPr lang="en-US" sz="950" dirty="0">
                <a:solidFill>
                  <a:srgbClr val="B3B3BA"/>
                </a:solidFill>
                <a:latin typeface="Calibri" pitchFamily="34" charset="0"/>
                <a:ea typeface="Calibri" pitchFamily="34" charset="-122"/>
                <a:cs typeface="Calibri" pitchFamily="34" charset="-120"/>
              </a:rPr>
              <a:t>30 min</a:t>
            </a:r>
            <a:endParaRPr lang="en-US" sz="950" dirty="0"/>
          </a:p>
        </p:txBody>
      </p:sp>
      <p:sp>
        <p:nvSpPr>
          <p:cNvPr id="90" name="Text 84"/>
          <p:cNvSpPr txBox="1"/>
          <p:nvPr/>
        </p:nvSpPr>
        <p:spPr>
          <a:xfrm>
            <a:off x="5236464" y="3364992"/>
            <a:ext cx="914400" cy="228600"/>
          </a:xfrm>
          <a:prstGeom prst="rect">
            <a:avLst/>
          </a:prstGeom>
          <a:noFill/>
          <a:ln/>
        </p:spPr>
        <p:txBody>
          <a:bodyPr wrap="square" lIns="0" tIns="0" rIns="0" bIns="0" rtlCol="0" anchor="t"/>
          <a:lstStyle/>
          <a:p>
            <a:pPr algn="ctr" indent="0" marL="0">
              <a:buNone/>
            </a:pPr>
            <a:r>
              <a:rPr lang="en-US" sz="900" i="1" dirty="0">
                <a:solidFill>
                  <a:srgbClr val="55516E"/>
                </a:solidFill>
                <a:latin typeface="Calibri" pitchFamily="34" charset="0"/>
                <a:ea typeface="Calibri" pitchFamily="34" charset="-122"/>
                <a:cs typeface="Calibri" pitchFamily="34" charset="-120"/>
              </a:rPr>
              <a:t>déjeuner</a:t>
            </a:r>
            <a:endParaRPr lang="en-US" sz="900" dirty="0"/>
          </a:p>
        </p:txBody>
      </p:sp>
      <p:sp>
        <p:nvSpPr>
          <p:cNvPr id="91" name="Shape 85"/>
          <p:cNvSpPr/>
          <p:nvPr/>
        </p:nvSpPr>
        <p:spPr>
          <a:xfrm>
            <a:off x="548640" y="5394960"/>
            <a:ext cx="11064240" cy="777240"/>
          </a:xfrm>
          <a:prstGeom prst="roundRect">
            <a:avLst>
              <a:gd name="adj" fmla="val 14118"/>
            </a:avLst>
          </a:prstGeom>
          <a:solidFill>
            <a:srgbClr val="F3F2F8"/>
          </a:solidFill>
          <a:ln/>
        </p:spPr>
      </p:sp>
      <p:sp>
        <p:nvSpPr>
          <p:cNvPr id="92" name="Text 86"/>
          <p:cNvSpPr txBox="1"/>
          <p:nvPr/>
        </p:nvSpPr>
        <p:spPr>
          <a:xfrm>
            <a:off x="822960" y="5394960"/>
            <a:ext cx="10515600" cy="777240"/>
          </a:xfrm>
          <a:prstGeom prst="rect">
            <a:avLst/>
          </a:prstGeom>
          <a:noFill/>
          <a:ln/>
        </p:spPr>
        <p:txBody>
          <a:bodyPr wrap="square" lIns="0" tIns="0" rIns="0" bIns="0" rtlCol="0" anchor="ctr"/>
          <a:lstStyle/>
          <a:p>
            <a:pPr indent="0" marL="0">
              <a:buNone/>
            </a:pPr>
            <a:r>
              <a:rPr lang="en-US" sz="1350" b="1" dirty="0">
                <a:solidFill>
                  <a:srgbClr val="0B032B"/>
                </a:solidFill>
                <a:latin typeface="Calibri" pitchFamily="34" charset="0"/>
                <a:ea typeface="Calibri" pitchFamily="34" charset="-122"/>
                <a:cs typeface="Calibri" pitchFamily="34" charset="-120"/>
              </a:rPr>
              <a:t>Plus de pratique là où les écarts sont forts </a:t>
            </a:r>
            <a:pPr indent="0" marL="0">
              <a:buNone/>
            </a:pPr>
            <a:r>
              <a:rPr lang="en-US" sz="1350" dirty="0">
                <a:solidFill>
                  <a:srgbClr val="0B032B"/>
                </a:solidFill>
                <a:latin typeface="Calibri" pitchFamily="34" charset="0"/>
                <a:ea typeface="Calibri" pitchFamily="34" charset="-122"/>
                <a:cs typeface="Calibri" pitchFamily="34" charset="-120"/>
              </a:rPr>
              <a:t>(agents +15 min, habitants et conflits d’intérêts +30 min), </a:t>
            </a:r>
            <a:pPr indent="0" marL="0">
              <a:buNone/>
            </a:pPr>
            <a:r>
              <a:rPr lang="en-US" sz="1350" b="1" dirty="0">
                <a:solidFill>
                  <a:srgbClr val="0B032B"/>
                </a:solidFill>
                <a:latin typeface="Calibri" pitchFamily="34" charset="0"/>
                <a:ea typeface="Calibri" pitchFamily="34" charset="-122"/>
                <a:cs typeface="Calibri" pitchFamily="34" charset="-120"/>
              </a:rPr>
              <a:t>moins d’apports descriptifs </a:t>
            </a:r>
            <a:pPr indent="0" marL="0">
              <a:buNone/>
            </a:pPr>
            <a:r>
              <a:rPr lang="en-US" sz="1350" dirty="0">
                <a:solidFill>
                  <a:srgbClr val="0B032B"/>
                </a:solidFill>
                <a:latin typeface="Calibri" pitchFamily="34" charset="0"/>
                <a:ea typeface="Calibri" pitchFamily="34" charset="-122"/>
                <a:cs typeface="Calibri" pitchFamily="34" charset="-120"/>
              </a:rPr>
              <a:t>là où les acquis sont solides (rôle du maire −15 min, institutions −30 min).</a:t>
            </a:r>
            <a:endParaRPr lang="en-US" sz="1350" dirty="0"/>
          </a:p>
        </p:txBody>
      </p:sp>
      <p:sp>
        <p:nvSpPr>
          <p:cNvPr id="93" name="Text 87"/>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spc="100" kern="0" dirty="0">
                <a:solidFill>
                  <a:srgbClr val="8A8699"/>
                </a:solidFill>
                <a:latin typeface="Calibri" pitchFamily="34" charset="0"/>
                <a:ea typeface="Calibri" pitchFamily="34" charset="-122"/>
                <a:cs typeface="Calibri" pitchFamily="34" charset="-120"/>
              </a:rPr>
              <a:t>ENMA FORMATION  ·  Formation des élus municipaux 2026</a:t>
            </a:r>
            <a:endParaRPr lang="en-US" sz="900" dirty="0"/>
          </a:p>
        </p:txBody>
      </p:sp>
      <p:sp>
        <p:nvSpPr>
          <p:cNvPr id="94" name="Text 88"/>
          <p:cNvSpPr txBox="1"/>
          <p:nvPr/>
        </p:nvSpPr>
        <p:spPr>
          <a:xfrm>
            <a:off x="9692640" y="6400800"/>
            <a:ext cx="548640" cy="274320"/>
          </a:xfrm>
          <a:prstGeom prst="rect">
            <a:avLst/>
          </a:prstGeom>
          <a:noFill/>
          <a:ln/>
        </p:spPr>
        <p:txBody>
          <a:bodyPr wrap="square" lIns="0" tIns="0" rIns="0" bIns="0" rtlCol="0" anchor="ctr"/>
          <a:lstStyle/>
          <a:p>
            <a:pPr algn="r" indent="0" marL="0">
              <a:buNone/>
            </a:pPr>
            <a:r>
              <a:rPr lang="en-US" sz="900" dirty="0">
                <a:solidFill>
                  <a:srgbClr val="8A8699"/>
                </a:solidFill>
                <a:latin typeface="Calibri" pitchFamily="34" charset="0"/>
                <a:ea typeface="Calibri" pitchFamily="34" charset="-122"/>
                <a:cs typeface="Calibri" pitchFamily="34" charset="-120"/>
              </a:rPr>
              <a:t>61</a:t>
            </a:r>
            <a:endParaRPr lang="en-US" sz="900" dirty="0"/>
          </a:p>
        </p:txBody>
      </p:sp>
      <p:pic>
        <p:nvPicPr>
          <p:cNvPr id="95" name="Image 4" descr="preencoded.png">    </p:cNvPr>
          <p:cNvPicPr>
            <a:picLocks noChangeAspect="1"/>
          </p:cNvPicPr>
          <p:nvPr/>
        </p:nvPicPr>
        <p:blipFill>
          <a:blip r:embed="rId5"/>
          <a:stretch>
            <a:fillRect/>
          </a:stretch>
        </p:blipFill>
        <p:spPr>
          <a:xfrm>
            <a:off x="10469880" y="6309360"/>
            <a:ext cx="1170432" cy="484632"/>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420624" cy="310896"/>
          </a:xfrm>
          <a:prstGeom prst="roundRect">
            <a:avLst>
              <a:gd name="adj" fmla="val 23529"/>
            </a:avLst>
          </a:prstGeom>
          <a:solidFill>
            <a:srgbClr val="0B032B"/>
          </a:solidFill>
          <a:ln/>
        </p:spPr>
      </p:sp>
      <p:sp>
        <p:nvSpPr>
          <p:cNvPr id="3" name="Text 1"/>
          <p:cNvSpPr txBox="1"/>
          <p:nvPr/>
        </p:nvSpPr>
        <p:spPr>
          <a:xfrm>
            <a:off x="548640" y="438912"/>
            <a:ext cx="420624" cy="310896"/>
          </a:xfrm>
          <a:prstGeom prst="rect">
            <a:avLst/>
          </a:prstGeom>
          <a:noFill/>
          <a:ln/>
        </p:spPr>
        <p:txBody>
          <a:bodyPr wrap="square" lIns="0" tIns="0" rIns="0" bIns="0" rtlCol="0" anchor="ctr"/>
          <a:lstStyle/>
          <a:p>
            <a:pPr algn="ctr" indent="0" marL="0">
              <a:buNone/>
            </a:pPr>
            <a:r>
              <a:rPr lang="en-US" sz="1100" b="1" dirty="0">
                <a:solidFill>
                  <a:srgbClr val="FFF9C7"/>
                </a:solidFill>
                <a:latin typeface="Calibri" pitchFamily="34" charset="0"/>
                <a:ea typeface="Calibri" pitchFamily="34" charset="-122"/>
                <a:cs typeface="Calibri" pitchFamily="34" charset="-120"/>
              </a:rPr>
              <a:t>08</a:t>
            </a:r>
            <a:endParaRPr lang="en-US" sz="1100" dirty="0"/>
          </a:p>
        </p:txBody>
      </p:sp>
      <p:sp>
        <p:nvSpPr>
          <p:cNvPr id="4" name="Text 2"/>
          <p:cNvSpPr txBox="1"/>
          <p:nvPr/>
        </p:nvSpPr>
        <p:spPr>
          <a:xfrm>
            <a:off x="1115568" y="438912"/>
            <a:ext cx="8229600" cy="310896"/>
          </a:xfrm>
          <a:prstGeom prst="rect">
            <a:avLst/>
          </a:prstGeom>
          <a:noFill/>
          <a:ln/>
        </p:spPr>
        <p:txBody>
          <a:bodyPr wrap="square" lIns="0" tIns="0" rIns="0" bIns="0" rtlCol="0" anchor="ctr"/>
          <a:lstStyle/>
          <a:p>
            <a:pPr indent="0" marL="0">
              <a:buNone/>
            </a:pPr>
            <a:r>
              <a:rPr lang="en-US" sz="1100" b="1" spc="200" kern="0" dirty="0">
                <a:solidFill>
                  <a:srgbClr val="55516E"/>
                </a:solidFill>
                <a:latin typeface="Calibri" pitchFamily="34" charset="0"/>
                <a:ea typeface="Calibri" pitchFamily="34" charset="-122"/>
                <a:cs typeface="Calibri" pitchFamily="34" charset="-120"/>
              </a:rPr>
              <a:t>RETOURS D’EXPÉRIENCE</a:t>
            </a:r>
            <a:endParaRPr lang="en-US" sz="1100" dirty="0"/>
          </a:p>
        </p:txBody>
      </p:sp>
      <p:sp>
        <p:nvSpPr>
          <p:cNvPr id="5" name="Text 3"/>
          <p:cNvSpPr txBox="1"/>
          <p:nvPr/>
        </p:nvSpPr>
        <p:spPr>
          <a:xfrm>
            <a:off x="548640" y="841248"/>
            <a:ext cx="11064240" cy="685800"/>
          </a:xfrm>
          <a:prstGeom prst="rect">
            <a:avLst/>
          </a:prstGeom>
          <a:noFill/>
          <a:ln/>
        </p:spPr>
        <p:txBody>
          <a:bodyPr wrap="square" lIns="0" tIns="0" rIns="0" bIns="0" rtlCol="0" anchor="ctr">
            <a:normAutofit/>
          </a:bodyPr>
          <a:lstStyle/>
          <a:p>
            <a:pPr indent="0" marL="0">
              <a:buNone/>
            </a:pPr>
            <a:r>
              <a:rPr lang="en-US" sz="2800" b="1" dirty="0">
                <a:solidFill>
                  <a:srgbClr val="0B032B"/>
                </a:solidFill>
                <a:latin typeface="Calibri" pitchFamily="34" charset="0"/>
                <a:ea typeface="Calibri" pitchFamily="34" charset="-122"/>
                <a:cs typeface="Calibri" pitchFamily="34" charset="-120"/>
              </a:rPr>
              <a:t>Trois outils ajoutés au kit remis aux élus</a:t>
            </a:r>
            <a:endParaRPr lang="en-US" sz="2800" dirty="0"/>
          </a:p>
        </p:txBody>
      </p:sp>
      <p:sp>
        <p:nvSpPr>
          <p:cNvPr id="6" name="Shape 4"/>
          <p:cNvSpPr/>
          <p:nvPr/>
        </p:nvSpPr>
        <p:spPr>
          <a:xfrm>
            <a:off x="548640" y="1783080"/>
            <a:ext cx="3520440" cy="4343400"/>
          </a:xfrm>
          <a:prstGeom prst="roundRect">
            <a:avLst>
              <a:gd name="adj" fmla="val 3117"/>
            </a:avLst>
          </a:prstGeom>
          <a:solidFill>
            <a:srgbClr val="F3F2F8"/>
          </a:solidFill>
          <a:ln/>
        </p:spPr>
      </p:sp>
      <p:sp>
        <p:nvSpPr>
          <p:cNvPr id="7" name="Shape 5"/>
          <p:cNvSpPr/>
          <p:nvPr/>
        </p:nvSpPr>
        <p:spPr>
          <a:xfrm>
            <a:off x="804672" y="2011680"/>
            <a:ext cx="658368" cy="658368"/>
          </a:xfrm>
          <a:prstGeom prst="ellipse">
            <a:avLst/>
          </a:prstGeom>
          <a:solidFill>
            <a:srgbClr val="0B032B"/>
          </a:solidFill>
          <a:ln/>
        </p:spPr>
      </p:sp>
      <p:pic>
        <p:nvPicPr>
          <p:cNvPr id="8" name="Image 0" descr="preencoded.png">    </p:cNvPr>
          <p:cNvPicPr>
            <a:picLocks noChangeAspect="1"/>
          </p:cNvPicPr>
          <p:nvPr/>
        </p:nvPicPr>
        <p:blipFill>
          <a:blip r:embed="rId1"/>
          <a:stretch>
            <a:fillRect/>
          </a:stretch>
        </p:blipFill>
        <p:spPr>
          <a:xfrm>
            <a:off x="949513" y="2156521"/>
            <a:ext cx="368686" cy="368686"/>
          </a:xfrm>
          <a:prstGeom prst="rect">
            <a:avLst/>
          </a:prstGeom>
        </p:spPr>
      </p:pic>
      <p:sp>
        <p:nvSpPr>
          <p:cNvPr id="9" name="Text 6"/>
          <p:cNvSpPr txBox="1"/>
          <p:nvPr/>
        </p:nvSpPr>
        <p:spPr>
          <a:xfrm>
            <a:off x="1600200" y="2011680"/>
            <a:ext cx="2286000" cy="658368"/>
          </a:xfrm>
          <a:prstGeom prst="rect">
            <a:avLst/>
          </a:prstGeom>
          <a:noFill/>
          <a:ln/>
        </p:spPr>
        <p:txBody>
          <a:bodyPr wrap="square" lIns="0" tIns="0" rIns="0" bIns="0" rtlCol="0" anchor="ctr"/>
          <a:lstStyle/>
          <a:p>
            <a:pPr indent="0" marL="0">
              <a:buNone/>
            </a:pPr>
            <a:r>
              <a:rPr lang="en-US" sz="1500" b="1" dirty="0">
                <a:solidFill>
                  <a:srgbClr val="0B032B"/>
                </a:solidFill>
                <a:latin typeface="Calibri" pitchFamily="34" charset="0"/>
                <a:ea typeface="Calibri" pitchFamily="34" charset="-122"/>
                <a:cs typeface="Calibri" pitchFamily="34" charset="-120"/>
              </a:rPr>
              <a:t>Fiche réflexe « Se déporter »</a:t>
            </a:r>
            <a:endParaRPr lang="en-US" sz="1500" dirty="0"/>
          </a:p>
        </p:txBody>
      </p:sp>
      <p:sp>
        <p:nvSpPr>
          <p:cNvPr id="10" name="Text 7"/>
          <p:cNvSpPr txBox="1"/>
          <p:nvPr/>
        </p:nvSpPr>
        <p:spPr>
          <a:xfrm>
            <a:off x="822960" y="2880360"/>
            <a:ext cx="3017520" cy="310896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250" dirty="0">
                <a:solidFill>
                  <a:srgbClr val="0B032B"/>
                </a:solidFill>
                <a:latin typeface="Calibri" pitchFamily="34" charset="0"/>
                <a:ea typeface="Calibri" pitchFamily="34" charset="-122"/>
                <a:cs typeface="Calibri" pitchFamily="34" charset="-120"/>
              </a:rPr>
              <a:t>Repérer : intérêt personnel, familial, professionnel ou financier.</a:t>
            </a:r>
            <a:endParaRPr lang="en-US" sz="1250" dirty="0"/>
          </a:p>
          <a:p>
            <a:pPr marL="342900" indent="-342900">
              <a:spcAft>
                <a:spcPts val="800"/>
              </a:spcAft>
              <a:buSzPct val="100000"/>
              <a:buFont typeface="+mj-lt"/>
              <a:buAutoNum type="arabicPeriod" startAt="1"/>
            </a:pPr>
            <a:r>
              <a:rPr lang="en-US" sz="1250" dirty="0">
                <a:solidFill>
                  <a:srgbClr val="0B032B"/>
                </a:solidFill>
                <a:latin typeface="Calibri" pitchFamily="34" charset="0"/>
                <a:ea typeface="Calibri" pitchFamily="34" charset="-122"/>
                <a:cs typeface="Calibri" pitchFamily="34" charset="-120"/>
              </a:rPr>
              <a:t>Déclarer par écrit, avant le débat.</a:t>
            </a:r>
            <a:endParaRPr lang="en-US" sz="1250" dirty="0"/>
          </a:p>
          <a:p>
            <a:pPr marL="342900" indent="-342900">
              <a:spcAft>
                <a:spcPts val="800"/>
              </a:spcAft>
              <a:buSzPct val="100000"/>
              <a:buFont typeface="+mj-lt"/>
              <a:buAutoNum type="arabicPeriod" startAt="1"/>
            </a:pPr>
            <a:r>
              <a:rPr lang="en-US" sz="1250" dirty="0">
                <a:solidFill>
                  <a:srgbClr val="0B032B"/>
                </a:solidFill>
                <a:latin typeface="Calibri" pitchFamily="34" charset="0"/>
                <a:ea typeface="Calibri" pitchFamily="34" charset="-122"/>
                <a:cs typeface="Calibri" pitchFamily="34" charset="-120"/>
              </a:rPr>
              <a:t>Sortir de la salle : ni débat, ni vote, ni travaux préparatoires.</a:t>
            </a:r>
            <a:endParaRPr lang="en-US" sz="1250" dirty="0"/>
          </a:p>
          <a:p>
            <a:pPr marL="342900" indent="-342900">
              <a:spcAft>
                <a:spcPts val="800"/>
              </a:spcAft>
              <a:buSzPct val="100000"/>
              <a:buFont typeface="+mj-lt"/>
              <a:buAutoNum type="arabicPeriod" startAt="1"/>
            </a:pPr>
            <a:r>
              <a:rPr lang="en-US" sz="1250" dirty="0">
                <a:solidFill>
                  <a:srgbClr val="0B032B"/>
                </a:solidFill>
                <a:latin typeface="Calibri" pitchFamily="34" charset="0"/>
                <a:ea typeface="Calibri" pitchFamily="34" charset="-122"/>
                <a:cs typeface="Calibri" pitchFamily="34" charset="-120"/>
              </a:rPr>
              <a:t>Formaliser : mention au procès-verbal, arrêté de déport si besoin.</a:t>
            </a:r>
            <a:endParaRPr lang="en-US" sz="1250" dirty="0"/>
          </a:p>
        </p:txBody>
      </p:sp>
      <p:sp>
        <p:nvSpPr>
          <p:cNvPr id="11" name="Shape 8"/>
          <p:cNvSpPr/>
          <p:nvPr/>
        </p:nvSpPr>
        <p:spPr>
          <a:xfrm>
            <a:off x="4297680" y="1783080"/>
            <a:ext cx="3520440" cy="4343400"/>
          </a:xfrm>
          <a:prstGeom prst="roundRect">
            <a:avLst>
              <a:gd name="adj" fmla="val 3117"/>
            </a:avLst>
          </a:prstGeom>
          <a:solidFill>
            <a:srgbClr val="F3F2F8"/>
          </a:solidFill>
          <a:ln/>
        </p:spPr>
      </p:sp>
      <p:sp>
        <p:nvSpPr>
          <p:cNvPr id="12" name="Shape 9"/>
          <p:cNvSpPr/>
          <p:nvPr/>
        </p:nvSpPr>
        <p:spPr>
          <a:xfrm>
            <a:off x="4553712" y="2011680"/>
            <a:ext cx="658368" cy="658368"/>
          </a:xfrm>
          <a:prstGeom prst="ellipse">
            <a:avLst/>
          </a:prstGeom>
          <a:solidFill>
            <a:srgbClr val="0B032B"/>
          </a:solidFill>
          <a:ln/>
        </p:spPr>
      </p:sp>
      <p:pic>
        <p:nvPicPr>
          <p:cNvPr id="13" name="Image 1" descr="preencoded.png">    </p:cNvPr>
          <p:cNvPicPr>
            <a:picLocks noChangeAspect="1"/>
          </p:cNvPicPr>
          <p:nvPr/>
        </p:nvPicPr>
        <p:blipFill>
          <a:blip r:embed="rId2"/>
          <a:stretch>
            <a:fillRect/>
          </a:stretch>
        </p:blipFill>
        <p:spPr>
          <a:xfrm>
            <a:off x="4698553" y="2156521"/>
            <a:ext cx="368686" cy="368686"/>
          </a:xfrm>
          <a:prstGeom prst="rect">
            <a:avLst/>
          </a:prstGeom>
        </p:spPr>
      </p:pic>
      <p:sp>
        <p:nvSpPr>
          <p:cNvPr id="14" name="Text 10"/>
          <p:cNvSpPr txBox="1"/>
          <p:nvPr/>
        </p:nvSpPr>
        <p:spPr>
          <a:xfrm>
            <a:off x="5349240" y="2011680"/>
            <a:ext cx="2286000" cy="658368"/>
          </a:xfrm>
          <a:prstGeom prst="rect">
            <a:avLst/>
          </a:prstGeom>
          <a:noFill/>
          <a:ln/>
        </p:spPr>
        <p:txBody>
          <a:bodyPr wrap="square" lIns="0" tIns="0" rIns="0" bIns="0" rtlCol="0" anchor="ctr"/>
          <a:lstStyle/>
          <a:p>
            <a:pPr indent="0" marL="0">
              <a:buNone/>
            </a:pPr>
            <a:r>
              <a:rPr lang="en-US" sz="1500" b="1" dirty="0">
                <a:solidFill>
                  <a:srgbClr val="0B032B"/>
                </a:solidFill>
                <a:latin typeface="Calibri" pitchFamily="34" charset="0"/>
                <a:ea typeface="Calibri" pitchFamily="34" charset="-122"/>
                <a:cs typeface="Calibri" pitchFamily="34" charset="-120"/>
              </a:rPr>
              <a:t>Circuit des demandes aux services</a:t>
            </a:r>
            <a:endParaRPr lang="en-US" sz="1500" dirty="0"/>
          </a:p>
        </p:txBody>
      </p:sp>
      <p:sp>
        <p:nvSpPr>
          <p:cNvPr id="15" name="Text 11"/>
          <p:cNvSpPr txBox="1"/>
          <p:nvPr/>
        </p:nvSpPr>
        <p:spPr>
          <a:xfrm>
            <a:off x="4572000" y="2880360"/>
            <a:ext cx="3017520" cy="310896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250" dirty="0">
                <a:solidFill>
                  <a:srgbClr val="0B032B"/>
                </a:solidFill>
                <a:latin typeface="Calibri" pitchFamily="34" charset="0"/>
                <a:ea typeface="Calibri" pitchFamily="34" charset="-122"/>
                <a:cs typeface="Calibri" pitchFamily="34" charset="-120"/>
              </a:rPr>
              <a:t>Toute demande d’habitant ou d’élu passe par un point d’entrée unique.</a:t>
            </a:r>
            <a:endParaRPr lang="en-US" sz="1250" dirty="0"/>
          </a:p>
          <a:p>
            <a:pPr marL="342900" indent="-342900">
              <a:spcAft>
                <a:spcPts val="800"/>
              </a:spcAft>
              <a:buSzPct val="100000"/>
              <a:buFont typeface="+mj-lt"/>
              <a:buAutoNum type="arabicPeriod" startAt="1"/>
            </a:pPr>
            <a:r>
              <a:rPr lang="en-US" sz="1250" dirty="0">
                <a:solidFill>
                  <a:srgbClr val="0B032B"/>
                </a:solidFill>
                <a:latin typeface="Calibri" pitchFamily="34" charset="0"/>
                <a:ea typeface="Calibri" pitchFamily="34" charset="-122"/>
                <a:cs typeface="Calibri" pitchFamily="34" charset="-120"/>
              </a:rPr>
              <a:t>Le maire, ou l’élu délégataire, fixe la priorité.</a:t>
            </a:r>
            <a:endParaRPr lang="en-US" sz="1250" dirty="0"/>
          </a:p>
          <a:p>
            <a:pPr marL="342900" indent="-342900">
              <a:spcAft>
                <a:spcPts val="800"/>
              </a:spcAft>
              <a:buSzPct val="100000"/>
              <a:buFont typeface="+mj-lt"/>
              <a:buAutoNum type="arabicPeriod" startAt="1"/>
            </a:pPr>
            <a:r>
              <a:rPr lang="en-US" sz="1250" dirty="0">
                <a:solidFill>
                  <a:srgbClr val="0B032B"/>
                </a:solidFill>
                <a:latin typeface="Calibri" pitchFamily="34" charset="0"/>
                <a:ea typeface="Calibri" pitchFamily="34" charset="-122"/>
                <a:cs typeface="Calibri" pitchFamily="34" charset="-120"/>
              </a:rPr>
              <a:t>La direction ou le responsable de service transmet la consigne.</a:t>
            </a:r>
            <a:endParaRPr lang="en-US" sz="1250" dirty="0"/>
          </a:p>
          <a:p>
            <a:pPr marL="342900" indent="-342900">
              <a:spcAft>
                <a:spcPts val="800"/>
              </a:spcAft>
              <a:buSzPct val="100000"/>
              <a:buFont typeface="+mj-lt"/>
              <a:buAutoNum type="arabicPeriod" startAt="1"/>
            </a:pPr>
            <a:r>
              <a:rPr lang="en-US" sz="1250" dirty="0">
                <a:solidFill>
                  <a:srgbClr val="0B032B"/>
                </a:solidFill>
                <a:latin typeface="Calibri" pitchFamily="34" charset="0"/>
                <a:ea typeface="Calibri" pitchFamily="34" charset="-122"/>
                <a:cs typeface="Calibri" pitchFamily="34" charset="-120"/>
              </a:rPr>
              <a:t>Retour à l’élu demandeur sous 8 jours.</a:t>
            </a:r>
            <a:endParaRPr lang="en-US" sz="1250" dirty="0"/>
          </a:p>
        </p:txBody>
      </p:sp>
      <p:sp>
        <p:nvSpPr>
          <p:cNvPr id="16" name="Shape 12"/>
          <p:cNvSpPr/>
          <p:nvPr/>
        </p:nvSpPr>
        <p:spPr>
          <a:xfrm>
            <a:off x="8046720" y="1783080"/>
            <a:ext cx="3520440" cy="4343400"/>
          </a:xfrm>
          <a:prstGeom prst="roundRect">
            <a:avLst>
              <a:gd name="adj" fmla="val 3117"/>
            </a:avLst>
          </a:prstGeom>
          <a:solidFill>
            <a:srgbClr val="0B032B"/>
          </a:solidFill>
          <a:ln/>
        </p:spPr>
      </p:sp>
      <p:sp>
        <p:nvSpPr>
          <p:cNvPr id="17" name="Shape 13"/>
          <p:cNvSpPr/>
          <p:nvPr/>
        </p:nvSpPr>
        <p:spPr>
          <a:xfrm>
            <a:off x="8302752" y="2011680"/>
            <a:ext cx="658368" cy="658368"/>
          </a:xfrm>
          <a:prstGeom prst="ellipse">
            <a:avLst/>
          </a:prstGeom>
          <a:solidFill>
            <a:srgbClr val="FFF9C7"/>
          </a:solidFill>
          <a:ln/>
        </p:spPr>
      </p:sp>
      <p:pic>
        <p:nvPicPr>
          <p:cNvPr id="18" name="Image 2" descr="preencoded.png">    </p:cNvPr>
          <p:cNvPicPr>
            <a:picLocks noChangeAspect="1"/>
          </p:cNvPicPr>
          <p:nvPr/>
        </p:nvPicPr>
        <p:blipFill>
          <a:blip r:embed="rId3"/>
          <a:stretch>
            <a:fillRect/>
          </a:stretch>
        </p:blipFill>
        <p:spPr>
          <a:xfrm>
            <a:off x="8447593" y="2156521"/>
            <a:ext cx="368686" cy="368686"/>
          </a:xfrm>
          <a:prstGeom prst="rect">
            <a:avLst/>
          </a:prstGeom>
        </p:spPr>
      </p:pic>
      <p:sp>
        <p:nvSpPr>
          <p:cNvPr id="19" name="Text 14"/>
          <p:cNvSpPr txBox="1"/>
          <p:nvPr/>
        </p:nvSpPr>
        <p:spPr>
          <a:xfrm>
            <a:off x="9098280" y="2011680"/>
            <a:ext cx="2286000" cy="658368"/>
          </a:xfrm>
          <a:prstGeom prst="rect">
            <a:avLst/>
          </a:prstGeom>
          <a:noFill/>
          <a:ln/>
        </p:spPr>
        <p:txBody>
          <a:bodyPr wrap="square" lIns="0" tIns="0" rIns="0" bIns="0" rtlCol="0" anchor="ctr"/>
          <a:lstStyle/>
          <a:p>
            <a:pPr indent="0" marL="0">
              <a:buNone/>
            </a:pPr>
            <a:r>
              <a:rPr lang="en-US" sz="1500" b="1" dirty="0">
                <a:solidFill>
                  <a:srgbClr val="FFF9C7"/>
                </a:solidFill>
                <a:latin typeface="Calibri" pitchFamily="34" charset="0"/>
                <a:ea typeface="Calibri" pitchFamily="34" charset="-122"/>
                <a:cs typeface="Calibri" pitchFamily="34" charset="-120"/>
              </a:rPr>
              <a:t>5 phrases pour écouter sans promettre</a:t>
            </a:r>
            <a:endParaRPr lang="en-US" sz="1500" dirty="0"/>
          </a:p>
        </p:txBody>
      </p:sp>
      <p:sp>
        <p:nvSpPr>
          <p:cNvPr id="20" name="Text 15"/>
          <p:cNvSpPr txBox="1"/>
          <p:nvPr/>
        </p:nvSpPr>
        <p:spPr>
          <a:xfrm>
            <a:off x="8321040" y="2880360"/>
            <a:ext cx="3017520" cy="3108960"/>
          </a:xfrm>
          <a:prstGeom prst="rect">
            <a:avLst/>
          </a:prstGeom>
          <a:noFill/>
          <a:ln/>
        </p:spPr>
        <p:txBody>
          <a:bodyPr wrap="square" lIns="0" tIns="0" rIns="0" bIns="0" rtlCol="0" anchor="t"/>
          <a:lstStyle/>
          <a:p>
            <a:pPr marL="203200" indent="-203200">
              <a:spcAft>
                <a:spcPts val="800"/>
              </a:spcAft>
              <a:buSzPct val="100000"/>
              <a:buChar char="●"/>
            </a:pPr>
            <a:r>
              <a:rPr lang="en-US" sz="1250" i="1" dirty="0">
                <a:solidFill>
                  <a:srgbClr val="FFFFFF"/>
                </a:solidFill>
                <a:latin typeface="Calibri" pitchFamily="34" charset="0"/>
                <a:ea typeface="Calibri" pitchFamily="34" charset="-122"/>
                <a:cs typeface="Calibri" pitchFamily="34" charset="-120"/>
              </a:rPr>
              <a:t>« Je comprends. Pouvez-vous me préciser votre situation ? »</a:t>
            </a:r>
            <a:endParaRPr lang="en-US" sz="1250" dirty="0"/>
          </a:p>
          <a:p>
            <a:pPr marL="203200" indent="-203200">
              <a:spcAft>
                <a:spcPts val="800"/>
              </a:spcAft>
              <a:buSzPct val="100000"/>
              <a:buChar char="●"/>
            </a:pPr>
            <a:r>
              <a:rPr lang="en-US" sz="1250" i="1" dirty="0">
                <a:solidFill>
                  <a:srgbClr val="FFFFFF"/>
                </a:solidFill>
                <a:latin typeface="Calibri" pitchFamily="34" charset="0"/>
                <a:ea typeface="Calibri" pitchFamily="34" charset="-122"/>
                <a:cs typeface="Calibri" pitchFamily="34" charset="-120"/>
              </a:rPr>
              <a:t>« Je ne décide pas seul : voici qui décide, et quand. »</a:t>
            </a:r>
            <a:endParaRPr lang="en-US" sz="1250" dirty="0"/>
          </a:p>
          <a:p>
            <a:pPr marL="203200" indent="-203200">
              <a:spcAft>
                <a:spcPts val="800"/>
              </a:spcAft>
              <a:buSzPct val="100000"/>
              <a:buChar char="●"/>
            </a:pPr>
            <a:r>
              <a:rPr lang="en-US" sz="1250" i="1" dirty="0">
                <a:solidFill>
                  <a:srgbClr val="FFFFFF"/>
                </a:solidFill>
                <a:latin typeface="Calibri" pitchFamily="34" charset="0"/>
                <a:ea typeface="Calibri" pitchFamily="34" charset="-122"/>
                <a:cs typeface="Calibri" pitchFamily="34" charset="-120"/>
              </a:rPr>
              <a:t>« Je vous propose un rendez-vous en mairie avec le service. »</a:t>
            </a:r>
            <a:endParaRPr lang="en-US" sz="1250" dirty="0"/>
          </a:p>
          <a:p>
            <a:pPr marL="203200" indent="-203200">
              <a:spcAft>
                <a:spcPts val="800"/>
              </a:spcAft>
              <a:buSzPct val="100000"/>
              <a:buChar char="●"/>
            </a:pPr>
            <a:r>
              <a:rPr lang="en-US" sz="1250" i="1" dirty="0">
                <a:solidFill>
                  <a:srgbClr val="FFFFFF"/>
                </a:solidFill>
                <a:latin typeface="Calibri" pitchFamily="34" charset="0"/>
                <a:ea typeface="Calibri" pitchFamily="34" charset="-122"/>
                <a:cs typeface="Calibri" pitchFamily="34" charset="-120"/>
              </a:rPr>
              <a:t>« Je ne peux pas parler du dossier d’un autre habitant. »</a:t>
            </a:r>
            <a:endParaRPr lang="en-US" sz="1250" dirty="0"/>
          </a:p>
          <a:p>
            <a:pPr marL="203200" indent="-203200">
              <a:spcAft>
                <a:spcPts val="800"/>
              </a:spcAft>
              <a:buSzPct val="100000"/>
              <a:buChar char="●"/>
            </a:pPr>
            <a:r>
              <a:rPr lang="en-US" sz="1250" i="1" dirty="0">
                <a:solidFill>
                  <a:srgbClr val="FFFFFF"/>
                </a:solidFill>
                <a:latin typeface="Calibri" pitchFamily="34" charset="0"/>
                <a:ea typeface="Calibri" pitchFamily="34" charset="-122"/>
                <a:cs typeface="Calibri" pitchFamily="34" charset="-120"/>
              </a:rPr>
              <a:t>« Je reviens vers vous au plus tard le… »</a:t>
            </a:r>
            <a:endParaRPr lang="en-US" sz="1250" dirty="0"/>
          </a:p>
        </p:txBody>
      </p:sp>
      <p:sp>
        <p:nvSpPr>
          <p:cNvPr id="21" name="Text 16"/>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spc="100" kern="0" dirty="0">
                <a:solidFill>
                  <a:srgbClr val="8A8699"/>
                </a:solidFill>
                <a:latin typeface="Calibri" pitchFamily="34" charset="0"/>
                <a:ea typeface="Calibri" pitchFamily="34" charset="-122"/>
                <a:cs typeface="Calibri" pitchFamily="34" charset="-120"/>
              </a:rPr>
              <a:t>ENMA FORMATION  ·  Formation des élus municipaux 2026</a:t>
            </a:r>
            <a:endParaRPr lang="en-US" sz="900" dirty="0"/>
          </a:p>
        </p:txBody>
      </p:sp>
      <p:sp>
        <p:nvSpPr>
          <p:cNvPr id="22" name="Text 17"/>
          <p:cNvSpPr txBox="1"/>
          <p:nvPr/>
        </p:nvSpPr>
        <p:spPr>
          <a:xfrm>
            <a:off x="9692640" y="6400800"/>
            <a:ext cx="548640" cy="274320"/>
          </a:xfrm>
          <a:prstGeom prst="rect">
            <a:avLst/>
          </a:prstGeom>
          <a:noFill/>
          <a:ln/>
        </p:spPr>
        <p:txBody>
          <a:bodyPr wrap="square" lIns="0" tIns="0" rIns="0" bIns="0" rtlCol="0" anchor="ctr"/>
          <a:lstStyle/>
          <a:p>
            <a:pPr algn="r" indent="0" marL="0">
              <a:buNone/>
            </a:pPr>
            <a:r>
              <a:rPr lang="en-US" sz="900" dirty="0">
                <a:solidFill>
                  <a:srgbClr val="8A8699"/>
                </a:solidFill>
                <a:latin typeface="Calibri" pitchFamily="34" charset="0"/>
                <a:ea typeface="Calibri" pitchFamily="34" charset="-122"/>
                <a:cs typeface="Calibri" pitchFamily="34" charset="-120"/>
              </a:rPr>
              <a:t>62</a:t>
            </a:r>
            <a:endParaRPr lang="en-US" sz="900" dirty="0"/>
          </a:p>
        </p:txBody>
      </p:sp>
      <p:pic>
        <p:nvPicPr>
          <p:cNvPr id="23" name="Image 3" descr="preencoded.png">    </p:cNvPr>
          <p:cNvPicPr>
            <a:picLocks noChangeAspect="1"/>
          </p:cNvPicPr>
          <p:nvPr/>
        </p:nvPicPr>
        <p:blipFill>
          <a:blip r:embed="rId4"/>
          <a:stretch>
            <a:fillRect/>
          </a:stretch>
        </p:blipFill>
        <p:spPr>
          <a:xfrm>
            <a:off x="10469880" y="6309360"/>
            <a:ext cx="1170432" cy="484632"/>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0B032B"/>
        </a:solidFill>
      </p:bgPr>
    </p:bg>
    <p:spTree>
      <p:nvGrpSpPr>
        <p:cNvPr id="1" name=""/>
        <p:cNvGrpSpPr/>
        <p:nvPr/>
      </p:nvGrpSpPr>
      <p:grpSpPr>
        <a:xfrm>
          <a:off x="0" y="0"/>
          <a:ext cx="0" cy="0"/>
          <a:chOff x="0" y="0"/>
          <a:chExt cx="0" cy="0"/>
        </a:xfrm>
      </p:grpSpPr>
      <p:sp>
        <p:nvSpPr>
          <p:cNvPr id="2" name="Shape 0"/>
          <p:cNvSpPr/>
          <p:nvPr/>
        </p:nvSpPr>
        <p:spPr>
          <a:xfrm>
            <a:off x="548640" y="438912"/>
            <a:ext cx="420624" cy="310896"/>
          </a:xfrm>
          <a:prstGeom prst="roundRect">
            <a:avLst>
              <a:gd name="adj" fmla="val 23529"/>
            </a:avLst>
          </a:prstGeom>
          <a:solidFill>
            <a:srgbClr val="FFF9C7"/>
          </a:solidFill>
          <a:ln/>
        </p:spPr>
      </p:sp>
      <p:sp>
        <p:nvSpPr>
          <p:cNvPr id="3" name="Text 1"/>
          <p:cNvSpPr txBox="1"/>
          <p:nvPr/>
        </p:nvSpPr>
        <p:spPr>
          <a:xfrm>
            <a:off x="548640" y="438912"/>
            <a:ext cx="420624" cy="310896"/>
          </a:xfrm>
          <a:prstGeom prst="rect">
            <a:avLst/>
          </a:prstGeom>
          <a:noFill/>
          <a:ln/>
        </p:spPr>
        <p:txBody>
          <a:bodyPr wrap="square" lIns="0" tIns="0" rIns="0" bIns="0" rtlCol="0" anchor="ctr"/>
          <a:lstStyle/>
          <a:p>
            <a:pPr algn="ctr" indent="0" marL="0">
              <a:buNone/>
            </a:pPr>
            <a:r>
              <a:rPr lang="en-US" sz="1100" b="1" dirty="0">
                <a:solidFill>
                  <a:srgbClr val="0B032B"/>
                </a:solidFill>
                <a:latin typeface="Calibri" pitchFamily="34" charset="0"/>
                <a:ea typeface="Calibri" pitchFamily="34" charset="-122"/>
                <a:cs typeface="Calibri" pitchFamily="34" charset="-120"/>
              </a:rPr>
              <a:t>08</a:t>
            </a:r>
            <a:endParaRPr lang="en-US" sz="1100" dirty="0"/>
          </a:p>
        </p:txBody>
      </p:sp>
      <p:sp>
        <p:nvSpPr>
          <p:cNvPr id="4" name="Text 2"/>
          <p:cNvSpPr txBox="1"/>
          <p:nvPr/>
        </p:nvSpPr>
        <p:spPr>
          <a:xfrm>
            <a:off x="1115568" y="438912"/>
            <a:ext cx="8229600" cy="310896"/>
          </a:xfrm>
          <a:prstGeom prst="rect">
            <a:avLst/>
          </a:prstGeom>
          <a:noFill/>
          <a:ln/>
        </p:spPr>
        <p:txBody>
          <a:bodyPr wrap="square" lIns="0" tIns="0" rIns="0" bIns="0" rtlCol="0" anchor="ctr"/>
          <a:lstStyle/>
          <a:p>
            <a:pPr indent="0" marL="0">
              <a:buNone/>
            </a:pPr>
            <a:r>
              <a:rPr lang="en-US" sz="1100" b="1" spc="200" kern="0" dirty="0">
                <a:solidFill>
                  <a:srgbClr val="FFF9C7"/>
                </a:solidFill>
                <a:latin typeface="Calibri" pitchFamily="34" charset="0"/>
                <a:ea typeface="Calibri" pitchFamily="34" charset="-122"/>
                <a:cs typeface="Calibri" pitchFamily="34" charset="-120"/>
              </a:rPr>
              <a:t>RETOURS D’EXPÉRIENCE</a:t>
            </a:r>
            <a:endParaRPr lang="en-US" sz="1100" dirty="0"/>
          </a:p>
        </p:txBody>
      </p:sp>
      <p:sp>
        <p:nvSpPr>
          <p:cNvPr id="5" name="Text 3"/>
          <p:cNvSpPr txBox="1"/>
          <p:nvPr/>
        </p:nvSpPr>
        <p:spPr>
          <a:xfrm>
            <a:off x="548640" y="841248"/>
            <a:ext cx="11064240" cy="685800"/>
          </a:xfrm>
          <a:prstGeom prst="rect">
            <a:avLst/>
          </a:prstGeom>
          <a:noFill/>
          <a:ln/>
        </p:spPr>
        <p:txBody>
          <a:bodyPr wrap="square" lIns="0" tIns="0" rIns="0" bIns="0" rtlCol="0" anchor="ctr">
            <a:normAutofit/>
          </a:bodyPr>
          <a:lstStyle/>
          <a:p>
            <a:pPr indent="0" marL="0">
              <a:buNone/>
            </a:pPr>
            <a:r>
              <a:rPr lang="en-US" sz="2800" b="1" dirty="0">
                <a:solidFill>
                  <a:srgbClr val="FFFFFF"/>
                </a:solidFill>
                <a:latin typeface="Calibri" pitchFamily="34" charset="0"/>
                <a:ea typeface="Calibri" pitchFamily="34" charset="-122"/>
                <a:cs typeface="Calibri" pitchFamily="34" charset="-120"/>
              </a:rPr>
              <a:t>Une démarche d’amélioration continue</a:t>
            </a:r>
            <a:endParaRPr lang="en-US" sz="2800" dirty="0"/>
          </a:p>
        </p:txBody>
      </p:sp>
      <p:sp>
        <p:nvSpPr>
          <p:cNvPr id="6" name="Shape 4"/>
          <p:cNvSpPr/>
          <p:nvPr/>
        </p:nvSpPr>
        <p:spPr>
          <a:xfrm>
            <a:off x="1042416" y="1920240"/>
            <a:ext cx="1097280" cy="1097280"/>
          </a:xfrm>
          <a:prstGeom prst="ellipse">
            <a:avLst/>
          </a:prstGeom>
          <a:solidFill>
            <a:srgbClr val="1F1A4D"/>
          </a:solidFill>
          <a:ln w="12700">
            <a:solidFill>
              <a:srgbClr val="FFF9C7"/>
            </a:solidFill>
            <a:prstDash val="solid"/>
          </a:ln>
        </p:spPr>
      </p:sp>
      <p:pic>
        <p:nvPicPr>
          <p:cNvPr id="7" name="Image 0" descr="preencoded.png">    </p:cNvPr>
          <p:cNvPicPr>
            <a:picLocks noChangeAspect="1"/>
          </p:cNvPicPr>
          <p:nvPr/>
        </p:nvPicPr>
        <p:blipFill>
          <a:blip r:embed="rId1"/>
          <a:stretch>
            <a:fillRect/>
          </a:stretch>
        </p:blipFill>
        <p:spPr>
          <a:xfrm>
            <a:off x="1316736" y="2194560"/>
            <a:ext cx="548640" cy="548640"/>
          </a:xfrm>
          <a:prstGeom prst="rect">
            <a:avLst/>
          </a:prstGeom>
        </p:spPr>
      </p:pic>
      <p:sp>
        <p:nvSpPr>
          <p:cNvPr id="8" name="Shape 5"/>
          <p:cNvSpPr/>
          <p:nvPr/>
        </p:nvSpPr>
        <p:spPr>
          <a:xfrm>
            <a:off x="2249424" y="2468880"/>
            <a:ext cx="713232" cy="0"/>
          </a:xfrm>
          <a:prstGeom prst="line">
            <a:avLst/>
          </a:prstGeom>
          <a:noFill/>
          <a:ln w="19050">
            <a:solidFill>
              <a:srgbClr val="FFF9C7"/>
            </a:solidFill>
            <a:prstDash val="dash"/>
            <a:tailEnd type="triangle"/>
          </a:ln>
        </p:spPr>
      </p:sp>
      <p:sp>
        <p:nvSpPr>
          <p:cNvPr id="9" name="Text 6"/>
          <p:cNvSpPr txBox="1"/>
          <p:nvPr/>
        </p:nvSpPr>
        <p:spPr>
          <a:xfrm>
            <a:off x="548640" y="3154680"/>
            <a:ext cx="2084832" cy="365760"/>
          </a:xfrm>
          <a:prstGeom prst="rect">
            <a:avLst/>
          </a:prstGeom>
          <a:noFill/>
          <a:ln/>
        </p:spPr>
        <p:txBody>
          <a:bodyPr wrap="square" lIns="0" tIns="0" rIns="0" bIns="0" rtlCol="0" anchor="t"/>
          <a:lstStyle/>
          <a:p>
            <a:pPr algn="ctr" indent="0" marL="0">
              <a:buNone/>
            </a:pPr>
            <a:r>
              <a:rPr lang="en-US" sz="1500" b="1" dirty="0">
                <a:solidFill>
                  <a:srgbClr val="FFFFFF"/>
                </a:solidFill>
                <a:latin typeface="Calibri" pitchFamily="34" charset="0"/>
                <a:ea typeface="Calibri" pitchFamily="34" charset="-122"/>
                <a:cs typeface="Calibri" pitchFamily="34" charset="-120"/>
              </a:rPr>
              <a:t>Mettre en situation</a:t>
            </a:r>
            <a:endParaRPr lang="en-US" sz="1500" dirty="0"/>
          </a:p>
        </p:txBody>
      </p:sp>
      <p:sp>
        <p:nvSpPr>
          <p:cNvPr id="10" name="Text 7"/>
          <p:cNvSpPr txBox="1"/>
          <p:nvPr/>
        </p:nvSpPr>
        <p:spPr>
          <a:xfrm>
            <a:off x="548640" y="3520440"/>
            <a:ext cx="2084832" cy="320040"/>
          </a:xfrm>
          <a:prstGeom prst="rect">
            <a:avLst/>
          </a:prstGeom>
          <a:noFill/>
          <a:ln/>
        </p:spPr>
        <p:txBody>
          <a:bodyPr wrap="square" lIns="0" tIns="0" rIns="0" bIns="0" rtlCol="0" anchor="t"/>
          <a:lstStyle/>
          <a:p>
            <a:pPr algn="ctr" indent="0" marL="0">
              <a:buNone/>
            </a:pPr>
            <a:r>
              <a:rPr lang="en-US" sz="1200" dirty="0">
                <a:solidFill>
                  <a:srgbClr val="B3B3BA"/>
                </a:solidFill>
                <a:latin typeface="Calibri" pitchFamily="34" charset="0"/>
                <a:ea typeface="Calibri" pitchFamily="34" charset="-122"/>
                <a:cs typeface="Calibri" pitchFamily="34" charset="-120"/>
              </a:rPr>
              <a:t>Jeux de rôle en trio</a:t>
            </a:r>
            <a:endParaRPr lang="en-US" sz="1200" dirty="0"/>
          </a:p>
        </p:txBody>
      </p:sp>
      <p:sp>
        <p:nvSpPr>
          <p:cNvPr id="11" name="Shape 8"/>
          <p:cNvSpPr/>
          <p:nvPr/>
        </p:nvSpPr>
        <p:spPr>
          <a:xfrm>
            <a:off x="3291840" y="1920240"/>
            <a:ext cx="1097280" cy="1097280"/>
          </a:xfrm>
          <a:prstGeom prst="ellipse">
            <a:avLst/>
          </a:prstGeom>
          <a:solidFill>
            <a:srgbClr val="1F1A4D"/>
          </a:solidFill>
          <a:ln w="12700">
            <a:solidFill>
              <a:srgbClr val="FFF9C7"/>
            </a:solidFill>
            <a:prstDash val="solid"/>
          </a:ln>
        </p:spPr>
      </p:sp>
      <p:pic>
        <p:nvPicPr>
          <p:cNvPr id="12" name="Image 1" descr="preencoded.png">    </p:cNvPr>
          <p:cNvPicPr>
            <a:picLocks noChangeAspect="1"/>
          </p:cNvPicPr>
          <p:nvPr/>
        </p:nvPicPr>
        <p:blipFill>
          <a:blip r:embed="rId2"/>
          <a:stretch>
            <a:fillRect/>
          </a:stretch>
        </p:blipFill>
        <p:spPr>
          <a:xfrm>
            <a:off x="3566160" y="2194560"/>
            <a:ext cx="548640" cy="548640"/>
          </a:xfrm>
          <a:prstGeom prst="rect">
            <a:avLst/>
          </a:prstGeom>
        </p:spPr>
      </p:pic>
      <p:sp>
        <p:nvSpPr>
          <p:cNvPr id="13" name="Shape 9"/>
          <p:cNvSpPr/>
          <p:nvPr/>
        </p:nvSpPr>
        <p:spPr>
          <a:xfrm>
            <a:off x="4498848" y="2468880"/>
            <a:ext cx="713232" cy="0"/>
          </a:xfrm>
          <a:prstGeom prst="line">
            <a:avLst/>
          </a:prstGeom>
          <a:noFill/>
          <a:ln w="19050">
            <a:solidFill>
              <a:srgbClr val="FFF9C7"/>
            </a:solidFill>
            <a:prstDash val="dash"/>
            <a:tailEnd type="triangle"/>
          </a:ln>
        </p:spPr>
      </p:sp>
      <p:sp>
        <p:nvSpPr>
          <p:cNvPr id="14" name="Text 10"/>
          <p:cNvSpPr txBox="1"/>
          <p:nvPr/>
        </p:nvSpPr>
        <p:spPr>
          <a:xfrm>
            <a:off x="2798064" y="3154680"/>
            <a:ext cx="2084832" cy="365760"/>
          </a:xfrm>
          <a:prstGeom prst="rect">
            <a:avLst/>
          </a:prstGeom>
          <a:noFill/>
          <a:ln/>
        </p:spPr>
        <p:txBody>
          <a:bodyPr wrap="square" lIns="0" tIns="0" rIns="0" bIns="0" rtlCol="0" anchor="t"/>
          <a:lstStyle/>
          <a:p>
            <a:pPr algn="ctr" indent="0" marL="0">
              <a:buNone/>
            </a:pPr>
            <a:r>
              <a:rPr lang="en-US" sz="1500" b="1" dirty="0">
                <a:solidFill>
                  <a:srgbClr val="FFFFFF"/>
                </a:solidFill>
                <a:latin typeface="Calibri" pitchFamily="34" charset="0"/>
                <a:ea typeface="Calibri" pitchFamily="34" charset="-122"/>
                <a:cs typeface="Calibri" pitchFamily="34" charset="-120"/>
              </a:rPr>
              <a:t>Observer</a:t>
            </a:r>
            <a:endParaRPr lang="en-US" sz="1500" dirty="0"/>
          </a:p>
        </p:txBody>
      </p:sp>
      <p:sp>
        <p:nvSpPr>
          <p:cNvPr id="15" name="Text 11"/>
          <p:cNvSpPr txBox="1"/>
          <p:nvPr/>
        </p:nvSpPr>
        <p:spPr>
          <a:xfrm>
            <a:off x="2798064" y="3520440"/>
            <a:ext cx="2084832" cy="320040"/>
          </a:xfrm>
          <a:prstGeom prst="rect">
            <a:avLst/>
          </a:prstGeom>
          <a:noFill/>
          <a:ln/>
        </p:spPr>
        <p:txBody>
          <a:bodyPr wrap="square" lIns="0" tIns="0" rIns="0" bIns="0" rtlCol="0" anchor="t"/>
          <a:lstStyle/>
          <a:p>
            <a:pPr algn="ctr" indent="0" marL="0">
              <a:buNone/>
            </a:pPr>
            <a:r>
              <a:rPr lang="en-US" sz="1200" dirty="0">
                <a:solidFill>
                  <a:srgbClr val="B3B3BA"/>
                </a:solidFill>
                <a:latin typeface="Calibri" pitchFamily="34" charset="0"/>
                <a:ea typeface="Calibri" pitchFamily="34" charset="-122"/>
                <a:cs typeface="Calibri" pitchFamily="34" charset="-120"/>
              </a:rPr>
              <a:t>Grille de débriefing</a:t>
            </a:r>
            <a:endParaRPr lang="en-US" sz="1200" dirty="0"/>
          </a:p>
        </p:txBody>
      </p:sp>
      <p:sp>
        <p:nvSpPr>
          <p:cNvPr id="16" name="Shape 12"/>
          <p:cNvSpPr/>
          <p:nvPr/>
        </p:nvSpPr>
        <p:spPr>
          <a:xfrm>
            <a:off x="5541264" y="1920240"/>
            <a:ext cx="1097280" cy="1097280"/>
          </a:xfrm>
          <a:prstGeom prst="ellipse">
            <a:avLst/>
          </a:prstGeom>
          <a:solidFill>
            <a:srgbClr val="1F1A4D"/>
          </a:solidFill>
          <a:ln w="12700">
            <a:solidFill>
              <a:srgbClr val="FFF9C7"/>
            </a:solidFill>
            <a:prstDash val="solid"/>
          </a:ln>
        </p:spPr>
      </p:sp>
      <p:pic>
        <p:nvPicPr>
          <p:cNvPr id="17" name="Image 2" descr="preencoded.png">    </p:cNvPr>
          <p:cNvPicPr>
            <a:picLocks noChangeAspect="1"/>
          </p:cNvPicPr>
          <p:nvPr/>
        </p:nvPicPr>
        <p:blipFill>
          <a:blip r:embed="rId3"/>
          <a:stretch>
            <a:fillRect/>
          </a:stretch>
        </p:blipFill>
        <p:spPr>
          <a:xfrm>
            <a:off x="5815584" y="2194560"/>
            <a:ext cx="548640" cy="548640"/>
          </a:xfrm>
          <a:prstGeom prst="rect">
            <a:avLst/>
          </a:prstGeom>
        </p:spPr>
      </p:pic>
      <p:sp>
        <p:nvSpPr>
          <p:cNvPr id="18" name="Shape 13"/>
          <p:cNvSpPr/>
          <p:nvPr/>
        </p:nvSpPr>
        <p:spPr>
          <a:xfrm>
            <a:off x="6748272" y="2468880"/>
            <a:ext cx="713232" cy="0"/>
          </a:xfrm>
          <a:prstGeom prst="line">
            <a:avLst/>
          </a:prstGeom>
          <a:noFill/>
          <a:ln w="19050">
            <a:solidFill>
              <a:srgbClr val="FFF9C7"/>
            </a:solidFill>
            <a:prstDash val="dash"/>
            <a:tailEnd type="triangle"/>
          </a:ln>
        </p:spPr>
      </p:sp>
      <p:sp>
        <p:nvSpPr>
          <p:cNvPr id="19" name="Text 14"/>
          <p:cNvSpPr txBox="1"/>
          <p:nvPr/>
        </p:nvSpPr>
        <p:spPr>
          <a:xfrm>
            <a:off x="5047488" y="3154680"/>
            <a:ext cx="2084832" cy="365760"/>
          </a:xfrm>
          <a:prstGeom prst="rect">
            <a:avLst/>
          </a:prstGeom>
          <a:noFill/>
          <a:ln/>
        </p:spPr>
        <p:txBody>
          <a:bodyPr wrap="square" lIns="0" tIns="0" rIns="0" bIns="0" rtlCol="0" anchor="t"/>
          <a:lstStyle/>
          <a:p>
            <a:pPr algn="ctr" indent="0" marL="0">
              <a:buNone/>
            </a:pPr>
            <a:r>
              <a:rPr lang="en-US" sz="1500" b="1" dirty="0">
                <a:solidFill>
                  <a:srgbClr val="FFFFFF"/>
                </a:solidFill>
                <a:latin typeface="Calibri" pitchFamily="34" charset="0"/>
                <a:ea typeface="Calibri" pitchFamily="34" charset="-122"/>
                <a:cs typeface="Calibri" pitchFamily="34" charset="-120"/>
              </a:rPr>
              <a:t>Analyser les écarts</a:t>
            </a:r>
            <a:endParaRPr lang="en-US" sz="1500" dirty="0"/>
          </a:p>
        </p:txBody>
      </p:sp>
      <p:sp>
        <p:nvSpPr>
          <p:cNvPr id="20" name="Text 15"/>
          <p:cNvSpPr txBox="1"/>
          <p:nvPr/>
        </p:nvSpPr>
        <p:spPr>
          <a:xfrm>
            <a:off x="5047488" y="3520440"/>
            <a:ext cx="2084832" cy="320040"/>
          </a:xfrm>
          <a:prstGeom prst="rect">
            <a:avLst/>
          </a:prstGeom>
          <a:noFill/>
          <a:ln/>
        </p:spPr>
        <p:txBody>
          <a:bodyPr wrap="square" lIns="0" tIns="0" rIns="0" bIns="0" rtlCol="0" anchor="t"/>
          <a:lstStyle/>
          <a:p>
            <a:pPr algn="ctr" indent="0" marL="0">
              <a:buNone/>
            </a:pPr>
            <a:r>
              <a:rPr lang="en-US" sz="1200" dirty="0">
                <a:solidFill>
                  <a:srgbClr val="B3B3BA"/>
                </a:solidFill>
                <a:latin typeface="Calibri" pitchFamily="34" charset="0"/>
                <a:ea typeface="Calibri" pitchFamily="34" charset="-122"/>
                <a:cs typeface="Calibri" pitchFamily="34" charset="-120"/>
              </a:rPr>
              <a:t>Réflexe spontané / attendu</a:t>
            </a:r>
            <a:endParaRPr lang="en-US" sz="1200" dirty="0"/>
          </a:p>
        </p:txBody>
      </p:sp>
      <p:sp>
        <p:nvSpPr>
          <p:cNvPr id="21" name="Shape 16"/>
          <p:cNvSpPr/>
          <p:nvPr/>
        </p:nvSpPr>
        <p:spPr>
          <a:xfrm>
            <a:off x="7790688" y="1920240"/>
            <a:ext cx="1097280" cy="1097280"/>
          </a:xfrm>
          <a:prstGeom prst="ellipse">
            <a:avLst/>
          </a:prstGeom>
          <a:solidFill>
            <a:srgbClr val="FFF9C7"/>
          </a:solidFill>
          <a:ln/>
        </p:spPr>
      </p:sp>
      <p:pic>
        <p:nvPicPr>
          <p:cNvPr id="22" name="Image 3" descr="preencoded.png">    </p:cNvPr>
          <p:cNvPicPr>
            <a:picLocks noChangeAspect="1"/>
          </p:cNvPicPr>
          <p:nvPr/>
        </p:nvPicPr>
        <p:blipFill>
          <a:blip r:embed="rId4"/>
          <a:stretch>
            <a:fillRect/>
          </a:stretch>
        </p:blipFill>
        <p:spPr>
          <a:xfrm>
            <a:off x="8065008" y="2194560"/>
            <a:ext cx="548640" cy="548640"/>
          </a:xfrm>
          <a:prstGeom prst="rect">
            <a:avLst/>
          </a:prstGeom>
        </p:spPr>
      </p:pic>
      <p:sp>
        <p:nvSpPr>
          <p:cNvPr id="23" name="Shape 17"/>
          <p:cNvSpPr/>
          <p:nvPr/>
        </p:nvSpPr>
        <p:spPr>
          <a:xfrm>
            <a:off x="8997696" y="2468880"/>
            <a:ext cx="713232" cy="0"/>
          </a:xfrm>
          <a:prstGeom prst="line">
            <a:avLst/>
          </a:prstGeom>
          <a:noFill/>
          <a:ln w="19050">
            <a:solidFill>
              <a:srgbClr val="FFF9C7"/>
            </a:solidFill>
            <a:prstDash val="dash"/>
            <a:tailEnd type="triangle"/>
          </a:ln>
        </p:spPr>
      </p:sp>
      <p:sp>
        <p:nvSpPr>
          <p:cNvPr id="24" name="Text 18"/>
          <p:cNvSpPr txBox="1"/>
          <p:nvPr/>
        </p:nvSpPr>
        <p:spPr>
          <a:xfrm>
            <a:off x="7296912" y="3154680"/>
            <a:ext cx="2084832" cy="365760"/>
          </a:xfrm>
          <a:prstGeom prst="rect">
            <a:avLst/>
          </a:prstGeom>
          <a:noFill/>
          <a:ln/>
        </p:spPr>
        <p:txBody>
          <a:bodyPr wrap="square" lIns="0" tIns="0" rIns="0" bIns="0" rtlCol="0" anchor="t"/>
          <a:lstStyle/>
          <a:p>
            <a:pPr algn="ctr" indent="0" marL="0">
              <a:buNone/>
            </a:pPr>
            <a:r>
              <a:rPr lang="en-US" sz="1500" b="1" dirty="0">
                <a:solidFill>
                  <a:srgbClr val="FFFFFF"/>
                </a:solidFill>
                <a:latin typeface="Calibri" pitchFamily="34" charset="0"/>
                <a:ea typeface="Calibri" pitchFamily="34" charset="-122"/>
                <a:cs typeface="Calibri" pitchFamily="34" charset="-120"/>
              </a:rPr>
              <a:t>Ajuster le programme</a:t>
            </a:r>
            <a:endParaRPr lang="en-US" sz="1500" dirty="0"/>
          </a:p>
        </p:txBody>
      </p:sp>
      <p:sp>
        <p:nvSpPr>
          <p:cNvPr id="25" name="Text 19"/>
          <p:cNvSpPr txBox="1"/>
          <p:nvPr/>
        </p:nvSpPr>
        <p:spPr>
          <a:xfrm>
            <a:off x="7296912" y="3520440"/>
            <a:ext cx="2084832" cy="320040"/>
          </a:xfrm>
          <a:prstGeom prst="rect">
            <a:avLst/>
          </a:prstGeom>
          <a:noFill/>
          <a:ln/>
        </p:spPr>
        <p:txBody>
          <a:bodyPr wrap="square" lIns="0" tIns="0" rIns="0" bIns="0" rtlCol="0" anchor="t"/>
          <a:lstStyle/>
          <a:p>
            <a:pPr algn="ctr" indent="0" marL="0">
              <a:buNone/>
            </a:pPr>
            <a:r>
              <a:rPr lang="en-US" sz="1200" dirty="0">
                <a:solidFill>
                  <a:srgbClr val="B3B3BA"/>
                </a:solidFill>
                <a:latin typeface="Calibri" pitchFamily="34" charset="0"/>
                <a:ea typeface="Calibri" pitchFamily="34" charset="-122"/>
                <a:cs typeface="Calibri" pitchFamily="34" charset="-120"/>
              </a:rPr>
              <a:t>Contenus, durées, outils</a:t>
            </a:r>
            <a:endParaRPr lang="en-US" sz="1200" dirty="0"/>
          </a:p>
        </p:txBody>
      </p:sp>
      <p:sp>
        <p:nvSpPr>
          <p:cNvPr id="26" name="Shape 20"/>
          <p:cNvSpPr/>
          <p:nvPr/>
        </p:nvSpPr>
        <p:spPr>
          <a:xfrm>
            <a:off x="10040112" y="1920240"/>
            <a:ext cx="1097280" cy="1097280"/>
          </a:xfrm>
          <a:prstGeom prst="ellipse">
            <a:avLst/>
          </a:prstGeom>
          <a:solidFill>
            <a:srgbClr val="1F1A4D"/>
          </a:solidFill>
          <a:ln w="12700">
            <a:solidFill>
              <a:srgbClr val="FFF9C7"/>
            </a:solidFill>
            <a:prstDash val="solid"/>
          </a:ln>
        </p:spPr>
      </p:sp>
      <p:pic>
        <p:nvPicPr>
          <p:cNvPr id="27" name="Image 4" descr="preencoded.png">    </p:cNvPr>
          <p:cNvPicPr>
            <a:picLocks noChangeAspect="1"/>
          </p:cNvPicPr>
          <p:nvPr/>
        </p:nvPicPr>
        <p:blipFill>
          <a:blip r:embed="rId5"/>
          <a:stretch>
            <a:fillRect/>
          </a:stretch>
        </p:blipFill>
        <p:spPr>
          <a:xfrm>
            <a:off x="10314432" y="2194560"/>
            <a:ext cx="548640" cy="548640"/>
          </a:xfrm>
          <a:prstGeom prst="rect">
            <a:avLst/>
          </a:prstGeom>
        </p:spPr>
      </p:pic>
      <p:sp>
        <p:nvSpPr>
          <p:cNvPr id="28" name="Text 21"/>
          <p:cNvSpPr txBox="1"/>
          <p:nvPr/>
        </p:nvSpPr>
        <p:spPr>
          <a:xfrm>
            <a:off x="9546336" y="3154680"/>
            <a:ext cx="2084832" cy="365760"/>
          </a:xfrm>
          <a:prstGeom prst="rect">
            <a:avLst/>
          </a:prstGeom>
          <a:noFill/>
          <a:ln/>
        </p:spPr>
        <p:txBody>
          <a:bodyPr wrap="square" lIns="0" tIns="0" rIns="0" bIns="0" rtlCol="0" anchor="t"/>
          <a:lstStyle/>
          <a:p>
            <a:pPr algn="ctr" indent="0" marL="0">
              <a:buNone/>
            </a:pPr>
            <a:r>
              <a:rPr lang="en-US" sz="1500" b="1" dirty="0">
                <a:solidFill>
                  <a:srgbClr val="FFFFFF"/>
                </a:solidFill>
                <a:latin typeface="Calibri" pitchFamily="34" charset="0"/>
                <a:ea typeface="Calibri" pitchFamily="34" charset="-122"/>
                <a:cs typeface="Calibri" pitchFamily="34" charset="-120"/>
              </a:rPr>
              <a:t>Nouvelle session</a:t>
            </a:r>
            <a:endParaRPr lang="en-US" sz="1500" dirty="0"/>
          </a:p>
        </p:txBody>
      </p:sp>
      <p:sp>
        <p:nvSpPr>
          <p:cNvPr id="29" name="Text 22"/>
          <p:cNvSpPr txBox="1"/>
          <p:nvPr/>
        </p:nvSpPr>
        <p:spPr>
          <a:xfrm>
            <a:off x="9546336" y="3520440"/>
            <a:ext cx="2084832" cy="320040"/>
          </a:xfrm>
          <a:prstGeom prst="rect">
            <a:avLst/>
          </a:prstGeom>
          <a:noFill/>
          <a:ln/>
        </p:spPr>
        <p:txBody>
          <a:bodyPr wrap="square" lIns="0" tIns="0" rIns="0" bIns="0" rtlCol="0" anchor="t"/>
          <a:lstStyle/>
          <a:p>
            <a:pPr algn="ctr" indent="0" marL="0">
              <a:buNone/>
            </a:pPr>
            <a:r>
              <a:rPr lang="en-US" sz="1200" dirty="0">
                <a:solidFill>
                  <a:srgbClr val="B3B3BA"/>
                </a:solidFill>
                <a:latin typeface="Calibri" pitchFamily="34" charset="0"/>
                <a:ea typeface="Calibri" pitchFamily="34" charset="-122"/>
                <a:cs typeface="Calibri" pitchFamily="34" charset="-120"/>
              </a:rPr>
              <a:t>Mesurer à nouveau</a:t>
            </a:r>
            <a:endParaRPr lang="en-US" sz="1200" dirty="0"/>
          </a:p>
        </p:txBody>
      </p:sp>
      <p:sp>
        <p:nvSpPr>
          <p:cNvPr id="30" name="Shape 23"/>
          <p:cNvSpPr/>
          <p:nvPr/>
        </p:nvSpPr>
        <p:spPr>
          <a:xfrm>
            <a:off x="548640" y="4343400"/>
            <a:ext cx="11064240" cy="1691640"/>
          </a:xfrm>
          <a:prstGeom prst="roundRect">
            <a:avLst>
              <a:gd name="adj" fmla="val 6486"/>
            </a:avLst>
          </a:prstGeom>
          <a:solidFill>
            <a:srgbClr val="1F1A4D"/>
          </a:solidFill>
          <a:ln/>
        </p:spPr>
      </p:sp>
      <p:pic>
        <p:nvPicPr>
          <p:cNvPr id="31" name="Image 5" descr="preencoded.png">    </p:cNvPr>
          <p:cNvPicPr>
            <a:picLocks noChangeAspect="1"/>
          </p:cNvPicPr>
          <p:nvPr/>
        </p:nvPicPr>
        <p:blipFill>
          <a:blip r:embed="rId6"/>
          <a:stretch>
            <a:fillRect/>
          </a:stretch>
        </p:blipFill>
        <p:spPr>
          <a:xfrm>
            <a:off x="868680" y="4754880"/>
            <a:ext cx="822960" cy="822960"/>
          </a:xfrm>
          <a:prstGeom prst="rect">
            <a:avLst/>
          </a:prstGeom>
        </p:spPr>
      </p:pic>
      <p:sp>
        <p:nvSpPr>
          <p:cNvPr id="32" name="Text 24"/>
          <p:cNvSpPr txBox="1"/>
          <p:nvPr/>
        </p:nvSpPr>
        <p:spPr>
          <a:xfrm>
            <a:off x="1920240" y="4526280"/>
            <a:ext cx="9418320" cy="365760"/>
          </a:xfrm>
          <a:prstGeom prst="rect">
            <a:avLst/>
          </a:prstGeom>
          <a:noFill/>
          <a:ln/>
        </p:spPr>
        <p:txBody>
          <a:bodyPr wrap="square" lIns="0" tIns="0" rIns="0" bIns="0" rtlCol="0" anchor="t"/>
          <a:lstStyle/>
          <a:p>
            <a:pPr indent="0" marL="0">
              <a:buNone/>
            </a:pPr>
            <a:r>
              <a:rPr lang="en-US" sz="1300" b="1" spc="100" kern="0" dirty="0">
                <a:solidFill>
                  <a:srgbClr val="FFF9C7"/>
                </a:solidFill>
                <a:latin typeface="Calibri" pitchFamily="34" charset="0"/>
                <a:ea typeface="Calibri" pitchFamily="34" charset="-122"/>
                <a:cs typeface="Calibri" pitchFamily="34" charset="-120"/>
              </a:rPr>
              <a:t>Qualiopi · critère 7, indicateur 32</a:t>
            </a:r>
            <a:endParaRPr lang="en-US" sz="1300" dirty="0"/>
          </a:p>
        </p:txBody>
      </p:sp>
      <p:sp>
        <p:nvSpPr>
          <p:cNvPr id="33" name="Text 25"/>
          <p:cNvSpPr txBox="1"/>
          <p:nvPr/>
        </p:nvSpPr>
        <p:spPr>
          <a:xfrm>
            <a:off x="1920240" y="4919472"/>
            <a:ext cx="9418320" cy="1005840"/>
          </a:xfrm>
          <a:prstGeom prst="rect">
            <a:avLst/>
          </a:prstGeom>
          <a:noFill/>
          <a:ln/>
        </p:spPr>
        <p:txBody>
          <a:bodyPr wrap="square" lIns="0" tIns="0" rIns="0" bIns="0" rtlCol="0" anchor="t"/>
          <a:lstStyle/>
          <a:p>
            <a:pPr indent="0" marL="0">
              <a:lnSpc>
                <a:spcPct val="108000"/>
              </a:lnSpc>
              <a:buNone/>
            </a:pPr>
            <a:r>
              <a:rPr lang="en-US" sz="1500" dirty="0">
                <a:solidFill>
                  <a:srgbClr val="FFFFFF"/>
                </a:solidFill>
                <a:latin typeface="Calibri" pitchFamily="34" charset="0"/>
                <a:ea typeface="Calibri" pitchFamily="34" charset="-122"/>
                <a:cs typeface="Calibri" pitchFamily="34" charset="-120"/>
              </a:rPr>
              <a:t>Les mises en situation ne servent pas seulement à former : elles nous disent ce que les élus ont vraiment acquis. Chaque session alimente l’analyse, et chaque écart observé se traduit par une mesure d’amélioration datée et tracée.</a:t>
            </a:r>
            <a:endParaRPr lang="en-US" sz="1500" dirty="0"/>
          </a:p>
        </p:txBody>
      </p:sp>
      <p:sp>
        <p:nvSpPr>
          <p:cNvPr id="34" name="Text 26"/>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spc="100" kern="0" dirty="0">
                <a:solidFill>
                  <a:srgbClr val="B3B3BA"/>
                </a:solidFill>
                <a:latin typeface="Calibri" pitchFamily="34" charset="0"/>
                <a:ea typeface="Calibri" pitchFamily="34" charset="-122"/>
                <a:cs typeface="Calibri" pitchFamily="34" charset="-120"/>
              </a:rPr>
              <a:t>ENMA FORMATION  ·  Formation des élus municipaux 2026</a:t>
            </a:r>
            <a:endParaRPr lang="en-US" sz="900" dirty="0"/>
          </a:p>
        </p:txBody>
      </p:sp>
      <p:sp>
        <p:nvSpPr>
          <p:cNvPr id="35" name="Text 27"/>
          <p:cNvSpPr txBox="1"/>
          <p:nvPr/>
        </p:nvSpPr>
        <p:spPr>
          <a:xfrm>
            <a:off x="9692640" y="6400800"/>
            <a:ext cx="548640" cy="274320"/>
          </a:xfrm>
          <a:prstGeom prst="rect">
            <a:avLst/>
          </a:prstGeom>
          <a:noFill/>
          <a:ln/>
        </p:spPr>
        <p:txBody>
          <a:bodyPr wrap="square" lIns="0" tIns="0" rIns="0" bIns="0" rtlCol="0" anchor="ctr"/>
          <a:lstStyle/>
          <a:p>
            <a:pPr algn="r" indent="0" marL="0">
              <a:buNone/>
            </a:pPr>
            <a:r>
              <a:rPr lang="en-US" sz="900" dirty="0">
                <a:solidFill>
                  <a:srgbClr val="B3B3BA"/>
                </a:solidFill>
                <a:latin typeface="Calibri" pitchFamily="34" charset="0"/>
                <a:ea typeface="Calibri" pitchFamily="34" charset="-122"/>
                <a:cs typeface="Calibri" pitchFamily="34" charset="-120"/>
              </a:rPr>
              <a:t>63</a:t>
            </a:r>
            <a:endParaRPr lang="en-US" sz="900" dirty="0"/>
          </a:p>
        </p:txBody>
      </p:sp>
      <p:pic>
        <p:nvPicPr>
          <p:cNvPr id="36" name="Image 6" descr="preencoded.png">    </p:cNvPr>
          <p:cNvPicPr>
            <a:picLocks noChangeAspect="1"/>
          </p:cNvPicPr>
          <p:nvPr/>
        </p:nvPicPr>
        <p:blipFill>
          <a:blip r:embed="rId7"/>
          <a:stretch>
            <a:fillRect/>
          </a:stretch>
        </p:blipFill>
        <p:spPr>
          <a:xfrm>
            <a:off x="10469880" y="6309360"/>
            <a:ext cx="1170432" cy="484632"/>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0B032B"/>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548640"/>
            <a:ext cx="2011680" cy="832104"/>
          </a:xfrm>
          <a:prstGeom prst="rect">
            <a:avLst/>
          </a:prstGeom>
        </p:spPr>
      </p:pic>
      <p:sp>
        <p:nvSpPr>
          <p:cNvPr id="3" name="Text 0"/>
          <p:cNvSpPr txBox="1"/>
          <p:nvPr/>
        </p:nvSpPr>
        <p:spPr>
          <a:xfrm>
            <a:off x="548640" y="1783080"/>
            <a:ext cx="5486400" cy="320040"/>
          </a:xfrm>
          <a:prstGeom prst="rect">
            <a:avLst/>
          </a:prstGeom>
          <a:noFill/>
          <a:ln/>
        </p:spPr>
        <p:txBody>
          <a:bodyPr wrap="square" lIns="0" tIns="0" rIns="0" bIns="0" rtlCol="0" anchor="t"/>
          <a:lstStyle/>
          <a:p>
            <a:pPr indent="0" marL="0">
              <a:buNone/>
            </a:pPr>
            <a:r>
              <a:rPr lang="en-US" sz="1300" b="1" spc="400" kern="0" dirty="0">
                <a:solidFill>
                  <a:srgbClr val="FFF9C7"/>
                </a:solidFill>
                <a:latin typeface="Calibri" pitchFamily="34" charset="0"/>
                <a:ea typeface="Calibri" pitchFamily="34" charset="-122"/>
                <a:cs typeface="Calibri" pitchFamily="34" charset="-120"/>
              </a:rPr>
              <a:t>LE MOT DE LA FIN</a:t>
            </a:r>
            <a:endParaRPr lang="en-US" sz="1300" dirty="0"/>
          </a:p>
        </p:txBody>
      </p:sp>
      <p:sp>
        <p:nvSpPr>
          <p:cNvPr id="4" name="Text 1"/>
          <p:cNvSpPr txBox="1"/>
          <p:nvPr/>
        </p:nvSpPr>
        <p:spPr>
          <a:xfrm>
            <a:off x="548640" y="2148840"/>
            <a:ext cx="6766560" cy="1188720"/>
          </a:xfrm>
          <a:prstGeom prst="rect">
            <a:avLst/>
          </a:prstGeom>
          <a:noFill/>
          <a:ln/>
        </p:spPr>
        <p:txBody>
          <a:bodyPr wrap="square" lIns="0" tIns="0" rIns="0" bIns="0" rtlCol="0" anchor="t"/>
          <a:lstStyle/>
          <a:p>
            <a:pPr indent="0" marL="0">
              <a:buNone/>
            </a:pPr>
            <a:r>
              <a:rPr lang="en-US" sz="2800" b="1" dirty="0">
                <a:solidFill>
                  <a:srgbClr val="FFFFFF"/>
                </a:solidFill>
                <a:latin typeface="Calibri" pitchFamily="34" charset="0"/>
                <a:ea typeface="Calibri" pitchFamily="34" charset="-122"/>
                <a:cs typeface="Calibri" pitchFamily="34" charset="-120"/>
              </a:rPr>
              <a:t>Être élu municipal, c’est avoir le privilège de servir sa commune et ses habitants.</a:t>
            </a:r>
            <a:endParaRPr lang="en-US" sz="2800" dirty="0"/>
          </a:p>
        </p:txBody>
      </p:sp>
      <p:sp>
        <p:nvSpPr>
          <p:cNvPr id="5" name="Text 2"/>
          <p:cNvSpPr txBox="1"/>
          <p:nvPr/>
        </p:nvSpPr>
        <p:spPr>
          <a:xfrm>
            <a:off x="548640" y="3429000"/>
            <a:ext cx="6583680" cy="2011680"/>
          </a:xfrm>
          <a:prstGeom prst="rect">
            <a:avLst/>
          </a:prstGeom>
          <a:noFill/>
          <a:ln/>
        </p:spPr>
        <p:txBody>
          <a:bodyPr wrap="square" lIns="0" tIns="0" rIns="0" bIns="0" rtlCol="0" anchor="t"/>
          <a:lstStyle/>
          <a:p>
            <a:pPr indent="0" marL="0">
              <a:lnSpc>
                <a:spcPct val="110000"/>
              </a:lnSpc>
              <a:buNone/>
            </a:pPr>
            <a:r>
              <a:rPr lang="en-US" sz="1550" dirty="0">
                <a:solidFill>
                  <a:srgbClr val="B3B3BA"/>
                </a:solidFill>
                <a:latin typeface="Calibri" pitchFamily="34" charset="0"/>
                <a:ea typeface="Calibri" pitchFamily="34" charset="-122"/>
                <a:cs typeface="Calibri" pitchFamily="34" charset="-120"/>
              </a:rPr>
              <a:t>C’est transformer des idées en réalisations, des engagements en actions et des projets en améliorations concrètes du quotidien. Les citoyens vous ont confié leur confiance : à vous désormais de la faire vivre, avec humilité, détermination et esprit d’équipe. Je vous souhaite un mandat riche, utile et pleinement réussi, au service de votre commune et de l’intérêt général.</a:t>
            </a:r>
            <a:endParaRPr lang="en-US" sz="1550" dirty="0"/>
          </a:p>
        </p:txBody>
      </p:sp>
      <p:sp>
        <p:nvSpPr>
          <p:cNvPr id="6" name="Text 3"/>
          <p:cNvSpPr txBox="1"/>
          <p:nvPr/>
        </p:nvSpPr>
        <p:spPr>
          <a:xfrm>
            <a:off x="548640" y="5577840"/>
            <a:ext cx="7772400" cy="594360"/>
          </a:xfrm>
          <a:prstGeom prst="rect">
            <a:avLst/>
          </a:prstGeom>
          <a:noFill/>
          <a:ln/>
        </p:spPr>
        <p:txBody>
          <a:bodyPr wrap="square" lIns="0" tIns="0" rIns="0" bIns="0" rtlCol="0" anchor="t"/>
          <a:lstStyle/>
          <a:p>
            <a:pPr indent="0" marL="0">
              <a:buNone/>
            </a:pPr>
            <a:r>
              <a:rPr lang="en-US" sz="1150" b="1" dirty="0">
                <a:solidFill>
                  <a:srgbClr val="FFF9C7"/>
                </a:solidFill>
                <a:latin typeface="Calibri" pitchFamily="34" charset="0"/>
                <a:ea typeface="Calibri" pitchFamily="34" charset="-122"/>
                <a:cs typeface="Calibri" pitchFamily="34" charset="-120"/>
              </a:rPr>
              <a:t>ENMA Formation</a:t>
            </a:r>
            <a:endParaRPr lang="en-US" sz="1150" dirty="0"/>
          </a:p>
          <a:p>
            <a:pPr indent="0" marL="0">
              <a:buNone/>
            </a:pPr>
            <a:r>
              <a:rPr lang="en-US" sz="1150" dirty="0">
                <a:solidFill>
                  <a:srgbClr val="B3B3BA"/>
                </a:solidFill>
                <a:latin typeface="Calibri" pitchFamily="34" charset="0"/>
                <a:ea typeface="Calibri" pitchFamily="34" charset="-122"/>
                <a:cs typeface="Calibri" pitchFamily="34" charset="-120"/>
              </a:rPr>
              <a:t>24 rue Colmar, 62410 Wingles  ·  07 69 35 55 19  ·  maxence@enma-formation.com</a:t>
            </a:r>
            <a:endParaRPr lang="en-US" sz="1150" dirty="0"/>
          </a:p>
        </p:txBody>
      </p:sp>
      <p:sp>
        <p:nvSpPr>
          <p:cNvPr id="7" name="Shape 4"/>
          <p:cNvSpPr/>
          <p:nvPr/>
        </p:nvSpPr>
        <p:spPr>
          <a:xfrm>
            <a:off x="7818120" y="1325880"/>
            <a:ext cx="3931920" cy="3931920"/>
          </a:xfrm>
          <a:prstGeom prst="ellipse">
            <a:avLst/>
          </a:prstGeom>
          <a:solidFill>
            <a:srgbClr val="0B032B"/>
          </a:solidFill>
          <a:ln w="12700">
            <a:solidFill>
              <a:srgbClr val="FFF9C7"/>
            </a:solidFill>
            <a:prstDash val="dash"/>
          </a:ln>
        </p:spPr>
      </p:sp>
      <p:sp>
        <p:nvSpPr>
          <p:cNvPr id="8" name="Shape 5"/>
          <p:cNvSpPr/>
          <p:nvPr/>
        </p:nvSpPr>
        <p:spPr>
          <a:xfrm>
            <a:off x="8092440" y="1600200"/>
            <a:ext cx="3383280" cy="3383280"/>
          </a:xfrm>
          <a:prstGeom prst="ellipse">
            <a:avLst/>
          </a:prstGeom>
          <a:solidFill>
            <a:srgbClr val="1F1A4D"/>
          </a:solidFill>
          <a:ln/>
        </p:spPr>
      </p:sp>
      <p:pic>
        <p:nvPicPr>
          <p:cNvPr id="9" name="Image 1" descr="preencoded.png">    </p:cNvPr>
          <p:cNvPicPr>
            <a:picLocks noChangeAspect="1"/>
          </p:cNvPicPr>
          <p:nvPr/>
        </p:nvPicPr>
        <p:blipFill>
          <a:blip r:embed="rId2"/>
          <a:stretch>
            <a:fillRect/>
          </a:stretch>
        </p:blipFill>
        <p:spPr>
          <a:xfrm>
            <a:off x="8641080" y="2148840"/>
            <a:ext cx="2286000" cy="2286000"/>
          </a:xfrm>
          <a:prstGeom prst="rect">
            <a:avLst/>
          </a:prstGeom>
        </p:spPr>
      </p:pic>
      <p:sp>
        <p:nvSpPr>
          <p:cNvPr id="10" name="Text 6"/>
          <p:cNvSpPr txBox="1"/>
          <p:nvPr/>
        </p:nvSpPr>
        <p:spPr>
          <a:xfrm>
            <a:off x="7818120" y="5440680"/>
            <a:ext cx="3931920" cy="548640"/>
          </a:xfrm>
          <a:prstGeom prst="rect">
            <a:avLst/>
          </a:prstGeom>
          <a:noFill/>
          <a:ln/>
        </p:spPr>
        <p:txBody>
          <a:bodyPr wrap="square" lIns="0" tIns="0" rIns="0" bIns="0" rtlCol="0" anchor="t"/>
          <a:lstStyle/>
          <a:p>
            <a:pPr algn="ctr" indent="0" marL="0">
              <a:buNone/>
            </a:pPr>
            <a:r>
              <a:rPr lang="en-US" sz="2800" b="1" dirty="0">
                <a:solidFill>
                  <a:srgbClr val="FFF9C7"/>
                </a:solidFill>
                <a:latin typeface="Calibri" pitchFamily="34" charset="0"/>
                <a:ea typeface="Calibri" pitchFamily="34" charset="-122"/>
                <a:cs typeface="Calibri" pitchFamily="34" charset="-120"/>
              </a:rPr>
              <a:t>Merci !</a:t>
            </a:r>
            <a:endParaRPr lang="en-US" sz="2800" dirty="0"/>
          </a:p>
        </p:txBody>
      </p:sp>
      <p:sp>
        <p:nvSpPr>
          <p:cNvPr id="11" name="Text 7"/>
          <p:cNvSpPr txBox="1"/>
          <p:nvPr/>
        </p:nvSpPr>
        <p:spPr>
          <a:xfrm>
            <a:off x="9692640" y="6400800"/>
            <a:ext cx="548640" cy="274320"/>
          </a:xfrm>
          <a:prstGeom prst="rect">
            <a:avLst/>
          </a:prstGeom>
          <a:noFill/>
          <a:ln/>
        </p:spPr>
        <p:txBody>
          <a:bodyPr wrap="square" lIns="0" tIns="0" rIns="0" bIns="0" rtlCol="0" anchor="ctr"/>
          <a:lstStyle/>
          <a:p>
            <a:pPr algn="r" indent="0" marL="0">
              <a:buNone/>
            </a:pPr>
            <a:r>
              <a:rPr lang="en-US" sz="900" dirty="0">
                <a:solidFill>
                  <a:srgbClr val="B3B3BA"/>
                </a:solidFill>
                <a:latin typeface="Calibri" pitchFamily="34" charset="0"/>
                <a:ea typeface="Calibri" pitchFamily="34" charset="-122"/>
                <a:cs typeface="Calibri" pitchFamily="34" charset="-120"/>
              </a:rPr>
              <a:t>64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64</Slides>
  <Notes>64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64</vt:i4>
      </vt:variant>
    </vt:vector>
  </HeadingPairs>
  <TitlesOfParts>
    <vt:vector size="6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vector>
  </TitlesOfParts>
  <Company>ENMA Formation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Formation des élus municipaux 2026 — Bien débuter son mandat municipal</dc:title>
  <dc:subject>PptxGenJS Presentation</dc:subject>
  <dc:creator>ENMA Formation</dc:creator>
  <cp:lastModifiedBy>ENMA Formation</cp:lastModifiedBy>
  <cp:revision>1</cp:revision>
  <dcterms:created xsi:type="dcterms:W3CDTF">2026-09-28T20:51:42Z</dcterms:created>
  <dcterms:modified xsi:type="dcterms:W3CDTF">2026-09-28T20:51:42Z</dcterms:modified>
</cp:coreProperties>
</file>